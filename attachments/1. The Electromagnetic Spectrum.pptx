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iC+olQtg1DqkJv3tuT7f+NPyaR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customschemas.google.com/relationships/presentationmetadata" Target="metadata"/><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389bbb6b8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389bbb6b8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7389bbb6b8_1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0" name="Google Shape;150;p4: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151" name="Google Shape;151;p4: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86" name="Google Shape;186;p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187" name="Google Shape;187;p5: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 2006 Jupiterimages Corporation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12" name="Google Shape;212;p8: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213" name="Google Shape;213;p8: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 2006 Jupiterimages Corporation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4" name="Google Shape;2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latin typeface="Arial"/>
                <a:ea typeface="Arial"/>
                <a:cs typeface="Arial"/>
                <a:sym typeface="Arial"/>
              </a:rPr>
              <a:t>Teacher notes</a:t>
            </a:r>
            <a:endParaRPr/>
          </a:p>
          <a:p>
            <a:pPr indent="0" lvl="0" marL="0" rtl="0" algn="l">
              <a:spcBef>
                <a:spcPts val="0"/>
              </a:spcBef>
              <a:spcAft>
                <a:spcPts val="0"/>
              </a:spcAft>
              <a:buNone/>
            </a:pPr>
            <a:r>
              <a:rPr lang="en-GB">
                <a:latin typeface="Arial"/>
                <a:ea typeface="Arial"/>
                <a:cs typeface="Arial"/>
                <a:sym typeface="Arial"/>
              </a:rPr>
              <a:t>See the ‘</a:t>
            </a:r>
            <a:r>
              <a:rPr b="1" lang="en-GB">
                <a:latin typeface="Arial"/>
                <a:ea typeface="Arial"/>
                <a:cs typeface="Arial"/>
                <a:sym typeface="Arial"/>
              </a:rPr>
              <a:t>Reflection and Refraction</a:t>
            </a:r>
            <a:r>
              <a:rPr lang="en-GB">
                <a:latin typeface="Arial"/>
                <a:ea typeface="Arial"/>
                <a:cs typeface="Arial"/>
                <a:sym typeface="Arial"/>
              </a:rPr>
              <a:t>’ presentation for more information on refraction.</a:t>
            </a:r>
            <a:endParaRPr/>
          </a:p>
        </p:txBody>
      </p:sp>
      <p:sp>
        <p:nvSpPr>
          <p:cNvPr id="225" name="Google Shape;225;p9: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Noto Sans Symbols"/>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 name="Google Shape;23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latin typeface="Arial"/>
                <a:ea typeface="Arial"/>
                <a:cs typeface="Arial"/>
                <a:sym typeface="Arial"/>
              </a:rPr>
              <a:t>Teacher notes</a:t>
            </a:r>
            <a:endParaRPr/>
          </a:p>
          <a:p>
            <a:pPr indent="0" lvl="0" marL="0" rtl="0" algn="l">
              <a:spcBef>
                <a:spcPts val="0"/>
              </a:spcBef>
              <a:spcAft>
                <a:spcPts val="0"/>
              </a:spcAft>
              <a:buNone/>
            </a:pPr>
            <a:r>
              <a:rPr lang="en-GB">
                <a:latin typeface="Arial"/>
                <a:ea typeface="Arial"/>
                <a:cs typeface="Arial"/>
                <a:sym typeface="Arial"/>
              </a:rPr>
              <a:t>See the ‘</a:t>
            </a:r>
            <a:r>
              <a:rPr b="1" lang="en-GB">
                <a:latin typeface="Arial"/>
                <a:ea typeface="Arial"/>
                <a:cs typeface="Arial"/>
                <a:sym typeface="Arial"/>
              </a:rPr>
              <a:t>Orbits</a:t>
            </a:r>
            <a:r>
              <a:rPr lang="en-GB">
                <a:latin typeface="Arial"/>
                <a:ea typeface="Arial"/>
                <a:cs typeface="Arial"/>
                <a:sym typeface="Arial"/>
              </a:rPr>
              <a:t>’ presentation for more information on the different types of satellite orbit.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90" name="Google Shape;290;p16: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291" name="Google Shape;291;p16: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14" name="Google Shape;314;p17: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15" name="Google Shape;315;p1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 2006 Jupiterimages corporation</a:t>
            </a:r>
            <a:endParaRPr/>
          </a:p>
          <a:p>
            <a:pPr indent="0" lvl="0" marL="0" rtl="0" algn="l">
              <a:spcBef>
                <a:spcPts val="0"/>
              </a:spcBef>
              <a:spcAft>
                <a:spcPts val="0"/>
              </a:spcAft>
              <a:buNone/>
            </a:pPr>
            <a:r>
              <a:rPr lang="en-GB"/>
              <a:t>Glowing coil on electric cooker.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Ted Kinsam/Science Photo Library</a:t>
            </a:r>
            <a:endParaRPr/>
          </a:p>
          <a:p>
            <a:pPr indent="0" lvl="0" marL="0" rtl="0" algn="l">
              <a:spcBef>
                <a:spcPts val="0"/>
              </a:spcBef>
              <a:spcAft>
                <a:spcPts val="0"/>
              </a:spcAft>
              <a:buNone/>
            </a:pPr>
            <a:r>
              <a:rPr lang="en-GB"/>
              <a:t>A thermogram of a woman drinking a glass of cool water. The temperature range goes from hot (white) to cold (blue). Thermography is a technique for visualizing the temperature of surfaces by recording the emission of long-wavelength infrared radiation.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25" name="Google Shape;325;p20: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26" name="Google Shape;326;p2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ijansempoi ronen</a:t>
            </a:r>
            <a:endParaRPr/>
          </a:p>
          <a:p>
            <a:pPr indent="0" lvl="0" marL="0" rtl="0" algn="l">
              <a:spcBef>
                <a:spcPts val="0"/>
              </a:spcBef>
              <a:spcAft>
                <a:spcPts val="0"/>
              </a:spcAft>
              <a:buNone/>
            </a:pPr>
            <a:r>
              <a:rPr lang="en-GB"/>
              <a:t>Remote control being used to operate television on the other side of a room.</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798d58f99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798d58f99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798d58f992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44" name="Google Shape;344;p19: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45" name="Google Shape;345;p19: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Ryan Bourne</a:t>
            </a:r>
            <a:endParaRPr/>
          </a:p>
          <a:p>
            <a:pPr indent="0" lvl="0" marL="0" rtl="0" algn="l">
              <a:spcBef>
                <a:spcPts val="0"/>
              </a:spcBef>
              <a:spcAft>
                <a:spcPts val="0"/>
              </a:spcAft>
              <a:buNone/>
            </a:pPr>
            <a:r>
              <a:rPr lang="en-GB"/>
              <a:t>Glowing electric heater.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Pam Roth</a:t>
            </a:r>
            <a:endParaRPr/>
          </a:p>
          <a:p>
            <a:pPr indent="0" lvl="0" marL="0" rtl="0" algn="l">
              <a:spcBef>
                <a:spcPts val="0"/>
              </a:spcBef>
              <a:spcAft>
                <a:spcPts val="0"/>
              </a:spcAft>
              <a:buNone/>
            </a:pPr>
            <a:r>
              <a:rPr lang="en-GB"/>
              <a:t>Burgers being cooked on a barbecue.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57" name="Google Shape;357;p21: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58" name="Google Shape;358;p21: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 2006 Jupiterimages corporation</a:t>
            </a:r>
            <a:endParaRPr/>
          </a:p>
          <a:p>
            <a:pPr indent="0" lvl="0" marL="0" rtl="0" algn="l">
              <a:spcBef>
                <a:spcPts val="0"/>
              </a:spcBef>
              <a:spcAft>
                <a:spcPts val="0"/>
              </a:spcAft>
              <a:buNone/>
            </a:pPr>
            <a:r>
              <a:rPr lang="en-GB"/>
              <a:t>Young patient having her body temperature measured by a nurse using a digital ear thermometer.</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69" name="Google Shape;369;p22: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370" name="Google Shape;370;p22: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(bottom left): </a:t>
            </a:r>
            <a:r>
              <a:rPr lang="en-GB"/>
              <a:t>© 2006 Jupiterimages Corporation</a:t>
            </a:r>
            <a:endParaRPr/>
          </a:p>
          <a:p>
            <a:pPr indent="0" lvl="0" marL="0" rtl="0" algn="l">
              <a:spcBef>
                <a:spcPts val="0"/>
              </a:spcBef>
              <a:spcAft>
                <a:spcPts val="0"/>
              </a:spcAft>
              <a:buNone/>
            </a:pPr>
            <a:r>
              <a:rPr lang="en-GB"/>
              <a:t>On-screen view from night vision equipment being used for surveillance at an airfield.</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82" name="Google Shape;382;p23: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383" name="Google Shape;383;p23: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Pam Roth (compliments of CreatingOnline.com)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99" name="Google Shape;399;p2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400" name="Google Shape;400;p25: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Martin Simonis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Where do we normally go to shoot lasers at each other?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798d58f992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798d58f992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3798d58f992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23" name="Google Shape;42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47" name="Google Shape;4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 2006 Jupiterimages corporation</a:t>
            </a:r>
            <a:endParaRPr/>
          </a:p>
          <a:p>
            <a:pPr indent="0" lvl="0" marL="0" rtl="0" algn="l">
              <a:spcBef>
                <a:spcPts val="0"/>
              </a:spcBef>
              <a:spcAft>
                <a:spcPts val="0"/>
              </a:spcAft>
              <a:buNone/>
            </a:pPr>
            <a:r>
              <a:rPr lang="en-GB"/>
              <a:t>Sparks from arc welding.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Curro Jimenez</a:t>
            </a:r>
            <a:endParaRPr/>
          </a:p>
          <a:p>
            <a:pPr indent="0" lvl="0" marL="0" rtl="0" algn="l">
              <a:spcBef>
                <a:spcPts val="0"/>
              </a:spcBef>
              <a:spcAft>
                <a:spcPts val="0"/>
              </a:spcAft>
              <a:buNone/>
            </a:pPr>
            <a:r>
              <a:rPr lang="en-GB"/>
              <a:t>A sunbed made up of fluorescent tubes, which emit ultraviolet radiation.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59" name="Google Shape;4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Cristina Cascais </a:t>
            </a:r>
            <a:endParaRPr/>
          </a:p>
          <a:p>
            <a:pPr indent="0" lvl="0" marL="0" rtl="0" algn="l">
              <a:spcBef>
                <a:spcPts val="0"/>
              </a:spcBef>
              <a:spcAft>
                <a:spcPts val="0"/>
              </a:spcAft>
              <a:buNone/>
            </a:pPr>
            <a:r>
              <a:rPr lang="en-GB"/>
              <a:t>A lollipop lady wearing a fluorescent high-visibility jacket, whilst patrolling a school crossing.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69" name="Google Shape;46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doctor-a</a:t>
            </a:r>
            <a:endParaRPr/>
          </a:p>
          <a:p>
            <a:pPr indent="0" lvl="0" marL="0" rtl="0" algn="l">
              <a:spcBef>
                <a:spcPts val="0"/>
              </a:spcBef>
              <a:spcAft>
                <a:spcPts val="0"/>
              </a:spcAft>
              <a:buNone/>
            </a:pPr>
            <a:r>
              <a:rPr lang="en-GB"/>
              <a:t>A sample of a highly fluorescent liquid.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Mauro Fermariello </a:t>
            </a:r>
            <a:r>
              <a:rPr b="1" lang="en-GB"/>
              <a:t>/</a:t>
            </a:r>
            <a:r>
              <a:rPr lang="en-GB"/>
              <a:t>Science Photo Library</a:t>
            </a:r>
            <a:endParaRPr/>
          </a:p>
          <a:p>
            <a:pPr indent="0" lvl="0" marL="0" rtl="0" algn="l">
              <a:spcBef>
                <a:spcPts val="0"/>
              </a:spcBef>
              <a:spcAft>
                <a:spcPts val="0"/>
              </a:spcAft>
              <a:buNone/>
            </a:pPr>
            <a:r>
              <a:rPr lang="en-GB"/>
              <a:t>Euro banknote in ultraviolet light. This highlights security features intended to prevent fraud. Fluorescent ink and strips glow bright blue and red under ultraviolet light, and show that this is a genuine banknote.</a:t>
            </a:r>
            <a:br>
              <a:rPr lang="en-GB"/>
            </a:b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80" name="Google Shape;48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zulema011</a:t>
            </a:r>
            <a:endParaRPr/>
          </a:p>
          <a:p>
            <a:pPr indent="0" lvl="0" marL="0" rtl="0" algn="l">
              <a:spcBef>
                <a:spcPts val="0"/>
              </a:spcBef>
              <a:spcAft>
                <a:spcPts val="0"/>
              </a:spcAft>
              <a:buNone/>
            </a:pPr>
            <a:r>
              <a:rPr lang="en-GB"/>
              <a:t>The sunburnt skin on the neck, which has been overexposed to ultraviolet radiation in sunlight, appears in sharp contrast to the normal skin on the back, which has been covered by a T-shirt.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93" name="Google Shape;49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Matthew Maaskant </a:t>
            </a:r>
            <a:endParaRPr/>
          </a:p>
          <a:p>
            <a:pPr indent="0" lvl="0" marL="0" rtl="0" algn="l">
              <a:spcBef>
                <a:spcPts val="0"/>
              </a:spcBef>
              <a:spcAft>
                <a:spcPts val="0"/>
              </a:spcAft>
              <a:buNone/>
            </a:pPr>
            <a:r>
              <a:rPr lang="en-GB"/>
              <a:t>A man, with heavily tanned skin, sunbathing on a beach. The paler, natural colour of the man’s skin is visible on his legs at the bottom of his shorts.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02" name="Google Shape;50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18" name="Google Shape;51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Teacher notes</a:t>
            </a:r>
            <a:endParaRPr/>
          </a:p>
          <a:p>
            <a:pPr indent="0" lvl="0" marL="0" rtl="0" algn="l">
              <a:spcBef>
                <a:spcPts val="0"/>
              </a:spcBef>
              <a:spcAft>
                <a:spcPts val="0"/>
              </a:spcAft>
              <a:buNone/>
            </a:pPr>
            <a:r>
              <a:rPr lang="en-GB"/>
              <a:t>This true-or-false activity could be used as a plenary or revision exercise on ultraviolet waves, or at the start of the lesson to gauge students’ existing knowledge of the subject matter. Coloured traffic light cards (red = false, yellow = don’t know, green = true) could be used to make this a whole-class exercise.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36" name="Google Shape;53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58" name="Google Shape;55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78" name="Google Shape;57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Adam Ciesielski</a:t>
            </a:r>
            <a:endParaRPr/>
          </a:p>
          <a:p>
            <a:pPr indent="0" lvl="0" marL="0" rtl="0" algn="l">
              <a:spcBef>
                <a:spcPts val="0"/>
              </a:spcBef>
              <a:spcAft>
                <a:spcPts val="0"/>
              </a:spcAft>
              <a:buNone/>
            </a:pPr>
            <a:r>
              <a:rPr lang="en-GB"/>
              <a:t>X-ray of hands.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Dr John Mileham/Dr Claire Carmalt (UCL)</a:t>
            </a:r>
            <a:endParaRPr/>
          </a:p>
          <a:p>
            <a:pPr indent="0" lvl="0" marL="0" rtl="0" algn="l">
              <a:spcBef>
                <a:spcPts val="0"/>
              </a:spcBef>
              <a:spcAft>
                <a:spcPts val="0"/>
              </a:spcAft>
              <a:buNone/>
            </a:pPr>
            <a:r>
              <a:rPr lang="en-GB"/>
              <a:t>Crystal structure of [Cl</a:t>
            </a:r>
            <a:r>
              <a:rPr baseline="-25000" lang="en-GB"/>
              <a:t>2</a:t>
            </a:r>
            <a:r>
              <a:rPr lang="en-GB"/>
              <a:t>GaNH(SiMe</a:t>
            </a:r>
            <a:r>
              <a:rPr baseline="-25000" lang="en-GB"/>
              <a:t>2</a:t>
            </a:r>
            <a:r>
              <a:rPr lang="en-GB"/>
              <a:t>Ph)]</a:t>
            </a:r>
            <a:r>
              <a:rPr baseline="-25000" lang="en-GB"/>
              <a:t>2</a:t>
            </a:r>
            <a:r>
              <a:rPr lang="en-GB"/>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00" name="Google Shape;60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Adam Ciesielski</a:t>
            </a:r>
            <a:endParaRPr/>
          </a:p>
          <a:p>
            <a:pPr indent="0" lvl="0" marL="0" rtl="0" algn="l">
              <a:spcBef>
                <a:spcPts val="0"/>
              </a:spcBef>
              <a:spcAft>
                <a:spcPts val="0"/>
              </a:spcAft>
              <a:buNone/>
            </a:pPr>
            <a:r>
              <a:rPr lang="en-GB"/>
              <a:t>X-ray of the chest cavity in which the heart and ribs are visible.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Pascal Goetgheluck/Science Photo Library</a:t>
            </a:r>
            <a:endParaRPr/>
          </a:p>
          <a:p>
            <a:pPr indent="0" lvl="0" marL="0" rtl="0" algn="l">
              <a:spcBef>
                <a:spcPts val="0"/>
              </a:spcBef>
              <a:spcAft>
                <a:spcPts val="0"/>
              </a:spcAft>
              <a:buNone/>
            </a:pPr>
            <a:r>
              <a:rPr lang="en-GB"/>
              <a:t>Monitor view of a scanning X- ray of a lorry made during a customs check. This X-ray was produced by a </a:t>
            </a:r>
            <a:r>
              <a:rPr i="1" lang="en-GB"/>
              <a:t>Sycoscan</a:t>
            </a:r>
            <a:r>
              <a:rPr lang="en-GB"/>
              <a:t> X-ray machine which scans large objects like vehicles, gradually producing a composite image of them. Any suspect areas can be magnified on the screen and then, if necessary, checked by hand. Photographed at Roissy/Charles de Gaulle Airport in Paris, France. </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11" name="Google Shape;61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Teacher notes</a:t>
            </a:r>
            <a:endParaRPr/>
          </a:p>
          <a:p>
            <a:pPr indent="0" lvl="0" marL="0" rtl="0" algn="l">
              <a:spcBef>
                <a:spcPts val="0"/>
              </a:spcBef>
              <a:spcAft>
                <a:spcPts val="0"/>
              </a:spcAft>
              <a:buNone/>
            </a:pPr>
            <a:r>
              <a:rPr lang="en-GB"/>
              <a:t>This three-part animated sequence illustrates the effects of X-rays on living tissues. While viewing the animation, it should be highlighted that exposure to high levels of X-rays can be harmful.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41" name="Google Shape;64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a:t>
            </a:r>
            <a:r>
              <a:rPr lang="en-GB"/>
              <a:t>Geoff Tompkinson/Science Photo Library</a:t>
            </a:r>
            <a:endParaRPr/>
          </a:p>
          <a:p>
            <a:pPr indent="0" lvl="0" marL="0" rtl="0" algn="l">
              <a:spcBef>
                <a:spcPts val="0"/>
              </a:spcBef>
              <a:spcAft>
                <a:spcPts val="0"/>
              </a:spcAft>
              <a:buNone/>
            </a:pPr>
            <a:r>
              <a:rPr lang="en-GB"/>
              <a:t>Radiographer conducts a barium meal stomach X-ray on a woman patient in a fluoroscopy suite. The patient is on a reclining bed after having swallowed a liquid barium meal. The X-ray apparatus is then placed over the patient's abdomen (as seen here). A barium meal is opaque to X-rays and it shows up the structure of the digestive tract. The screen at left reveals a barium X-ray of the curved sac of the stomach. Barium X-rays are used to diagnose the cause of swallowing difficulty, check for inflammation of the oesophagus or stomach, detect stomach ulcers and bleeding, and reveal disorders in other parts of the bowel.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52" name="Google Shape;65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Teacher notes</a:t>
            </a:r>
            <a:endParaRPr/>
          </a:p>
          <a:p>
            <a:pPr indent="0" lvl="0" marL="0" rtl="0" algn="l">
              <a:spcBef>
                <a:spcPts val="0"/>
              </a:spcBef>
              <a:spcAft>
                <a:spcPts val="0"/>
              </a:spcAft>
              <a:buNone/>
            </a:pPr>
            <a:r>
              <a:rPr lang="en-GB"/>
              <a:t>This true-or-false activity could be used as a plenary or revision exercise on X-rays, or at the start of the lesson to gauge students’ existing knowledge of the subject matter. Coloured traffic light cards (red = false, yellow = don’t know, green = true) could be used to make this a whole-class exercise.</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63" name="Google Shape;66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 name="Google Shape;66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85" name="Google Shape;68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ISM/Science Photo Library</a:t>
            </a:r>
            <a:endParaRPr/>
          </a:p>
          <a:p>
            <a:pPr indent="0" lvl="0" marL="0" rtl="0" algn="l">
              <a:spcBef>
                <a:spcPts val="0"/>
              </a:spcBef>
              <a:spcAft>
                <a:spcPts val="0"/>
              </a:spcAft>
              <a:buNone/>
            </a:pPr>
            <a:r>
              <a:rPr lang="en-GB"/>
              <a:t>Secondary bone cancer. Coloured gamma scans of the skeleton of a 71-year-old man with secondary bone cancer (red areas). The primary cancer is of the prostate gland. The skeleton is seen from the front (left) and from behind (right). The cancer has spread to the spine, skull, pelvis, ribs, and leg and arm bones. Cancer that spreads from its original site is referred to as secondary cancer, and the cancer is said to have metastasised. The prognosis is poor. A gamma scan (also called a scintigram) is obtained by injecting a radioactive isotope (here Tc-99m, or Technetium-99m). This tracer material becomes concentrated in the cancerous tissues and is detected by the gamma radiation it emits.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95" name="Google Shape;69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Martin Dohrn/Science Photo Library</a:t>
            </a:r>
            <a:endParaRPr/>
          </a:p>
          <a:p>
            <a:pPr indent="0" lvl="0" marL="0" rtl="0" algn="l">
              <a:spcBef>
                <a:spcPts val="0"/>
              </a:spcBef>
              <a:spcAft>
                <a:spcPts val="0"/>
              </a:spcAft>
              <a:buNone/>
            </a:pPr>
            <a:r>
              <a:rPr lang="en-GB"/>
              <a:t>Gamma radiotherapy using a "cobalt bomb", radioactive cobalt-60 being the most common source of gamma radiation. The cobalt source is housed in the large treatment head, and gamma radiation is released through a shutter when the machine is in operation.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06" name="Google Shape;706;p50: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707" name="Google Shape;707;p50: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21" name="Google Shape;721;p51: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722" name="Google Shape;722;p51: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3" name="Google Shape;723;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Teacher notes</a:t>
            </a:r>
            <a:endParaRPr/>
          </a:p>
          <a:p>
            <a:pPr indent="0" lvl="0" marL="0" rtl="0" algn="l">
              <a:spcBef>
                <a:spcPts val="0"/>
              </a:spcBef>
              <a:spcAft>
                <a:spcPts val="0"/>
              </a:spcAft>
              <a:buNone/>
            </a:pPr>
            <a:r>
              <a:rPr lang="en-GB"/>
              <a:t>This ordering activity could be used as a plenary or revision exercise on the energy of electromagnetic waves. Mini-whiteboards could be used to make this a whole-class exercise.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28" name="Google Shape;728;p52: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a:t>
            </a:r>
            <a:endParaRPr/>
          </a:p>
          <a:p>
            <a:pPr indent="0" lvl="0" marL="0" rtl="0" algn="l">
              <a:spcBef>
                <a:spcPts val="0"/>
              </a:spcBef>
              <a:spcAft>
                <a:spcPts val="0"/>
              </a:spcAft>
              <a:buNone/>
            </a:pPr>
            <a:r>
              <a:rPr lang="en-GB" sz="1200">
                <a:solidFill>
                  <a:schemeClr val="dk1"/>
                </a:solidFill>
                <a:latin typeface="Arial"/>
                <a:ea typeface="Arial"/>
                <a:cs typeface="Arial"/>
                <a:sym typeface="Arial"/>
              </a:rPr>
              <a:t>Electromagnetic Waves</a:t>
            </a:r>
            <a:endParaRPr/>
          </a:p>
        </p:txBody>
      </p:sp>
      <p:sp>
        <p:nvSpPr>
          <p:cNvPr id="729" name="Google Shape;729;p52: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Teacher notes</a:t>
            </a:r>
            <a:endParaRPr/>
          </a:p>
          <a:p>
            <a:pPr indent="0" lvl="0" marL="0" rtl="0" algn="l">
              <a:spcBef>
                <a:spcPts val="0"/>
              </a:spcBef>
              <a:spcAft>
                <a:spcPts val="0"/>
              </a:spcAft>
              <a:buNone/>
            </a:pPr>
            <a:r>
              <a:rPr lang="en-GB"/>
              <a:t>This matching activity could be used as a plenary or revision exercise on electromagnetic waves and how they affect living tissues. Students could be asked to complete the questions in their books and the activity could be concluded by the completion on the IWB.</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6" name="Shape 36"/>
        <p:cNvGrpSpPr/>
        <p:nvPr/>
      </p:nvGrpSpPr>
      <p:grpSpPr>
        <a:xfrm>
          <a:off x="0" y="0"/>
          <a:ext cx="0" cy="0"/>
          <a:chOff x="0" y="0"/>
          <a:chExt cx="0" cy="0"/>
        </a:xfrm>
      </p:grpSpPr>
      <p:sp>
        <p:nvSpPr>
          <p:cNvPr id="37" name="Google Shape;37;p5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8"/>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58"/>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8"/>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8"/>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8"/>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50" name="Shape 50"/>
        <p:cNvGrpSpPr/>
        <p:nvPr/>
      </p:nvGrpSpPr>
      <p:grpSpPr>
        <a:xfrm>
          <a:off x="0" y="0"/>
          <a:ext cx="0" cy="0"/>
          <a:chOff x="0" y="0"/>
          <a:chExt cx="0" cy="0"/>
        </a:xfrm>
      </p:grpSpPr>
      <p:sp>
        <p:nvSpPr>
          <p:cNvPr id="51" name="Google Shape;51;p6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0"/>
          <p:cNvSpPr/>
          <p:nvPr>
            <p:ph idx="2" type="clipArt"/>
          </p:nvPr>
        </p:nvSpPr>
        <p:spPr>
          <a:xfrm>
            <a:off x="609600" y="1600201"/>
            <a:ext cx="5384800" cy="4525963"/>
          </a:xfrm>
          <a:prstGeom prst="rect">
            <a:avLst/>
          </a:prstGeom>
          <a:noFill/>
          <a:ln>
            <a:noFill/>
          </a:ln>
        </p:spPr>
      </p:sp>
      <p:sp>
        <p:nvSpPr>
          <p:cNvPr id="53" name="Google Shape;53;p60"/>
          <p:cNvSpPr txBox="1"/>
          <p:nvPr>
            <p:ph idx="1"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0"/>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0"/>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0"/>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6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6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0" name="Google Shape;60;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6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6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6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6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6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64"/>
          <p:cNvSpPr/>
          <p:nvPr>
            <p:ph idx="2" type="pic"/>
          </p:nvPr>
        </p:nvSpPr>
        <p:spPr>
          <a:xfrm>
            <a:off x="5183188" y="987425"/>
            <a:ext cx="6172200" cy="4873625"/>
          </a:xfrm>
          <a:prstGeom prst="rect">
            <a:avLst/>
          </a:prstGeom>
          <a:noFill/>
          <a:ln>
            <a:noFill/>
          </a:ln>
        </p:spPr>
      </p:sp>
      <p:sp>
        <p:nvSpPr>
          <p:cNvPr id="82" name="Google Shape;82;p6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6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6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6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8.jpg"/></Relationships>
</file>

<file path=ppt/slides/_rels/slide16.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en.wikipedia.org/wiki/Image:Ir_girl.png" TargetMode="External"/><Relationship Id="rId4" Type="http://schemas.openxmlformats.org/officeDocument/2006/relationships/image" Target="../media/image9.png"/><Relationship Id="rId9" Type="http://schemas.openxmlformats.org/officeDocument/2006/relationships/image" Target="../media/image3.jpg"/><Relationship Id="rId5" Type="http://schemas.openxmlformats.org/officeDocument/2006/relationships/hyperlink" Target="http://en.wikipedia.org/wiki/Image:Infrared_dog.jpg" TargetMode="External"/><Relationship Id="rId6" Type="http://schemas.openxmlformats.org/officeDocument/2006/relationships/image" Target="../media/image6.jpg"/><Relationship Id="rId7" Type="http://schemas.openxmlformats.org/officeDocument/2006/relationships/hyperlink" Target="http://en.wikipedia.org/wiki/Image:Wiki_snake_eats_mouse.jpg" TargetMode="External"/><Relationship Id="rId8"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youtube.com/watch?v=AdTPc4mqp_Y&amp;ab_channel=GetThereFast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9.jpg"/><Relationship Id="rId4" Type="http://schemas.openxmlformats.org/officeDocument/2006/relationships/image" Target="../media/image3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60.jp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3.jpg"/><Relationship Id="rId4"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1.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7.jpg"/><Relationship Id="rId4" Type="http://schemas.openxmlformats.org/officeDocument/2006/relationships/image" Target="../media/image55.jpg"/></Relationships>
</file>

<file path=ppt/slides/_rels/slide42.xml.rels><?xml version="1.0" encoding="UTF-8" standalone="yes"?><Relationships xmlns="http://schemas.openxmlformats.org/package/2006/relationships"><Relationship Id="rId11" Type="http://schemas.openxmlformats.org/officeDocument/2006/relationships/image" Target="../media/image51.jpg"/><Relationship Id="rId10" Type="http://schemas.openxmlformats.org/officeDocument/2006/relationships/hyperlink" Target="http://www.shutterstock.com/subscribe.mhtml" TargetMode="External"/><Relationship Id="rId13" Type="http://schemas.openxmlformats.org/officeDocument/2006/relationships/image" Target="../media/image53.jpg"/><Relationship Id="rId12" Type="http://schemas.openxmlformats.org/officeDocument/2006/relationships/hyperlink" Target="http://www.emedicinehealth.com/images/4453/4453-4463-9005-25019.jpg" TargetMode="External"/><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4.jpg"/><Relationship Id="rId4" Type="http://schemas.openxmlformats.org/officeDocument/2006/relationships/hyperlink" Target="http://www.shutterstock.com/subscribe.mhtml" TargetMode="External"/><Relationship Id="rId9" Type="http://schemas.openxmlformats.org/officeDocument/2006/relationships/image" Target="../media/image59.jpg"/><Relationship Id="rId5" Type="http://schemas.openxmlformats.org/officeDocument/2006/relationships/image" Target="../media/image48.jpg"/><Relationship Id="rId6" Type="http://schemas.openxmlformats.org/officeDocument/2006/relationships/hyperlink" Target="http://www.shutterstock.com/subscribe.mhtml" TargetMode="External"/><Relationship Id="rId7" Type="http://schemas.openxmlformats.org/officeDocument/2006/relationships/image" Target="../media/image64.jpg"/><Relationship Id="rId8" Type="http://schemas.openxmlformats.org/officeDocument/2006/relationships/hyperlink" Target="http://www.shutterstock.com/subscribe.m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63.jpg"/><Relationship Id="rId4" Type="http://schemas.openxmlformats.org/officeDocument/2006/relationships/image" Target="../media/image5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mynasadata.larc.nasa.gov/science.html" TargetMode="External"/><Relationship Id="rId4" Type="http://schemas.openxmlformats.org/officeDocument/2006/relationships/image" Target="../media/image45.png"/><Relationship Id="rId5" Type="http://schemas.openxmlformats.org/officeDocument/2006/relationships/hyperlink" Target="http://www.nasa.gov/" TargetMode="External"/><Relationship Id="rId6" Type="http://schemas.openxmlformats.org/officeDocument/2006/relationships/image" Target="../media/image49.png"/><Relationship Id="rId7" Type="http://schemas.openxmlformats.org/officeDocument/2006/relationships/image" Target="../media/image56.png"/><Relationship Id="rId8" Type="http://schemas.openxmlformats.org/officeDocument/2006/relationships/image" Target="../media/image6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5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31.png"/><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67.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6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46.png"/><Relationship Id="rId4" Type="http://schemas.openxmlformats.org/officeDocument/2006/relationships/image" Target="../media/image50.png"/><Relationship Id="rId5"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ph type="ctrTitle"/>
          </p:nvPr>
        </p:nvSpPr>
        <p:spPr>
          <a:xfrm>
            <a:off x="412559" y="379643"/>
            <a:ext cx="11488709" cy="147002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omic Sans MS"/>
              <a:buNone/>
            </a:pPr>
            <a:r>
              <a:rPr b="1" lang="en-GB"/>
              <a:t>The Electromagnetic Spectrum</a:t>
            </a:r>
            <a:br>
              <a:rPr lang="en-GB"/>
            </a:br>
            <a:endParaRPr/>
          </a:p>
        </p:txBody>
      </p:sp>
      <p:sp>
        <p:nvSpPr>
          <p:cNvPr id="103" name="Google Shape;103;p1"/>
          <p:cNvSpPr txBox="1"/>
          <p:nvPr>
            <p:ph idx="1" type="subTitle"/>
          </p:nvPr>
        </p:nvSpPr>
        <p:spPr>
          <a:xfrm>
            <a:off x="277588" y="1951255"/>
            <a:ext cx="11623680" cy="2808287"/>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400"/>
              <a:buNone/>
            </a:pPr>
            <a:r>
              <a:rPr b="1" lang="en-GB"/>
              <a:t>Learning Objectives:</a:t>
            </a:r>
            <a:r>
              <a:rPr lang="en-GB"/>
              <a:t>  </a:t>
            </a:r>
            <a:endParaRPr/>
          </a:p>
          <a:p>
            <a:pPr indent="-457200" lvl="0" marL="457200" rtl="0" algn="l">
              <a:lnSpc>
                <a:spcPct val="80000"/>
              </a:lnSpc>
              <a:spcBef>
                <a:spcPts val="1000"/>
              </a:spcBef>
              <a:spcAft>
                <a:spcPts val="0"/>
              </a:spcAft>
              <a:buClr>
                <a:schemeClr val="dk1"/>
              </a:buClr>
              <a:buSzPts val="2400"/>
              <a:buFont typeface="Calibri"/>
              <a:buAutoNum type="arabicPeriod"/>
            </a:pPr>
            <a:r>
              <a:rPr lang="en-GB"/>
              <a:t>To understand how wavelength and frequency are related across the spectrum..</a:t>
            </a:r>
            <a:endParaRPr/>
          </a:p>
          <a:p>
            <a:pPr indent="-457200" lvl="0" marL="457200" rtl="0" algn="l">
              <a:lnSpc>
                <a:spcPct val="80000"/>
              </a:lnSpc>
              <a:spcBef>
                <a:spcPts val="1000"/>
              </a:spcBef>
              <a:spcAft>
                <a:spcPts val="0"/>
              </a:spcAft>
              <a:buClr>
                <a:schemeClr val="dk1"/>
              </a:buClr>
              <a:buSzPts val="2400"/>
              <a:buFont typeface="Calibri"/>
              <a:buAutoNum type="arabicPeriod"/>
            </a:pPr>
            <a:r>
              <a:rPr lang="en-GB"/>
              <a:t>To learn the uses and dangers of different EM waves.</a:t>
            </a:r>
            <a:endParaRPr sz="2800"/>
          </a:p>
        </p:txBody>
      </p:sp>
      <p:pic>
        <p:nvPicPr>
          <p:cNvPr id="104" name="Google Shape;104;p1"/>
          <p:cNvPicPr preferRelativeResize="0"/>
          <p:nvPr/>
        </p:nvPicPr>
        <p:blipFill rotWithShape="1">
          <a:blip r:embed="rId3">
            <a:alphaModFix/>
          </a:blip>
          <a:srcRect b="0" l="0" r="0" t="0"/>
          <a:stretch/>
        </p:blipFill>
        <p:spPr>
          <a:xfrm>
            <a:off x="171099" y="3624451"/>
            <a:ext cx="4528151" cy="2343650"/>
          </a:xfrm>
          <a:prstGeom prst="rect">
            <a:avLst/>
          </a:prstGeom>
          <a:noFill/>
          <a:ln>
            <a:noFill/>
          </a:ln>
        </p:spPr>
      </p:pic>
      <p:pic>
        <p:nvPicPr>
          <p:cNvPr id="105" name="Google Shape;105;p1"/>
          <p:cNvPicPr preferRelativeResize="0"/>
          <p:nvPr/>
        </p:nvPicPr>
        <p:blipFill rotWithShape="1">
          <a:blip r:embed="rId4">
            <a:alphaModFix/>
          </a:blip>
          <a:srcRect b="0" l="0" r="0" t="0"/>
          <a:stretch/>
        </p:blipFill>
        <p:spPr>
          <a:xfrm>
            <a:off x="6818499" y="3622901"/>
            <a:ext cx="5082775" cy="2506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992313" y="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Whiteboard Starter (3 mins):</a:t>
            </a:r>
            <a:endParaRPr/>
          </a:p>
        </p:txBody>
      </p:sp>
      <p:sp>
        <p:nvSpPr>
          <p:cNvPr id="111" name="Google Shape;111;p2"/>
          <p:cNvSpPr txBox="1"/>
          <p:nvPr>
            <p:ph idx="1" type="body"/>
          </p:nvPr>
        </p:nvSpPr>
        <p:spPr>
          <a:xfrm>
            <a:off x="643944" y="1196976"/>
            <a:ext cx="11269014" cy="525621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Font typeface="Calibri"/>
              <a:buChar char="•"/>
            </a:pPr>
            <a:r>
              <a:rPr lang="en-GB" sz="3600"/>
              <a:t>Draw a wave.</a:t>
            </a:r>
            <a:endParaRPr/>
          </a:p>
          <a:p>
            <a:pPr indent="-228600" lvl="0" marL="228600" rtl="0" algn="l">
              <a:lnSpc>
                <a:spcPct val="90000"/>
              </a:lnSpc>
              <a:spcBef>
                <a:spcPts val="1000"/>
              </a:spcBef>
              <a:spcAft>
                <a:spcPts val="0"/>
              </a:spcAft>
              <a:buClr>
                <a:schemeClr val="dk1"/>
              </a:buClr>
              <a:buSzPts val="3600"/>
              <a:buFont typeface="Calibri"/>
              <a:buChar char="•"/>
            </a:pPr>
            <a:r>
              <a:rPr lang="en-GB" sz="3600"/>
              <a:t>Show its wavelength (λ)?</a:t>
            </a:r>
            <a:endParaRPr/>
          </a:p>
          <a:p>
            <a:pPr indent="-228600" lvl="0" marL="228600" rtl="0" algn="l">
              <a:lnSpc>
                <a:spcPct val="90000"/>
              </a:lnSpc>
              <a:spcBef>
                <a:spcPts val="1000"/>
              </a:spcBef>
              <a:spcAft>
                <a:spcPts val="0"/>
              </a:spcAft>
              <a:buClr>
                <a:schemeClr val="dk1"/>
              </a:buClr>
              <a:buSzPts val="3600"/>
              <a:buFont typeface="Calibri"/>
              <a:buChar char="•"/>
            </a:pPr>
            <a:r>
              <a:rPr lang="en-GB" sz="3600"/>
              <a:t>Show its amplitude?</a:t>
            </a:r>
            <a:endParaRPr/>
          </a:p>
          <a:p>
            <a:pPr indent="-228600" lvl="1" marL="685800" rtl="0" algn="l">
              <a:lnSpc>
                <a:spcPct val="90000"/>
              </a:lnSpc>
              <a:spcBef>
                <a:spcPts val="500"/>
              </a:spcBef>
              <a:spcAft>
                <a:spcPts val="0"/>
              </a:spcAft>
              <a:buClr>
                <a:schemeClr val="dk1"/>
              </a:buClr>
              <a:buSzPts val="3200"/>
              <a:buFont typeface="Calibri"/>
              <a:buChar char="•"/>
            </a:pPr>
            <a:r>
              <a:rPr lang="en-GB" sz="3200"/>
              <a:t>The height of a wave from the normal/baseline</a:t>
            </a:r>
            <a:endParaRPr/>
          </a:p>
          <a:p>
            <a:pPr indent="-228600" lvl="0" marL="228600" rtl="0" algn="l">
              <a:lnSpc>
                <a:spcPct val="90000"/>
              </a:lnSpc>
              <a:spcBef>
                <a:spcPts val="1000"/>
              </a:spcBef>
              <a:spcAft>
                <a:spcPts val="0"/>
              </a:spcAft>
              <a:buClr>
                <a:schemeClr val="dk1"/>
              </a:buClr>
              <a:buSzPts val="3600"/>
              <a:buFont typeface="Calibri"/>
              <a:buChar char="•"/>
            </a:pPr>
            <a:r>
              <a:rPr lang="en-GB" sz="3600"/>
              <a:t>What is its frequency (f)?</a:t>
            </a:r>
            <a:endParaRPr/>
          </a:p>
          <a:p>
            <a:pPr indent="-228600" lvl="1" marL="685800" rtl="0" algn="l">
              <a:lnSpc>
                <a:spcPct val="90000"/>
              </a:lnSpc>
              <a:spcBef>
                <a:spcPts val="500"/>
              </a:spcBef>
              <a:spcAft>
                <a:spcPts val="0"/>
              </a:spcAft>
              <a:buClr>
                <a:schemeClr val="dk1"/>
              </a:buClr>
              <a:buSzPts val="3200"/>
              <a:buFont typeface="Calibri"/>
              <a:buChar char="•"/>
            </a:pPr>
            <a:r>
              <a:rPr lang="en-GB" sz="3200"/>
              <a:t>The number of complete wavelength passing a point each second. </a:t>
            </a:r>
            <a:endParaRPr/>
          </a:p>
          <a:p>
            <a:pPr indent="-228600" lvl="1" marL="685800" rtl="0" algn="l">
              <a:lnSpc>
                <a:spcPct val="90000"/>
              </a:lnSpc>
              <a:spcBef>
                <a:spcPts val="500"/>
              </a:spcBef>
              <a:spcAft>
                <a:spcPts val="0"/>
              </a:spcAft>
              <a:buClr>
                <a:schemeClr val="dk1"/>
              </a:buClr>
              <a:buSzPts val="3200"/>
              <a:buFont typeface="Calibri"/>
              <a:buChar char="•"/>
            </a:pPr>
            <a:r>
              <a:rPr lang="en-GB" sz="3200"/>
              <a:t>Measured in Hertz (Hz).</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389bbb6b8_1_14"/>
          <p:cNvSpPr txBox="1"/>
          <p:nvPr/>
        </p:nvSpPr>
        <p:spPr>
          <a:xfrm>
            <a:off x="78975" y="1566425"/>
            <a:ext cx="9293100" cy="402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b="1" lang="en-GB" sz="3000">
                <a:solidFill>
                  <a:schemeClr val="dk1"/>
                </a:solidFill>
                <a:latin typeface="Calibri"/>
                <a:ea typeface="Calibri"/>
                <a:cs typeface="Calibri"/>
                <a:sym typeface="Calibri"/>
              </a:rPr>
              <a:t>Energy of Waves </a:t>
            </a:r>
            <a:endParaRPr b="1" sz="3000">
              <a:solidFill>
                <a:schemeClr val="dk1"/>
              </a:solidFill>
              <a:latin typeface="Calibri"/>
              <a:ea typeface="Calibri"/>
              <a:cs typeface="Calibri"/>
              <a:sym typeface="Calibri"/>
            </a:endParaRPr>
          </a:p>
          <a:p>
            <a:pPr indent="-419100" lvl="0" marL="457200" rtl="0" algn="l">
              <a:lnSpc>
                <a:spcPct val="115000"/>
              </a:lnSpc>
              <a:spcBef>
                <a:spcPts val="1100"/>
              </a:spcBef>
              <a:spcAft>
                <a:spcPts val="0"/>
              </a:spcAft>
              <a:buClr>
                <a:schemeClr val="dk1"/>
              </a:buClr>
              <a:buSzPts val="3000"/>
              <a:buFont typeface="Calibri"/>
              <a:buChar char="●"/>
            </a:pPr>
            <a:r>
              <a:rPr lang="en-GB" sz="3000">
                <a:solidFill>
                  <a:schemeClr val="dk1"/>
                </a:solidFill>
                <a:latin typeface="Calibri"/>
                <a:ea typeface="Calibri"/>
                <a:cs typeface="Calibri"/>
                <a:sym typeface="Calibri"/>
              </a:rPr>
              <a:t>I can deduce the position of a wave on the electromagnetic spectrum from given data</a:t>
            </a:r>
            <a:endParaRPr sz="3000">
              <a:solidFill>
                <a:schemeClr val="dk1"/>
              </a:solidFill>
              <a:latin typeface="Calibri"/>
              <a:ea typeface="Calibri"/>
              <a:cs typeface="Calibri"/>
              <a:sym typeface="Calibri"/>
            </a:endParaRPr>
          </a:p>
          <a:p>
            <a:pPr indent="-419100" lvl="0" marL="457200" rtl="0" algn="l">
              <a:lnSpc>
                <a:spcPct val="115000"/>
              </a:lnSpc>
              <a:spcBef>
                <a:spcPts val="0"/>
              </a:spcBef>
              <a:spcAft>
                <a:spcPts val="0"/>
              </a:spcAft>
              <a:buClr>
                <a:schemeClr val="dk1"/>
              </a:buClr>
              <a:buSzPts val="3000"/>
              <a:buFont typeface="Calibri"/>
              <a:buChar char="●"/>
            </a:pPr>
            <a:r>
              <a:rPr lang="en-GB" sz="3000">
                <a:solidFill>
                  <a:schemeClr val="dk1"/>
                </a:solidFill>
                <a:latin typeface="Calibri"/>
                <a:ea typeface="Calibri"/>
                <a:cs typeface="Calibri"/>
                <a:sym typeface="Calibri"/>
              </a:rPr>
              <a:t>I can explain the uses and effects of different types of electromagnetic waves</a:t>
            </a:r>
            <a:endParaRPr sz="3000">
              <a:solidFill>
                <a:schemeClr val="dk1"/>
              </a:solidFill>
              <a:latin typeface="Calibri"/>
              <a:ea typeface="Calibri"/>
              <a:cs typeface="Calibri"/>
              <a:sym typeface="Calibri"/>
            </a:endParaRPr>
          </a:p>
        </p:txBody>
      </p:sp>
      <p:sp>
        <p:nvSpPr>
          <p:cNvPr id="118" name="Google Shape;118;g37389bbb6b8_1_14"/>
          <p:cNvSpPr txBox="1"/>
          <p:nvPr/>
        </p:nvSpPr>
        <p:spPr>
          <a:xfrm>
            <a:off x="526525" y="394900"/>
            <a:ext cx="10425300" cy="7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chemeClr val="dk1"/>
                </a:solidFill>
                <a:latin typeface="Calibri"/>
                <a:ea typeface="Calibri"/>
                <a:cs typeface="Calibri"/>
                <a:sym typeface="Calibri"/>
              </a:rPr>
              <a:t>Student Achievement Statements</a:t>
            </a:r>
            <a:endParaRPr b="1"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p:nvPr/>
        </p:nvSpPr>
        <p:spPr>
          <a:xfrm>
            <a:off x="6672263" y="3500439"/>
            <a:ext cx="1871662" cy="8651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3"/>
          <p:cNvSpPr/>
          <p:nvPr/>
        </p:nvSpPr>
        <p:spPr>
          <a:xfrm>
            <a:off x="3863976" y="3500439"/>
            <a:ext cx="1800225" cy="8651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5" name="Google Shape;125;p3"/>
          <p:cNvCxnSpPr/>
          <p:nvPr/>
        </p:nvCxnSpPr>
        <p:spPr>
          <a:xfrm>
            <a:off x="2063750" y="1989138"/>
            <a:ext cx="8135938" cy="0"/>
          </a:xfrm>
          <a:prstGeom prst="straightConnector1">
            <a:avLst/>
          </a:prstGeom>
          <a:noFill/>
          <a:ln cap="flat" cmpd="sng" w="38100">
            <a:solidFill>
              <a:schemeClr val="dk1"/>
            </a:solidFill>
            <a:prstDash val="solid"/>
            <a:round/>
            <a:headEnd len="med" w="med" type="none"/>
            <a:tailEnd len="med" w="med" type="none"/>
          </a:ln>
        </p:spPr>
      </p:cxnSp>
      <p:cxnSp>
        <p:nvCxnSpPr>
          <p:cNvPr id="126" name="Google Shape;126;p3"/>
          <p:cNvCxnSpPr/>
          <p:nvPr/>
        </p:nvCxnSpPr>
        <p:spPr>
          <a:xfrm>
            <a:off x="1992314" y="3500438"/>
            <a:ext cx="8135937" cy="0"/>
          </a:xfrm>
          <a:prstGeom prst="straightConnector1">
            <a:avLst/>
          </a:prstGeom>
          <a:noFill/>
          <a:ln cap="flat" cmpd="sng" w="38100">
            <a:solidFill>
              <a:schemeClr val="dk1"/>
            </a:solidFill>
            <a:prstDash val="solid"/>
            <a:round/>
            <a:headEnd len="med" w="med" type="none"/>
            <a:tailEnd len="med" w="med" type="none"/>
          </a:ln>
        </p:spPr>
      </p:cxnSp>
      <p:cxnSp>
        <p:nvCxnSpPr>
          <p:cNvPr id="127" name="Google Shape;127;p3"/>
          <p:cNvCxnSpPr/>
          <p:nvPr/>
        </p:nvCxnSpPr>
        <p:spPr>
          <a:xfrm>
            <a:off x="551973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28" name="Google Shape;128;p3"/>
          <p:cNvCxnSpPr/>
          <p:nvPr/>
        </p:nvCxnSpPr>
        <p:spPr>
          <a:xfrm>
            <a:off x="6888163"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29" name="Google Shape;129;p3"/>
          <p:cNvCxnSpPr/>
          <p:nvPr/>
        </p:nvCxnSpPr>
        <p:spPr>
          <a:xfrm>
            <a:off x="8112125"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0" name="Google Shape;130;p3"/>
          <p:cNvCxnSpPr/>
          <p:nvPr/>
        </p:nvCxnSpPr>
        <p:spPr>
          <a:xfrm>
            <a:off x="933608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1" name="Google Shape;131;p3"/>
          <p:cNvCxnSpPr/>
          <p:nvPr/>
        </p:nvCxnSpPr>
        <p:spPr>
          <a:xfrm>
            <a:off x="2782888" y="1989138"/>
            <a:ext cx="0" cy="151130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3"/>
          <p:cNvCxnSpPr/>
          <p:nvPr/>
        </p:nvCxnSpPr>
        <p:spPr>
          <a:xfrm>
            <a:off x="4224338" y="1989138"/>
            <a:ext cx="0" cy="151130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3"/>
          <p:cNvSpPr txBox="1"/>
          <p:nvPr/>
        </p:nvSpPr>
        <p:spPr>
          <a:xfrm>
            <a:off x="5591175" y="2425701"/>
            <a:ext cx="11557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VISIBLE</a:t>
            </a:r>
            <a:endParaRPr sz="1800">
              <a:solidFill>
                <a:schemeClr val="dk1"/>
              </a:solidFill>
              <a:latin typeface="Comic Sans MS"/>
              <a:ea typeface="Comic Sans MS"/>
              <a:cs typeface="Comic Sans MS"/>
              <a:sym typeface="Comic Sans MS"/>
            </a:endParaRPr>
          </a:p>
        </p:txBody>
      </p:sp>
      <p:sp>
        <p:nvSpPr>
          <p:cNvPr id="134" name="Google Shape;134;p3"/>
          <p:cNvSpPr txBox="1"/>
          <p:nvPr/>
        </p:nvSpPr>
        <p:spPr>
          <a:xfrm>
            <a:off x="8112126" y="2425701"/>
            <a:ext cx="10572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X-RAYS</a:t>
            </a:r>
            <a:endParaRPr sz="1800">
              <a:solidFill>
                <a:schemeClr val="dk1"/>
              </a:solidFill>
              <a:latin typeface="Comic Sans MS"/>
              <a:ea typeface="Comic Sans MS"/>
              <a:cs typeface="Comic Sans MS"/>
              <a:sym typeface="Comic Sans MS"/>
            </a:endParaRPr>
          </a:p>
        </p:txBody>
      </p:sp>
      <p:sp>
        <p:nvSpPr>
          <p:cNvPr id="135" name="Google Shape;135;p3"/>
          <p:cNvSpPr txBox="1"/>
          <p:nvPr/>
        </p:nvSpPr>
        <p:spPr>
          <a:xfrm>
            <a:off x="4367213" y="2354264"/>
            <a:ext cx="10350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INFRA-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RED</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(IR)</a:t>
            </a:r>
            <a:endParaRPr sz="1800">
              <a:solidFill>
                <a:schemeClr val="dk1"/>
              </a:solidFill>
              <a:latin typeface="Comic Sans MS"/>
              <a:ea typeface="Comic Sans MS"/>
              <a:cs typeface="Comic Sans MS"/>
              <a:sym typeface="Comic Sans MS"/>
            </a:endParaRPr>
          </a:p>
        </p:txBody>
      </p:sp>
      <p:sp>
        <p:nvSpPr>
          <p:cNvPr id="136" name="Google Shape;136;p3"/>
          <p:cNvSpPr txBox="1"/>
          <p:nvPr/>
        </p:nvSpPr>
        <p:spPr>
          <a:xfrm>
            <a:off x="6959601" y="2209800"/>
            <a:ext cx="1133475" cy="915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ULTRA-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VIOLET </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(UV)</a:t>
            </a:r>
            <a:endParaRPr sz="1800">
              <a:solidFill>
                <a:schemeClr val="dk1"/>
              </a:solidFill>
              <a:latin typeface="Comic Sans MS"/>
              <a:ea typeface="Comic Sans MS"/>
              <a:cs typeface="Comic Sans MS"/>
              <a:sym typeface="Comic Sans MS"/>
            </a:endParaRPr>
          </a:p>
        </p:txBody>
      </p:sp>
      <p:sp>
        <p:nvSpPr>
          <p:cNvPr id="137" name="Google Shape;137;p3"/>
          <p:cNvSpPr txBox="1"/>
          <p:nvPr/>
        </p:nvSpPr>
        <p:spPr>
          <a:xfrm>
            <a:off x="2927351" y="2349500"/>
            <a:ext cx="1069975"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MICRO-</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WAVES</a:t>
            </a:r>
            <a:endParaRPr sz="1800">
              <a:solidFill>
                <a:schemeClr val="dk1"/>
              </a:solidFill>
              <a:latin typeface="Comic Sans MS"/>
              <a:ea typeface="Comic Sans MS"/>
              <a:cs typeface="Comic Sans MS"/>
              <a:sym typeface="Comic Sans MS"/>
            </a:endParaRPr>
          </a:p>
        </p:txBody>
      </p:sp>
      <p:sp>
        <p:nvSpPr>
          <p:cNvPr id="138" name="Google Shape;138;p3"/>
          <p:cNvSpPr txBox="1"/>
          <p:nvPr/>
        </p:nvSpPr>
        <p:spPr>
          <a:xfrm>
            <a:off x="9409114" y="2425700"/>
            <a:ext cx="1076325"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GAMMA</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(γ)</a:t>
            </a:r>
            <a:endParaRPr/>
          </a:p>
        </p:txBody>
      </p:sp>
      <p:sp>
        <p:nvSpPr>
          <p:cNvPr id="139" name="Google Shape;139;p3"/>
          <p:cNvSpPr txBox="1"/>
          <p:nvPr/>
        </p:nvSpPr>
        <p:spPr>
          <a:xfrm>
            <a:off x="1703389" y="2570163"/>
            <a:ext cx="966787"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RADIO</a:t>
            </a:r>
            <a:endParaRPr sz="1800">
              <a:solidFill>
                <a:schemeClr val="dk1"/>
              </a:solidFill>
              <a:latin typeface="Comic Sans MS"/>
              <a:ea typeface="Comic Sans MS"/>
              <a:cs typeface="Comic Sans MS"/>
              <a:sym typeface="Comic Sans MS"/>
            </a:endParaRPr>
          </a:p>
        </p:txBody>
      </p:sp>
      <p:pic>
        <p:nvPicPr>
          <p:cNvPr descr="The visible spectrum from red (at left) to violet (at right)." id="140" name="Google Shape;140;p3"/>
          <p:cNvPicPr preferRelativeResize="0"/>
          <p:nvPr/>
        </p:nvPicPr>
        <p:blipFill rotWithShape="1">
          <a:blip r:embed="rId3">
            <a:alphaModFix/>
          </a:blip>
          <a:srcRect b="0" l="0" r="0" t="0"/>
          <a:stretch/>
        </p:blipFill>
        <p:spPr>
          <a:xfrm>
            <a:off x="4079875" y="4508501"/>
            <a:ext cx="4387850" cy="2035175"/>
          </a:xfrm>
          <a:prstGeom prst="rect">
            <a:avLst/>
          </a:prstGeom>
          <a:noFill/>
          <a:ln>
            <a:noFill/>
          </a:ln>
        </p:spPr>
      </p:pic>
      <p:sp>
        <p:nvSpPr>
          <p:cNvPr id="141" name="Google Shape;141;p3"/>
          <p:cNvSpPr/>
          <p:nvPr/>
        </p:nvSpPr>
        <p:spPr>
          <a:xfrm>
            <a:off x="3935413" y="4365626"/>
            <a:ext cx="4608600" cy="23034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3"/>
          <p:cNvSpPr txBox="1"/>
          <p:nvPr/>
        </p:nvSpPr>
        <p:spPr>
          <a:xfrm>
            <a:off x="3889388" y="3427664"/>
            <a:ext cx="1676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Red is always</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Next to the</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Infrared</a:t>
            </a:r>
            <a:endParaRPr b="1" sz="1800">
              <a:solidFill>
                <a:srgbClr val="FF0000"/>
              </a:solidFill>
              <a:latin typeface="Calibri"/>
              <a:ea typeface="Calibri"/>
              <a:cs typeface="Calibri"/>
              <a:sym typeface="Calibri"/>
            </a:endParaRPr>
          </a:p>
        </p:txBody>
      </p:sp>
      <p:sp>
        <p:nvSpPr>
          <p:cNvPr id="143" name="Google Shape;143;p3"/>
          <p:cNvSpPr txBox="1"/>
          <p:nvPr/>
        </p:nvSpPr>
        <p:spPr>
          <a:xfrm>
            <a:off x="6656338" y="3471338"/>
            <a:ext cx="19035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CC0099"/>
                </a:solidFill>
                <a:latin typeface="Calibri"/>
                <a:ea typeface="Calibri"/>
                <a:cs typeface="Calibri"/>
                <a:sym typeface="Calibri"/>
              </a:rPr>
              <a:t>Violet is always</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CC0099"/>
                </a:solidFill>
                <a:latin typeface="Calibri"/>
                <a:ea typeface="Calibri"/>
                <a:cs typeface="Calibri"/>
                <a:sym typeface="Calibri"/>
              </a:rPr>
              <a:t>Next to the</a:t>
            </a:r>
            <a:endParaRPr>
              <a:latin typeface="Calibri"/>
              <a:ea typeface="Calibri"/>
              <a:cs typeface="Calibri"/>
              <a:sym typeface="Calibri"/>
            </a:endParaRPr>
          </a:p>
          <a:p>
            <a:pPr indent="0" lvl="0" marL="0" marR="0" rtl="0" algn="l">
              <a:spcBef>
                <a:spcPts val="0"/>
              </a:spcBef>
              <a:spcAft>
                <a:spcPts val="0"/>
              </a:spcAft>
              <a:buNone/>
            </a:pPr>
            <a:r>
              <a:rPr b="1" lang="en-GB" sz="1800">
                <a:solidFill>
                  <a:srgbClr val="CC0099"/>
                </a:solidFill>
                <a:latin typeface="Calibri"/>
                <a:ea typeface="Calibri"/>
                <a:cs typeface="Calibri"/>
                <a:sym typeface="Calibri"/>
              </a:rPr>
              <a:t>Ultraviolet</a:t>
            </a:r>
            <a:endParaRPr b="1" sz="1800">
              <a:solidFill>
                <a:srgbClr val="CC0099"/>
              </a:solidFill>
              <a:latin typeface="Calibri"/>
              <a:ea typeface="Calibri"/>
              <a:cs typeface="Calibri"/>
              <a:sym typeface="Calibri"/>
            </a:endParaRPr>
          </a:p>
        </p:txBody>
      </p:sp>
      <p:sp>
        <p:nvSpPr>
          <p:cNvPr id="144" name="Google Shape;144;p3"/>
          <p:cNvSpPr txBox="1"/>
          <p:nvPr/>
        </p:nvSpPr>
        <p:spPr>
          <a:xfrm>
            <a:off x="1827213" y="573088"/>
            <a:ext cx="6056312"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66"/>
                </a:solidFill>
                <a:latin typeface="Comic Sans MS"/>
                <a:ea typeface="Comic Sans MS"/>
                <a:cs typeface="Comic Sans MS"/>
                <a:sym typeface="Comic Sans MS"/>
              </a:rPr>
              <a:t>Frequency</a:t>
            </a:r>
            <a:r>
              <a:rPr lang="en-GB" sz="1800">
                <a:solidFill>
                  <a:schemeClr val="dk1"/>
                </a:solidFill>
                <a:latin typeface="Comic Sans MS"/>
                <a:ea typeface="Comic Sans MS"/>
                <a:cs typeface="Comic Sans MS"/>
                <a:sym typeface="Comic Sans MS"/>
              </a:rPr>
              <a:t> (f) increases as </a:t>
            </a:r>
            <a:r>
              <a:rPr b="1" i="1" lang="en-GB" sz="1800" u="sng">
                <a:solidFill>
                  <a:schemeClr val="dk1"/>
                </a:solidFill>
                <a:latin typeface="Comic Sans MS"/>
                <a:ea typeface="Comic Sans MS"/>
                <a:cs typeface="Comic Sans MS"/>
                <a:sym typeface="Comic Sans MS"/>
              </a:rPr>
              <a:t>you go across</a:t>
            </a:r>
            <a:r>
              <a:rPr lang="en-GB" sz="1800">
                <a:solidFill>
                  <a:schemeClr val="dk1"/>
                </a:solidFill>
                <a:latin typeface="Comic Sans MS"/>
                <a:ea typeface="Comic Sans MS"/>
                <a:cs typeface="Comic Sans MS"/>
                <a:sym typeface="Comic Sans MS"/>
              </a:rPr>
              <a:t> the spectrum</a:t>
            </a:r>
            <a:endParaRPr sz="1800">
              <a:solidFill>
                <a:schemeClr val="dk1"/>
              </a:solidFill>
              <a:latin typeface="Comic Sans MS"/>
              <a:ea typeface="Comic Sans MS"/>
              <a:cs typeface="Comic Sans MS"/>
              <a:sym typeface="Comic Sans MS"/>
            </a:endParaRPr>
          </a:p>
        </p:txBody>
      </p:sp>
      <p:cxnSp>
        <p:nvCxnSpPr>
          <p:cNvPr id="145" name="Google Shape;145;p3"/>
          <p:cNvCxnSpPr/>
          <p:nvPr/>
        </p:nvCxnSpPr>
        <p:spPr>
          <a:xfrm>
            <a:off x="7896225" y="765175"/>
            <a:ext cx="2376488" cy="0"/>
          </a:xfrm>
          <a:prstGeom prst="straightConnector1">
            <a:avLst/>
          </a:prstGeom>
          <a:noFill/>
          <a:ln cap="flat" cmpd="sng" w="38100">
            <a:solidFill>
              <a:schemeClr val="dk1"/>
            </a:solidFill>
            <a:prstDash val="solid"/>
            <a:round/>
            <a:headEnd len="med" w="med" type="none"/>
            <a:tailEnd len="med" w="med" type="triangle"/>
          </a:ln>
        </p:spPr>
      </p:cxnSp>
      <p:sp>
        <p:nvSpPr>
          <p:cNvPr id="146" name="Google Shape;146;p3"/>
          <p:cNvSpPr txBox="1"/>
          <p:nvPr/>
        </p:nvSpPr>
        <p:spPr>
          <a:xfrm>
            <a:off x="6096001" y="1273176"/>
            <a:ext cx="45751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66"/>
                </a:solidFill>
                <a:latin typeface="Comic Sans MS"/>
                <a:ea typeface="Comic Sans MS"/>
                <a:cs typeface="Comic Sans MS"/>
                <a:sym typeface="Comic Sans MS"/>
              </a:rPr>
              <a:t>Wavelength </a:t>
            </a:r>
            <a:r>
              <a:rPr lang="en-GB" sz="1800">
                <a:solidFill>
                  <a:schemeClr val="dk1"/>
                </a:solidFill>
                <a:latin typeface="Comic Sans MS"/>
                <a:ea typeface="Comic Sans MS"/>
                <a:cs typeface="Comic Sans MS"/>
                <a:sym typeface="Comic Sans MS"/>
              </a:rPr>
              <a:t>(λ) increases as </a:t>
            </a:r>
            <a:r>
              <a:rPr b="1" i="1" lang="en-GB" sz="1800" u="sng">
                <a:solidFill>
                  <a:schemeClr val="dk1"/>
                </a:solidFill>
                <a:latin typeface="Comic Sans MS"/>
                <a:ea typeface="Comic Sans MS"/>
                <a:cs typeface="Comic Sans MS"/>
                <a:sym typeface="Comic Sans MS"/>
              </a:rPr>
              <a:t>you go down</a:t>
            </a:r>
            <a:endParaRPr b="1" i="1" sz="1800" u="sng">
              <a:solidFill>
                <a:schemeClr val="dk1"/>
              </a:solidFill>
              <a:latin typeface="Comic Sans MS"/>
              <a:ea typeface="Comic Sans MS"/>
              <a:cs typeface="Comic Sans MS"/>
              <a:sym typeface="Comic Sans MS"/>
            </a:endParaRPr>
          </a:p>
        </p:txBody>
      </p:sp>
      <p:cxnSp>
        <p:nvCxnSpPr>
          <p:cNvPr id="147" name="Google Shape;147;p3"/>
          <p:cNvCxnSpPr/>
          <p:nvPr/>
        </p:nvCxnSpPr>
        <p:spPr>
          <a:xfrm rot="10800000">
            <a:off x="2135188" y="1484313"/>
            <a:ext cx="3960812" cy="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4"/>
          <p:cNvSpPr txBox="1"/>
          <p:nvPr>
            <p:ph type="title"/>
          </p:nvPr>
        </p:nvSpPr>
        <p:spPr>
          <a:xfrm>
            <a:off x="607226" y="-178750"/>
            <a:ext cx="11424000" cy="12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Are Electromagnetic Waves Dangerous?</a:t>
            </a:r>
            <a:endParaRPr/>
          </a:p>
        </p:txBody>
      </p:sp>
      <p:sp>
        <p:nvSpPr>
          <p:cNvPr id="155" name="Google Shape;155;p4"/>
          <p:cNvSpPr txBox="1"/>
          <p:nvPr/>
        </p:nvSpPr>
        <p:spPr>
          <a:xfrm>
            <a:off x="564681" y="809685"/>
            <a:ext cx="1126901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The shorter the wavelength (and higher the frequency) of electromagnetic waves, the more energy that they carry. </a:t>
            </a:r>
            <a:endParaRPr>
              <a:latin typeface="Calibri"/>
              <a:ea typeface="Calibri"/>
              <a:cs typeface="Calibri"/>
              <a:sym typeface="Calibri"/>
            </a:endParaRPr>
          </a:p>
        </p:txBody>
      </p:sp>
      <p:cxnSp>
        <p:nvCxnSpPr>
          <p:cNvPr id="156" name="Google Shape;156;p4"/>
          <p:cNvCxnSpPr/>
          <p:nvPr/>
        </p:nvCxnSpPr>
        <p:spPr>
          <a:xfrm>
            <a:off x="2314575" y="4038600"/>
            <a:ext cx="8026400" cy="0"/>
          </a:xfrm>
          <a:prstGeom prst="straightConnector1">
            <a:avLst/>
          </a:prstGeom>
          <a:noFill/>
          <a:ln cap="flat" cmpd="sng" w="38100">
            <a:solidFill>
              <a:schemeClr val="dk1"/>
            </a:solidFill>
            <a:prstDash val="solid"/>
            <a:round/>
            <a:headEnd len="med" w="med" type="none"/>
            <a:tailEnd len="med" w="med" type="none"/>
          </a:ln>
        </p:spPr>
      </p:cxnSp>
      <p:pic>
        <p:nvPicPr>
          <p:cNvPr descr="continuous_wave" id="157" name="Google Shape;157;p4"/>
          <p:cNvPicPr preferRelativeResize="0"/>
          <p:nvPr/>
        </p:nvPicPr>
        <p:blipFill rotWithShape="1">
          <a:blip r:embed="rId3">
            <a:alphaModFix/>
          </a:blip>
          <a:srcRect b="0" l="0" r="0" t="0"/>
          <a:stretch/>
        </p:blipFill>
        <p:spPr>
          <a:xfrm>
            <a:off x="2203450" y="2403475"/>
            <a:ext cx="8161338" cy="1144588"/>
          </a:xfrm>
          <a:prstGeom prst="rect">
            <a:avLst/>
          </a:prstGeom>
          <a:noFill/>
          <a:ln>
            <a:noFill/>
          </a:ln>
        </p:spPr>
      </p:pic>
      <p:sp>
        <p:nvSpPr>
          <p:cNvPr id="158" name="Google Shape;158;p4"/>
          <p:cNvSpPr txBox="1"/>
          <p:nvPr/>
        </p:nvSpPr>
        <p:spPr>
          <a:xfrm>
            <a:off x="9326564" y="1717675"/>
            <a:ext cx="1258887"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gamma rays</a:t>
            </a:r>
            <a:endParaRPr/>
          </a:p>
        </p:txBody>
      </p:sp>
      <p:sp>
        <p:nvSpPr>
          <p:cNvPr id="159" name="Google Shape;159;p4"/>
          <p:cNvSpPr txBox="1"/>
          <p:nvPr/>
        </p:nvSpPr>
        <p:spPr>
          <a:xfrm>
            <a:off x="8185150" y="1839914"/>
            <a:ext cx="12700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X-rays</a:t>
            </a:r>
            <a:endParaRPr/>
          </a:p>
        </p:txBody>
      </p:sp>
      <p:sp>
        <p:nvSpPr>
          <p:cNvPr id="160" name="Google Shape;160;p4"/>
          <p:cNvSpPr txBox="1"/>
          <p:nvPr/>
        </p:nvSpPr>
        <p:spPr>
          <a:xfrm>
            <a:off x="7126289" y="1839914"/>
            <a:ext cx="1049337"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UV</a:t>
            </a:r>
            <a:endParaRPr/>
          </a:p>
        </p:txBody>
      </p:sp>
      <p:sp>
        <p:nvSpPr>
          <p:cNvPr id="161" name="Google Shape;161;p4"/>
          <p:cNvSpPr txBox="1"/>
          <p:nvPr/>
        </p:nvSpPr>
        <p:spPr>
          <a:xfrm>
            <a:off x="6391276" y="1717675"/>
            <a:ext cx="1177925"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visible light</a:t>
            </a:r>
            <a:endParaRPr/>
          </a:p>
        </p:txBody>
      </p:sp>
      <p:sp>
        <p:nvSpPr>
          <p:cNvPr id="162" name="Google Shape;162;p4"/>
          <p:cNvSpPr txBox="1"/>
          <p:nvPr/>
        </p:nvSpPr>
        <p:spPr>
          <a:xfrm>
            <a:off x="5260975" y="1839914"/>
            <a:ext cx="119856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infrared</a:t>
            </a:r>
            <a:endParaRPr/>
          </a:p>
        </p:txBody>
      </p:sp>
      <p:sp>
        <p:nvSpPr>
          <p:cNvPr id="163" name="Google Shape;163;p4"/>
          <p:cNvSpPr txBox="1"/>
          <p:nvPr/>
        </p:nvSpPr>
        <p:spPr>
          <a:xfrm>
            <a:off x="3332163" y="1839914"/>
            <a:ext cx="19558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microwaves</a:t>
            </a:r>
            <a:endParaRPr/>
          </a:p>
        </p:txBody>
      </p:sp>
      <p:sp>
        <p:nvSpPr>
          <p:cNvPr id="164" name="Google Shape;164;p4"/>
          <p:cNvSpPr txBox="1"/>
          <p:nvPr/>
        </p:nvSpPr>
        <p:spPr>
          <a:xfrm>
            <a:off x="2038351" y="1717675"/>
            <a:ext cx="1020763" cy="6413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GB" sz="2000">
                <a:solidFill>
                  <a:srgbClr val="000066"/>
                </a:solidFill>
                <a:latin typeface="Comic Sans MS"/>
                <a:ea typeface="Comic Sans MS"/>
                <a:cs typeface="Comic Sans MS"/>
                <a:sym typeface="Comic Sans MS"/>
              </a:rPr>
              <a:t>radio waves</a:t>
            </a:r>
            <a:endParaRPr/>
          </a:p>
        </p:txBody>
      </p:sp>
      <p:cxnSp>
        <p:nvCxnSpPr>
          <p:cNvPr id="165" name="Google Shape;165;p4"/>
          <p:cNvCxnSpPr/>
          <p:nvPr/>
        </p:nvCxnSpPr>
        <p:spPr>
          <a:xfrm>
            <a:off x="2497138"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6" name="Google Shape;166;p4"/>
          <p:cNvCxnSpPr/>
          <p:nvPr/>
        </p:nvCxnSpPr>
        <p:spPr>
          <a:xfrm>
            <a:off x="3762375"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7" name="Google Shape;167;p4"/>
          <p:cNvCxnSpPr/>
          <p:nvPr/>
        </p:nvCxnSpPr>
        <p:spPr>
          <a:xfrm>
            <a:off x="5029200"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8" name="Google Shape;168;p4"/>
          <p:cNvCxnSpPr/>
          <p:nvPr/>
        </p:nvCxnSpPr>
        <p:spPr>
          <a:xfrm>
            <a:off x="6296025"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69" name="Google Shape;169;p4"/>
          <p:cNvCxnSpPr/>
          <p:nvPr/>
        </p:nvCxnSpPr>
        <p:spPr>
          <a:xfrm>
            <a:off x="7561263"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0" name="Google Shape;170;p4"/>
          <p:cNvCxnSpPr/>
          <p:nvPr/>
        </p:nvCxnSpPr>
        <p:spPr>
          <a:xfrm>
            <a:off x="8828088" y="3908426"/>
            <a:ext cx="0" cy="144463"/>
          </a:xfrm>
          <a:prstGeom prst="straightConnector1">
            <a:avLst/>
          </a:prstGeom>
          <a:noFill/>
          <a:ln cap="flat" cmpd="sng" w="38100">
            <a:solidFill>
              <a:schemeClr val="dk1"/>
            </a:solidFill>
            <a:prstDash val="solid"/>
            <a:round/>
            <a:headEnd len="med" w="med" type="none"/>
            <a:tailEnd len="med" w="med" type="none"/>
          </a:ln>
        </p:spPr>
      </p:cxnSp>
      <p:cxnSp>
        <p:nvCxnSpPr>
          <p:cNvPr id="171" name="Google Shape;171;p4"/>
          <p:cNvCxnSpPr/>
          <p:nvPr/>
        </p:nvCxnSpPr>
        <p:spPr>
          <a:xfrm>
            <a:off x="10094913" y="3908426"/>
            <a:ext cx="0" cy="144463"/>
          </a:xfrm>
          <a:prstGeom prst="straightConnector1">
            <a:avLst/>
          </a:prstGeom>
          <a:noFill/>
          <a:ln cap="flat" cmpd="sng" w="38100">
            <a:solidFill>
              <a:schemeClr val="dk1"/>
            </a:solidFill>
            <a:prstDash val="solid"/>
            <a:round/>
            <a:headEnd len="med" w="med" type="none"/>
            <a:tailEnd len="med" w="med" type="none"/>
          </a:ln>
        </p:spPr>
      </p:cxnSp>
      <p:pic>
        <p:nvPicPr>
          <p:cNvPr descr="red arrow" id="172" name="Google Shape;172;p4"/>
          <p:cNvPicPr preferRelativeResize="0"/>
          <p:nvPr/>
        </p:nvPicPr>
        <p:blipFill rotWithShape="1">
          <a:blip r:embed="rId4">
            <a:alphaModFix/>
          </a:blip>
          <a:srcRect b="0" l="0" r="0" t="0"/>
          <a:stretch/>
        </p:blipFill>
        <p:spPr>
          <a:xfrm>
            <a:off x="2225675" y="4048125"/>
            <a:ext cx="8172450" cy="590550"/>
          </a:xfrm>
          <a:prstGeom prst="rect">
            <a:avLst/>
          </a:prstGeom>
          <a:noFill/>
          <a:ln>
            <a:noFill/>
          </a:ln>
        </p:spPr>
      </p:pic>
      <p:sp>
        <p:nvSpPr>
          <p:cNvPr id="173" name="Google Shape;173;p4"/>
          <p:cNvSpPr txBox="1"/>
          <p:nvPr/>
        </p:nvSpPr>
        <p:spPr>
          <a:xfrm>
            <a:off x="4860926" y="4344988"/>
            <a:ext cx="26765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CC00CC"/>
                </a:solidFill>
                <a:latin typeface="Comic Sans MS"/>
                <a:ea typeface="Comic Sans MS"/>
                <a:cs typeface="Comic Sans MS"/>
                <a:sym typeface="Comic Sans MS"/>
              </a:rPr>
              <a:t>energy increases</a:t>
            </a:r>
            <a:endParaRPr/>
          </a:p>
        </p:txBody>
      </p:sp>
      <p:pic>
        <p:nvPicPr>
          <p:cNvPr descr="red arrow" id="174" name="Google Shape;174;p4"/>
          <p:cNvPicPr preferRelativeResize="0"/>
          <p:nvPr/>
        </p:nvPicPr>
        <p:blipFill rotWithShape="1">
          <a:blip r:embed="rId4">
            <a:alphaModFix/>
          </a:blip>
          <a:srcRect b="0" l="0" r="0" t="0"/>
          <a:stretch/>
        </p:blipFill>
        <p:spPr>
          <a:xfrm>
            <a:off x="2227263" y="4710113"/>
            <a:ext cx="8172450" cy="590550"/>
          </a:xfrm>
          <a:prstGeom prst="rect">
            <a:avLst/>
          </a:prstGeom>
          <a:noFill/>
          <a:ln>
            <a:noFill/>
          </a:ln>
        </p:spPr>
      </p:pic>
      <p:sp>
        <p:nvSpPr>
          <p:cNvPr id="175" name="Google Shape;175;p4"/>
          <p:cNvSpPr txBox="1"/>
          <p:nvPr/>
        </p:nvSpPr>
        <p:spPr>
          <a:xfrm>
            <a:off x="4853269" y="5019675"/>
            <a:ext cx="269977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CC00CC"/>
                </a:solidFill>
                <a:latin typeface="Comic Sans MS"/>
                <a:ea typeface="Comic Sans MS"/>
                <a:cs typeface="Comic Sans MS"/>
                <a:sym typeface="Comic Sans MS"/>
              </a:rPr>
              <a:t>hazard increases</a:t>
            </a:r>
            <a:endParaRPr/>
          </a:p>
        </p:txBody>
      </p:sp>
      <p:sp>
        <p:nvSpPr>
          <p:cNvPr id="176" name="Google Shape;176;p4"/>
          <p:cNvSpPr txBox="1"/>
          <p:nvPr/>
        </p:nvSpPr>
        <p:spPr>
          <a:xfrm>
            <a:off x="607219" y="5610225"/>
            <a:ext cx="10842000" cy="785100"/>
          </a:xfrm>
          <a:prstGeom prst="rect">
            <a:avLst/>
          </a:prstGeom>
          <a:noFill/>
          <a:ln>
            <a:noFill/>
          </a:ln>
        </p:spPr>
        <p:txBody>
          <a:bodyPr anchorCtr="0" anchor="t" bIns="0" lIns="91425" spcFirstLastPara="1" rIns="0"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High-frequency electromagnetic waves, such as gamma rays, are potentially more harmful because they have more energy.</a:t>
            </a:r>
            <a:endParaRPr>
              <a:latin typeface="Calibri"/>
              <a:ea typeface="Calibri"/>
              <a:cs typeface="Calibri"/>
              <a:sym typeface="Calibri"/>
            </a:endParaRPr>
          </a:p>
        </p:txBody>
      </p:sp>
      <p:sp>
        <p:nvSpPr>
          <p:cNvPr id="177" name="Google Shape;177;p4"/>
          <p:cNvSpPr txBox="1"/>
          <p:nvPr/>
        </p:nvSpPr>
        <p:spPr>
          <a:xfrm>
            <a:off x="9580564" y="3443289"/>
            <a:ext cx="1089024" cy="400110"/>
          </a:xfrm>
          <a:prstGeom prst="rect">
            <a:avLst/>
          </a:prstGeom>
          <a:noFill/>
          <a:ln>
            <a:noFill/>
          </a:ln>
        </p:spPr>
        <p:txBody>
          <a:bodyPr anchorCtr="0" anchor="t" bIns="45700" lIns="91425" spcFirstLastPara="1" rIns="0"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0.01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78" name="Google Shape;178;p4"/>
          <p:cNvSpPr txBox="1"/>
          <p:nvPr/>
        </p:nvSpPr>
        <p:spPr>
          <a:xfrm>
            <a:off x="7046913" y="3443289"/>
            <a:ext cx="1054100"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79" name="Google Shape;179;p4"/>
          <p:cNvSpPr txBox="1"/>
          <p:nvPr/>
        </p:nvSpPr>
        <p:spPr>
          <a:xfrm>
            <a:off x="8220075" y="3443289"/>
            <a:ext cx="117633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nm</a:t>
            </a:r>
            <a:endParaRPr/>
          </a:p>
        </p:txBody>
      </p:sp>
      <p:sp>
        <p:nvSpPr>
          <p:cNvPr id="180" name="Google Shape;180;p4"/>
          <p:cNvSpPr txBox="1"/>
          <p:nvPr/>
        </p:nvSpPr>
        <p:spPr>
          <a:xfrm>
            <a:off x="5637214" y="3443289"/>
            <a:ext cx="1290637"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0.01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mm</a:t>
            </a:r>
            <a:endParaRPr/>
          </a:p>
        </p:txBody>
      </p:sp>
      <p:sp>
        <p:nvSpPr>
          <p:cNvPr id="181" name="Google Shape;181;p4"/>
          <p:cNvSpPr txBox="1"/>
          <p:nvPr/>
        </p:nvSpPr>
        <p:spPr>
          <a:xfrm>
            <a:off x="4441825" y="3443289"/>
            <a:ext cx="116363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mm</a:t>
            </a:r>
            <a:endParaRPr/>
          </a:p>
        </p:txBody>
      </p:sp>
      <p:sp>
        <p:nvSpPr>
          <p:cNvPr id="182" name="Google Shape;182;p4"/>
          <p:cNvSpPr txBox="1"/>
          <p:nvPr/>
        </p:nvSpPr>
        <p:spPr>
          <a:xfrm>
            <a:off x="3317875" y="3443289"/>
            <a:ext cx="877888"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cm</a:t>
            </a:r>
            <a:endParaRPr/>
          </a:p>
        </p:txBody>
      </p:sp>
      <p:sp>
        <p:nvSpPr>
          <p:cNvPr id="183" name="Google Shape;183;p4"/>
          <p:cNvSpPr txBox="1"/>
          <p:nvPr/>
        </p:nvSpPr>
        <p:spPr>
          <a:xfrm>
            <a:off x="1924051" y="3443289"/>
            <a:ext cx="1135063"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000">
                <a:solidFill>
                  <a:srgbClr val="000066"/>
                </a:solidFill>
                <a:latin typeface="Comic Sans MS"/>
                <a:ea typeface="Comic Sans MS"/>
                <a:cs typeface="Comic Sans MS"/>
                <a:sym typeface="Comic Sans MS"/>
              </a:rPr>
              <a:t>10</a:t>
            </a:r>
            <a:r>
              <a:rPr b="1" lang="en-GB" sz="1000">
                <a:solidFill>
                  <a:srgbClr val="000066"/>
                </a:solidFill>
                <a:latin typeface="Comic Sans MS"/>
                <a:ea typeface="Comic Sans MS"/>
                <a:cs typeface="Comic Sans MS"/>
                <a:sym typeface="Comic Sans MS"/>
              </a:rPr>
              <a:t> </a:t>
            </a:r>
            <a:r>
              <a:rPr b="1" lang="en-GB" sz="2000">
                <a:solidFill>
                  <a:srgbClr val="000066"/>
                </a:solidFill>
                <a:latin typeface="Comic Sans MS"/>
                <a:ea typeface="Comic Sans MS"/>
                <a:cs typeface="Comic Sans MS"/>
                <a:sym typeface="Comic Sans MS"/>
              </a:rPr>
              <a:t>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5"/>
          <p:cNvSpPr txBox="1"/>
          <p:nvPr>
            <p:ph type="title"/>
          </p:nvPr>
        </p:nvSpPr>
        <p:spPr>
          <a:xfrm>
            <a:off x="400318" y="-21516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do Electromagnetic Waves Differ?</a:t>
            </a:r>
            <a:endParaRPr/>
          </a:p>
        </p:txBody>
      </p:sp>
      <p:sp>
        <p:nvSpPr>
          <p:cNvPr id="191" name="Google Shape;191;p5"/>
          <p:cNvSpPr txBox="1"/>
          <p:nvPr/>
        </p:nvSpPr>
        <p:spPr>
          <a:xfrm>
            <a:off x="1030056" y="784226"/>
            <a:ext cx="623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000066"/>
                </a:solidFill>
                <a:latin typeface="Calibri"/>
                <a:ea typeface="Calibri"/>
                <a:cs typeface="Calibri"/>
                <a:sym typeface="Calibri"/>
              </a:rPr>
              <a:t>Different</a:t>
            </a:r>
            <a:r>
              <a:rPr lang="en-GB" sz="2400">
                <a:solidFill>
                  <a:srgbClr val="000066"/>
                </a:solidFill>
                <a:latin typeface="Calibri"/>
                <a:ea typeface="Calibri"/>
                <a:cs typeface="Calibri"/>
                <a:sym typeface="Calibri"/>
              </a:rPr>
              <a:t> electromagnetic waves carry different amounts of </a:t>
            </a:r>
            <a:r>
              <a:rPr b="1" lang="en-GB" sz="2400">
                <a:solidFill>
                  <a:srgbClr val="000066"/>
                </a:solidFill>
                <a:latin typeface="Calibri"/>
                <a:ea typeface="Calibri"/>
                <a:cs typeface="Calibri"/>
                <a:sym typeface="Calibri"/>
              </a:rPr>
              <a:t>energy</a:t>
            </a:r>
            <a:r>
              <a:rPr lang="en-GB" sz="2400">
                <a:solidFill>
                  <a:srgbClr val="000066"/>
                </a:solidFill>
                <a:latin typeface="Calibri"/>
                <a:ea typeface="Calibri"/>
                <a:cs typeface="Calibri"/>
                <a:sym typeface="Calibri"/>
              </a:rPr>
              <a:t>. </a:t>
            </a:r>
            <a:endParaRPr>
              <a:latin typeface="Calibri"/>
              <a:ea typeface="Calibri"/>
              <a:cs typeface="Calibri"/>
              <a:sym typeface="Calibri"/>
            </a:endParaRPr>
          </a:p>
        </p:txBody>
      </p:sp>
      <p:pic>
        <p:nvPicPr>
          <p:cNvPr descr="9814806_credit" id="192" name="Google Shape;192;p5"/>
          <p:cNvPicPr preferRelativeResize="0"/>
          <p:nvPr/>
        </p:nvPicPr>
        <p:blipFill rotWithShape="1">
          <a:blip r:embed="rId3">
            <a:alphaModFix/>
          </a:blip>
          <a:srcRect b="0" l="0" r="0" t="0"/>
          <a:stretch/>
        </p:blipFill>
        <p:spPr>
          <a:xfrm>
            <a:off x="7245351" y="796925"/>
            <a:ext cx="2919413" cy="1816100"/>
          </a:xfrm>
          <a:prstGeom prst="rect">
            <a:avLst/>
          </a:prstGeom>
          <a:noFill/>
          <a:ln>
            <a:noFill/>
          </a:ln>
        </p:spPr>
      </p:pic>
      <p:sp>
        <p:nvSpPr>
          <p:cNvPr id="193" name="Google Shape;193;p5"/>
          <p:cNvSpPr txBox="1"/>
          <p:nvPr/>
        </p:nvSpPr>
        <p:spPr>
          <a:xfrm>
            <a:off x="332866" y="2674445"/>
            <a:ext cx="11618728"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Noto Sans Symbols"/>
              <a:buChar char="●"/>
            </a:pPr>
            <a:r>
              <a:rPr lang="en-GB" sz="2400">
                <a:solidFill>
                  <a:srgbClr val="000066"/>
                </a:solidFill>
                <a:latin typeface="Calibri"/>
                <a:ea typeface="Calibri"/>
                <a:cs typeface="Calibri"/>
                <a:sym typeface="Calibri"/>
              </a:rPr>
              <a:t>The amount of energy carried by an electromagnetic wave depends on the wavelength: </a:t>
            </a:r>
            <a:r>
              <a:rPr b="1" lang="en-GB" sz="2400">
                <a:solidFill>
                  <a:srgbClr val="CC00CC"/>
                </a:solidFill>
                <a:latin typeface="Calibri"/>
                <a:ea typeface="Calibri"/>
                <a:cs typeface="Calibri"/>
                <a:sym typeface="Calibri"/>
              </a:rPr>
              <a:t>the shorter the wavelength</a:t>
            </a:r>
            <a:r>
              <a:rPr lang="en-GB" sz="2400">
                <a:solidFill>
                  <a:srgbClr val="000066"/>
                </a:solidFill>
                <a:latin typeface="Calibri"/>
                <a:ea typeface="Calibri"/>
                <a:cs typeface="Calibri"/>
                <a:sym typeface="Calibri"/>
              </a:rPr>
              <a:t>, </a:t>
            </a:r>
            <a:r>
              <a:rPr b="1" lang="en-GB" sz="2400">
                <a:solidFill>
                  <a:srgbClr val="CC00CC"/>
                </a:solidFill>
                <a:latin typeface="Calibri"/>
                <a:ea typeface="Calibri"/>
                <a:cs typeface="Calibri"/>
                <a:sym typeface="Calibri"/>
              </a:rPr>
              <a:t>the higher its energy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
        <p:nvSpPr>
          <p:cNvPr id="194" name="Google Shape;194;p5"/>
          <p:cNvSpPr/>
          <p:nvPr/>
        </p:nvSpPr>
        <p:spPr>
          <a:xfrm>
            <a:off x="2113455" y="5861564"/>
            <a:ext cx="80954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Do microwaves have a shorter wavelength than X-rays?</a:t>
            </a:r>
            <a:endParaRPr>
              <a:latin typeface="Calibri"/>
              <a:ea typeface="Calibri"/>
              <a:cs typeface="Calibri"/>
              <a:sym typeface="Calibri"/>
            </a:endParaRPr>
          </a:p>
        </p:txBody>
      </p:sp>
      <p:sp>
        <p:nvSpPr>
          <p:cNvPr id="195" name="Google Shape;195;p5"/>
          <p:cNvSpPr txBox="1"/>
          <p:nvPr/>
        </p:nvSpPr>
        <p:spPr>
          <a:xfrm>
            <a:off x="1072570" y="1700214"/>
            <a:ext cx="597434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For example, </a:t>
            </a:r>
            <a:r>
              <a:rPr b="1" lang="en-GB" sz="2400">
                <a:solidFill>
                  <a:srgbClr val="000066"/>
                </a:solidFill>
                <a:latin typeface="Calibri"/>
                <a:ea typeface="Calibri"/>
                <a:cs typeface="Calibri"/>
                <a:sym typeface="Calibri"/>
              </a:rPr>
              <a:t>microwaves</a:t>
            </a:r>
            <a:r>
              <a:rPr lang="en-GB" sz="2400">
                <a:solidFill>
                  <a:srgbClr val="000066"/>
                </a:solidFill>
                <a:latin typeface="Calibri"/>
                <a:ea typeface="Calibri"/>
                <a:cs typeface="Calibri"/>
                <a:sym typeface="Calibri"/>
              </a:rPr>
              <a:t> carry less energy than </a:t>
            </a:r>
            <a:r>
              <a:rPr b="1" lang="en-GB" sz="2400">
                <a:solidFill>
                  <a:srgbClr val="000066"/>
                </a:solidFill>
                <a:latin typeface="Calibri"/>
                <a:ea typeface="Calibri"/>
                <a:cs typeface="Calibri"/>
                <a:sym typeface="Calibri"/>
              </a:rPr>
              <a:t>X-rays.</a:t>
            </a:r>
            <a:endParaRPr b="1">
              <a:latin typeface="Calibri"/>
              <a:ea typeface="Calibri"/>
              <a:cs typeface="Calibri"/>
              <a:sym typeface="Calibri"/>
            </a:endParaRPr>
          </a:p>
        </p:txBody>
      </p:sp>
      <p:sp>
        <p:nvSpPr>
          <p:cNvPr id="196" name="Google Shape;196;p5"/>
          <p:cNvSpPr txBox="1"/>
          <p:nvPr/>
        </p:nvSpPr>
        <p:spPr>
          <a:xfrm>
            <a:off x="332866" y="3721101"/>
            <a:ext cx="11618728"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Noto Sans Symbols"/>
              <a:buChar char="●"/>
            </a:pPr>
            <a:r>
              <a:rPr lang="en-GB" sz="2400">
                <a:solidFill>
                  <a:srgbClr val="000066"/>
                </a:solidFill>
                <a:latin typeface="Calibri"/>
                <a:ea typeface="Calibri"/>
                <a:cs typeface="Calibri"/>
                <a:sym typeface="Calibri"/>
              </a:rPr>
              <a:t>Wavelength and frequency are linked properties of a wave:                                                       </a:t>
            </a:r>
            <a:r>
              <a:rPr b="1" lang="en-GB" sz="2400">
                <a:solidFill>
                  <a:srgbClr val="CC00CC"/>
                </a:solidFill>
                <a:latin typeface="Calibri"/>
                <a:ea typeface="Calibri"/>
                <a:cs typeface="Calibri"/>
                <a:sym typeface="Calibri"/>
              </a:rPr>
              <a:t>the shorter the wavelength</a:t>
            </a:r>
            <a:r>
              <a:rPr lang="en-GB" sz="2400">
                <a:solidFill>
                  <a:srgbClr val="000066"/>
                </a:solidFill>
                <a:latin typeface="Calibri"/>
                <a:ea typeface="Calibri"/>
                <a:cs typeface="Calibri"/>
                <a:sym typeface="Calibri"/>
              </a:rPr>
              <a:t>,</a:t>
            </a:r>
            <a:r>
              <a:rPr b="1" lang="en-GB" sz="2400">
                <a:solidFill>
                  <a:srgbClr val="CC00CC"/>
                </a:solidFill>
                <a:latin typeface="Calibri"/>
                <a:ea typeface="Calibri"/>
                <a:cs typeface="Calibri"/>
                <a:sym typeface="Calibri"/>
              </a:rPr>
              <a:t> the higher its frequency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
        <p:nvSpPr>
          <p:cNvPr id="197" name="Google Shape;197;p5"/>
          <p:cNvSpPr txBox="1"/>
          <p:nvPr/>
        </p:nvSpPr>
        <p:spPr>
          <a:xfrm>
            <a:off x="400318" y="4827589"/>
            <a:ext cx="11171689"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So, frequency also tells you about the energy of a wave: </a:t>
            </a:r>
            <a:endParaRPr>
              <a:latin typeface="Calibri"/>
              <a:ea typeface="Calibri"/>
              <a:cs typeface="Calibri"/>
              <a:sym typeface="Calibri"/>
            </a:endParaRPr>
          </a:p>
          <a:p>
            <a:pPr indent="-355600" lvl="0" marL="355600" marR="0" rtl="0" algn="l">
              <a:spcBef>
                <a:spcPts val="0"/>
              </a:spcBef>
              <a:spcAft>
                <a:spcPts val="0"/>
              </a:spcAft>
              <a:buNone/>
            </a:pPr>
            <a:r>
              <a:rPr b="1" lang="en-GB" sz="2400">
                <a:solidFill>
                  <a:srgbClr val="CC00CC"/>
                </a:solidFill>
                <a:latin typeface="Calibri"/>
                <a:ea typeface="Calibri"/>
                <a:cs typeface="Calibri"/>
                <a:sym typeface="Calibri"/>
              </a:rPr>
              <a:t>	the higher its frequency</a:t>
            </a:r>
            <a:r>
              <a:rPr lang="en-GB" sz="2400">
                <a:solidFill>
                  <a:srgbClr val="000066"/>
                </a:solidFill>
                <a:latin typeface="Calibri"/>
                <a:ea typeface="Calibri"/>
                <a:cs typeface="Calibri"/>
                <a:sym typeface="Calibri"/>
              </a:rPr>
              <a:t>,</a:t>
            </a:r>
            <a:r>
              <a:rPr b="1" lang="en-GB" sz="2400">
                <a:solidFill>
                  <a:srgbClr val="CC00CC"/>
                </a:solidFill>
                <a:latin typeface="Calibri"/>
                <a:ea typeface="Calibri"/>
                <a:cs typeface="Calibri"/>
                <a:sym typeface="Calibri"/>
              </a:rPr>
              <a:t> the higher the energy</a:t>
            </a:r>
            <a:r>
              <a:rPr lang="en-GB" sz="2400">
                <a:solidFill>
                  <a:srgbClr val="000066"/>
                </a:solidFill>
                <a:latin typeface="Calibri"/>
                <a:ea typeface="Calibri"/>
                <a:cs typeface="Calibri"/>
                <a:sym typeface="Calibri"/>
              </a:rPr>
              <a:t>.</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1. Radio Waves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7"/>
          <p:cNvSpPr txBox="1"/>
          <p:nvPr>
            <p:ph type="title"/>
          </p:nvPr>
        </p:nvSpPr>
        <p:spPr>
          <a:xfrm>
            <a:off x="2048584" y="253219"/>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Radio Waves</a:t>
            </a:r>
            <a:endParaRPr/>
          </a:p>
        </p:txBody>
      </p:sp>
      <p:sp>
        <p:nvSpPr>
          <p:cNvPr id="208" name="Google Shape;208;p7"/>
          <p:cNvSpPr txBox="1"/>
          <p:nvPr>
            <p:ph idx="1" type="body"/>
          </p:nvPr>
        </p:nvSpPr>
        <p:spPr>
          <a:xfrm>
            <a:off x="239151" y="1796244"/>
            <a:ext cx="5620263" cy="45259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Calibri"/>
              <a:buChar char="•"/>
            </a:pPr>
            <a:r>
              <a:rPr lang="en-GB" sz="2400"/>
              <a:t>Radio waves have the longest wavelengths in the electromagnetic spectrum. </a:t>
            </a:r>
            <a:endParaRPr/>
          </a:p>
          <a:p>
            <a:pPr indent="-228600" lvl="0" marL="228600" rtl="0" algn="l">
              <a:lnSpc>
                <a:spcPct val="90000"/>
              </a:lnSpc>
              <a:spcBef>
                <a:spcPts val="1000"/>
              </a:spcBef>
              <a:spcAft>
                <a:spcPts val="0"/>
              </a:spcAft>
              <a:buClr>
                <a:schemeClr val="dk1"/>
              </a:buClr>
              <a:buSzPts val="2400"/>
              <a:buFont typeface="Calibri"/>
              <a:buChar char="•"/>
            </a:pPr>
            <a:r>
              <a:rPr lang="en-GB" sz="2400"/>
              <a:t>These waves can be longer than a football field or as short as a football. </a:t>
            </a:r>
            <a:endParaRPr/>
          </a:p>
          <a:p>
            <a:pPr indent="-228600" lvl="0" marL="228600" rtl="0" algn="l">
              <a:lnSpc>
                <a:spcPct val="90000"/>
              </a:lnSpc>
              <a:spcBef>
                <a:spcPts val="1000"/>
              </a:spcBef>
              <a:spcAft>
                <a:spcPts val="0"/>
              </a:spcAft>
              <a:buClr>
                <a:schemeClr val="dk1"/>
              </a:buClr>
              <a:buSzPts val="2400"/>
              <a:buFont typeface="Calibri"/>
              <a:buChar char="•"/>
            </a:pPr>
            <a:r>
              <a:rPr lang="en-GB" sz="2400"/>
              <a:t>Radio waves do more than just bring music to your radio. They also carry signals for your television and mobile phones</a:t>
            </a:r>
            <a:endParaRPr/>
          </a:p>
        </p:txBody>
      </p:sp>
      <p:pic>
        <p:nvPicPr>
          <p:cNvPr descr="Image of a portable radio." id="209" name="Google Shape;209;p7"/>
          <p:cNvPicPr preferRelativeResize="0"/>
          <p:nvPr>
            <p:ph idx="2" type="body"/>
          </p:nvPr>
        </p:nvPicPr>
        <p:blipFill rotWithShape="1">
          <a:blip r:embed="rId3">
            <a:alphaModFix/>
          </a:blip>
          <a:srcRect b="0" l="0" r="0" t="0"/>
          <a:stretch/>
        </p:blipFill>
        <p:spPr>
          <a:xfrm>
            <a:off x="6305916" y="824719"/>
            <a:ext cx="5046711" cy="3448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915474" y="-24629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do radio waves affect humans?</a:t>
            </a:r>
            <a:endParaRPr/>
          </a:p>
        </p:txBody>
      </p:sp>
      <p:sp>
        <p:nvSpPr>
          <p:cNvPr id="217" name="Google Shape;217;p8"/>
          <p:cNvSpPr txBox="1"/>
          <p:nvPr/>
        </p:nvSpPr>
        <p:spPr>
          <a:xfrm>
            <a:off x="141668" y="784226"/>
            <a:ext cx="90225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000066"/>
                </a:solidFill>
                <a:latin typeface="Calibri"/>
                <a:ea typeface="Calibri"/>
                <a:cs typeface="Calibri"/>
                <a:sym typeface="Calibri"/>
              </a:rPr>
              <a:t>Radio waves </a:t>
            </a:r>
            <a:endParaRPr b="1" sz="2400">
              <a:solidFill>
                <a:srgbClr val="000066"/>
              </a:solidFill>
              <a:latin typeface="Calibri"/>
              <a:ea typeface="Calibri"/>
              <a:cs typeface="Calibri"/>
              <a:sym typeface="Calibri"/>
            </a:endParaRPr>
          </a:p>
          <a:p>
            <a:pPr indent="-381000" lvl="0" marL="457200" marR="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The longest-wavelength electromagnetic waves and mostly pass through the body. </a:t>
            </a:r>
            <a:endParaRPr sz="2400">
              <a:solidFill>
                <a:srgbClr val="000066"/>
              </a:solidFill>
              <a:latin typeface="Calibri"/>
              <a:ea typeface="Calibri"/>
              <a:cs typeface="Calibri"/>
              <a:sym typeface="Calibri"/>
            </a:endParaRPr>
          </a:p>
          <a:p>
            <a:pPr indent="-381000" lvl="0" marL="457200" rtl="0" algn="l">
              <a:spcBef>
                <a:spcPts val="0"/>
              </a:spcBef>
              <a:spcAft>
                <a:spcPts val="0"/>
              </a:spcAft>
              <a:buClr>
                <a:srgbClr val="000066"/>
              </a:buClr>
              <a:buSzPts val="2400"/>
              <a:buFont typeface="Calibri"/>
              <a:buChar char="●"/>
            </a:pPr>
            <a:r>
              <a:rPr lang="en-GB" sz="2400">
                <a:solidFill>
                  <a:srgbClr val="000066"/>
                </a:solidFill>
                <a:latin typeface="Calibri"/>
                <a:ea typeface="Calibri"/>
                <a:cs typeface="Calibri"/>
                <a:sym typeface="Calibri"/>
              </a:rPr>
              <a:t>They are not strongly absorbed and are thought to have no effect on the health of living tissue. </a:t>
            </a:r>
            <a:endParaRPr sz="2400">
              <a:solidFill>
                <a:srgbClr val="000066"/>
              </a:solidFill>
              <a:latin typeface="Calibri"/>
              <a:ea typeface="Calibri"/>
              <a:cs typeface="Calibri"/>
              <a:sym typeface="Calibri"/>
            </a:endParaRPr>
          </a:p>
          <a:p>
            <a:pPr indent="0" lvl="0" marL="457200" rtl="0" algn="l">
              <a:spcBef>
                <a:spcPts val="0"/>
              </a:spcBef>
              <a:spcAft>
                <a:spcPts val="0"/>
              </a:spcAft>
              <a:buNone/>
            </a:pPr>
            <a:r>
              <a:t/>
            </a:r>
            <a:endParaRPr sz="2400">
              <a:solidFill>
                <a:srgbClr val="000066"/>
              </a:solidFill>
              <a:latin typeface="Calibri"/>
              <a:ea typeface="Calibri"/>
              <a:cs typeface="Calibri"/>
              <a:sym typeface="Calibri"/>
            </a:endParaRPr>
          </a:p>
        </p:txBody>
      </p:sp>
      <p:pic>
        <p:nvPicPr>
          <p:cNvPr descr="PC1_gfx_radio" id="218" name="Google Shape;218;p8"/>
          <p:cNvPicPr preferRelativeResize="0"/>
          <p:nvPr/>
        </p:nvPicPr>
        <p:blipFill rotWithShape="1">
          <a:blip r:embed="rId3">
            <a:alphaModFix/>
          </a:blip>
          <a:srcRect b="0" l="0" r="0" t="0"/>
          <a:stretch/>
        </p:blipFill>
        <p:spPr>
          <a:xfrm>
            <a:off x="9848599" y="131637"/>
            <a:ext cx="2266950" cy="2266950"/>
          </a:xfrm>
          <a:prstGeom prst="rect">
            <a:avLst/>
          </a:prstGeom>
          <a:noFill/>
          <a:ln>
            <a:noFill/>
          </a:ln>
        </p:spPr>
      </p:pic>
      <p:sp>
        <p:nvSpPr>
          <p:cNvPr id="219" name="Google Shape;219;p8"/>
          <p:cNvSpPr txBox="1"/>
          <p:nvPr/>
        </p:nvSpPr>
        <p:spPr>
          <a:xfrm>
            <a:off x="141683" y="2030414"/>
            <a:ext cx="8652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latin typeface="Calibri"/>
              <a:ea typeface="Calibri"/>
              <a:cs typeface="Calibri"/>
              <a:sym typeface="Calibri"/>
            </a:endParaRPr>
          </a:p>
        </p:txBody>
      </p:sp>
      <p:pic>
        <p:nvPicPr>
          <p:cNvPr id="220" name="Google Shape;220;p8"/>
          <p:cNvPicPr preferRelativeResize="0"/>
          <p:nvPr/>
        </p:nvPicPr>
        <p:blipFill>
          <a:blip r:embed="rId4">
            <a:alphaModFix/>
          </a:blip>
          <a:stretch>
            <a:fillRect/>
          </a:stretch>
        </p:blipFill>
        <p:spPr>
          <a:xfrm>
            <a:off x="152400" y="3245426"/>
            <a:ext cx="4607122" cy="3460174"/>
          </a:xfrm>
          <a:prstGeom prst="rect">
            <a:avLst/>
          </a:prstGeom>
          <a:noFill/>
          <a:ln>
            <a:noFill/>
          </a:ln>
        </p:spPr>
      </p:pic>
      <p:sp>
        <p:nvSpPr>
          <p:cNvPr id="221" name="Google Shape;221;p8"/>
          <p:cNvSpPr txBox="1"/>
          <p:nvPr/>
        </p:nvSpPr>
        <p:spPr>
          <a:xfrm>
            <a:off x="5344250" y="3159150"/>
            <a:ext cx="6239400" cy="31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rgbClr val="0B5394"/>
                </a:solidFill>
                <a:latin typeface="Calibri"/>
                <a:ea typeface="Calibri"/>
                <a:cs typeface="Calibri"/>
                <a:sym typeface="Calibri"/>
              </a:rPr>
              <a:t>Mt Wellington (kunanyi) Radio Tower</a:t>
            </a:r>
            <a:endParaRPr b="1" sz="2800">
              <a:solidFill>
                <a:srgbClr val="0B5394"/>
              </a:solidFill>
              <a:latin typeface="Calibri"/>
              <a:ea typeface="Calibri"/>
              <a:cs typeface="Calibri"/>
              <a:sym typeface="Calibri"/>
            </a:endParaRPr>
          </a:p>
          <a:p>
            <a:pPr indent="-406400" lvl="0" marL="457200" rtl="0" algn="l">
              <a:spcBef>
                <a:spcPts val="0"/>
              </a:spcBef>
              <a:spcAft>
                <a:spcPts val="0"/>
              </a:spcAft>
              <a:buClr>
                <a:srgbClr val="0B5394"/>
              </a:buClr>
              <a:buSzPts val="2800"/>
              <a:buFont typeface="Calibri"/>
              <a:buChar char="●"/>
            </a:pPr>
            <a:r>
              <a:rPr lang="en-GB" sz="2800">
                <a:solidFill>
                  <a:srgbClr val="0B5394"/>
                </a:solidFill>
                <a:latin typeface="Calibri"/>
                <a:ea typeface="Calibri"/>
                <a:cs typeface="Calibri"/>
                <a:sym typeface="Calibri"/>
              </a:rPr>
              <a:t>130m tall!!</a:t>
            </a:r>
            <a:endParaRPr sz="2800">
              <a:solidFill>
                <a:srgbClr val="0B5394"/>
              </a:solidFill>
              <a:latin typeface="Calibri"/>
              <a:ea typeface="Calibri"/>
              <a:cs typeface="Calibri"/>
              <a:sym typeface="Calibri"/>
            </a:endParaRPr>
          </a:p>
          <a:p>
            <a:pPr indent="-406400" lvl="0" marL="457200" rtl="0" algn="l">
              <a:spcBef>
                <a:spcPts val="0"/>
              </a:spcBef>
              <a:spcAft>
                <a:spcPts val="0"/>
              </a:spcAft>
              <a:buClr>
                <a:srgbClr val="0B5394"/>
              </a:buClr>
              <a:buSzPts val="2800"/>
              <a:buFont typeface="Calibri"/>
              <a:buChar char="●"/>
            </a:pPr>
            <a:r>
              <a:rPr lang="en-GB" sz="2800">
                <a:solidFill>
                  <a:srgbClr val="0B5394"/>
                </a:solidFill>
                <a:latin typeface="Calibri"/>
                <a:ea typeface="Calibri"/>
                <a:cs typeface="Calibri"/>
                <a:sym typeface="Calibri"/>
              </a:rPr>
              <a:t>Delivers Free-to-air Television and Radio via Radio waves throughout Hobart.</a:t>
            </a:r>
            <a:endParaRPr sz="2800">
              <a:solidFill>
                <a:srgbClr val="0B5394"/>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6" name="Shape 226"/>
        <p:cNvGrpSpPr/>
        <p:nvPr/>
      </p:nvGrpSpPr>
      <p:grpSpPr>
        <a:xfrm>
          <a:off x="0" y="0"/>
          <a:ext cx="0" cy="0"/>
          <a:chOff x="0" y="0"/>
          <a:chExt cx="0" cy="0"/>
        </a:xfrm>
      </p:grpSpPr>
      <p:sp>
        <p:nvSpPr>
          <p:cNvPr id="227" name="Google Shape;227;p9"/>
          <p:cNvSpPr txBox="1"/>
          <p:nvPr>
            <p:ph idx="4294967295" type="title"/>
          </p:nvPr>
        </p:nvSpPr>
        <p:spPr>
          <a:xfrm>
            <a:off x="333375" y="-15417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Sending signals into space</a:t>
            </a:r>
            <a:endParaRPr/>
          </a:p>
        </p:txBody>
      </p:sp>
      <p:sp>
        <p:nvSpPr>
          <p:cNvPr id="228" name="Google Shape;228;p9"/>
          <p:cNvSpPr txBox="1"/>
          <p:nvPr/>
        </p:nvSpPr>
        <p:spPr>
          <a:xfrm>
            <a:off x="478977" y="1042407"/>
            <a:ext cx="1094458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10066"/>
              </a:buClr>
              <a:buSzPts val="2400"/>
              <a:buFont typeface="Noto Sans Symbols"/>
              <a:buNone/>
            </a:pPr>
            <a:r>
              <a:rPr lang="en-GB" sz="2400">
                <a:solidFill>
                  <a:srgbClr val="010066"/>
                </a:solidFill>
                <a:latin typeface="Comic Sans MS"/>
                <a:ea typeface="Comic Sans MS"/>
                <a:cs typeface="Comic Sans MS"/>
                <a:sym typeface="Comic Sans MS"/>
              </a:rPr>
              <a:t>Some radio waves follow the contours of the Earth. These are called </a:t>
            </a:r>
            <a:r>
              <a:rPr b="1" lang="en-GB" sz="2400">
                <a:solidFill>
                  <a:srgbClr val="CC00CC"/>
                </a:solidFill>
                <a:latin typeface="Comic Sans MS"/>
                <a:ea typeface="Comic Sans MS"/>
                <a:cs typeface="Comic Sans MS"/>
                <a:sym typeface="Comic Sans MS"/>
              </a:rPr>
              <a:t>ground waves</a:t>
            </a:r>
            <a:r>
              <a:rPr lang="en-GB" sz="2400">
                <a:solidFill>
                  <a:srgbClr val="010066"/>
                </a:solidFill>
                <a:latin typeface="Comic Sans MS"/>
                <a:ea typeface="Comic Sans MS"/>
                <a:cs typeface="Comic Sans MS"/>
                <a:sym typeface="Comic Sans MS"/>
              </a:rPr>
              <a:t>. These are typically waves with a frequency of 3–3,000</a:t>
            </a:r>
            <a:r>
              <a:rPr lang="en-GB" sz="1000">
                <a:solidFill>
                  <a:srgbClr val="010066"/>
                </a:solidFill>
                <a:latin typeface="Comic Sans MS"/>
                <a:ea typeface="Comic Sans MS"/>
                <a:cs typeface="Comic Sans MS"/>
                <a:sym typeface="Comic Sans MS"/>
              </a:rPr>
              <a:t> </a:t>
            </a:r>
            <a:r>
              <a:rPr lang="en-GB" sz="2400">
                <a:solidFill>
                  <a:srgbClr val="010066"/>
                </a:solidFill>
                <a:latin typeface="Comic Sans MS"/>
                <a:ea typeface="Comic Sans MS"/>
                <a:cs typeface="Comic Sans MS"/>
                <a:sym typeface="Comic Sans MS"/>
              </a:rPr>
              <a:t>kHz because their long wavelength means they diffract around the curves of the Earth’s surface. </a:t>
            </a:r>
            <a:endParaRPr/>
          </a:p>
        </p:txBody>
      </p:sp>
      <p:sp>
        <p:nvSpPr>
          <p:cNvPr id="229" name="Google Shape;229;p9"/>
          <p:cNvSpPr txBox="1"/>
          <p:nvPr/>
        </p:nvSpPr>
        <p:spPr>
          <a:xfrm>
            <a:off x="545114" y="3171570"/>
            <a:ext cx="6462736"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10066"/>
              </a:buClr>
              <a:buSzPts val="2400"/>
              <a:buFont typeface="Noto Sans Symbols"/>
              <a:buNone/>
            </a:pPr>
            <a:r>
              <a:rPr lang="en-GB" sz="2400">
                <a:solidFill>
                  <a:srgbClr val="010066"/>
                </a:solidFill>
                <a:latin typeface="Comic Sans MS"/>
                <a:ea typeface="Comic Sans MS"/>
                <a:cs typeface="Comic Sans MS"/>
                <a:sym typeface="Comic Sans MS"/>
              </a:rPr>
              <a:t>Radio waves that refract  through the ionosphere and return to Earth, giving the impression of reflection, are called </a:t>
            </a:r>
            <a:r>
              <a:rPr b="1" lang="en-GB" sz="2400">
                <a:solidFill>
                  <a:srgbClr val="CC00CC"/>
                </a:solidFill>
                <a:latin typeface="Comic Sans MS"/>
                <a:ea typeface="Comic Sans MS"/>
                <a:cs typeface="Comic Sans MS"/>
                <a:sym typeface="Comic Sans MS"/>
              </a:rPr>
              <a:t>sky waves</a:t>
            </a:r>
            <a:r>
              <a:rPr lang="en-GB" sz="2400">
                <a:solidFill>
                  <a:srgbClr val="010066"/>
                </a:solidFill>
                <a:latin typeface="Comic Sans MS"/>
                <a:ea typeface="Comic Sans MS"/>
                <a:cs typeface="Comic Sans MS"/>
                <a:sym typeface="Comic Sans MS"/>
              </a:rPr>
              <a:t>. Their frequencies are 3–30</a:t>
            </a:r>
            <a:r>
              <a:rPr lang="en-GB" sz="1000">
                <a:solidFill>
                  <a:srgbClr val="010066"/>
                </a:solidFill>
                <a:latin typeface="Comic Sans MS"/>
                <a:ea typeface="Comic Sans MS"/>
                <a:cs typeface="Comic Sans MS"/>
                <a:sym typeface="Comic Sans MS"/>
              </a:rPr>
              <a:t> </a:t>
            </a:r>
            <a:r>
              <a:rPr lang="en-GB" sz="2400">
                <a:solidFill>
                  <a:srgbClr val="010066"/>
                </a:solidFill>
                <a:latin typeface="Comic Sans MS"/>
                <a:ea typeface="Comic Sans MS"/>
                <a:cs typeface="Comic Sans MS"/>
                <a:sym typeface="Comic Sans MS"/>
              </a:rPr>
              <a:t>MHz.</a:t>
            </a:r>
            <a:endParaRPr sz="2400">
              <a:solidFill>
                <a:srgbClr val="010066"/>
              </a:solidFill>
              <a:latin typeface="Comic Sans MS"/>
              <a:ea typeface="Comic Sans MS"/>
              <a:cs typeface="Comic Sans MS"/>
              <a:sym typeface="Comic Sans MS"/>
            </a:endParaRPr>
          </a:p>
        </p:txBody>
      </p:sp>
      <p:sp>
        <p:nvSpPr>
          <p:cNvPr id="230" name="Google Shape;230;p9"/>
          <p:cNvSpPr/>
          <p:nvPr/>
        </p:nvSpPr>
        <p:spPr>
          <a:xfrm>
            <a:off x="545114" y="5427131"/>
            <a:ext cx="1063374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10066"/>
              </a:buClr>
              <a:buSzPts val="2400"/>
              <a:buFont typeface="Noto Sans Symbols"/>
              <a:buNone/>
            </a:pPr>
            <a:r>
              <a:rPr lang="en-GB" sz="2400">
                <a:solidFill>
                  <a:srgbClr val="010066"/>
                </a:solidFill>
                <a:latin typeface="Comic Sans MS"/>
                <a:ea typeface="Comic Sans MS"/>
                <a:cs typeface="Comic Sans MS"/>
                <a:sym typeface="Comic Sans MS"/>
              </a:rPr>
              <a:t>At frequencies over 30</a:t>
            </a:r>
            <a:r>
              <a:rPr lang="en-GB" sz="1000">
                <a:solidFill>
                  <a:srgbClr val="010066"/>
                </a:solidFill>
                <a:latin typeface="Comic Sans MS"/>
                <a:ea typeface="Comic Sans MS"/>
                <a:cs typeface="Comic Sans MS"/>
                <a:sym typeface="Comic Sans MS"/>
              </a:rPr>
              <a:t> </a:t>
            </a:r>
            <a:r>
              <a:rPr lang="en-GB" sz="2400">
                <a:solidFill>
                  <a:srgbClr val="010066"/>
                </a:solidFill>
                <a:latin typeface="Comic Sans MS"/>
                <a:ea typeface="Comic Sans MS"/>
                <a:cs typeface="Comic Sans MS"/>
                <a:sym typeface="Comic Sans MS"/>
              </a:rPr>
              <a:t>MHz, radio waves can pass completely through the ionosphere and into space. These are called </a:t>
            </a:r>
            <a:r>
              <a:rPr b="1" lang="en-GB" sz="2400">
                <a:solidFill>
                  <a:srgbClr val="CC00CC"/>
                </a:solidFill>
                <a:latin typeface="Comic Sans MS"/>
                <a:ea typeface="Comic Sans MS"/>
                <a:cs typeface="Comic Sans MS"/>
                <a:sym typeface="Comic Sans MS"/>
              </a:rPr>
              <a:t>space waves</a:t>
            </a:r>
            <a:r>
              <a:rPr lang="en-GB" sz="2400">
                <a:solidFill>
                  <a:srgbClr val="010066"/>
                </a:solidFill>
                <a:latin typeface="Comic Sans MS"/>
                <a:ea typeface="Comic Sans MS"/>
                <a:cs typeface="Comic Sans MS"/>
                <a:sym typeface="Comic Sans MS"/>
              </a:rPr>
              <a:t>.</a:t>
            </a:r>
            <a:endParaRPr/>
          </a:p>
        </p:txBody>
      </p:sp>
      <p:pic>
        <p:nvPicPr>
          <p:cNvPr descr="ground sky space" id="231" name="Google Shape;231;p9"/>
          <p:cNvPicPr preferRelativeResize="0"/>
          <p:nvPr/>
        </p:nvPicPr>
        <p:blipFill rotWithShape="1">
          <a:blip r:embed="rId3">
            <a:alphaModFix/>
          </a:blip>
          <a:srcRect b="0" l="0" r="0" t="0"/>
          <a:stretch/>
        </p:blipFill>
        <p:spPr>
          <a:xfrm>
            <a:off x="7245015" y="2290391"/>
            <a:ext cx="4178545" cy="29626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sp>
        <p:nvSpPr>
          <p:cNvPr id="236" name="Google Shape;236;p12"/>
          <p:cNvSpPr txBox="1"/>
          <p:nvPr>
            <p:ph type="title"/>
          </p:nvPr>
        </p:nvSpPr>
        <p:spPr>
          <a:xfrm>
            <a:off x="729457" y="-22730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Communicating with satellites</a:t>
            </a:r>
            <a:endParaRPr/>
          </a:p>
        </p:txBody>
      </p:sp>
      <p:sp>
        <p:nvSpPr>
          <p:cNvPr id="237" name="Google Shape;237;p12"/>
          <p:cNvSpPr txBox="1"/>
          <p:nvPr/>
        </p:nvSpPr>
        <p:spPr>
          <a:xfrm>
            <a:off x="427463" y="800101"/>
            <a:ext cx="1176453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CC00CC"/>
                </a:solidFill>
                <a:latin typeface="Comic Sans MS"/>
                <a:ea typeface="Comic Sans MS"/>
                <a:cs typeface="Comic Sans MS"/>
                <a:sym typeface="Comic Sans MS"/>
              </a:rPr>
              <a:t>Space waves</a:t>
            </a:r>
            <a:r>
              <a:rPr lang="en-GB" sz="2400">
                <a:solidFill>
                  <a:srgbClr val="010066"/>
                </a:solidFill>
                <a:latin typeface="Comic Sans MS"/>
                <a:ea typeface="Comic Sans MS"/>
                <a:cs typeface="Comic Sans MS"/>
                <a:sym typeface="Comic Sans MS"/>
              </a:rPr>
              <a:t> are used to communicate with satellites. These waves are known as </a:t>
            </a:r>
            <a:r>
              <a:rPr b="1" lang="en-GB" sz="2400">
                <a:solidFill>
                  <a:srgbClr val="CC00CC"/>
                </a:solidFill>
                <a:latin typeface="Comic Sans MS"/>
                <a:ea typeface="Comic Sans MS"/>
                <a:cs typeface="Comic Sans MS"/>
                <a:sym typeface="Comic Sans MS"/>
              </a:rPr>
              <a:t>microwaves</a:t>
            </a:r>
            <a:r>
              <a:rPr lang="en-GB" sz="2400">
                <a:solidFill>
                  <a:srgbClr val="010066"/>
                </a:solidFill>
                <a:latin typeface="Comic Sans MS"/>
                <a:ea typeface="Comic Sans MS"/>
                <a:cs typeface="Comic Sans MS"/>
                <a:sym typeface="Comic Sans MS"/>
              </a:rPr>
              <a:t> because of their short wavelength compared to other radio waves. </a:t>
            </a:r>
            <a:endParaRPr/>
          </a:p>
        </p:txBody>
      </p:sp>
      <p:sp>
        <p:nvSpPr>
          <p:cNvPr id="238" name="Google Shape;238;p12"/>
          <p:cNvSpPr txBox="1"/>
          <p:nvPr/>
        </p:nvSpPr>
        <p:spPr>
          <a:xfrm>
            <a:off x="427463" y="5422165"/>
            <a:ext cx="1188474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Radio waves with a frequency of greater than 30</a:t>
            </a:r>
            <a:r>
              <a:rPr lang="en-GB" sz="1000">
                <a:solidFill>
                  <a:srgbClr val="010066"/>
                </a:solidFill>
                <a:latin typeface="Comic Sans MS"/>
                <a:ea typeface="Comic Sans MS"/>
                <a:cs typeface="Comic Sans MS"/>
                <a:sym typeface="Comic Sans MS"/>
              </a:rPr>
              <a:t> </a:t>
            </a:r>
            <a:r>
              <a:rPr lang="en-GB" sz="2400">
                <a:solidFill>
                  <a:srgbClr val="010066"/>
                </a:solidFill>
                <a:latin typeface="Comic Sans MS"/>
                <a:ea typeface="Comic Sans MS"/>
                <a:cs typeface="Comic Sans MS"/>
                <a:sym typeface="Comic Sans MS"/>
              </a:rPr>
              <a:t>GHz are easily absorbed and scattered by dust and water in the atmosphere, so they have little practical use.</a:t>
            </a:r>
            <a:endParaRPr/>
          </a:p>
        </p:txBody>
      </p:sp>
      <p:sp>
        <p:nvSpPr>
          <p:cNvPr id="239" name="Google Shape;239;p12"/>
          <p:cNvSpPr txBox="1"/>
          <p:nvPr/>
        </p:nvSpPr>
        <p:spPr>
          <a:xfrm>
            <a:off x="543373" y="2519148"/>
            <a:ext cx="650223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Microwaves only diffract by a small amount due to this short wavelength, so they can be sent to a satellite in a thin beam to save energy. The satellite can then send a second beam back to earth in response. </a:t>
            </a:r>
            <a:endParaRPr/>
          </a:p>
        </p:txBody>
      </p:sp>
      <p:pic>
        <p:nvPicPr>
          <p:cNvPr descr="waves_satellite" id="240" name="Google Shape;240;p12"/>
          <p:cNvPicPr preferRelativeResize="0"/>
          <p:nvPr/>
        </p:nvPicPr>
        <p:blipFill rotWithShape="1">
          <a:blip r:embed="rId3">
            <a:alphaModFix/>
          </a:blip>
          <a:srcRect b="0" l="0" r="0" t="0"/>
          <a:stretch/>
        </p:blipFill>
        <p:spPr>
          <a:xfrm>
            <a:off x="7290449" y="1800286"/>
            <a:ext cx="4300536" cy="33257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0"/>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2. Microwaves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txBox="1"/>
          <p:nvPr>
            <p:ph type="title"/>
          </p:nvPr>
        </p:nvSpPr>
        <p:spPr>
          <a:xfrm>
            <a:off x="417382" y="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b="1" lang="en-GB"/>
              <a:t>Microwaves</a:t>
            </a:r>
            <a:endParaRPr b="1"/>
          </a:p>
        </p:txBody>
      </p:sp>
      <p:sp>
        <p:nvSpPr>
          <p:cNvPr id="251" name="Google Shape;251;p11"/>
          <p:cNvSpPr txBox="1"/>
          <p:nvPr>
            <p:ph idx="1" type="body"/>
          </p:nvPr>
        </p:nvSpPr>
        <p:spPr>
          <a:xfrm>
            <a:off x="267275" y="1297475"/>
            <a:ext cx="6419700" cy="44286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3200"/>
              <a:buFont typeface="Calibri"/>
              <a:buChar char="•"/>
            </a:pPr>
            <a:r>
              <a:rPr lang="en-GB" sz="3200"/>
              <a:t>Microwaves length (cm)</a:t>
            </a:r>
            <a:endParaRPr/>
          </a:p>
          <a:p>
            <a:pPr indent="-228600" lvl="0" marL="228600" rtl="0" algn="l">
              <a:lnSpc>
                <a:spcPct val="80000"/>
              </a:lnSpc>
              <a:spcBef>
                <a:spcPts val="1000"/>
              </a:spcBef>
              <a:spcAft>
                <a:spcPts val="0"/>
              </a:spcAft>
              <a:buClr>
                <a:schemeClr val="dk1"/>
              </a:buClr>
              <a:buSzPts val="3200"/>
              <a:buFont typeface="Calibri"/>
              <a:buChar char="•"/>
            </a:pPr>
            <a:r>
              <a:rPr lang="en-GB" sz="3200"/>
              <a:t>The longer microwaves, are the waves which heat our food in a microwave oven.</a:t>
            </a:r>
            <a:endParaRPr/>
          </a:p>
          <a:p>
            <a:pPr indent="-228600" lvl="0" marL="228600" rtl="0" algn="l">
              <a:lnSpc>
                <a:spcPct val="80000"/>
              </a:lnSpc>
              <a:spcBef>
                <a:spcPts val="1000"/>
              </a:spcBef>
              <a:spcAft>
                <a:spcPts val="0"/>
              </a:spcAft>
              <a:buClr>
                <a:schemeClr val="dk1"/>
              </a:buClr>
              <a:buSzPts val="3200"/>
              <a:buFont typeface="Calibri"/>
              <a:buChar char="•"/>
            </a:pPr>
            <a:r>
              <a:rPr lang="en-GB" sz="3200"/>
              <a:t>Shorter microwaves are used in remote sensing. </a:t>
            </a:r>
            <a:endParaRPr sz="3200"/>
          </a:p>
          <a:p>
            <a:pPr indent="-317500" lvl="1" marL="685800" rtl="0" algn="l">
              <a:lnSpc>
                <a:spcPct val="80000"/>
              </a:lnSpc>
              <a:spcBef>
                <a:spcPts val="1000"/>
              </a:spcBef>
              <a:spcAft>
                <a:spcPts val="0"/>
              </a:spcAft>
              <a:buClr>
                <a:schemeClr val="dk1"/>
              </a:buClr>
              <a:buSzPts val="3200"/>
              <a:buFont typeface="Calibri"/>
              <a:buChar char="•"/>
            </a:pPr>
            <a:r>
              <a:rPr lang="en-GB" sz="3200"/>
              <a:t>These microwaves are used for radar like the doppler radar used in weather forecasts. </a:t>
            </a:r>
            <a:endParaRPr/>
          </a:p>
        </p:txBody>
      </p:sp>
      <p:pic>
        <p:nvPicPr>
          <p:cNvPr descr="Image of child putting a dish in a microwave oven." id="252" name="Google Shape;252;p11"/>
          <p:cNvPicPr preferRelativeResize="0"/>
          <p:nvPr>
            <p:ph idx="2" type="body"/>
          </p:nvPr>
        </p:nvPicPr>
        <p:blipFill rotWithShape="1">
          <a:blip r:embed="rId3">
            <a:alphaModFix/>
          </a:blip>
          <a:srcRect b="0" l="0" r="0" t="0"/>
          <a:stretch/>
        </p:blipFill>
        <p:spPr>
          <a:xfrm>
            <a:off x="6762130" y="1142990"/>
            <a:ext cx="5022600" cy="3616200"/>
          </a:xfrm>
          <a:prstGeom prst="rect">
            <a:avLst/>
          </a:prstGeom>
          <a:noFill/>
          <a:ln>
            <a:noFill/>
          </a:ln>
        </p:spPr>
      </p:pic>
      <p:sp>
        <p:nvSpPr>
          <p:cNvPr id="253" name="Google Shape;253;p11"/>
          <p:cNvSpPr txBox="1"/>
          <p:nvPr/>
        </p:nvSpPr>
        <p:spPr>
          <a:xfrm>
            <a:off x="6989675" y="4975675"/>
            <a:ext cx="5080800" cy="17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Calibri"/>
                <a:ea typeface="Calibri"/>
                <a:cs typeface="Calibri"/>
                <a:sym typeface="Calibri"/>
              </a:rPr>
              <a:t>Microwaves work by vibrating water molecules present in the food to heat up the food via radiation!</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3. Infrared Light</a:t>
            </a:r>
            <a:endParaRPr sz="6000"/>
          </a:p>
          <a:p>
            <a:pPr indent="0" lvl="0" marL="0" rtl="0" algn="l">
              <a:lnSpc>
                <a:spcPct val="90000"/>
              </a:lnSpc>
              <a:spcBef>
                <a:spcPts val="0"/>
              </a:spcBef>
              <a:spcAft>
                <a:spcPts val="0"/>
              </a:spcAft>
              <a:buClr>
                <a:schemeClr val="dk1"/>
              </a:buClr>
              <a:buSzPts val="6000"/>
              <a:buFont typeface="Comic Sans MS"/>
              <a:buNone/>
            </a:pPr>
            <a:r>
              <a:rPr lang="en-GB" sz="6000"/>
              <a:t>(Term 1 Recap)</a:t>
            </a:r>
            <a:endParaRPr sz="6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1992313" y="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Infrared Waves</a:t>
            </a:r>
            <a:endParaRPr/>
          </a:p>
        </p:txBody>
      </p:sp>
      <p:sp>
        <p:nvSpPr>
          <p:cNvPr id="264" name="Google Shape;264;p14"/>
          <p:cNvSpPr txBox="1"/>
          <p:nvPr>
            <p:ph idx="1" type="body"/>
          </p:nvPr>
        </p:nvSpPr>
        <p:spPr>
          <a:xfrm>
            <a:off x="348267" y="1085534"/>
            <a:ext cx="7596554" cy="5589586"/>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400"/>
              <a:buChar char="•"/>
            </a:pPr>
            <a:r>
              <a:rPr b="1" lang="en-GB" sz="2400"/>
              <a:t>Infrared light</a:t>
            </a:r>
            <a:r>
              <a:rPr lang="en-GB" sz="2400"/>
              <a:t> lies between the visible and microwave portions of the electromagnetic spectrum. </a:t>
            </a:r>
            <a:endParaRPr/>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Calibri"/>
              <a:buChar char="•"/>
            </a:pPr>
            <a:r>
              <a:rPr lang="en-GB" sz="2400"/>
              <a:t>Infrared light has a range of wavelengths, just like visible light has wavelengths that range from red light to violet. </a:t>
            </a:r>
            <a:endParaRPr/>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Calibri"/>
              <a:buChar char="•"/>
            </a:pPr>
            <a:r>
              <a:rPr lang="en-GB" sz="2400"/>
              <a:t>Infrared is used for:</a:t>
            </a:r>
            <a:endParaRPr/>
          </a:p>
          <a:p>
            <a:pPr indent="-228600" lvl="1" marL="685800" rtl="0" algn="l">
              <a:lnSpc>
                <a:spcPct val="80000"/>
              </a:lnSpc>
              <a:spcBef>
                <a:spcPts val="500"/>
              </a:spcBef>
              <a:spcAft>
                <a:spcPts val="0"/>
              </a:spcAft>
              <a:buClr>
                <a:schemeClr val="dk1"/>
              </a:buClr>
              <a:buSzPts val="2000"/>
              <a:buFont typeface="Calibri"/>
              <a:buChar char="•"/>
            </a:pPr>
            <a:r>
              <a:rPr lang="en-GB" sz="2000"/>
              <a:t>Heating</a:t>
            </a:r>
            <a:endParaRPr/>
          </a:p>
          <a:p>
            <a:pPr indent="-228600" lvl="1" marL="685800" rtl="0" algn="l">
              <a:lnSpc>
                <a:spcPct val="80000"/>
              </a:lnSpc>
              <a:spcBef>
                <a:spcPts val="500"/>
              </a:spcBef>
              <a:spcAft>
                <a:spcPts val="0"/>
              </a:spcAft>
              <a:buClr>
                <a:schemeClr val="dk1"/>
              </a:buClr>
              <a:buSzPts val="2000"/>
              <a:buFont typeface="Calibri"/>
              <a:buChar char="•"/>
            </a:pPr>
            <a:r>
              <a:rPr lang="en-GB" sz="2000"/>
              <a:t>Thermal detection e.g. police</a:t>
            </a:r>
            <a:endParaRPr/>
          </a:p>
          <a:p>
            <a:pPr indent="-228600" lvl="1" marL="685800" rtl="0" algn="l">
              <a:lnSpc>
                <a:spcPct val="80000"/>
              </a:lnSpc>
              <a:spcBef>
                <a:spcPts val="500"/>
              </a:spcBef>
              <a:spcAft>
                <a:spcPts val="0"/>
              </a:spcAft>
              <a:buClr>
                <a:schemeClr val="dk1"/>
              </a:buClr>
              <a:buSzPts val="2000"/>
              <a:buFont typeface="Calibri"/>
              <a:buChar char="•"/>
            </a:pPr>
            <a:r>
              <a:rPr lang="en-GB" sz="2000"/>
              <a:t>Weather forecasting</a:t>
            </a:r>
            <a:endParaRPr/>
          </a:p>
          <a:p>
            <a:pPr indent="-228600" lvl="1" marL="685800" rtl="0" algn="l">
              <a:lnSpc>
                <a:spcPct val="80000"/>
              </a:lnSpc>
              <a:spcBef>
                <a:spcPts val="500"/>
              </a:spcBef>
              <a:spcAft>
                <a:spcPts val="0"/>
              </a:spcAft>
              <a:buClr>
                <a:schemeClr val="dk1"/>
              </a:buClr>
              <a:buSzPts val="2000"/>
              <a:buFont typeface="Calibri"/>
              <a:buChar char="•"/>
            </a:pPr>
            <a:r>
              <a:rPr lang="en-GB" sz="2000"/>
              <a:t>Remote control devices</a:t>
            </a:r>
            <a:endParaRPr/>
          </a:p>
          <a:p>
            <a:pPr indent="-228600" lvl="1" marL="685800" rtl="0" algn="l">
              <a:lnSpc>
                <a:spcPct val="80000"/>
              </a:lnSpc>
              <a:spcBef>
                <a:spcPts val="500"/>
              </a:spcBef>
              <a:spcAft>
                <a:spcPts val="0"/>
              </a:spcAft>
              <a:buClr>
                <a:schemeClr val="dk1"/>
              </a:buClr>
              <a:buSzPts val="2000"/>
              <a:buFont typeface="Calibri"/>
              <a:buChar char="•"/>
            </a:pPr>
            <a:r>
              <a:rPr lang="en-GB" sz="2000"/>
              <a:t>Communication</a:t>
            </a:r>
            <a:endParaRPr/>
          </a:p>
          <a:p>
            <a:pPr indent="-76200" lvl="0" marL="228600" rtl="0" algn="l">
              <a:lnSpc>
                <a:spcPct val="80000"/>
              </a:lnSpc>
              <a:spcBef>
                <a:spcPts val="1000"/>
              </a:spcBef>
              <a:spcAft>
                <a:spcPts val="0"/>
              </a:spcAft>
              <a:buClr>
                <a:schemeClr val="dk1"/>
              </a:buClr>
              <a:buSzPts val="2400"/>
              <a:buNone/>
            </a:pPr>
            <a:r>
              <a:t/>
            </a:r>
            <a:endParaRPr sz="2400"/>
          </a:p>
        </p:txBody>
      </p:sp>
      <p:pic>
        <p:nvPicPr>
          <p:cNvPr descr="Infrared man" id="265" name="Google Shape;265;p14"/>
          <p:cNvPicPr preferRelativeResize="0"/>
          <p:nvPr>
            <p:ph idx="4294967295" type="body"/>
          </p:nvPr>
        </p:nvPicPr>
        <p:blipFill rotWithShape="1">
          <a:blip r:embed="rId3">
            <a:alphaModFix/>
          </a:blip>
          <a:srcRect b="0" l="0" r="0" t="0"/>
          <a:stretch/>
        </p:blipFill>
        <p:spPr>
          <a:xfrm>
            <a:off x="8577867" y="160851"/>
            <a:ext cx="3288092" cy="3288092"/>
          </a:xfrm>
          <a:prstGeom prst="rect">
            <a:avLst/>
          </a:prstGeom>
          <a:noFill/>
          <a:ln>
            <a:noFill/>
          </a:ln>
        </p:spPr>
      </p:pic>
      <p:pic>
        <p:nvPicPr>
          <p:cNvPr descr="Infrared image of a cat." id="266" name="Google Shape;266;p14"/>
          <p:cNvPicPr preferRelativeResize="0"/>
          <p:nvPr>
            <p:ph idx="4294967295" type="body"/>
          </p:nvPr>
        </p:nvPicPr>
        <p:blipFill rotWithShape="1">
          <a:blip r:embed="rId4">
            <a:alphaModFix/>
          </a:blip>
          <a:srcRect b="0" l="0" r="0" t="0"/>
          <a:stretch/>
        </p:blipFill>
        <p:spPr>
          <a:xfrm>
            <a:off x="6846973" y="3300180"/>
            <a:ext cx="3374940" cy="33749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p:nvPr/>
        </p:nvSpPr>
        <p:spPr>
          <a:xfrm>
            <a:off x="1524000" y="1668464"/>
            <a:ext cx="9144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descr="Electromagnetic Spectrum" id="272" name="Google Shape;272;p15"/>
          <p:cNvSpPr/>
          <p:nvPr/>
        </p:nvSpPr>
        <p:spPr>
          <a:xfrm>
            <a:off x="1524000" y="1668464"/>
            <a:ext cx="6515100" cy="3521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5"/>
          <p:cNvSpPr/>
          <p:nvPr/>
        </p:nvSpPr>
        <p:spPr>
          <a:xfrm>
            <a:off x="1524000" y="2490789"/>
            <a:ext cx="9144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Image of two girls in mid-infrared (&quot;thermal&quot;) light (false-color)" id="274" name="Google Shape;274;p15">
            <a:hlinkClick r:id="rId3"/>
          </p:cNvPr>
          <p:cNvPicPr preferRelativeResize="0"/>
          <p:nvPr/>
        </p:nvPicPr>
        <p:blipFill rotWithShape="1">
          <a:blip r:embed="rId4">
            <a:alphaModFix/>
          </a:blip>
          <a:srcRect b="0" l="0" r="0" t="0"/>
          <a:stretch/>
        </p:blipFill>
        <p:spPr>
          <a:xfrm>
            <a:off x="1311457" y="186011"/>
            <a:ext cx="4652780" cy="3083390"/>
          </a:xfrm>
          <a:prstGeom prst="rect">
            <a:avLst/>
          </a:prstGeom>
          <a:noFill/>
          <a:ln>
            <a:noFill/>
          </a:ln>
        </p:spPr>
      </p:pic>
      <p:pic>
        <p:nvPicPr>
          <p:cNvPr descr="A thermographic image of a dog" id="275" name="Google Shape;275;p15">
            <a:hlinkClick r:id="rId5"/>
          </p:cNvPr>
          <p:cNvPicPr preferRelativeResize="0"/>
          <p:nvPr/>
        </p:nvPicPr>
        <p:blipFill rotWithShape="1">
          <a:blip r:embed="rId6">
            <a:alphaModFix/>
          </a:blip>
          <a:srcRect b="0" l="0" r="0" t="0"/>
          <a:stretch/>
        </p:blipFill>
        <p:spPr>
          <a:xfrm>
            <a:off x="6369049" y="1973430"/>
            <a:ext cx="4784943" cy="2441409"/>
          </a:xfrm>
          <a:prstGeom prst="rect">
            <a:avLst/>
          </a:prstGeom>
          <a:noFill/>
          <a:ln>
            <a:noFill/>
          </a:ln>
        </p:spPr>
      </p:pic>
      <p:pic>
        <p:nvPicPr>
          <p:cNvPr descr="Thermographic image of a snake eating a mouse" id="276" name="Google Shape;276;p15">
            <a:hlinkClick r:id="rId7"/>
          </p:cNvPr>
          <p:cNvPicPr preferRelativeResize="0"/>
          <p:nvPr/>
        </p:nvPicPr>
        <p:blipFill rotWithShape="1">
          <a:blip r:embed="rId8">
            <a:alphaModFix/>
          </a:blip>
          <a:srcRect b="0" l="0" r="0" t="0"/>
          <a:stretch/>
        </p:blipFill>
        <p:spPr>
          <a:xfrm>
            <a:off x="785713" y="3321786"/>
            <a:ext cx="5583336" cy="3317876"/>
          </a:xfrm>
          <a:prstGeom prst="rect">
            <a:avLst/>
          </a:prstGeom>
          <a:noFill/>
          <a:ln>
            <a:noFill/>
          </a:ln>
        </p:spPr>
      </p:pic>
      <p:grpSp>
        <p:nvGrpSpPr>
          <p:cNvPr id="277" name="Google Shape;277;p15"/>
          <p:cNvGrpSpPr/>
          <p:nvPr/>
        </p:nvGrpSpPr>
        <p:grpSpPr>
          <a:xfrm>
            <a:off x="3863975" y="2435225"/>
            <a:ext cx="4465638" cy="1951038"/>
            <a:chOff x="0" y="0"/>
            <a:chExt cx="2813" cy="1229"/>
          </a:xfrm>
        </p:grpSpPr>
        <p:sp>
          <p:nvSpPr>
            <p:cNvPr id="278" name="Google Shape;278;p15"/>
            <p:cNvSpPr/>
            <p:nvPr/>
          </p:nvSpPr>
          <p:spPr>
            <a:xfrm>
              <a:off x="0" y="0"/>
              <a:ext cx="0"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5"/>
            <p:cNvSpPr/>
            <p:nvPr/>
          </p:nvSpPr>
          <p:spPr>
            <a:xfrm>
              <a:off x="0" y="0"/>
              <a:ext cx="2813" cy="122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900">
                  <a:solidFill>
                    <a:srgbClr val="000000"/>
                  </a:solidFill>
                  <a:latin typeface="Calibri"/>
                  <a:ea typeface="Calibri"/>
                  <a:cs typeface="Calibri"/>
                  <a:sym typeface="Calibri"/>
                </a:rPr>
                <a:t>  </a:t>
              </a:r>
              <a:r>
                <a:rPr lang="en-GB" sz="12200">
                  <a:solidFill>
                    <a:srgbClr val="000000"/>
                  </a:solidFill>
                  <a:latin typeface="Calibri"/>
                  <a:ea typeface="Calibri"/>
                  <a:cs typeface="Calibri"/>
                  <a:sym typeface="Calibri"/>
                </a:rPr>
                <a:t> </a:t>
              </a:r>
              <a:r>
                <a:rPr lang="en-GB" sz="900">
                  <a:solidFill>
                    <a:srgbClr val="000000"/>
                  </a:solidFill>
                  <a:latin typeface="Calibri"/>
                  <a:ea typeface="Calibri"/>
                  <a:cs typeface="Calibri"/>
                  <a:sym typeface="Calibri"/>
                </a:rPr>
                <a:t>                                                                                         </a:t>
              </a:r>
              <a:endParaRPr/>
            </a:p>
          </p:txBody>
        </p:sp>
      </p:grpSp>
      <p:pic>
        <p:nvPicPr>
          <p:cNvPr descr="Image of a television remote control" id="280" name="Google Shape;280;p15"/>
          <p:cNvPicPr preferRelativeResize="0"/>
          <p:nvPr/>
        </p:nvPicPr>
        <p:blipFill rotWithShape="1">
          <a:blip r:embed="rId9">
            <a:alphaModFix/>
          </a:blip>
          <a:srcRect b="0" l="0" r="0" t="0"/>
          <a:stretch/>
        </p:blipFill>
        <p:spPr>
          <a:xfrm>
            <a:off x="7194550" y="4441827"/>
            <a:ext cx="3349460" cy="2276473"/>
          </a:xfrm>
          <a:prstGeom prst="rect">
            <a:avLst/>
          </a:prstGeom>
          <a:noFill/>
          <a:ln>
            <a:noFill/>
          </a:ln>
        </p:spPr>
      </p:pic>
      <p:grpSp>
        <p:nvGrpSpPr>
          <p:cNvPr id="281" name="Google Shape;281;p15"/>
          <p:cNvGrpSpPr/>
          <p:nvPr/>
        </p:nvGrpSpPr>
        <p:grpSpPr>
          <a:xfrm>
            <a:off x="3708400" y="2720975"/>
            <a:ext cx="4776788" cy="1403350"/>
            <a:chOff x="0" y="0"/>
            <a:chExt cx="3009" cy="884"/>
          </a:xfrm>
        </p:grpSpPr>
        <p:sp>
          <p:nvSpPr>
            <p:cNvPr id="282" name="Google Shape;282;p15"/>
            <p:cNvSpPr/>
            <p:nvPr/>
          </p:nvSpPr>
          <p:spPr>
            <a:xfrm>
              <a:off x="0" y="0"/>
              <a:ext cx="0"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5"/>
            <p:cNvSpPr/>
            <p:nvPr/>
          </p:nvSpPr>
          <p:spPr>
            <a:xfrm>
              <a:off x="0" y="0"/>
              <a:ext cx="3009" cy="8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900">
                  <a:solidFill>
                    <a:srgbClr val="000000"/>
                  </a:solidFill>
                  <a:latin typeface="Calibri"/>
                  <a:ea typeface="Calibri"/>
                  <a:cs typeface="Calibri"/>
                  <a:sym typeface="Calibri"/>
                </a:rPr>
                <a:t>  </a:t>
              </a:r>
              <a:r>
                <a:rPr lang="en-GB" sz="8600">
                  <a:solidFill>
                    <a:srgbClr val="000000"/>
                  </a:solidFill>
                  <a:latin typeface="Calibri"/>
                  <a:ea typeface="Calibri"/>
                  <a:cs typeface="Calibri"/>
                  <a:sym typeface="Calibri"/>
                </a:rPr>
                <a:t> </a:t>
              </a:r>
              <a:r>
                <a:rPr lang="en-GB" sz="900">
                  <a:solidFill>
                    <a:srgbClr val="000000"/>
                  </a:solidFill>
                  <a:latin typeface="Calibri"/>
                  <a:ea typeface="Calibri"/>
                  <a:cs typeface="Calibri"/>
                  <a:sym typeface="Calibri"/>
                </a:rPr>
                <a:t>                                          </a:t>
              </a:r>
              <a:endParaRPr/>
            </a:p>
          </p:txBody>
        </p:sp>
      </p:grpSp>
      <p:pic>
        <p:nvPicPr>
          <p:cNvPr descr="Infrared man" id="284" name="Google Shape;284;p15"/>
          <p:cNvPicPr preferRelativeResize="0"/>
          <p:nvPr/>
        </p:nvPicPr>
        <p:blipFill rotWithShape="1">
          <a:blip r:embed="rId10">
            <a:alphaModFix/>
          </a:blip>
          <a:srcRect b="0" l="0" r="0" t="0"/>
          <a:stretch/>
        </p:blipFill>
        <p:spPr>
          <a:xfrm>
            <a:off x="7967909" y="85728"/>
            <a:ext cx="2057400" cy="2057400"/>
          </a:xfrm>
          <a:prstGeom prst="rect">
            <a:avLst/>
          </a:prstGeom>
          <a:noFill/>
          <a:ln>
            <a:noFill/>
          </a:ln>
        </p:spPr>
      </p:pic>
      <p:sp>
        <p:nvSpPr>
          <p:cNvPr id="285" name="Google Shape;285;p15"/>
          <p:cNvSpPr/>
          <p:nvPr/>
        </p:nvSpPr>
        <p:spPr>
          <a:xfrm>
            <a:off x="5638800" y="2971801"/>
            <a:ext cx="0" cy="368035"/>
          </a:xfrm>
          <a:prstGeom prst="rect">
            <a:avLst/>
          </a:prstGeom>
          <a:noFill/>
          <a:ln>
            <a:noFill/>
          </a:ln>
        </p:spPr>
        <p:txBody>
          <a:bodyPr anchorCtr="0" anchor="t" bIns="45700" lIns="91425" spcFirstLastPara="1" rIns="91425" wrap="square" tIns="44425">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5"/>
          <p:cNvSpPr/>
          <p:nvPr/>
        </p:nvSpPr>
        <p:spPr>
          <a:xfrm>
            <a:off x="5638800" y="2971801"/>
            <a:ext cx="0" cy="368035"/>
          </a:xfrm>
          <a:prstGeom prst="rect">
            <a:avLst/>
          </a:prstGeom>
          <a:noFill/>
          <a:ln>
            <a:noFill/>
          </a:ln>
        </p:spPr>
        <p:txBody>
          <a:bodyPr anchorCtr="0" anchor="t" bIns="45700" lIns="91425" spcFirstLastPara="1" rIns="91425" wrap="square" tIns="44425">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5"/>
          <p:cNvSpPr txBox="1"/>
          <p:nvPr/>
        </p:nvSpPr>
        <p:spPr>
          <a:xfrm>
            <a:off x="1900239" y="5537200"/>
            <a:ext cx="298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chemeClr val="lt1"/>
                </a:solidFill>
                <a:latin typeface="Times New Roman"/>
                <a:ea typeface="Times New Roman"/>
                <a:cs typeface="Times New Roman"/>
                <a:sym typeface="Times New Roman"/>
              </a:rPr>
              <a:t>Snake eating a mouse</a:t>
            </a:r>
            <a:endParaRPr b="1" sz="24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ph type="title"/>
          </p:nvPr>
        </p:nvSpPr>
        <p:spPr>
          <a:xfrm>
            <a:off x="929704" y="-2794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are infrared waves?</a:t>
            </a:r>
            <a:endParaRPr/>
          </a:p>
        </p:txBody>
      </p:sp>
      <p:sp>
        <p:nvSpPr>
          <p:cNvPr id="295" name="Google Shape;295;p16"/>
          <p:cNvSpPr txBox="1"/>
          <p:nvPr/>
        </p:nvSpPr>
        <p:spPr>
          <a:xfrm>
            <a:off x="621988" y="784226"/>
            <a:ext cx="89539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We experience infrared waves everyday in the form of heat. </a:t>
            </a:r>
            <a:endParaRPr>
              <a:latin typeface="Calibri"/>
              <a:ea typeface="Calibri"/>
              <a:cs typeface="Calibri"/>
              <a:sym typeface="Calibri"/>
            </a:endParaRPr>
          </a:p>
        </p:txBody>
      </p:sp>
      <p:grpSp>
        <p:nvGrpSpPr>
          <p:cNvPr id="296" name="Google Shape;296;p16"/>
          <p:cNvGrpSpPr/>
          <p:nvPr/>
        </p:nvGrpSpPr>
        <p:grpSpPr>
          <a:xfrm>
            <a:off x="1114853" y="2881563"/>
            <a:ext cx="10076620" cy="2680408"/>
            <a:chOff x="32" y="1806"/>
            <a:chExt cx="5737" cy="1383"/>
          </a:xfrm>
        </p:grpSpPr>
        <p:sp>
          <p:nvSpPr>
            <p:cNvPr id="297" name="Google Shape;297;p16"/>
            <p:cNvSpPr/>
            <p:nvPr/>
          </p:nvSpPr>
          <p:spPr>
            <a:xfrm>
              <a:off x="33" y="1806"/>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10066"/>
                </a:solidFill>
                <a:latin typeface="Comic Sans MS"/>
                <a:ea typeface="Comic Sans MS"/>
                <a:cs typeface="Comic Sans MS"/>
                <a:sym typeface="Comic Sans MS"/>
              </a:endParaRPr>
            </a:p>
          </p:txBody>
        </p:sp>
        <p:pic>
          <p:nvPicPr>
            <p:cNvPr descr="PS_gfx_emscale" id="298" name="Google Shape;298;p16"/>
            <p:cNvPicPr preferRelativeResize="0"/>
            <p:nvPr/>
          </p:nvPicPr>
          <p:blipFill rotWithShape="1">
            <a:blip r:embed="rId3">
              <a:alphaModFix/>
            </a:blip>
            <a:srcRect b="0" l="13417" r="12046" t="0"/>
            <a:stretch/>
          </p:blipFill>
          <p:spPr>
            <a:xfrm>
              <a:off x="32" y="1998"/>
              <a:ext cx="5736" cy="918"/>
            </a:xfrm>
            <a:prstGeom prst="rect">
              <a:avLst/>
            </a:prstGeom>
            <a:noFill/>
            <a:ln>
              <a:noFill/>
            </a:ln>
          </p:spPr>
        </p:pic>
        <p:sp>
          <p:nvSpPr>
            <p:cNvPr id="299" name="Google Shape;299;p16"/>
            <p:cNvSpPr txBox="1"/>
            <p:nvPr/>
          </p:nvSpPr>
          <p:spPr>
            <a:xfrm>
              <a:off x="2483" y="1888"/>
              <a:ext cx="1010" cy="50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1" lang="en-GB" sz="2800">
                  <a:solidFill>
                    <a:srgbClr val="CC00CC"/>
                  </a:solidFill>
                  <a:latin typeface="Comic Sans MS"/>
                  <a:ea typeface="Comic Sans MS"/>
                  <a:cs typeface="Comic Sans MS"/>
                  <a:sym typeface="Comic Sans MS"/>
                </a:rPr>
                <a:t>infrared</a:t>
              </a:r>
              <a:endParaRPr/>
            </a:p>
          </p:txBody>
        </p:sp>
        <p:sp>
          <p:nvSpPr>
            <p:cNvPr id="300" name="Google Shape;300;p16"/>
            <p:cNvSpPr txBox="1"/>
            <p:nvPr/>
          </p:nvSpPr>
          <p:spPr>
            <a:xfrm>
              <a:off x="178" y="1864"/>
              <a:ext cx="1487" cy="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800">
                  <a:solidFill>
                    <a:srgbClr val="010066"/>
                  </a:solidFill>
                  <a:latin typeface="Comic Sans MS"/>
                  <a:ea typeface="Comic Sans MS"/>
                  <a:cs typeface="Comic Sans MS"/>
                  <a:sym typeface="Comic Sans MS"/>
                </a:rPr>
                <a:t>microwaves </a:t>
              </a:r>
              <a:endParaRPr/>
            </a:p>
          </p:txBody>
        </p:sp>
        <p:sp>
          <p:nvSpPr>
            <p:cNvPr id="301" name="Google Shape;301;p16"/>
            <p:cNvSpPr txBox="1"/>
            <p:nvPr/>
          </p:nvSpPr>
          <p:spPr>
            <a:xfrm>
              <a:off x="373" y="2641"/>
              <a:ext cx="711" cy="2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10</a:t>
              </a:r>
              <a:r>
                <a:rPr b="1" lang="en-GB" sz="1200">
                  <a:solidFill>
                    <a:srgbClr val="9900CC"/>
                  </a:solidFill>
                  <a:latin typeface="Comic Sans MS"/>
                  <a:ea typeface="Comic Sans MS"/>
                  <a:cs typeface="Comic Sans MS"/>
                  <a:sym typeface="Comic Sans MS"/>
                </a:rPr>
                <a:t> </a:t>
              </a:r>
              <a:r>
                <a:rPr b="1" lang="en-GB" sz="2400">
                  <a:solidFill>
                    <a:srgbClr val="9900CC"/>
                  </a:solidFill>
                  <a:latin typeface="Comic Sans MS"/>
                  <a:ea typeface="Comic Sans MS"/>
                  <a:cs typeface="Comic Sans MS"/>
                  <a:sym typeface="Comic Sans MS"/>
                </a:rPr>
                <a:t>mm</a:t>
              </a:r>
              <a:endParaRPr/>
            </a:p>
          </p:txBody>
        </p:sp>
        <p:sp>
          <p:nvSpPr>
            <p:cNvPr id="302" name="Google Shape;302;p16"/>
            <p:cNvSpPr txBox="1"/>
            <p:nvPr/>
          </p:nvSpPr>
          <p:spPr>
            <a:xfrm>
              <a:off x="2922" y="2641"/>
              <a:ext cx="1075" cy="2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0.001 mm</a:t>
              </a:r>
              <a:endParaRPr/>
            </a:p>
          </p:txBody>
        </p:sp>
        <p:sp>
          <p:nvSpPr>
            <p:cNvPr id="303" name="Google Shape;303;p16"/>
            <p:cNvSpPr txBox="1"/>
            <p:nvPr/>
          </p:nvSpPr>
          <p:spPr>
            <a:xfrm>
              <a:off x="1598" y="2641"/>
              <a:ext cx="1054" cy="29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rgbClr val="9900CC"/>
                  </a:solidFill>
                  <a:latin typeface="Comic Sans MS"/>
                  <a:ea typeface="Comic Sans MS"/>
                  <a:cs typeface="Comic Sans MS"/>
                  <a:sym typeface="Comic Sans MS"/>
                </a:rPr>
                <a:t>0.1 mm</a:t>
              </a:r>
              <a:endParaRPr/>
            </a:p>
          </p:txBody>
        </p:sp>
        <p:sp>
          <p:nvSpPr>
            <p:cNvPr id="304" name="Google Shape;304;p16"/>
            <p:cNvSpPr txBox="1"/>
            <p:nvPr/>
          </p:nvSpPr>
          <p:spPr>
            <a:xfrm>
              <a:off x="4403" y="2641"/>
              <a:ext cx="1316" cy="2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0.00001 mm</a:t>
              </a:r>
              <a:endParaRPr/>
            </a:p>
          </p:txBody>
        </p:sp>
        <p:sp>
          <p:nvSpPr>
            <p:cNvPr id="305" name="Google Shape;305;p16"/>
            <p:cNvSpPr txBox="1"/>
            <p:nvPr/>
          </p:nvSpPr>
          <p:spPr>
            <a:xfrm>
              <a:off x="4411" y="1811"/>
              <a:ext cx="841" cy="49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1" lang="en-GB" sz="2800">
                  <a:solidFill>
                    <a:srgbClr val="010066"/>
                  </a:solidFill>
                  <a:latin typeface="Comic Sans MS"/>
                  <a:ea typeface="Comic Sans MS"/>
                  <a:cs typeface="Comic Sans MS"/>
                  <a:sym typeface="Comic Sans MS"/>
                </a:rPr>
                <a:t>visible light </a:t>
              </a:r>
              <a:endParaRPr/>
            </a:p>
          </p:txBody>
        </p:sp>
        <p:sp>
          <p:nvSpPr>
            <p:cNvPr id="306" name="Google Shape;306;p16"/>
            <p:cNvSpPr txBox="1"/>
            <p:nvPr/>
          </p:nvSpPr>
          <p:spPr>
            <a:xfrm>
              <a:off x="1069" y="2889"/>
              <a:ext cx="3735" cy="2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9900CC"/>
                  </a:solidFill>
                  <a:latin typeface="Comic Sans MS"/>
                  <a:ea typeface="Comic Sans MS"/>
                  <a:cs typeface="Comic Sans MS"/>
                  <a:sym typeface="Comic Sans MS"/>
                </a:rPr>
                <a:t>wavelength of electromagnetic waves </a:t>
              </a:r>
              <a:endParaRPr/>
            </a:p>
          </p:txBody>
        </p:sp>
      </p:grpSp>
      <p:pic>
        <p:nvPicPr>
          <p:cNvPr descr="PC2_gfx_heater" id="307" name="Google Shape;307;p16"/>
          <p:cNvPicPr preferRelativeResize="0"/>
          <p:nvPr/>
        </p:nvPicPr>
        <p:blipFill rotWithShape="1">
          <a:blip r:embed="rId4">
            <a:alphaModFix/>
          </a:blip>
          <a:srcRect b="0" l="0" r="0" t="0"/>
          <a:stretch/>
        </p:blipFill>
        <p:spPr>
          <a:xfrm>
            <a:off x="9453093" y="213335"/>
            <a:ext cx="2299927" cy="2299928"/>
          </a:xfrm>
          <a:prstGeom prst="rect">
            <a:avLst/>
          </a:prstGeom>
          <a:noFill/>
          <a:ln>
            <a:noFill/>
          </a:ln>
        </p:spPr>
      </p:pic>
      <p:grpSp>
        <p:nvGrpSpPr>
          <p:cNvPr id="308" name="Google Shape;308;p16"/>
          <p:cNvGrpSpPr/>
          <p:nvPr/>
        </p:nvGrpSpPr>
        <p:grpSpPr>
          <a:xfrm>
            <a:off x="299715" y="5583946"/>
            <a:ext cx="11394116" cy="952501"/>
            <a:chOff x="352" y="3216"/>
            <a:chExt cx="5100" cy="600"/>
          </a:xfrm>
        </p:grpSpPr>
        <p:sp>
          <p:nvSpPr>
            <p:cNvPr id="309" name="Google Shape;309;p16"/>
            <p:cNvSpPr txBox="1"/>
            <p:nvPr/>
          </p:nvSpPr>
          <p:spPr>
            <a:xfrm>
              <a:off x="352" y="3216"/>
              <a:ext cx="5100" cy="600"/>
            </a:xfrm>
            <a:prstGeom prst="rect">
              <a:avLst/>
            </a:prstGeom>
            <a:noFill/>
            <a:ln>
              <a:noFill/>
            </a:ln>
          </p:spPr>
          <p:txBody>
            <a:bodyPr anchorCtr="0" anchor="t" bIns="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Infrared waves have wavelengths between 1 mm (about the size of a pin head) and about 0.0001 mm (about the size of</a:t>
              </a:r>
              <a:endParaRPr>
                <a:latin typeface="Calibri"/>
                <a:ea typeface="Calibri"/>
                <a:cs typeface="Calibri"/>
                <a:sym typeface="Calibri"/>
              </a:endParaRPr>
            </a:p>
          </p:txBody>
        </p:sp>
        <p:sp>
          <p:nvSpPr>
            <p:cNvPr id="310" name="Google Shape;310;p16"/>
            <p:cNvSpPr txBox="1"/>
            <p:nvPr/>
          </p:nvSpPr>
          <p:spPr>
            <a:xfrm>
              <a:off x="2917" y="3448"/>
              <a:ext cx="734" cy="262"/>
            </a:xfrm>
            <a:prstGeom prst="rect">
              <a:avLst/>
            </a:prstGeom>
            <a:noFill/>
            <a:ln>
              <a:noFill/>
            </a:ln>
          </p:spPr>
          <p:txBody>
            <a:bodyPr anchorCtr="0" anchor="t" bIns="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omic Sans MS"/>
                  <a:ea typeface="Comic Sans MS"/>
                  <a:cs typeface="Comic Sans MS"/>
                  <a:sym typeface="Comic Sans MS"/>
                </a:rPr>
                <a:t>a cell).</a:t>
              </a:r>
              <a:endParaRPr/>
            </a:p>
          </p:txBody>
        </p:sp>
      </p:grpSp>
      <p:sp>
        <p:nvSpPr>
          <p:cNvPr id="311" name="Google Shape;311;p16"/>
          <p:cNvSpPr/>
          <p:nvPr/>
        </p:nvSpPr>
        <p:spPr>
          <a:xfrm>
            <a:off x="621988" y="1469979"/>
            <a:ext cx="880516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Infrared radiation is a form of electromagnetic radiation that lies between microwaves and visible light on the electromagnetic spectrum.</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7"/>
          <p:cNvSpPr txBox="1"/>
          <p:nvPr>
            <p:ph type="title"/>
          </p:nvPr>
        </p:nvSpPr>
        <p:spPr>
          <a:xfrm>
            <a:off x="554865" y="-2447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produces infrared waves?</a:t>
            </a:r>
            <a:endParaRPr/>
          </a:p>
        </p:txBody>
      </p:sp>
      <p:sp>
        <p:nvSpPr>
          <p:cNvPr id="319" name="Google Shape;319;p17"/>
          <p:cNvSpPr txBox="1"/>
          <p:nvPr/>
        </p:nvSpPr>
        <p:spPr>
          <a:xfrm>
            <a:off x="296380" y="784225"/>
            <a:ext cx="8098500" cy="965700"/>
          </a:xfrm>
          <a:prstGeom prst="rect">
            <a:avLst/>
          </a:prstGeom>
          <a:noFill/>
          <a:ln>
            <a:noFill/>
          </a:ln>
        </p:spPr>
        <p:txBody>
          <a:bodyPr anchorCtr="0" anchor="t" bIns="49425" lIns="98875" spcFirstLastPara="1" rIns="98875" wrap="square" tIns="49425">
            <a:sp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Infrared radiation is emitted by all objects but </a:t>
            </a:r>
            <a:r>
              <a:rPr lang="en-GB" sz="2812">
                <a:solidFill>
                  <a:srgbClr val="010066"/>
                </a:solidFill>
                <a:latin typeface="Calibri"/>
                <a:ea typeface="Calibri"/>
                <a:cs typeface="Calibri"/>
                <a:sym typeface="Calibri"/>
              </a:rPr>
              <a:t>is not visible to humans.</a:t>
            </a:r>
            <a:endParaRPr sz="2812">
              <a:solidFill>
                <a:srgbClr val="000066"/>
              </a:solidFill>
              <a:latin typeface="Calibri"/>
              <a:ea typeface="Calibri"/>
              <a:cs typeface="Calibri"/>
              <a:sym typeface="Calibri"/>
            </a:endParaRPr>
          </a:p>
        </p:txBody>
      </p:sp>
      <p:sp>
        <p:nvSpPr>
          <p:cNvPr id="320" name="Google Shape;320;p17"/>
          <p:cNvSpPr txBox="1"/>
          <p:nvPr/>
        </p:nvSpPr>
        <p:spPr>
          <a:xfrm>
            <a:off x="266475" y="1860405"/>
            <a:ext cx="8862900" cy="532800"/>
          </a:xfrm>
          <a:prstGeom prst="rect">
            <a:avLst/>
          </a:prstGeom>
          <a:noFill/>
          <a:ln>
            <a:noFill/>
          </a:ln>
        </p:spPr>
        <p:txBody>
          <a:bodyPr anchorCtr="0" anchor="t" bIns="49425" lIns="98875" spcFirstLastPara="1" rIns="98875" wrap="square" tIns="49425">
            <a:sp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The hotter an object is, the more infrared radiation it emits. </a:t>
            </a:r>
            <a:endParaRPr sz="1730">
              <a:latin typeface="Calibri"/>
              <a:ea typeface="Calibri"/>
              <a:cs typeface="Calibri"/>
              <a:sym typeface="Calibri"/>
            </a:endParaRPr>
          </a:p>
        </p:txBody>
      </p:sp>
      <p:pic>
        <p:nvPicPr>
          <p:cNvPr descr="19138019" id="321" name="Google Shape;321;p17"/>
          <p:cNvPicPr preferRelativeResize="0"/>
          <p:nvPr/>
        </p:nvPicPr>
        <p:blipFill rotWithShape="1">
          <a:blip r:embed="rId3">
            <a:alphaModFix/>
          </a:blip>
          <a:srcRect b="0" l="0" r="0" t="3844"/>
          <a:stretch/>
        </p:blipFill>
        <p:spPr>
          <a:xfrm>
            <a:off x="8460550" y="3628022"/>
            <a:ext cx="3802600" cy="3229978"/>
          </a:xfrm>
          <a:prstGeom prst="rect">
            <a:avLst/>
          </a:prstGeom>
          <a:noFill/>
          <a:ln>
            <a:noFill/>
          </a:ln>
        </p:spPr>
      </p:pic>
      <p:sp>
        <p:nvSpPr>
          <p:cNvPr id="322" name="Google Shape;322;p17"/>
          <p:cNvSpPr/>
          <p:nvPr/>
        </p:nvSpPr>
        <p:spPr>
          <a:xfrm>
            <a:off x="296380" y="2729223"/>
            <a:ext cx="9125700" cy="898800"/>
          </a:xfrm>
          <a:prstGeom prst="rect">
            <a:avLst/>
          </a:prstGeom>
          <a:noFill/>
          <a:ln>
            <a:noFill/>
          </a:ln>
        </p:spPr>
        <p:txBody>
          <a:bodyPr anchorCtr="0" anchor="t" bIns="49425" lIns="98875" spcFirstLastPara="1" rIns="98875" wrap="square" tIns="49425">
            <a:spAutoFit/>
          </a:bodyPr>
          <a:lstStyle/>
          <a:p>
            <a:pPr indent="0" lvl="0" marL="0" marR="0" rtl="0" algn="l">
              <a:spcBef>
                <a:spcPts val="0"/>
              </a:spcBef>
              <a:spcAft>
                <a:spcPts val="0"/>
              </a:spcAft>
              <a:buNone/>
            </a:pPr>
            <a:r>
              <a:rPr lang="en-GB" sz="2812">
                <a:solidFill>
                  <a:srgbClr val="000066"/>
                </a:solidFill>
                <a:latin typeface="Calibri"/>
                <a:ea typeface="Calibri"/>
                <a:cs typeface="Calibri"/>
                <a:sym typeface="Calibri"/>
              </a:rPr>
              <a:t>As an object gets hotter, visible light is also emitted. This is what can be seen when an object glows ‘red hot’.</a:t>
            </a:r>
            <a:endParaRPr sz="173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ppt_w</p:attrName>
                                        </p:attrNameLst>
                                      </p:cBhvr>
                                      <p:tavLst>
                                        <p:tav fmla="" tm="0">
                                          <p:val>
                                            <p:strVal val="0"/>
                                          </p:val>
                                        </p:tav>
                                        <p:tav fmla="" tm="100000">
                                          <p:val>
                                            <p:strVal val="#ppt_w"/>
                                          </p:val>
                                        </p:tav>
                                      </p:tavLst>
                                    </p:anim>
                                    <p:anim calcmode="lin" valueType="num">
                                      <p:cBhvr additive="base">
                                        <p:cTn dur="500"/>
                                        <p:tgtEl>
                                          <p:spTgt spid="32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ph type="title"/>
          </p:nvPr>
        </p:nvSpPr>
        <p:spPr>
          <a:xfrm>
            <a:off x="735168" y="-230982"/>
            <a:ext cx="1121642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is infrared used in remote controls?</a:t>
            </a:r>
            <a:endParaRPr/>
          </a:p>
        </p:txBody>
      </p:sp>
      <p:sp>
        <p:nvSpPr>
          <p:cNvPr id="330" name="Google Shape;330;p20"/>
          <p:cNvSpPr txBox="1"/>
          <p:nvPr/>
        </p:nvSpPr>
        <p:spPr>
          <a:xfrm>
            <a:off x="378922" y="784226"/>
            <a:ext cx="11199300" cy="46170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Infrared radiation with short wavelengths are not hot and cannot be detected by skin. </a:t>
            </a:r>
            <a:endParaRPr>
              <a:latin typeface="Calibri"/>
              <a:ea typeface="Calibri"/>
              <a:cs typeface="Calibri"/>
              <a:sym typeface="Calibri"/>
            </a:endParaRPr>
          </a:p>
        </p:txBody>
      </p:sp>
      <p:sp>
        <p:nvSpPr>
          <p:cNvPr id="331" name="Google Shape;331;p20"/>
          <p:cNvSpPr txBox="1"/>
          <p:nvPr/>
        </p:nvSpPr>
        <p:spPr>
          <a:xfrm>
            <a:off x="6529389" y="4629150"/>
            <a:ext cx="3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2" name="Google Shape;332;p20"/>
          <p:cNvSpPr txBox="1"/>
          <p:nvPr/>
        </p:nvSpPr>
        <p:spPr>
          <a:xfrm>
            <a:off x="411186" y="1795593"/>
            <a:ext cx="69813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This type of infrared radiation is used by remote controls to send information through the air over short distances.</a:t>
            </a:r>
            <a:endParaRPr>
              <a:latin typeface="Calibri"/>
              <a:ea typeface="Calibri"/>
              <a:cs typeface="Calibri"/>
              <a:sym typeface="Calibri"/>
            </a:endParaRPr>
          </a:p>
        </p:txBody>
      </p:sp>
      <p:sp>
        <p:nvSpPr>
          <p:cNvPr id="333" name="Google Shape;333;p20"/>
          <p:cNvSpPr txBox="1"/>
          <p:nvPr/>
        </p:nvSpPr>
        <p:spPr>
          <a:xfrm>
            <a:off x="411186" y="5121277"/>
            <a:ext cx="11346900" cy="129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Infrared waves can also be used to transmit information through optical fibres. In this way, infrared radiation can send data over long distances and around corners.</a:t>
            </a:r>
            <a:endParaRPr sz="2400">
              <a:solidFill>
                <a:srgbClr val="010066"/>
              </a:solidFill>
              <a:latin typeface="Calibri"/>
              <a:ea typeface="Calibri"/>
              <a:cs typeface="Calibri"/>
              <a:sym typeface="Calibri"/>
            </a:endParaRPr>
          </a:p>
          <a:p>
            <a:pPr indent="0" lvl="0" marL="0" marR="0" rtl="0" algn="l">
              <a:spcBef>
                <a:spcPts val="720"/>
              </a:spcBef>
              <a:spcAft>
                <a:spcPts val="0"/>
              </a:spcAft>
              <a:buNone/>
            </a:pPr>
            <a:r>
              <a:t/>
            </a:r>
            <a:endParaRPr sz="2400">
              <a:solidFill>
                <a:srgbClr val="010066"/>
              </a:solidFill>
              <a:latin typeface="Calibri"/>
              <a:ea typeface="Calibri"/>
              <a:cs typeface="Calibri"/>
              <a:sym typeface="Calibri"/>
            </a:endParaRPr>
          </a:p>
        </p:txBody>
      </p:sp>
      <p:sp>
        <p:nvSpPr>
          <p:cNvPr id="334" name="Google Shape;334;p20"/>
          <p:cNvSpPr/>
          <p:nvPr/>
        </p:nvSpPr>
        <p:spPr>
          <a:xfrm>
            <a:off x="411186" y="3323678"/>
            <a:ext cx="615046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The pulses of infrared radiation from the remote control can only travel in a straight line to the device being controlled. </a:t>
            </a:r>
            <a:endParaRPr>
              <a:latin typeface="Calibri"/>
              <a:ea typeface="Calibri"/>
              <a:cs typeface="Calibri"/>
              <a:sym typeface="Calibri"/>
            </a:endParaRPr>
          </a:p>
        </p:txBody>
      </p:sp>
      <p:pic>
        <p:nvPicPr>
          <p:cNvPr descr="186226_4294" id="335" name="Google Shape;335;p20"/>
          <p:cNvPicPr preferRelativeResize="0"/>
          <p:nvPr/>
        </p:nvPicPr>
        <p:blipFill rotWithShape="1">
          <a:blip r:embed="rId3">
            <a:alphaModFix/>
          </a:blip>
          <a:srcRect b="0" l="0" r="862" t="0"/>
          <a:stretch/>
        </p:blipFill>
        <p:spPr>
          <a:xfrm>
            <a:off x="7594054" y="1592930"/>
            <a:ext cx="4164014" cy="3181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798d58f992_1_0"/>
          <p:cNvSpPr txBox="1"/>
          <p:nvPr/>
        </p:nvSpPr>
        <p:spPr>
          <a:xfrm>
            <a:off x="2711625" y="2014000"/>
            <a:ext cx="7581900" cy="1477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GB" sz="2800" u="sng">
                <a:solidFill>
                  <a:schemeClr val="hlink"/>
                </a:solidFill>
                <a:latin typeface="Calibri"/>
                <a:ea typeface="Calibri"/>
                <a:cs typeface="Calibri"/>
                <a:sym typeface="Calibri"/>
                <a:hlinkClick r:id="rId3"/>
              </a:rPr>
              <a:t>Nintendo Wii Demonstration IR Radiation</a:t>
            </a:r>
            <a:endParaRPr sz="2800">
              <a:solidFill>
                <a:schemeClr val="dk1"/>
              </a:solidFill>
              <a:latin typeface="Calibri"/>
              <a:ea typeface="Calibri"/>
              <a:cs typeface="Calibri"/>
              <a:sym typeface="Calibri"/>
            </a:endParaRPr>
          </a:p>
          <a:p>
            <a:pPr indent="0" lvl="0" marL="457200" rtl="0" algn="l">
              <a:spcBef>
                <a:spcPts val="0"/>
              </a:spcBef>
              <a:spcAft>
                <a:spcPts val="0"/>
              </a:spcAft>
              <a:buNone/>
            </a:pPr>
            <a:br>
              <a:rPr lang="en-GB"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7" name="Shape 347"/>
        <p:cNvGrpSpPr/>
        <p:nvPr/>
      </p:nvGrpSpPr>
      <p:grpSpPr>
        <a:xfrm>
          <a:off x="0" y="0"/>
          <a:ext cx="0" cy="0"/>
          <a:chOff x="0" y="0"/>
          <a:chExt cx="0" cy="0"/>
        </a:xfrm>
      </p:grpSpPr>
      <p:sp>
        <p:nvSpPr>
          <p:cNvPr id="348" name="Google Shape;348;p19"/>
          <p:cNvSpPr txBox="1"/>
          <p:nvPr>
            <p:ph type="title"/>
          </p:nvPr>
        </p:nvSpPr>
        <p:spPr>
          <a:xfrm>
            <a:off x="0" y="-292090"/>
            <a:ext cx="1278872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is infrared used for heating and cooking?</a:t>
            </a:r>
            <a:endParaRPr/>
          </a:p>
        </p:txBody>
      </p:sp>
      <p:sp>
        <p:nvSpPr>
          <p:cNvPr id="349" name="Google Shape;349;p19"/>
          <p:cNvSpPr txBox="1"/>
          <p:nvPr/>
        </p:nvSpPr>
        <p:spPr>
          <a:xfrm>
            <a:off x="193182" y="784226"/>
            <a:ext cx="790011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The infrared radiation emitted by the Sun, radiators, solid fuel fires and electric fires is used for heating.</a:t>
            </a:r>
            <a:endParaRPr/>
          </a:p>
        </p:txBody>
      </p:sp>
      <p:sp>
        <p:nvSpPr>
          <p:cNvPr id="350" name="Google Shape;350;p19"/>
          <p:cNvSpPr txBox="1"/>
          <p:nvPr/>
        </p:nvSpPr>
        <p:spPr>
          <a:xfrm>
            <a:off x="5009882" y="3143250"/>
            <a:ext cx="7049858" cy="784830"/>
          </a:xfrm>
          <a:prstGeom prst="rect">
            <a:avLst/>
          </a:prstGeom>
          <a:noFill/>
          <a:ln>
            <a:noFill/>
          </a:ln>
        </p:spPr>
        <p:txBody>
          <a:bodyPr anchorCtr="0" anchor="t" bIns="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Grills, cookers, toasters, campfires and barbecues use infrared radiation to cook food. </a:t>
            </a:r>
            <a:endParaRPr sz="2400">
              <a:solidFill>
                <a:srgbClr val="000066"/>
              </a:solidFill>
              <a:latin typeface="Comic Sans MS"/>
              <a:ea typeface="Comic Sans MS"/>
              <a:cs typeface="Comic Sans MS"/>
              <a:sym typeface="Comic Sans MS"/>
            </a:endParaRPr>
          </a:p>
        </p:txBody>
      </p:sp>
      <p:pic>
        <p:nvPicPr>
          <p:cNvPr descr="48526_6952" id="351" name="Google Shape;351;p19"/>
          <p:cNvPicPr preferRelativeResize="0"/>
          <p:nvPr/>
        </p:nvPicPr>
        <p:blipFill rotWithShape="1">
          <a:blip r:embed="rId3">
            <a:alphaModFix/>
          </a:blip>
          <a:srcRect b="0" l="0" r="0" t="0"/>
          <a:stretch/>
        </p:blipFill>
        <p:spPr>
          <a:xfrm>
            <a:off x="8093300" y="726928"/>
            <a:ext cx="3184300" cy="2385598"/>
          </a:xfrm>
          <a:prstGeom prst="rect">
            <a:avLst/>
          </a:prstGeom>
          <a:noFill/>
          <a:ln>
            <a:noFill/>
          </a:ln>
        </p:spPr>
      </p:pic>
      <p:pic>
        <p:nvPicPr>
          <p:cNvPr descr="129504_1983" id="352" name="Google Shape;352;p19"/>
          <p:cNvPicPr preferRelativeResize="0"/>
          <p:nvPr/>
        </p:nvPicPr>
        <p:blipFill rotWithShape="1">
          <a:blip r:embed="rId4">
            <a:alphaModFix/>
          </a:blip>
          <a:srcRect b="0" l="0" r="0" t="0"/>
          <a:stretch/>
        </p:blipFill>
        <p:spPr>
          <a:xfrm>
            <a:off x="631065" y="3143250"/>
            <a:ext cx="4231962" cy="3284179"/>
          </a:xfrm>
          <a:prstGeom prst="rect">
            <a:avLst/>
          </a:prstGeom>
          <a:noFill/>
          <a:ln>
            <a:noFill/>
          </a:ln>
        </p:spPr>
      </p:pic>
      <p:sp>
        <p:nvSpPr>
          <p:cNvPr id="353" name="Google Shape;353;p19"/>
          <p:cNvSpPr/>
          <p:nvPr/>
        </p:nvSpPr>
        <p:spPr>
          <a:xfrm>
            <a:off x="285028" y="1948376"/>
            <a:ext cx="771642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The heating effect of infrared radiation is detected by temperature sensitive nerve-endings in skin.</a:t>
            </a:r>
            <a:endParaRPr/>
          </a:p>
        </p:txBody>
      </p:sp>
      <p:sp>
        <p:nvSpPr>
          <p:cNvPr id="354" name="Google Shape;354;p19"/>
          <p:cNvSpPr/>
          <p:nvPr/>
        </p:nvSpPr>
        <p:spPr>
          <a:xfrm>
            <a:off x="5039256" y="4640553"/>
            <a:ext cx="6991109" cy="1569660"/>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Infrared waves are emitted by the heating element or lit fuel and absorbed by the surface of the food. Heat is transferred through the food by conduction.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21"/>
          <p:cNvSpPr txBox="1"/>
          <p:nvPr/>
        </p:nvSpPr>
        <p:spPr>
          <a:xfrm>
            <a:off x="370924" y="784226"/>
            <a:ext cx="1143222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An </a:t>
            </a:r>
            <a:r>
              <a:rPr b="1" lang="en-GB" sz="2400">
                <a:solidFill>
                  <a:srgbClr val="CC00CC"/>
                </a:solidFill>
                <a:latin typeface="Comic Sans MS"/>
                <a:ea typeface="Comic Sans MS"/>
                <a:cs typeface="Comic Sans MS"/>
                <a:sym typeface="Comic Sans MS"/>
              </a:rPr>
              <a:t>infrared thermometer</a:t>
            </a:r>
            <a:r>
              <a:rPr lang="en-GB" sz="2400">
                <a:solidFill>
                  <a:srgbClr val="010066"/>
                </a:solidFill>
                <a:latin typeface="Comic Sans MS"/>
                <a:ea typeface="Comic Sans MS"/>
                <a:cs typeface="Comic Sans MS"/>
                <a:sym typeface="Comic Sans MS"/>
              </a:rPr>
              <a:t> enables the remote sensing of temperature. It does this by detecting the infrared radiation emitted by an object and converting it into a temperature. </a:t>
            </a:r>
            <a:endParaRPr/>
          </a:p>
        </p:txBody>
      </p:sp>
      <p:sp>
        <p:nvSpPr>
          <p:cNvPr id="362" name="Google Shape;362;p21"/>
          <p:cNvSpPr txBox="1"/>
          <p:nvPr>
            <p:ph type="title"/>
          </p:nvPr>
        </p:nvSpPr>
        <p:spPr>
          <a:xfrm>
            <a:off x="709412" y="-27881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 infrared thermometers work?</a:t>
            </a:r>
            <a:endParaRPr/>
          </a:p>
        </p:txBody>
      </p:sp>
      <p:sp>
        <p:nvSpPr>
          <p:cNvPr id="363" name="Google Shape;363;p21"/>
          <p:cNvSpPr txBox="1"/>
          <p:nvPr/>
        </p:nvSpPr>
        <p:spPr>
          <a:xfrm>
            <a:off x="366261" y="2123863"/>
            <a:ext cx="776747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The eardrum is an accurate point for measuring the body’s temperature, because it is deep within the head.</a:t>
            </a:r>
            <a:endParaRPr/>
          </a:p>
        </p:txBody>
      </p:sp>
      <p:pic>
        <p:nvPicPr>
          <p:cNvPr descr="16359107" id="364" name="Google Shape;364;p21"/>
          <p:cNvPicPr preferRelativeResize="0"/>
          <p:nvPr/>
        </p:nvPicPr>
        <p:blipFill rotWithShape="1">
          <a:blip r:embed="rId3">
            <a:alphaModFix/>
          </a:blip>
          <a:srcRect b="0" l="0" r="2217" t="0"/>
          <a:stretch/>
        </p:blipFill>
        <p:spPr>
          <a:xfrm>
            <a:off x="7959144" y="1746997"/>
            <a:ext cx="3844009" cy="4760346"/>
          </a:xfrm>
          <a:prstGeom prst="rect">
            <a:avLst/>
          </a:prstGeom>
          <a:noFill/>
          <a:ln>
            <a:noFill/>
          </a:ln>
        </p:spPr>
      </p:pic>
      <p:sp>
        <p:nvSpPr>
          <p:cNvPr id="365" name="Google Shape;365;p21"/>
          <p:cNvSpPr/>
          <p:nvPr/>
        </p:nvSpPr>
        <p:spPr>
          <a:xfrm>
            <a:off x="366261" y="3527005"/>
            <a:ext cx="698757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A </a:t>
            </a:r>
            <a:r>
              <a:rPr b="1" lang="en-GB" sz="2400">
                <a:solidFill>
                  <a:srgbClr val="CC00CC"/>
                </a:solidFill>
                <a:latin typeface="Comic Sans MS"/>
                <a:ea typeface="Comic Sans MS"/>
                <a:cs typeface="Comic Sans MS"/>
                <a:sym typeface="Comic Sans MS"/>
              </a:rPr>
              <a:t>digital ear thermometer</a:t>
            </a:r>
            <a:r>
              <a:rPr lang="en-GB" sz="2400">
                <a:solidFill>
                  <a:srgbClr val="010066"/>
                </a:solidFill>
                <a:latin typeface="Comic Sans MS"/>
                <a:ea typeface="Comic Sans MS"/>
                <a:cs typeface="Comic Sans MS"/>
                <a:sym typeface="Comic Sans MS"/>
              </a:rPr>
              <a:t> can do this without touching the eardrum, which is very fragile.</a:t>
            </a:r>
            <a:endParaRPr/>
          </a:p>
        </p:txBody>
      </p:sp>
      <p:sp>
        <p:nvSpPr>
          <p:cNvPr id="366" name="Google Shape;366;p21"/>
          <p:cNvSpPr/>
          <p:nvPr/>
        </p:nvSpPr>
        <p:spPr>
          <a:xfrm>
            <a:off x="366261" y="4762432"/>
            <a:ext cx="749550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A probe is inserted into ear canal and then measures the infrared radiation emitted from the eardrum and surrounding tissues.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2"/>
          <p:cNvSpPr txBox="1"/>
          <p:nvPr/>
        </p:nvSpPr>
        <p:spPr>
          <a:xfrm>
            <a:off x="616838" y="784226"/>
            <a:ext cx="760006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Devices containing infrared detectors are used for various security purposes.</a:t>
            </a:r>
            <a:endParaRPr/>
          </a:p>
        </p:txBody>
      </p:sp>
      <p:pic>
        <p:nvPicPr>
          <p:cNvPr descr="sensor2" id="374" name="Google Shape;374;p22"/>
          <p:cNvPicPr preferRelativeResize="0"/>
          <p:nvPr/>
        </p:nvPicPr>
        <p:blipFill rotWithShape="1">
          <a:blip r:embed="rId3">
            <a:alphaModFix/>
          </a:blip>
          <a:srcRect b="8406" l="0" r="0" t="8406"/>
          <a:stretch/>
        </p:blipFill>
        <p:spPr>
          <a:xfrm>
            <a:off x="9160749" y="633074"/>
            <a:ext cx="2447566" cy="2605174"/>
          </a:xfrm>
          <a:prstGeom prst="rect">
            <a:avLst/>
          </a:prstGeom>
          <a:noFill/>
          <a:ln>
            <a:noFill/>
          </a:ln>
        </p:spPr>
      </p:pic>
      <p:sp>
        <p:nvSpPr>
          <p:cNvPr id="375" name="Google Shape;375;p22"/>
          <p:cNvSpPr txBox="1"/>
          <p:nvPr>
            <p:ph type="title"/>
          </p:nvPr>
        </p:nvSpPr>
        <p:spPr>
          <a:xfrm>
            <a:off x="527050" y="-29850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can infrared waves fight crime?</a:t>
            </a:r>
            <a:endParaRPr/>
          </a:p>
        </p:txBody>
      </p:sp>
      <p:sp>
        <p:nvSpPr>
          <p:cNvPr id="376" name="Google Shape;376;p22"/>
          <p:cNvSpPr txBox="1"/>
          <p:nvPr/>
        </p:nvSpPr>
        <p:spPr>
          <a:xfrm>
            <a:off x="604139" y="1699649"/>
            <a:ext cx="82918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Sensors in security lights and burglar alarms can detect the infrared radiation given off by an approaching body.</a:t>
            </a:r>
            <a:endParaRPr/>
          </a:p>
        </p:txBody>
      </p:sp>
      <p:sp>
        <p:nvSpPr>
          <p:cNvPr id="377" name="Google Shape;377;p22"/>
          <p:cNvSpPr txBox="1"/>
          <p:nvPr/>
        </p:nvSpPr>
        <p:spPr>
          <a:xfrm>
            <a:off x="4984705" y="3291552"/>
            <a:ext cx="7096259" cy="1938992"/>
          </a:xfrm>
          <a:prstGeom prst="rect">
            <a:avLst/>
          </a:prstGeom>
          <a:noFill/>
          <a:ln>
            <a:noFill/>
          </a:ln>
        </p:spPr>
        <p:txBody>
          <a:bodyPr anchorCtr="0" anchor="t" bIns="45700" lIns="91425" spcFirstLastPara="1" rIns="0"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Thermal imaging equipment, as used by the military and police, detects infrared radiation and converts it into an image. Objects such as people and cars, that are hotter than the background can be easily tracked even at night.</a:t>
            </a:r>
            <a:endParaRPr/>
          </a:p>
        </p:txBody>
      </p:sp>
      <p:sp>
        <p:nvSpPr>
          <p:cNvPr id="378" name="Google Shape;378;p22"/>
          <p:cNvSpPr txBox="1"/>
          <p:nvPr/>
        </p:nvSpPr>
        <p:spPr>
          <a:xfrm>
            <a:off x="425003" y="5788635"/>
            <a:ext cx="985587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omic Sans MS"/>
                <a:ea typeface="Comic Sans MS"/>
                <a:cs typeface="Comic Sans MS"/>
                <a:sym typeface="Comic Sans MS"/>
              </a:rPr>
              <a:t>The emergency services use thermal imaging cameras to help locate people in situations where visibility is low. </a:t>
            </a:r>
            <a:endParaRPr/>
          </a:p>
        </p:txBody>
      </p:sp>
      <p:pic>
        <p:nvPicPr>
          <p:cNvPr descr="19735637" id="379" name="Google Shape;379;p22"/>
          <p:cNvPicPr preferRelativeResize="0"/>
          <p:nvPr/>
        </p:nvPicPr>
        <p:blipFill rotWithShape="1">
          <a:blip r:embed="rId4">
            <a:alphaModFix/>
          </a:blip>
          <a:srcRect b="0" l="0" r="0" t="0"/>
          <a:stretch/>
        </p:blipFill>
        <p:spPr>
          <a:xfrm>
            <a:off x="568840" y="2856071"/>
            <a:ext cx="4183463" cy="28099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5" name="Shape 385"/>
        <p:cNvGrpSpPr/>
        <p:nvPr/>
      </p:nvGrpSpPr>
      <p:grpSpPr>
        <a:xfrm>
          <a:off x="0" y="0"/>
          <a:ext cx="0" cy="0"/>
          <a:chOff x="0" y="0"/>
          <a:chExt cx="0" cy="0"/>
        </a:xfrm>
      </p:grpSpPr>
      <p:sp>
        <p:nvSpPr>
          <p:cNvPr id="386" name="Google Shape;386;p23"/>
          <p:cNvSpPr txBox="1"/>
          <p:nvPr>
            <p:ph type="title"/>
          </p:nvPr>
        </p:nvSpPr>
        <p:spPr>
          <a:xfrm>
            <a:off x="773806" y="-28193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do infrared waves affect humans?</a:t>
            </a:r>
            <a:endParaRPr/>
          </a:p>
        </p:txBody>
      </p:sp>
      <p:sp>
        <p:nvSpPr>
          <p:cNvPr id="387" name="Google Shape;387;p23"/>
          <p:cNvSpPr txBox="1"/>
          <p:nvPr/>
        </p:nvSpPr>
        <p:spPr>
          <a:xfrm>
            <a:off x="141668" y="784225"/>
            <a:ext cx="89765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Infrared waves are absorbed by skin to a limited depth. They transfer their energy to the skin tissue warming it up.</a:t>
            </a:r>
            <a:endParaRPr>
              <a:latin typeface="Calibri"/>
              <a:ea typeface="Calibri"/>
              <a:cs typeface="Calibri"/>
              <a:sym typeface="Calibri"/>
            </a:endParaRPr>
          </a:p>
        </p:txBody>
      </p:sp>
      <p:sp>
        <p:nvSpPr>
          <p:cNvPr id="388" name="Google Shape;388;p23"/>
          <p:cNvSpPr txBox="1"/>
          <p:nvPr/>
        </p:nvSpPr>
        <p:spPr>
          <a:xfrm>
            <a:off x="216998" y="3626807"/>
            <a:ext cx="74934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Infrared waves from this grill heat the surface of the meat. </a:t>
            </a:r>
            <a:endParaRPr>
              <a:latin typeface="Calibri"/>
              <a:ea typeface="Calibri"/>
              <a:cs typeface="Calibri"/>
              <a:sym typeface="Calibri"/>
            </a:endParaRPr>
          </a:p>
          <a:p>
            <a:pPr indent="0" lvl="0" marL="0" marR="0" rtl="0" algn="l">
              <a:spcBef>
                <a:spcPts val="0"/>
              </a:spcBef>
              <a:spcAft>
                <a:spcPts val="0"/>
              </a:spcAft>
              <a:buNone/>
            </a:pPr>
            <a:r>
              <a:rPr lang="en-GB" sz="2400">
                <a:solidFill>
                  <a:srgbClr val="010066"/>
                </a:solidFill>
                <a:latin typeface="Calibri"/>
                <a:ea typeface="Calibri"/>
                <a:cs typeface="Calibri"/>
                <a:sym typeface="Calibri"/>
              </a:rPr>
              <a:t>If the meat absorbs too much energy, it will become burnt.</a:t>
            </a:r>
            <a:endParaRPr sz="2400">
              <a:solidFill>
                <a:srgbClr val="000066"/>
              </a:solidFill>
              <a:latin typeface="Calibri"/>
              <a:ea typeface="Calibri"/>
              <a:cs typeface="Calibri"/>
              <a:sym typeface="Calibri"/>
            </a:endParaRPr>
          </a:p>
        </p:txBody>
      </p:sp>
      <p:sp>
        <p:nvSpPr>
          <p:cNvPr id="389" name="Google Shape;389;p23"/>
          <p:cNvSpPr txBox="1"/>
          <p:nvPr/>
        </p:nvSpPr>
        <p:spPr>
          <a:xfrm>
            <a:off x="386509" y="5418446"/>
            <a:ext cx="74949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If skin is exposed to too many high-energy infrared waves, it will become burnt.</a:t>
            </a:r>
            <a:endParaRPr>
              <a:latin typeface="Calibri"/>
              <a:ea typeface="Calibri"/>
              <a:cs typeface="Calibri"/>
              <a:sym typeface="Calibri"/>
            </a:endParaRPr>
          </a:p>
        </p:txBody>
      </p:sp>
      <p:sp>
        <p:nvSpPr>
          <p:cNvPr id="390" name="Google Shape;390;p23"/>
          <p:cNvSpPr txBox="1"/>
          <p:nvPr/>
        </p:nvSpPr>
        <p:spPr>
          <a:xfrm>
            <a:off x="140873" y="1949807"/>
            <a:ext cx="845057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alibri"/>
                <a:ea typeface="Calibri"/>
                <a:cs typeface="Calibri"/>
                <a:sym typeface="Calibri"/>
              </a:rPr>
              <a:t>This heating effect is detected by temperature-sensitive nerve endings in the skin.</a:t>
            </a:r>
            <a:endParaRPr>
              <a:latin typeface="Calibri"/>
              <a:ea typeface="Calibri"/>
              <a:cs typeface="Calibri"/>
              <a:sym typeface="Calibri"/>
            </a:endParaRPr>
          </a:p>
        </p:txBody>
      </p:sp>
      <p:pic>
        <p:nvPicPr>
          <p:cNvPr descr="PC2_gfx_heater" id="391" name="Google Shape;391;p23"/>
          <p:cNvPicPr preferRelativeResize="0"/>
          <p:nvPr/>
        </p:nvPicPr>
        <p:blipFill rotWithShape="1">
          <a:blip r:embed="rId3">
            <a:alphaModFix/>
          </a:blip>
          <a:srcRect b="0" l="0" r="0" t="0"/>
          <a:stretch/>
        </p:blipFill>
        <p:spPr>
          <a:xfrm>
            <a:off x="9222793" y="709991"/>
            <a:ext cx="2698750" cy="2698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4"/>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4. Visible Light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5"/>
          <p:cNvSpPr txBox="1"/>
          <p:nvPr>
            <p:ph type="title"/>
          </p:nvPr>
        </p:nvSpPr>
        <p:spPr>
          <a:xfrm>
            <a:off x="838200" y="-25653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does visible light affect humans?</a:t>
            </a:r>
            <a:endParaRPr/>
          </a:p>
        </p:txBody>
      </p:sp>
      <p:sp>
        <p:nvSpPr>
          <p:cNvPr id="404" name="Google Shape;404;p25"/>
          <p:cNvSpPr txBox="1"/>
          <p:nvPr/>
        </p:nvSpPr>
        <p:spPr>
          <a:xfrm>
            <a:off x="379469" y="784226"/>
            <a:ext cx="917728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Your eyes detect visible light, which does not normally pose any health risk. </a:t>
            </a:r>
            <a:endParaRPr>
              <a:latin typeface="Calibri"/>
              <a:ea typeface="Calibri"/>
              <a:cs typeface="Calibri"/>
              <a:sym typeface="Calibri"/>
            </a:endParaRPr>
          </a:p>
        </p:txBody>
      </p:sp>
      <p:sp>
        <p:nvSpPr>
          <p:cNvPr id="405" name="Google Shape;405;p25"/>
          <p:cNvSpPr txBox="1"/>
          <p:nvPr/>
        </p:nvSpPr>
        <p:spPr>
          <a:xfrm>
            <a:off x="4250028" y="2540013"/>
            <a:ext cx="78045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Lasers are very intense sources of visible light. </a:t>
            </a:r>
            <a:r>
              <a:rPr lang="en-GB" sz="2400">
                <a:solidFill>
                  <a:srgbClr val="010066"/>
                </a:solidFill>
                <a:latin typeface="Calibri"/>
                <a:ea typeface="Calibri"/>
                <a:cs typeface="Calibri"/>
                <a:sym typeface="Calibri"/>
              </a:rPr>
              <a:t>The lasers used in light shows are not powerful enough to cause harm but must be used safely.</a:t>
            </a:r>
            <a:endParaRPr>
              <a:latin typeface="Calibri"/>
              <a:ea typeface="Calibri"/>
              <a:cs typeface="Calibri"/>
              <a:sym typeface="Calibri"/>
            </a:endParaRPr>
          </a:p>
        </p:txBody>
      </p:sp>
      <p:sp>
        <p:nvSpPr>
          <p:cNvPr id="406" name="Google Shape;406;p25"/>
          <p:cNvSpPr txBox="1"/>
          <p:nvPr/>
        </p:nvSpPr>
        <p:spPr>
          <a:xfrm>
            <a:off x="377880" y="1662113"/>
            <a:ext cx="91773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However, very bright light can damage your eyes and may even make you blind.</a:t>
            </a:r>
            <a:endParaRPr>
              <a:latin typeface="Calibri"/>
              <a:ea typeface="Calibri"/>
              <a:cs typeface="Calibri"/>
              <a:sym typeface="Calibri"/>
            </a:endParaRPr>
          </a:p>
        </p:txBody>
      </p:sp>
      <p:sp>
        <p:nvSpPr>
          <p:cNvPr id="407" name="Google Shape;407;p25"/>
          <p:cNvSpPr txBox="1"/>
          <p:nvPr/>
        </p:nvSpPr>
        <p:spPr>
          <a:xfrm>
            <a:off x="4250020" y="4028000"/>
            <a:ext cx="74982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0066"/>
                </a:solidFill>
                <a:latin typeface="Calibri"/>
                <a:ea typeface="Calibri"/>
                <a:cs typeface="Calibri"/>
                <a:sym typeface="Calibri"/>
              </a:rPr>
              <a:t>Some very powerful lasers can cut through materials such as metal. These would also be able to burn through living tissue.</a:t>
            </a:r>
            <a:endParaRPr>
              <a:latin typeface="Calibri"/>
              <a:ea typeface="Calibri"/>
              <a:cs typeface="Calibri"/>
              <a:sym typeface="Calibri"/>
            </a:endParaRPr>
          </a:p>
        </p:txBody>
      </p:sp>
      <p:pic>
        <p:nvPicPr>
          <p:cNvPr descr="587467_69127503_credit_1" id="408" name="Google Shape;408;p25"/>
          <p:cNvPicPr preferRelativeResize="0"/>
          <p:nvPr/>
        </p:nvPicPr>
        <p:blipFill rotWithShape="1">
          <a:blip r:embed="rId3">
            <a:alphaModFix/>
          </a:blip>
          <a:srcRect b="0" l="0" r="0" t="0"/>
          <a:stretch/>
        </p:blipFill>
        <p:spPr>
          <a:xfrm>
            <a:off x="5" y="3466638"/>
            <a:ext cx="3872148" cy="33913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6"/>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latin typeface="Comic Sans MS"/>
                <a:ea typeface="Comic Sans MS"/>
                <a:cs typeface="Comic Sans MS"/>
                <a:sym typeface="Comic Sans MS"/>
              </a:rPr>
              <a:t>5. Ultraviolet Light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798d58f992_1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What is the main source of UV Radiation on Earth?</a:t>
            </a:r>
            <a:endParaRPr/>
          </a:p>
        </p:txBody>
      </p:sp>
      <p:pic>
        <p:nvPicPr>
          <p:cNvPr descr="sun5" id="420" name="Google Shape;420;g3798d58f992_1_6"/>
          <p:cNvPicPr preferRelativeResize="0"/>
          <p:nvPr/>
        </p:nvPicPr>
        <p:blipFill rotWithShape="1">
          <a:blip r:embed="rId3">
            <a:alphaModFix/>
          </a:blip>
          <a:srcRect b="3244" l="4726" r="4717" t="2156"/>
          <a:stretch/>
        </p:blipFill>
        <p:spPr>
          <a:xfrm>
            <a:off x="3690399" y="2815233"/>
            <a:ext cx="3812600" cy="348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7"/>
          <p:cNvSpPr txBox="1"/>
          <p:nvPr>
            <p:ph type="title"/>
          </p:nvPr>
        </p:nvSpPr>
        <p:spPr>
          <a:xfrm>
            <a:off x="398204" y="-22887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is ultraviolet (UV) radiation?</a:t>
            </a:r>
            <a:endParaRPr/>
          </a:p>
        </p:txBody>
      </p:sp>
      <p:sp>
        <p:nvSpPr>
          <p:cNvPr id="427" name="Google Shape;427;p27"/>
          <p:cNvSpPr txBox="1"/>
          <p:nvPr/>
        </p:nvSpPr>
        <p:spPr>
          <a:xfrm>
            <a:off x="140668" y="784226"/>
            <a:ext cx="85428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Everyday we are exposed to ultraviolet (UV) radiation emitted by the Sun.</a:t>
            </a:r>
            <a:endParaRPr>
              <a:latin typeface="Calibri"/>
              <a:ea typeface="Calibri"/>
              <a:cs typeface="Calibri"/>
              <a:sym typeface="Calibri"/>
            </a:endParaRPr>
          </a:p>
        </p:txBody>
      </p:sp>
      <p:pic>
        <p:nvPicPr>
          <p:cNvPr descr="sun5" id="428" name="Google Shape;428;p27"/>
          <p:cNvPicPr preferRelativeResize="0"/>
          <p:nvPr/>
        </p:nvPicPr>
        <p:blipFill rotWithShape="1">
          <a:blip r:embed="rId3">
            <a:alphaModFix/>
          </a:blip>
          <a:srcRect b="3239" l="4723" r="4724" t="2159"/>
          <a:stretch/>
        </p:blipFill>
        <p:spPr>
          <a:xfrm>
            <a:off x="9232076" y="689965"/>
            <a:ext cx="2133600" cy="1949450"/>
          </a:xfrm>
          <a:prstGeom prst="rect">
            <a:avLst/>
          </a:prstGeom>
          <a:noFill/>
          <a:ln>
            <a:noFill/>
          </a:ln>
        </p:spPr>
      </p:pic>
      <p:sp>
        <p:nvSpPr>
          <p:cNvPr id="429" name="Google Shape;429;p27"/>
          <p:cNvSpPr txBox="1"/>
          <p:nvPr/>
        </p:nvSpPr>
        <p:spPr>
          <a:xfrm>
            <a:off x="269529" y="5113338"/>
            <a:ext cx="1107839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The wavelength of UV radiation ranges from </a:t>
            </a:r>
            <a:r>
              <a:rPr b="1" lang="en-GB" sz="2800">
                <a:solidFill>
                  <a:schemeClr val="dk1"/>
                </a:solidFill>
                <a:latin typeface="Calibri"/>
                <a:ea typeface="Calibri"/>
                <a:cs typeface="Calibri"/>
                <a:sym typeface="Calibri"/>
              </a:rPr>
              <a:t>10 to 1000 nm.</a:t>
            </a:r>
            <a:endParaRPr b="1">
              <a:latin typeface="Calibri"/>
              <a:ea typeface="Calibri"/>
              <a:cs typeface="Calibri"/>
              <a:sym typeface="Calibri"/>
            </a:endParaRPr>
          </a:p>
        </p:txBody>
      </p:sp>
      <p:sp>
        <p:nvSpPr>
          <p:cNvPr id="430" name="Google Shape;430;p27"/>
          <p:cNvSpPr txBox="1"/>
          <p:nvPr/>
        </p:nvSpPr>
        <p:spPr>
          <a:xfrm>
            <a:off x="984766" y="6023654"/>
            <a:ext cx="9004358" cy="52322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that bees, birds, butterflies and other insects can. </a:t>
            </a:r>
            <a:endParaRPr>
              <a:latin typeface="Calibri"/>
              <a:ea typeface="Calibri"/>
              <a:cs typeface="Calibri"/>
              <a:sym typeface="Calibri"/>
            </a:endParaRPr>
          </a:p>
        </p:txBody>
      </p:sp>
      <p:sp>
        <p:nvSpPr>
          <p:cNvPr id="431" name="Google Shape;431;p27"/>
          <p:cNvSpPr/>
          <p:nvPr/>
        </p:nvSpPr>
        <p:spPr>
          <a:xfrm>
            <a:off x="140677" y="1631950"/>
            <a:ext cx="9013311" cy="1338828"/>
          </a:xfrm>
          <a:prstGeom prst="rect">
            <a:avLst/>
          </a:prstGeom>
          <a:noFill/>
          <a:ln>
            <a:noFill/>
          </a:ln>
        </p:spPr>
        <p:txBody>
          <a:bodyPr anchorCtr="0" anchor="t" bIns="0" lIns="91425" spcFirstLastPara="1" rIns="0" wrap="square" tIns="45700">
            <a:spAutoFit/>
          </a:bodyPr>
          <a:lstStyle/>
          <a:p>
            <a:pPr indent="0" lvl="0" marL="0" marR="0" rtl="0" algn="l">
              <a:spcBef>
                <a:spcPts val="0"/>
              </a:spcBef>
              <a:spcAft>
                <a:spcPts val="0"/>
              </a:spcAft>
              <a:buClr>
                <a:schemeClr val="dk1"/>
              </a:buClr>
              <a:buSzPts val="2800"/>
              <a:buFont typeface="Noto Sans Symbols"/>
              <a:buNone/>
            </a:pPr>
            <a:r>
              <a:rPr lang="en-GB" sz="2800">
                <a:solidFill>
                  <a:schemeClr val="dk1"/>
                </a:solidFill>
                <a:latin typeface="Calibri"/>
                <a:ea typeface="Calibri"/>
                <a:cs typeface="Calibri"/>
                <a:sym typeface="Calibri"/>
              </a:rPr>
              <a:t>UV radiation is </a:t>
            </a:r>
            <a:r>
              <a:rPr b="1" lang="en-GB" sz="2800">
                <a:solidFill>
                  <a:schemeClr val="dk1"/>
                </a:solidFill>
                <a:latin typeface="Calibri"/>
                <a:ea typeface="Calibri"/>
                <a:cs typeface="Calibri"/>
                <a:sym typeface="Calibri"/>
              </a:rPr>
              <a:t>high-energy</a:t>
            </a:r>
            <a:r>
              <a:rPr lang="en-GB" sz="2800">
                <a:solidFill>
                  <a:schemeClr val="dk1"/>
                </a:solidFill>
                <a:latin typeface="Calibri"/>
                <a:ea typeface="Calibri"/>
                <a:cs typeface="Calibri"/>
                <a:sym typeface="Calibri"/>
              </a:rPr>
              <a:t> electromagnetic radiation that is found between visible light and X-rays on the electromagnetic spectrum.</a:t>
            </a:r>
            <a:endParaRPr>
              <a:latin typeface="Calibri"/>
              <a:ea typeface="Calibri"/>
              <a:cs typeface="Calibri"/>
              <a:sym typeface="Calibri"/>
            </a:endParaRPr>
          </a:p>
        </p:txBody>
      </p:sp>
      <p:sp>
        <p:nvSpPr>
          <p:cNvPr id="432" name="Google Shape;432;p27"/>
          <p:cNvSpPr/>
          <p:nvPr/>
        </p:nvSpPr>
        <p:spPr>
          <a:xfrm>
            <a:off x="899576" y="5583848"/>
            <a:ext cx="12667061" cy="477054"/>
          </a:xfrm>
          <a:prstGeom prst="rect">
            <a:avLst/>
          </a:prstGeom>
          <a:noFill/>
          <a:ln>
            <a:noFill/>
          </a:ln>
        </p:spPr>
        <p:txBody>
          <a:bodyPr anchorCtr="0" anchor="t" bIns="0" lIns="91425" spcFirstLastPara="1" rIns="0" wrap="square" tIns="45700">
            <a:spAutoFit/>
          </a:bodyPr>
          <a:lstStyle/>
          <a:p>
            <a:pPr indent="0" lvl="0" marL="0" marR="0" rtl="0" algn="l">
              <a:spcBef>
                <a:spcPts val="0"/>
              </a:spcBef>
              <a:spcAft>
                <a:spcPts val="0"/>
              </a:spcAft>
              <a:buClr>
                <a:schemeClr val="dk1"/>
              </a:buClr>
              <a:buSzPts val="2800"/>
              <a:buFont typeface="Noto Sans Symbols"/>
              <a:buNone/>
            </a:pPr>
            <a:r>
              <a:rPr lang="en-GB" sz="2800">
                <a:solidFill>
                  <a:schemeClr val="dk1"/>
                </a:solidFill>
                <a:latin typeface="Calibri"/>
                <a:ea typeface="Calibri"/>
                <a:cs typeface="Calibri"/>
                <a:sym typeface="Calibri"/>
              </a:rPr>
              <a:t>Humans cannot see UV radiation but research has shown</a:t>
            </a:r>
            <a:endParaRPr>
              <a:latin typeface="Calibri"/>
              <a:ea typeface="Calibri"/>
              <a:cs typeface="Calibri"/>
              <a:sym typeface="Calibri"/>
            </a:endParaRPr>
          </a:p>
        </p:txBody>
      </p:sp>
      <p:grpSp>
        <p:nvGrpSpPr>
          <p:cNvPr id="433" name="Google Shape;433;p27"/>
          <p:cNvGrpSpPr/>
          <p:nvPr/>
        </p:nvGrpSpPr>
        <p:grpSpPr>
          <a:xfrm>
            <a:off x="1652589" y="2881313"/>
            <a:ext cx="8978922" cy="2348536"/>
            <a:chOff x="65" y="1796"/>
            <a:chExt cx="5736" cy="1500"/>
          </a:xfrm>
        </p:grpSpPr>
        <p:sp>
          <p:nvSpPr>
            <p:cNvPr id="434" name="Google Shape;434;p27"/>
            <p:cNvSpPr/>
            <p:nvPr/>
          </p:nvSpPr>
          <p:spPr>
            <a:xfrm>
              <a:off x="66" y="1796"/>
              <a:ext cx="5700" cy="1500"/>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435" name="Google Shape;435;p27"/>
            <p:cNvPicPr preferRelativeResize="0"/>
            <p:nvPr/>
          </p:nvPicPr>
          <p:blipFill rotWithShape="1">
            <a:blip r:embed="rId4">
              <a:alphaModFix/>
            </a:blip>
            <a:srcRect b="0" l="13416" r="12045" t="0"/>
            <a:stretch/>
          </p:blipFill>
          <p:spPr>
            <a:xfrm>
              <a:off x="65" y="1994"/>
              <a:ext cx="5736" cy="918"/>
            </a:xfrm>
            <a:prstGeom prst="rect">
              <a:avLst/>
            </a:prstGeom>
            <a:noFill/>
            <a:ln>
              <a:noFill/>
            </a:ln>
          </p:spPr>
        </p:pic>
        <p:sp>
          <p:nvSpPr>
            <p:cNvPr id="436" name="Google Shape;436;p27"/>
            <p:cNvSpPr txBox="1"/>
            <p:nvPr/>
          </p:nvSpPr>
          <p:spPr>
            <a:xfrm>
              <a:off x="2148" y="1811"/>
              <a:ext cx="900" cy="6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ultra-violet</a:t>
              </a:r>
              <a:endParaRPr/>
            </a:p>
          </p:txBody>
        </p:sp>
        <p:sp>
          <p:nvSpPr>
            <p:cNvPr id="437" name="Google Shape;437;p27"/>
            <p:cNvSpPr txBox="1"/>
            <p:nvPr/>
          </p:nvSpPr>
          <p:spPr>
            <a:xfrm>
              <a:off x="940" y="1931"/>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438" name="Google Shape;438;p27"/>
            <p:cNvSpPr txBox="1"/>
            <p:nvPr/>
          </p:nvSpPr>
          <p:spPr>
            <a:xfrm>
              <a:off x="3130" y="1933"/>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X-rays </a:t>
              </a:r>
              <a:endParaRPr/>
            </a:p>
          </p:txBody>
        </p:sp>
        <p:sp>
          <p:nvSpPr>
            <p:cNvPr id="439" name="Google Shape;439;p27"/>
            <p:cNvSpPr txBox="1"/>
            <p:nvPr/>
          </p:nvSpPr>
          <p:spPr>
            <a:xfrm>
              <a:off x="559" y="2637"/>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440" name="Google Shape;440;p27"/>
            <p:cNvSpPr txBox="1"/>
            <p:nvPr/>
          </p:nvSpPr>
          <p:spPr>
            <a:xfrm>
              <a:off x="3319" y="2637"/>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441" name="Google Shape;441;p27"/>
            <p:cNvSpPr txBox="1"/>
            <p:nvPr/>
          </p:nvSpPr>
          <p:spPr>
            <a:xfrm>
              <a:off x="1784" y="2637"/>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442" name="Google Shape;442;p27"/>
            <p:cNvSpPr txBox="1"/>
            <p:nvPr/>
          </p:nvSpPr>
          <p:spPr>
            <a:xfrm>
              <a:off x="4706" y="263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443" name="Google Shape;443;p27"/>
            <p:cNvSpPr txBox="1"/>
            <p:nvPr/>
          </p:nvSpPr>
          <p:spPr>
            <a:xfrm>
              <a:off x="4057" y="1807"/>
              <a:ext cx="900" cy="6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rays</a:t>
              </a:r>
              <a:endParaRPr/>
            </a:p>
          </p:txBody>
        </p:sp>
        <p:sp>
          <p:nvSpPr>
            <p:cNvPr id="444" name="Google Shape;444;p27"/>
            <p:cNvSpPr txBox="1"/>
            <p:nvPr/>
          </p:nvSpPr>
          <p:spPr>
            <a:xfrm>
              <a:off x="1102" y="2885"/>
              <a:ext cx="27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8"/>
          <p:cNvSpPr txBox="1"/>
          <p:nvPr>
            <p:ph type="title"/>
          </p:nvPr>
        </p:nvSpPr>
        <p:spPr>
          <a:xfrm>
            <a:off x="348177" y="-2870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How is UV light produced?</a:t>
            </a:r>
            <a:endParaRPr/>
          </a:p>
        </p:txBody>
      </p:sp>
      <p:sp>
        <p:nvSpPr>
          <p:cNvPr id="451" name="Google Shape;451;p28"/>
          <p:cNvSpPr txBox="1"/>
          <p:nvPr/>
        </p:nvSpPr>
        <p:spPr>
          <a:xfrm>
            <a:off x="348177" y="784226"/>
            <a:ext cx="6868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Ultraviolet radiation is emitted by very hot objects, such as the Sun.</a:t>
            </a:r>
            <a:endParaRPr>
              <a:latin typeface="Calibri"/>
              <a:ea typeface="Calibri"/>
              <a:cs typeface="Calibri"/>
              <a:sym typeface="Calibri"/>
            </a:endParaRPr>
          </a:p>
        </p:txBody>
      </p:sp>
      <p:sp>
        <p:nvSpPr>
          <p:cNvPr id="452" name="Google Shape;452;p28"/>
          <p:cNvSpPr txBox="1"/>
          <p:nvPr/>
        </p:nvSpPr>
        <p:spPr>
          <a:xfrm>
            <a:off x="5675314" y="3321050"/>
            <a:ext cx="6471300" cy="908100"/>
          </a:xfrm>
          <a:prstGeom prst="rect">
            <a:avLst/>
          </a:prstGeom>
          <a:noFill/>
          <a:ln>
            <a:noFill/>
          </a:ln>
        </p:spPr>
        <p:txBody>
          <a:bodyPr anchorCtr="0" anchor="t" bIns="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Some gases emit ultraviolet radiation when an electric current is passed through them. </a:t>
            </a:r>
            <a:endParaRPr>
              <a:latin typeface="Calibri"/>
              <a:ea typeface="Calibri"/>
              <a:cs typeface="Calibri"/>
              <a:sym typeface="Calibri"/>
            </a:endParaRPr>
          </a:p>
        </p:txBody>
      </p:sp>
      <p:pic>
        <p:nvPicPr>
          <p:cNvPr descr="9974274" id="453" name="Google Shape;453;p28"/>
          <p:cNvPicPr preferRelativeResize="0"/>
          <p:nvPr/>
        </p:nvPicPr>
        <p:blipFill rotWithShape="1">
          <a:blip r:embed="rId3">
            <a:alphaModFix/>
          </a:blip>
          <a:srcRect b="0" l="0" r="0" t="0"/>
          <a:stretch/>
        </p:blipFill>
        <p:spPr>
          <a:xfrm>
            <a:off x="7805617" y="139296"/>
            <a:ext cx="4236328" cy="2823546"/>
          </a:xfrm>
          <a:prstGeom prst="rect">
            <a:avLst/>
          </a:prstGeom>
          <a:noFill/>
          <a:ln>
            <a:noFill/>
          </a:ln>
        </p:spPr>
      </p:pic>
      <p:sp>
        <p:nvSpPr>
          <p:cNvPr id="454" name="Google Shape;454;p28"/>
          <p:cNvSpPr/>
          <p:nvPr/>
        </p:nvSpPr>
        <p:spPr>
          <a:xfrm>
            <a:off x="348177" y="1677444"/>
            <a:ext cx="7355451" cy="1338828"/>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Electrical sparks and arc welding also reach temperatures that are high enough to produce ultraviolet radiation.  </a:t>
            </a:r>
            <a:endParaRPr>
              <a:latin typeface="Calibri"/>
              <a:ea typeface="Calibri"/>
              <a:cs typeface="Calibri"/>
              <a:sym typeface="Calibri"/>
            </a:endParaRPr>
          </a:p>
        </p:txBody>
      </p:sp>
      <p:sp>
        <p:nvSpPr>
          <p:cNvPr id="455" name="Google Shape;455;p28"/>
          <p:cNvSpPr/>
          <p:nvPr/>
        </p:nvSpPr>
        <p:spPr>
          <a:xfrm>
            <a:off x="5680075" y="4598989"/>
            <a:ext cx="6361870" cy="1769715"/>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alibri"/>
                <a:ea typeface="Calibri"/>
                <a:cs typeface="Calibri"/>
                <a:sym typeface="Calibri"/>
              </a:rPr>
              <a:t>Tanning beds and the ‘black lights’ seen in Zone-3 use ultraviolet rays</a:t>
            </a:r>
            <a:endParaRPr>
              <a:latin typeface="Calibri"/>
              <a:ea typeface="Calibri"/>
              <a:cs typeface="Calibri"/>
              <a:sym typeface="Calibri"/>
            </a:endParaRPr>
          </a:p>
        </p:txBody>
      </p:sp>
      <p:pic>
        <p:nvPicPr>
          <p:cNvPr id="456" name="Google Shape;456;p28"/>
          <p:cNvPicPr preferRelativeResize="0"/>
          <p:nvPr/>
        </p:nvPicPr>
        <p:blipFill>
          <a:blip r:embed="rId4">
            <a:alphaModFix/>
          </a:blip>
          <a:stretch>
            <a:fillRect/>
          </a:stretch>
        </p:blipFill>
        <p:spPr>
          <a:xfrm>
            <a:off x="152400" y="3168672"/>
            <a:ext cx="5308710" cy="35369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9"/>
          <p:cNvSpPr txBox="1"/>
          <p:nvPr>
            <p:ph type="title"/>
          </p:nvPr>
        </p:nvSpPr>
        <p:spPr>
          <a:xfrm>
            <a:off x="613117" y="-2699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t>What is ultraviolet radiation used for?</a:t>
            </a:r>
            <a:endParaRPr/>
          </a:p>
        </p:txBody>
      </p:sp>
      <p:sp>
        <p:nvSpPr>
          <p:cNvPr id="463" name="Google Shape;463;p29"/>
          <p:cNvSpPr txBox="1"/>
          <p:nvPr/>
        </p:nvSpPr>
        <p:spPr>
          <a:xfrm>
            <a:off x="182880" y="873125"/>
            <a:ext cx="7824600" cy="18933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Bright clothing</a:t>
            </a:r>
            <a:endParaRPr>
              <a:latin typeface="Calibri"/>
              <a:ea typeface="Calibri"/>
              <a:cs typeface="Calibri"/>
              <a:sym typeface="Calibri"/>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Certain chemicals can absorb UV radiation and then re-emit it as visible light. Some washing powders use these to make white material appear whiter in sunlight. Such chemicals are also used in safety clothing.</a:t>
            </a:r>
            <a:endParaRPr>
              <a:latin typeface="Calibri"/>
              <a:ea typeface="Calibri"/>
              <a:cs typeface="Calibri"/>
              <a:sym typeface="Calibri"/>
            </a:endParaRPr>
          </a:p>
        </p:txBody>
      </p:sp>
      <p:sp>
        <p:nvSpPr>
          <p:cNvPr id="464" name="Google Shape;464;p29"/>
          <p:cNvSpPr txBox="1"/>
          <p:nvPr/>
        </p:nvSpPr>
        <p:spPr>
          <a:xfrm>
            <a:off x="182880" y="4999067"/>
            <a:ext cx="8657100" cy="11544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Tanning</a:t>
            </a:r>
            <a:endParaRPr>
              <a:latin typeface="Calibri"/>
              <a:ea typeface="Calibri"/>
              <a:cs typeface="Calibri"/>
              <a:sym typeface="Calibri"/>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UV radiation in sunlight causes skin to tan. </a:t>
            </a:r>
            <a:r>
              <a:rPr lang="en-GB" sz="2400">
                <a:solidFill>
                  <a:srgbClr val="010066"/>
                </a:solidFill>
                <a:latin typeface="Calibri"/>
                <a:ea typeface="Calibri"/>
                <a:cs typeface="Calibri"/>
                <a:sym typeface="Calibri"/>
              </a:rPr>
              <a:t>Tanning beds imitate sunlight by emitting artificially-produced UV rays.</a:t>
            </a:r>
            <a:endParaRPr>
              <a:latin typeface="Calibri"/>
              <a:ea typeface="Calibri"/>
              <a:cs typeface="Calibri"/>
              <a:sym typeface="Calibri"/>
            </a:endParaRPr>
          </a:p>
        </p:txBody>
      </p:sp>
      <p:pic>
        <p:nvPicPr>
          <p:cNvPr descr="366167_4433" id="465" name="Google Shape;465;p29"/>
          <p:cNvPicPr preferRelativeResize="0"/>
          <p:nvPr/>
        </p:nvPicPr>
        <p:blipFill rotWithShape="1">
          <a:blip r:embed="rId3">
            <a:alphaModFix/>
          </a:blip>
          <a:srcRect b="0" l="0" r="0" t="0"/>
          <a:stretch/>
        </p:blipFill>
        <p:spPr>
          <a:xfrm>
            <a:off x="8839835" y="841519"/>
            <a:ext cx="2970530" cy="5311710"/>
          </a:xfrm>
          <a:prstGeom prst="rect">
            <a:avLst/>
          </a:prstGeom>
          <a:noFill/>
          <a:ln>
            <a:noFill/>
          </a:ln>
        </p:spPr>
      </p:pic>
      <p:sp>
        <p:nvSpPr>
          <p:cNvPr id="466" name="Google Shape;466;p29"/>
          <p:cNvSpPr/>
          <p:nvPr/>
        </p:nvSpPr>
        <p:spPr>
          <a:xfrm>
            <a:off x="182880" y="3259390"/>
            <a:ext cx="7694296" cy="1523494"/>
          </a:xfrm>
          <a:prstGeom prst="rect">
            <a:avLst/>
          </a:prstGeom>
          <a:noFill/>
          <a:ln>
            <a:noFill/>
          </a:ln>
        </p:spPr>
        <p:txBody>
          <a:bodyPr anchorCtr="0" anchor="t" bIns="0" lIns="91425" spcFirstLastPara="1" rIns="0" wrap="square" tIns="45700">
            <a:spAutoFit/>
          </a:bodyPr>
          <a:lstStyle/>
          <a:p>
            <a:pPr indent="-361950" lvl="0" marL="361950" marR="0" rtl="0" algn="l">
              <a:lnSpc>
                <a:spcPct val="100000"/>
              </a:lnSpc>
              <a:spcBef>
                <a:spcPts val="0"/>
              </a:spcBef>
              <a:spcAft>
                <a:spcPts val="0"/>
              </a:spcAft>
              <a:buNone/>
            </a:pPr>
            <a:r>
              <a:rPr b="1" lang="en-GB" sz="2400">
                <a:solidFill>
                  <a:srgbClr val="CC00CC"/>
                </a:solidFill>
                <a:latin typeface="Calibri"/>
                <a:ea typeface="Calibri"/>
                <a:cs typeface="Calibri"/>
                <a:sym typeface="Calibri"/>
              </a:rPr>
              <a:t>Security marking</a:t>
            </a:r>
            <a:endParaRPr>
              <a:latin typeface="Calibri"/>
              <a:ea typeface="Calibri"/>
              <a:cs typeface="Calibri"/>
              <a:sym typeface="Calibri"/>
            </a:endParaRPr>
          </a:p>
          <a:p>
            <a:pPr indent="-361950" lvl="0" marL="36195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alibri"/>
                <a:ea typeface="Calibri"/>
                <a:cs typeface="Calibri"/>
                <a:sym typeface="Calibri"/>
              </a:rPr>
              <a:t>	Special inks, that are only visible under UV radiation, are used to security mark expensive items.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0"/>
          <p:cNvSpPr txBox="1"/>
          <p:nvPr>
            <p:ph type="title"/>
          </p:nvPr>
        </p:nvSpPr>
        <p:spPr>
          <a:xfrm>
            <a:off x="165027" y="-25096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omic Sans MS"/>
              <a:buNone/>
            </a:pPr>
            <a:r>
              <a:rPr b="1" lang="en-GB" sz="3200"/>
              <a:t>How can UV light help prevent fraud?</a:t>
            </a:r>
            <a:endParaRPr/>
          </a:p>
        </p:txBody>
      </p:sp>
      <p:sp>
        <p:nvSpPr>
          <p:cNvPr id="473" name="Google Shape;473;p30"/>
          <p:cNvSpPr txBox="1"/>
          <p:nvPr/>
        </p:nvSpPr>
        <p:spPr>
          <a:xfrm>
            <a:off x="407963" y="774701"/>
            <a:ext cx="69516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Chemicals that absorb energetic ultraviolet radiation and re-emit it as less energetic visible light are said to be </a:t>
            </a:r>
            <a:r>
              <a:rPr b="1" lang="en-GB" sz="2400">
                <a:solidFill>
                  <a:srgbClr val="CC00CC"/>
                </a:solidFill>
                <a:latin typeface="Calibri"/>
                <a:ea typeface="Calibri"/>
                <a:cs typeface="Calibri"/>
                <a:sym typeface="Calibri"/>
              </a:rPr>
              <a:t>fluorescent</a:t>
            </a:r>
            <a:r>
              <a:rPr lang="en-GB" sz="2400">
                <a:solidFill>
                  <a:schemeClr val="dk1"/>
                </a:solidFill>
                <a:latin typeface="Calibri"/>
                <a:ea typeface="Calibri"/>
                <a:cs typeface="Calibri"/>
                <a:sym typeface="Calibri"/>
              </a:rPr>
              <a:t>. These chemicals are used in inks and in safety clothing.</a:t>
            </a:r>
            <a:endParaRPr>
              <a:latin typeface="Calibri"/>
              <a:ea typeface="Calibri"/>
              <a:cs typeface="Calibri"/>
              <a:sym typeface="Calibri"/>
            </a:endParaRPr>
          </a:p>
        </p:txBody>
      </p:sp>
      <p:sp>
        <p:nvSpPr>
          <p:cNvPr id="474" name="Google Shape;474;p30"/>
          <p:cNvSpPr txBox="1"/>
          <p:nvPr/>
        </p:nvSpPr>
        <p:spPr>
          <a:xfrm>
            <a:off x="5260352" y="2866996"/>
            <a:ext cx="69093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Fluorescent inks, that are not visible under normal light, are used in banknote production to prevent fraud. The inks identify </a:t>
            </a:r>
            <a:r>
              <a:rPr lang="en-GB" sz="2400">
                <a:solidFill>
                  <a:srgbClr val="010066"/>
                </a:solidFill>
                <a:latin typeface="Calibri"/>
                <a:ea typeface="Calibri"/>
                <a:cs typeface="Calibri"/>
                <a:sym typeface="Calibri"/>
              </a:rPr>
              <a:t>genuine</a:t>
            </a:r>
            <a:r>
              <a:rPr lang="en-GB" sz="2400">
                <a:solidFill>
                  <a:schemeClr val="dk1"/>
                </a:solidFill>
                <a:latin typeface="Calibri"/>
                <a:ea typeface="Calibri"/>
                <a:cs typeface="Calibri"/>
                <a:sym typeface="Calibri"/>
              </a:rPr>
              <a:t> banknotes by glowing brightly under </a:t>
            </a:r>
            <a:r>
              <a:rPr lang="en-GB" sz="2400">
                <a:solidFill>
                  <a:srgbClr val="010066"/>
                </a:solidFill>
                <a:latin typeface="Calibri"/>
                <a:ea typeface="Calibri"/>
                <a:cs typeface="Calibri"/>
                <a:sym typeface="Calibri"/>
              </a:rPr>
              <a:t>ultraviolet light.</a:t>
            </a:r>
            <a:endParaRPr>
              <a:latin typeface="Calibri"/>
              <a:ea typeface="Calibri"/>
              <a:cs typeface="Calibri"/>
              <a:sym typeface="Calibri"/>
            </a:endParaRPr>
          </a:p>
        </p:txBody>
      </p:sp>
      <p:sp>
        <p:nvSpPr>
          <p:cNvPr id="475" name="Google Shape;475;p30"/>
          <p:cNvSpPr txBox="1"/>
          <p:nvPr/>
        </p:nvSpPr>
        <p:spPr>
          <a:xfrm>
            <a:off x="5260648" y="5168872"/>
            <a:ext cx="6931500" cy="785100"/>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alibri"/>
                <a:ea typeface="Calibri"/>
                <a:cs typeface="Calibri"/>
                <a:sym typeface="Calibri"/>
              </a:rPr>
              <a:t>Fluorescent inks are also used in stamps to distinguish different values for automatic sorting. </a:t>
            </a:r>
            <a:endParaRPr>
              <a:latin typeface="Calibri"/>
              <a:ea typeface="Calibri"/>
              <a:cs typeface="Calibri"/>
              <a:sym typeface="Calibri"/>
            </a:endParaRPr>
          </a:p>
        </p:txBody>
      </p:sp>
      <p:pic>
        <p:nvPicPr>
          <p:cNvPr descr="536057_11954286" id="476" name="Google Shape;476;p30"/>
          <p:cNvPicPr preferRelativeResize="0"/>
          <p:nvPr/>
        </p:nvPicPr>
        <p:blipFill rotWithShape="1">
          <a:blip r:embed="rId3">
            <a:alphaModFix/>
          </a:blip>
          <a:srcRect b="0" l="0" r="0" t="0"/>
          <a:stretch/>
        </p:blipFill>
        <p:spPr>
          <a:xfrm>
            <a:off x="8215532" y="227455"/>
            <a:ext cx="3613725" cy="2401066"/>
          </a:xfrm>
          <a:prstGeom prst="rect">
            <a:avLst/>
          </a:prstGeom>
          <a:noFill/>
          <a:ln>
            <a:noFill/>
          </a:ln>
        </p:spPr>
      </p:pic>
      <p:pic>
        <p:nvPicPr>
          <p:cNvPr descr="t362256" id="477" name="Google Shape;477;p30"/>
          <p:cNvPicPr preferRelativeResize="0"/>
          <p:nvPr/>
        </p:nvPicPr>
        <p:blipFill rotWithShape="1">
          <a:blip r:embed="rId4">
            <a:alphaModFix/>
          </a:blip>
          <a:srcRect b="0" l="0" r="0" t="0"/>
          <a:stretch/>
        </p:blipFill>
        <p:spPr>
          <a:xfrm>
            <a:off x="621518" y="2866996"/>
            <a:ext cx="4288106" cy="36677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1"/>
          <p:cNvSpPr txBox="1"/>
          <p:nvPr>
            <p:ph type="title"/>
          </p:nvPr>
        </p:nvSpPr>
        <p:spPr>
          <a:xfrm>
            <a:off x="627185" y="-252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does UV radiation affect skin?</a:t>
            </a:r>
            <a:endParaRPr/>
          </a:p>
        </p:txBody>
      </p:sp>
      <p:sp>
        <p:nvSpPr>
          <p:cNvPr id="484" name="Google Shape;484;p31"/>
          <p:cNvSpPr txBox="1"/>
          <p:nvPr/>
        </p:nvSpPr>
        <p:spPr>
          <a:xfrm>
            <a:off x="196948" y="784225"/>
            <a:ext cx="1214895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The skin uses UV radiation from the Sun to make </a:t>
            </a:r>
            <a:r>
              <a:rPr b="1" lang="en-GB" sz="2400">
                <a:solidFill>
                  <a:srgbClr val="CC00CC"/>
                </a:solidFill>
                <a:latin typeface="Comic Sans MS"/>
                <a:ea typeface="Comic Sans MS"/>
                <a:cs typeface="Comic Sans MS"/>
                <a:sym typeface="Comic Sans MS"/>
              </a:rPr>
              <a:t>vitamin D</a:t>
            </a:r>
            <a:r>
              <a:rPr lang="en-GB" sz="2400">
                <a:solidFill>
                  <a:schemeClr val="dk1"/>
                </a:solidFill>
                <a:latin typeface="Comic Sans MS"/>
                <a:ea typeface="Comic Sans MS"/>
                <a:cs typeface="Comic Sans MS"/>
                <a:sym typeface="Comic Sans MS"/>
              </a:rPr>
              <a:t>, which is needed for strong bones. Some exposure to UV radiation is beneficial but overexposure is generally harmful to the skin and eyes.</a:t>
            </a:r>
            <a:endParaRPr/>
          </a:p>
        </p:txBody>
      </p:sp>
      <p:sp>
        <p:nvSpPr>
          <p:cNvPr id="485" name="Google Shape;485;p31"/>
          <p:cNvSpPr txBox="1"/>
          <p:nvPr/>
        </p:nvSpPr>
        <p:spPr>
          <a:xfrm>
            <a:off x="4699971" y="2069295"/>
            <a:ext cx="728570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Ultraviolet radiation can kill cells. </a:t>
            </a:r>
            <a:r>
              <a:rPr b="1" lang="en-GB" sz="2400">
                <a:solidFill>
                  <a:srgbClr val="CC00CC"/>
                </a:solidFill>
                <a:latin typeface="Comic Sans MS"/>
                <a:ea typeface="Comic Sans MS"/>
                <a:cs typeface="Comic Sans MS"/>
                <a:sym typeface="Comic Sans MS"/>
              </a:rPr>
              <a:t>Sunburn</a:t>
            </a:r>
            <a:r>
              <a:rPr lang="en-GB" sz="2400">
                <a:solidFill>
                  <a:schemeClr val="dk1"/>
                </a:solidFill>
                <a:latin typeface="Comic Sans MS"/>
                <a:ea typeface="Comic Sans MS"/>
                <a:cs typeface="Comic Sans MS"/>
                <a:sym typeface="Comic Sans MS"/>
              </a:rPr>
              <a:t> occurs when the skin is exposed to high-intensity ultraviolet radiation, which damages and kills skin cells. </a:t>
            </a:r>
            <a:endParaRPr/>
          </a:p>
        </p:txBody>
      </p:sp>
      <p:pic>
        <p:nvPicPr>
          <p:cNvPr descr="417360_6504" id="486" name="Google Shape;486;p31"/>
          <p:cNvPicPr preferRelativeResize="0"/>
          <p:nvPr/>
        </p:nvPicPr>
        <p:blipFill rotWithShape="1">
          <a:blip r:embed="rId3">
            <a:alphaModFix/>
          </a:blip>
          <a:srcRect b="0" l="2179" r="0" t="0"/>
          <a:stretch/>
        </p:blipFill>
        <p:spPr>
          <a:xfrm>
            <a:off x="746303" y="2109788"/>
            <a:ext cx="3755359" cy="3451170"/>
          </a:xfrm>
          <a:prstGeom prst="rect">
            <a:avLst/>
          </a:prstGeom>
          <a:noFill/>
          <a:ln>
            <a:noFill/>
          </a:ln>
        </p:spPr>
      </p:pic>
      <p:grpSp>
        <p:nvGrpSpPr>
          <p:cNvPr id="487" name="Google Shape;487;p31"/>
          <p:cNvGrpSpPr/>
          <p:nvPr/>
        </p:nvGrpSpPr>
        <p:grpSpPr>
          <a:xfrm>
            <a:off x="654904" y="5808159"/>
            <a:ext cx="11330770" cy="830264"/>
            <a:chOff x="355" y="3446"/>
            <a:chExt cx="4944" cy="523"/>
          </a:xfrm>
        </p:grpSpPr>
        <p:sp>
          <p:nvSpPr>
            <p:cNvPr id="488" name="Google Shape;488;p31"/>
            <p:cNvSpPr/>
            <p:nvPr/>
          </p:nvSpPr>
          <p:spPr>
            <a:xfrm>
              <a:off x="355" y="3446"/>
              <a:ext cx="4944" cy="5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Intense UV radiation can inflame the eyes and long-term</a:t>
              </a:r>
              <a:endParaRPr/>
            </a:p>
          </p:txBody>
        </p:sp>
        <p:sp>
          <p:nvSpPr>
            <p:cNvPr id="489" name="Google Shape;489;p31"/>
            <p:cNvSpPr/>
            <p:nvPr/>
          </p:nvSpPr>
          <p:spPr>
            <a:xfrm>
              <a:off x="416" y="3678"/>
              <a:ext cx="2736" cy="291"/>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exposure may cause cataracts.</a:t>
              </a:r>
              <a:endParaRPr/>
            </a:p>
          </p:txBody>
        </p:sp>
      </p:grpSp>
      <p:sp>
        <p:nvSpPr>
          <p:cNvPr id="490" name="Google Shape;490;p31"/>
          <p:cNvSpPr/>
          <p:nvPr/>
        </p:nvSpPr>
        <p:spPr>
          <a:xfrm>
            <a:off x="4712972" y="3999695"/>
            <a:ext cx="7212366" cy="1154162"/>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Over time, repeated exposure leads to premature </a:t>
            </a:r>
            <a:r>
              <a:rPr b="1" lang="en-GB" sz="2400">
                <a:solidFill>
                  <a:srgbClr val="CC00CC"/>
                </a:solidFill>
                <a:latin typeface="Comic Sans MS"/>
                <a:ea typeface="Comic Sans MS"/>
                <a:cs typeface="Comic Sans MS"/>
                <a:sym typeface="Comic Sans MS"/>
              </a:rPr>
              <a:t>ageing</a:t>
            </a:r>
            <a:r>
              <a:rPr lang="en-GB" sz="2400">
                <a:solidFill>
                  <a:schemeClr val="dk1"/>
                </a:solidFill>
                <a:latin typeface="Comic Sans MS"/>
                <a:ea typeface="Comic Sans MS"/>
                <a:cs typeface="Comic Sans MS"/>
                <a:sym typeface="Comic Sans MS"/>
              </a:rPr>
              <a:t> of the skin and increases the risk of </a:t>
            </a:r>
            <a:r>
              <a:rPr b="1" lang="en-GB" sz="2400">
                <a:solidFill>
                  <a:srgbClr val="CC00CC"/>
                </a:solidFill>
                <a:latin typeface="Comic Sans MS"/>
                <a:ea typeface="Comic Sans MS"/>
                <a:cs typeface="Comic Sans MS"/>
                <a:sym typeface="Comic Sans MS"/>
              </a:rPr>
              <a:t>skin cancer</a:t>
            </a:r>
            <a:r>
              <a:rPr lang="en-GB" sz="2400">
                <a:solidFill>
                  <a:schemeClr val="dk1"/>
                </a:solidFill>
                <a:latin typeface="Comic Sans MS"/>
                <a:ea typeface="Comic Sans MS"/>
                <a:cs typeface="Comic Sans MS"/>
                <a:sym typeface="Comic Sans M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2"/>
          <p:cNvSpPr txBox="1"/>
          <p:nvPr>
            <p:ph type="title"/>
          </p:nvPr>
        </p:nvSpPr>
        <p:spPr>
          <a:xfrm>
            <a:off x="753794" y="-27275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omic Sans MS"/>
              <a:buNone/>
            </a:pPr>
            <a:r>
              <a:rPr lang="en-GB" sz="4800">
                <a:latin typeface="Comic Sans MS"/>
                <a:ea typeface="Comic Sans MS"/>
                <a:cs typeface="Comic Sans MS"/>
                <a:sym typeface="Comic Sans MS"/>
              </a:rPr>
              <a:t>Is a suntan safe?</a:t>
            </a:r>
            <a:endParaRPr/>
          </a:p>
        </p:txBody>
      </p:sp>
      <p:sp>
        <p:nvSpPr>
          <p:cNvPr id="497" name="Google Shape;497;p32"/>
          <p:cNvSpPr txBox="1"/>
          <p:nvPr/>
        </p:nvSpPr>
        <p:spPr>
          <a:xfrm>
            <a:off x="276482" y="784226"/>
            <a:ext cx="681012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Some people believe a suntan is safe and makes them look healthy. </a:t>
            </a:r>
            <a:endParaRPr/>
          </a:p>
        </p:txBody>
      </p:sp>
      <p:pic>
        <p:nvPicPr>
          <p:cNvPr descr="272691_5734" id="498" name="Google Shape;498;p32"/>
          <p:cNvPicPr preferRelativeResize="0"/>
          <p:nvPr/>
        </p:nvPicPr>
        <p:blipFill rotWithShape="1">
          <a:blip r:embed="rId3">
            <a:alphaModFix/>
          </a:blip>
          <a:srcRect b="0" l="0" r="0" t="0"/>
          <a:stretch/>
        </p:blipFill>
        <p:spPr>
          <a:xfrm>
            <a:off x="7319893" y="166982"/>
            <a:ext cx="4603651" cy="3216072"/>
          </a:xfrm>
          <a:prstGeom prst="rect">
            <a:avLst/>
          </a:prstGeom>
          <a:noFill/>
          <a:ln>
            <a:noFill/>
          </a:ln>
        </p:spPr>
      </p:pic>
      <p:sp>
        <p:nvSpPr>
          <p:cNvPr id="499" name="Google Shape;499;p32"/>
          <p:cNvSpPr txBox="1"/>
          <p:nvPr/>
        </p:nvSpPr>
        <p:spPr>
          <a:xfrm>
            <a:off x="276425" y="1961300"/>
            <a:ext cx="6436800" cy="35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dk1"/>
                </a:solidFill>
                <a:latin typeface="Calibri"/>
                <a:ea typeface="Calibri"/>
                <a:cs typeface="Calibri"/>
                <a:sym typeface="Calibri"/>
              </a:rPr>
              <a:t>Discuss with the person next to you: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Your worst sunburn!</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What do you think makes people tan?</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Why some people burn more easily than others?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GB" sz="2800">
                <a:solidFill>
                  <a:schemeClr val="dk1"/>
                </a:solidFill>
                <a:latin typeface="Calibri"/>
                <a:ea typeface="Calibri"/>
                <a:cs typeface="Calibri"/>
                <a:sym typeface="Calibri"/>
              </a:rPr>
              <a:t>3 ways you can prevent sunburns</a:t>
            </a:r>
            <a:endParaRPr sz="2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4" name="Shape 504"/>
        <p:cNvGrpSpPr/>
        <p:nvPr/>
      </p:nvGrpSpPr>
      <p:grpSpPr>
        <a:xfrm>
          <a:off x="0" y="0"/>
          <a:ext cx="0" cy="0"/>
          <a:chOff x="0" y="0"/>
          <a:chExt cx="0" cy="0"/>
        </a:xfrm>
      </p:grpSpPr>
      <p:sp>
        <p:nvSpPr>
          <p:cNvPr id="505" name="Google Shape;505;p33"/>
          <p:cNvSpPr txBox="1"/>
          <p:nvPr>
            <p:ph type="title"/>
          </p:nvPr>
        </p:nvSpPr>
        <p:spPr>
          <a:xfrm>
            <a:off x="739726" y="-252413"/>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omic Sans MS"/>
              <a:buNone/>
            </a:pPr>
            <a:r>
              <a:rPr lang="en-GB" sz="3200">
                <a:latin typeface="Comic Sans MS"/>
                <a:ea typeface="Comic Sans MS"/>
                <a:cs typeface="Comic Sans MS"/>
                <a:sym typeface="Comic Sans MS"/>
              </a:rPr>
              <a:t>How can exposure to UV radiation be limited?</a:t>
            </a:r>
            <a:endParaRPr/>
          </a:p>
        </p:txBody>
      </p:sp>
      <p:sp>
        <p:nvSpPr>
          <p:cNvPr id="506" name="Google Shape;506;p33"/>
          <p:cNvSpPr txBox="1"/>
          <p:nvPr/>
        </p:nvSpPr>
        <p:spPr>
          <a:xfrm>
            <a:off x="58696" y="784226"/>
            <a:ext cx="10375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Prolonged exposure to UV radiation carries serious health risks and so protection is important.</a:t>
            </a:r>
            <a:endParaRPr/>
          </a:p>
        </p:txBody>
      </p:sp>
      <p:sp>
        <p:nvSpPr>
          <p:cNvPr id="507" name="Google Shape;507;p33"/>
          <p:cNvSpPr txBox="1"/>
          <p:nvPr/>
        </p:nvSpPr>
        <p:spPr>
          <a:xfrm>
            <a:off x="735068" y="1666876"/>
            <a:ext cx="69087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A combination of measures can protect skin and eyes from UV radiation:</a:t>
            </a:r>
            <a:endParaRPr/>
          </a:p>
        </p:txBody>
      </p:sp>
      <p:pic>
        <p:nvPicPr>
          <p:cNvPr descr="PC4_gfx_sunglasses" id="508" name="Google Shape;508;p33"/>
          <p:cNvPicPr preferRelativeResize="0"/>
          <p:nvPr/>
        </p:nvPicPr>
        <p:blipFill rotWithShape="1">
          <a:blip r:embed="rId3">
            <a:alphaModFix/>
          </a:blip>
          <a:srcRect b="0" l="0" r="0" t="0"/>
          <a:stretch/>
        </p:blipFill>
        <p:spPr>
          <a:xfrm>
            <a:off x="9570244" y="2257751"/>
            <a:ext cx="2195513" cy="1330325"/>
          </a:xfrm>
          <a:prstGeom prst="rect">
            <a:avLst/>
          </a:prstGeom>
          <a:noFill/>
          <a:ln>
            <a:noFill/>
          </a:ln>
        </p:spPr>
      </p:pic>
      <p:sp>
        <p:nvSpPr>
          <p:cNvPr id="509" name="Google Shape;509;p33"/>
          <p:cNvSpPr txBox="1"/>
          <p:nvPr/>
        </p:nvSpPr>
        <p:spPr>
          <a:xfrm>
            <a:off x="2101850" y="2530476"/>
            <a:ext cx="6472200" cy="831000"/>
          </a:xfrm>
          <a:prstGeom prst="rect">
            <a:avLst/>
          </a:prstGeom>
          <a:noFill/>
          <a:ln>
            <a:noFill/>
          </a:ln>
        </p:spPr>
        <p:txBody>
          <a:bodyPr anchorCtr="0" anchor="t" bIns="45700" lIns="91425" spcFirstLastPara="1" rIns="91425" wrap="square" tIns="45700">
            <a:spAutoFit/>
          </a:bodyPr>
          <a:lstStyle/>
          <a:p>
            <a:pPr indent="-361950" lvl="0" marL="361950" marR="0" rtl="0" algn="l">
              <a:lnSpc>
                <a:spcPct val="100000"/>
              </a:lnSpc>
              <a:spcBef>
                <a:spcPts val="0"/>
              </a:spcBef>
              <a:spcAft>
                <a:spcPts val="0"/>
              </a:spcAft>
              <a:buNone/>
            </a:pPr>
            <a:r>
              <a:rPr lang="en-GB" sz="2400">
                <a:solidFill>
                  <a:srgbClr val="000066"/>
                </a:solidFill>
                <a:latin typeface="Comic Sans MS"/>
                <a:ea typeface="Comic Sans MS"/>
                <a:cs typeface="Comic Sans MS"/>
                <a:sym typeface="Comic Sans MS"/>
              </a:rPr>
              <a:t>Cover up, stay in the shade, wear a </a:t>
            </a:r>
            <a:endParaRPr/>
          </a:p>
          <a:p>
            <a:pPr indent="-361950" lvl="0" marL="36195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a:t>
            </a:r>
            <a:r>
              <a:rPr b="1" lang="en-GB" sz="2400">
                <a:solidFill>
                  <a:srgbClr val="CC00CC"/>
                </a:solidFill>
                <a:latin typeface="Comic Sans MS"/>
                <a:ea typeface="Comic Sans MS"/>
                <a:cs typeface="Comic Sans MS"/>
                <a:sym typeface="Comic Sans MS"/>
              </a:rPr>
              <a:t>wide-brimmed hat</a:t>
            </a:r>
            <a:r>
              <a:rPr lang="en-GB" sz="2400">
                <a:solidFill>
                  <a:srgbClr val="000066"/>
                </a:solidFill>
                <a:latin typeface="Comic Sans MS"/>
                <a:ea typeface="Comic Sans MS"/>
                <a:cs typeface="Comic Sans MS"/>
                <a:sym typeface="Comic Sans MS"/>
              </a:rPr>
              <a:t> and </a:t>
            </a:r>
            <a:r>
              <a:rPr b="1" lang="en-GB" sz="2400">
                <a:solidFill>
                  <a:srgbClr val="CC00CC"/>
                </a:solidFill>
                <a:latin typeface="Comic Sans MS"/>
                <a:ea typeface="Comic Sans MS"/>
                <a:cs typeface="Comic Sans MS"/>
                <a:sym typeface="Comic Sans MS"/>
              </a:rPr>
              <a:t>sunglasses</a:t>
            </a:r>
            <a:r>
              <a:rPr lang="en-GB" sz="2400">
                <a:solidFill>
                  <a:srgbClr val="000066"/>
                </a:solidFill>
                <a:latin typeface="Comic Sans MS"/>
                <a:ea typeface="Comic Sans MS"/>
                <a:cs typeface="Comic Sans MS"/>
                <a:sym typeface="Comic Sans MS"/>
              </a:rPr>
              <a:t>.</a:t>
            </a:r>
            <a:endParaRPr/>
          </a:p>
        </p:txBody>
      </p:sp>
      <p:pic>
        <p:nvPicPr>
          <p:cNvPr descr="PC4_gfx_suncream" id="510" name="Google Shape;510;p33"/>
          <p:cNvPicPr preferRelativeResize="0"/>
          <p:nvPr/>
        </p:nvPicPr>
        <p:blipFill rotWithShape="1">
          <a:blip r:embed="rId4">
            <a:alphaModFix/>
          </a:blip>
          <a:srcRect b="0" l="0" r="0" t="0"/>
          <a:stretch/>
        </p:blipFill>
        <p:spPr>
          <a:xfrm>
            <a:off x="844026" y="3337469"/>
            <a:ext cx="1039812" cy="1651000"/>
          </a:xfrm>
          <a:prstGeom prst="rect">
            <a:avLst/>
          </a:prstGeom>
          <a:noFill/>
          <a:ln>
            <a:noFill/>
          </a:ln>
        </p:spPr>
      </p:pic>
      <p:grpSp>
        <p:nvGrpSpPr>
          <p:cNvPr id="511" name="Google Shape;511;p33"/>
          <p:cNvGrpSpPr/>
          <p:nvPr/>
        </p:nvGrpSpPr>
        <p:grpSpPr>
          <a:xfrm>
            <a:off x="0" y="5021269"/>
            <a:ext cx="10656161" cy="1684339"/>
            <a:chOff x="354" y="3301"/>
            <a:chExt cx="5400" cy="1061"/>
          </a:xfrm>
        </p:grpSpPr>
        <p:sp>
          <p:nvSpPr>
            <p:cNvPr id="512" name="Google Shape;512;p33"/>
            <p:cNvSpPr txBox="1"/>
            <p:nvPr/>
          </p:nvSpPr>
          <p:spPr>
            <a:xfrm>
              <a:off x="354" y="3301"/>
              <a:ext cx="5400" cy="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Protection is essential for workers who are routinely exposed to UV radiation. Welders must use a head shield to protect</a:t>
              </a:r>
              <a:endParaRPr sz="2400">
                <a:solidFill>
                  <a:schemeClr val="dk1"/>
                </a:solidFill>
                <a:latin typeface="Comic Sans MS"/>
                <a:ea typeface="Comic Sans MS"/>
                <a:cs typeface="Comic Sans MS"/>
                <a:sym typeface="Comic Sans MS"/>
              </a:endParaRPr>
            </a:p>
          </p:txBody>
        </p:sp>
        <p:sp>
          <p:nvSpPr>
            <p:cNvPr id="513" name="Google Shape;513;p33"/>
            <p:cNvSpPr txBox="1"/>
            <p:nvPr/>
          </p:nvSpPr>
          <p:spPr>
            <a:xfrm>
              <a:off x="416" y="3762"/>
              <a:ext cx="4500" cy="6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their eyes and wear thick clothing to protect their skin.</a:t>
              </a:r>
              <a:endParaRPr sz="2400">
                <a:solidFill>
                  <a:schemeClr val="dk1"/>
                </a:solidFill>
                <a:latin typeface="Comic Sans MS"/>
                <a:ea typeface="Comic Sans MS"/>
                <a:cs typeface="Comic Sans MS"/>
                <a:sym typeface="Comic Sans MS"/>
              </a:endParaRPr>
            </a:p>
          </p:txBody>
        </p:sp>
      </p:grpSp>
      <p:pic>
        <p:nvPicPr>
          <p:cNvPr descr="PC4_gfx_sunhat" id="514" name="Google Shape;514;p33"/>
          <p:cNvPicPr preferRelativeResize="0"/>
          <p:nvPr/>
        </p:nvPicPr>
        <p:blipFill rotWithShape="1">
          <a:blip r:embed="rId5">
            <a:alphaModFix/>
          </a:blip>
          <a:srcRect b="0" l="0" r="0" t="0"/>
          <a:stretch/>
        </p:blipFill>
        <p:spPr>
          <a:xfrm>
            <a:off x="7216775" y="1359330"/>
            <a:ext cx="2714625" cy="1238250"/>
          </a:xfrm>
          <a:prstGeom prst="rect">
            <a:avLst/>
          </a:prstGeom>
          <a:noFill/>
          <a:ln>
            <a:noFill/>
          </a:ln>
        </p:spPr>
      </p:pic>
      <p:sp>
        <p:nvSpPr>
          <p:cNvPr id="515" name="Google Shape;515;p33"/>
          <p:cNvSpPr/>
          <p:nvPr/>
        </p:nvSpPr>
        <p:spPr>
          <a:xfrm>
            <a:off x="2087563" y="3649641"/>
            <a:ext cx="9881700" cy="1154100"/>
          </a:xfrm>
          <a:prstGeom prst="rect">
            <a:avLst/>
          </a:prstGeom>
          <a:noFill/>
          <a:ln>
            <a:noFill/>
          </a:ln>
        </p:spPr>
        <p:txBody>
          <a:bodyPr anchorCtr="0" anchor="t" bIns="0" lIns="91425" spcFirstLastPara="1" rIns="0" wrap="square" tIns="45700">
            <a:spAutoFit/>
          </a:bodyPr>
          <a:lstStyle/>
          <a:p>
            <a:pPr indent="-361950" lvl="0" marL="36195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Sunblock</a:t>
            </a:r>
            <a:r>
              <a:rPr lang="en-GB" sz="2400">
                <a:solidFill>
                  <a:srgbClr val="000066"/>
                </a:solidFill>
                <a:latin typeface="Comic Sans MS"/>
                <a:ea typeface="Comic Sans MS"/>
                <a:cs typeface="Comic Sans MS"/>
                <a:sym typeface="Comic Sans MS"/>
              </a:rPr>
              <a:t> and </a:t>
            </a:r>
            <a:r>
              <a:rPr b="1" lang="en-GB" sz="2400">
                <a:solidFill>
                  <a:srgbClr val="CC00CC"/>
                </a:solidFill>
                <a:latin typeface="Comic Sans MS"/>
                <a:ea typeface="Comic Sans MS"/>
                <a:cs typeface="Comic Sans MS"/>
                <a:sym typeface="Comic Sans MS"/>
              </a:rPr>
              <a:t>sunscreen</a:t>
            </a:r>
            <a:r>
              <a:rPr lang="en-GB" sz="2400">
                <a:solidFill>
                  <a:srgbClr val="000066"/>
                </a:solidFill>
                <a:latin typeface="Comic Sans MS"/>
                <a:ea typeface="Comic Sans MS"/>
                <a:cs typeface="Comic Sans MS"/>
                <a:sym typeface="Comic Sans MS"/>
              </a:rPr>
              <a:t> protect the skin by blocking UV radiation. When out in the Sun for prolonged periods, these should be applied to the skin generously and often.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14"/>
                                        </p:tgtEl>
                                        <p:attrNameLst>
                                          <p:attrName>style.visibility</p:attrName>
                                        </p:attrNameLst>
                                      </p:cBhvr>
                                      <p:to>
                                        <p:strVal val="visible"/>
                                      </p:to>
                                    </p:set>
                                    <p:anim calcmode="lin" valueType="num">
                                      <p:cBhvr additive="base">
                                        <p:cTn dur="500"/>
                                        <p:tgtEl>
                                          <p:spTgt spid="514"/>
                                        </p:tgtEl>
                                        <p:attrNameLst>
                                          <p:attrName>ppt_w</p:attrName>
                                        </p:attrNameLst>
                                      </p:cBhvr>
                                      <p:tavLst>
                                        <p:tav fmla="" tm="0">
                                          <p:val>
                                            <p:strVal val="0"/>
                                          </p:val>
                                        </p:tav>
                                        <p:tav fmla="" tm="100000">
                                          <p:val>
                                            <p:strVal val="#ppt_w"/>
                                          </p:val>
                                        </p:tav>
                                      </p:tavLst>
                                    </p:anim>
                                    <p:anim calcmode="lin" valueType="num">
                                      <p:cBhvr additive="base">
                                        <p:cTn dur="500"/>
                                        <p:tgtEl>
                                          <p:spTgt spid="514"/>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500"/>
                                        <p:tgtEl>
                                          <p:spTgt spid="508"/>
                                        </p:tgtEl>
                                        <p:attrNameLst>
                                          <p:attrName>ppt_w</p:attrName>
                                        </p:attrNameLst>
                                      </p:cBhvr>
                                      <p:tavLst>
                                        <p:tav fmla="" tm="0">
                                          <p:val>
                                            <p:strVal val="0"/>
                                          </p:val>
                                        </p:tav>
                                        <p:tav fmla="" tm="100000">
                                          <p:val>
                                            <p:strVal val="#ppt_w"/>
                                          </p:val>
                                        </p:tav>
                                      </p:tavLst>
                                    </p:anim>
                                    <p:anim calcmode="lin" valueType="num">
                                      <p:cBhvr additive="base">
                                        <p:cTn dur="500"/>
                                        <p:tgtEl>
                                          <p:spTgt spid="5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10"/>
                                        </p:tgtEl>
                                        <p:attrNameLst>
                                          <p:attrName>style.visibility</p:attrName>
                                        </p:attrNameLst>
                                      </p:cBhvr>
                                      <p:to>
                                        <p:strVal val="visible"/>
                                      </p:to>
                                    </p:set>
                                    <p:anim calcmode="lin" valueType="num">
                                      <p:cBhvr additive="base">
                                        <p:cTn dur="500"/>
                                        <p:tgtEl>
                                          <p:spTgt spid="510"/>
                                        </p:tgtEl>
                                        <p:attrNameLst>
                                          <p:attrName>ppt_w</p:attrName>
                                        </p:attrNameLst>
                                      </p:cBhvr>
                                      <p:tavLst>
                                        <p:tav fmla="" tm="0">
                                          <p:val>
                                            <p:strVal val="0"/>
                                          </p:val>
                                        </p:tav>
                                        <p:tav fmla="" tm="100000">
                                          <p:val>
                                            <p:strVal val="#ppt_w"/>
                                          </p:val>
                                        </p:tav>
                                      </p:tavLst>
                                    </p:anim>
                                    <p:anim calcmode="lin" valueType="num">
                                      <p:cBhvr additive="base">
                                        <p:cTn dur="500"/>
                                        <p:tgtEl>
                                          <p:spTgt spid="5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4"/>
          <p:cNvSpPr txBox="1"/>
          <p:nvPr>
            <p:ph type="title"/>
          </p:nvPr>
        </p:nvSpPr>
        <p:spPr>
          <a:xfrm>
            <a:off x="120746" y="-239151"/>
            <a:ext cx="1238543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Ultraviolet – opinion or fact? </a:t>
            </a:r>
            <a:r>
              <a:rPr lang="en-GB" sz="3600">
                <a:latin typeface="Comic Sans MS"/>
                <a:ea typeface="Comic Sans MS"/>
                <a:cs typeface="Comic Sans MS"/>
                <a:sym typeface="Comic Sans MS"/>
              </a:rPr>
              <a:t>(whiteboard 3 mins)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t>6. X-rays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6"/>
          <p:cNvSpPr/>
          <p:nvPr/>
        </p:nvSpPr>
        <p:spPr>
          <a:xfrm>
            <a:off x="1992313" y="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4400">
                <a:solidFill>
                  <a:schemeClr val="dk2"/>
                </a:solidFill>
                <a:latin typeface="Comic Sans MS"/>
                <a:ea typeface="Comic Sans MS"/>
                <a:cs typeface="Comic Sans MS"/>
                <a:sym typeface="Comic Sans MS"/>
              </a:rPr>
              <a:t>X-Rays</a:t>
            </a:r>
            <a:endParaRPr sz="4400">
              <a:solidFill>
                <a:schemeClr val="dk2"/>
              </a:solidFill>
              <a:latin typeface="Comic Sans MS"/>
              <a:ea typeface="Comic Sans MS"/>
              <a:cs typeface="Comic Sans MS"/>
              <a:sym typeface="Comic Sans MS"/>
            </a:endParaRPr>
          </a:p>
        </p:txBody>
      </p:sp>
      <p:sp>
        <p:nvSpPr>
          <p:cNvPr id="532" name="Google Shape;532;p36"/>
          <p:cNvSpPr/>
          <p:nvPr/>
        </p:nvSpPr>
        <p:spPr>
          <a:xfrm>
            <a:off x="180304" y="1125538"/>
            <a:ext cx="6852321" cy="5732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Comic Sans MS"/>
              <a:buChar char="•"/>
            </a:pPr>
            <a:r>
              <a:rPr b="1" lang="en-GB" sz="2400">
                <a:solidFill>
                  <a:schemeClr val="dk1"/>
                </a:solidFill>
                <a:latin typeface="Comic Sans MS"/>
                <a:ea typeface="Comic Sans MS"/>
                <a:cs typeface="Comic Sans MS"/>
                <a:sym typeface="Comic Sans MS"/>
              </a:rPr>
              <a:t>What would it be like to see X-rays?</a:t>
            </a:r>
            <a:r>
              <a:rPr lang="en-GB" sz="2400">
                <a:solidFill>
                  <a:schemeClr val="dk1"/>
                </a:solidFill>
                <a:latin typeface="Comic Sans MS"/>
                <a:ea typeface="Comic Sans MS"/>
                <a:cs typeface="Comic Sans MS"/>
                <a:sym typeface="Comic Sans MS"/>
              </a:rPr>
              <a:t> </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Well, we wouldn't be able to see through people's clothes, no matter what the ads for X-ray glasses tell us!</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If we could see X-rays, we could see things that either emit X-rays or halt their transmission. </a:t>
            </a:r>
            <a:endParaRPr/>
          </a:p>
          <a:p>
            <a:pPr indent="-342900" lvl="0" marL="342900" marR="0" rtl="0" algn="l">
              <a:lnSpc>
                <a:spcPct val="90000"/>
              </a:lnSpc>
              <a:spcBef>
                <a:spcPts val="480"/>
              </a:spcBef>
              <a:spcAft>
                <a:spcPts val="0"/>
              </a:spcAft>
              <a:buClr>
                <a:schemeClr val="dk1"/>
              </a:buClr>
              <a:buSzPts val="2400"/>
              <a:buFont typeface="Comic Sans MS"/>
              <a:buChar char="•"/>
            </a:pPr>
            <a:r>
              <a:rPr lang="en-GB" sz="2400">
                <a:solidFill>
                  <a:schemeClr val="dk1"/>
                </a:solidFill>
                <a:latin typeface="Comic Sans MS"/>
                <a:ea typeface="Comic Sans MS"/>
                <a:cs typeface="Comic Sans MS"/>
                <a:sym typeface="Comic Sans MS"/>
              </a:rPr>
              <a:t>X-ray film "sees" X-rays, like the ones that travel through your skin. It also sees shadows left by things that the X-rays can't travel through (like bones or metal). </a:t>
            </a:r>
            <a:endParaRPr/>
          </a:p>
        </p:txBody>
      </p:sp>
      <p:pic>
        <p:nvPicPr>
          <p:cNvPr descr="X-ray of one-year old showing a pin." id="533" name="Google Shape;533;p36"/>
          <p:cNvPicPr preferRelativeResize="0"/>
          <p:nvPr/>
        </p:nvPicPr>
        <p:blipFill rotWithShape="1">
          <a:blip r:embed="rId3">
            <a:alphaModFix/>
          </a:blip>
          <a:srcRect b="0" l="0" r="0" t="0"/>
          <a:stretch/>
        </p:blipFill>
        <p:spPr>
          <a:xfrm>
            <a:off x="7445550" y="1125538"/>
            <a:ext cx="4312169" cy="539021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7"/>
          <p:cNvSpPr txBox="1"/>
          <p:nvPr>
            <p:ph type="title"/>
          </p:nvPr>
        </p:nvSpPr>
        <p:spPr>
          <a:xfrm>
            <a:off x="730250" y="-19709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X-rays?</a:t>
            </a:r>
            <a:endParaRPr/>
          </a:p>
        </p:txBody>
      </p:sp>
      <p:sp>
        <p:nvSpPr>
          <p:cNvPr id="540" name="Google Shape;540;p37"/>
          <p:cNvSpPr txBox="1"/>
          <p:nvPr/>
        </p:nvSpPr>
        <p:spPr>
          <a:xfrm>
            <a:off x="493096" y="784226"/>
            <a:ext cx="1006364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Anyone who has been to hospital with a broken bone will have had an X-ray photograph taken.</a:t>
            </a:r>
            <a:endParaRPr/>
          </a:p>
        </p:txBody>
      </p:sp>
      <p:sp>
        <p:nvSpPr>
          <p:cNvPr id="541" name="Google Shape;541;p37"/>
          <p:cNvSpPr txBox="1"/>
          <p:nvPr/>
        </p:nvSpPr>
        <p:spPr>
          <a:xfrm>
            <a:off x="260493" y="5433525"/>
            <a:ext cx="1145511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X-rays have a very short wavelengths between 0.1 and 10</a:t>
            </a:r>
            <a:r>
              <a:rPr lang="en-GB" sz="1200">
                <a:solidFill>
                  <a:schemeClr val="dk1"/>
                </a:solidFill>
                <a:latin typeface="Comic Sans MS"/>
                <a:ea typeface="Comic Sans MS"/>
                <a:cs typeface="Comic Sans MS"/>
                <a:sym typeface="Comic Sans MS"/>
              </a:rPr>
              <a:t> </a:t>
            </a:r>
            <a:r>
              <a:rPr lang="en-GB" sz="2800">
                <a:solidFill>
                  <a:schemeClr val="dk1"/>
                </a:solidFill>
                <a:latin typeface="Comic Sans MS"/>
                <a:ea typeface="Comic Sans MS"/>
                <a:cs typeface="Comic Sans MS"/>
                <a:sym typeface="Comic Sans MS"/>
              </a:rPr>
              <a:t>nm. </a:t>
            </a:r>
            <a:endParaRPr/>
          </a:p>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(The size of a water molecule is about 0.3 nm.)</a:t>
            </a:r>
            <a:endParaRPr/>
          </a:p>
        </p:txBody>
      </p:sp>
      <p:grpSp>
        <p:nvGrpSpPr>
          <p:cNvPr id="542" name="Google Shape;542;p37"/>
          <p:cNvGrpSpPr/>
          <p:nvPr/>
        </p:nvGrpSpPr>
        <p:grpSpPr>
          <a:xfrm>
            <a:off x="1614352" y="3277700"/>
            <a:ext cx="8942387" cy="2155825"/>
            <a:chOff x="57" y="1860"/>
            <a:chExt cx="5737" cy="1383"/>
          </a:xfrm>
        </p:grpSpPr>
        <p:sp>
          <p:nvSpPr>
            <p:cNvPr id="543" name="Google Shape;543;p37"/>
            <p:cNvSpPr/>
            <p:nvPr/>
          </p:nvSpPr>
          <p:spPr>
            <a:xfrm>
              <a:off x="58" y="1860"/>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544" name="Google Shape;544;p37"/>
            <p:cNvPicPr preferRelativeResize="0"/>
            <p:nvPr/>
          </p:nvPicPr>
          <p:blipFill rotWithShape="1">
            <a:blip r:embed="rId3">
              <a:alphaModFix/>
            </a:blip>
            <a:srcRect b="0" l="13417" r="12046" t="0"/>
            <a:stretch/>
          </p:blipFill>
          <p:spPr>
            <a:xfrm>
              <a:off x="57" y="2058"/>
              <a:ext cx="5736" cy="918"/>
            </a:xfrm>
            <a:prstGeom prst="rect">
              <a:avLst/>
            </a:prstGeom>
            <a:noFill/>
            <a:ln>
              <a:noFill/>
            </a:ln>
          </p:spPr>
        </p:pic>
        <p:sp>
          <p:nvSpPr>
            <p:cNvPr id="545" name="Google Shape;545;p37"/>
            <p:cNvSpPr txBox="1"/>
            <p:nvPr/>
          </p:nvSpPr>
          <p:spPr>
            <a:xfrm>
              <a:off x="2140" y="1875"/>
              <a:ext cx="949" cy="49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ultra-violet</a:t>
              </a:r>
              <a:endParaRPr/>
            </a:p>
          </p:txBody>
        </p:sp>
        <p:sp>
          <p:nvSpPr>
            <p:cNvPr id="546" name="Google Shape;546;p37"/>
            <p:cNvSpPr txBox="1"/>
            <p:nvPr/>
          </p:nvSpPr>
          <p:spPr>
            <a:xfrm>
              <a:off x="932" y="1995"/>
              <a:ext cx="1035" cy="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547" name="Google Shape;547;p37"/>
            <p:cNvSpPr txBox="1"/>
            <p:nvPr/>
          </p:nvSpPr>
          <p:spPr>
            <a:xfrm>
              <a:off x="3122" y="1997"/>
              <a:ext cx="1004" cy="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X-rays</a:t>
              </a:r>
              <a:r>
                <a:rPr b="1" lang="en-GB" sz="2800">
                  <a:solidFill>
                    <a:schemeClr val="dk1"/>
                  </a:solidFill>
                  <a:latin typeface="Comic Sans MS"/>
                  <a:ea typeface="Comic Sans MS"/>
                  <a:cs typeface="Comic Sans MS"/>
                  <a:sym typeface="Comic Sans MS"/>
                </a:rPr>
                <a:t> </a:t>
              </a:r>
              <a:endParaRPr/>
            </a:p>
          </p:txBody>
        </p:sp>
        <p:sp>
          <p:nvSpPr>
            <p:cNvPr id="548" name="Google Shape;548;p37"/>
            <p:cNvSpPr txBox="1"/>
            <p:nvPr/>
          </p:nvSpPr>
          <p:spPr>
            <a:xfrm>
              <a:off x="551" y="2701"/>
              <a:ext cx="42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549" name="Google Shape;549;p37"/>
            <p:cNvSpPr txBox="1"/>
            <p:nvPr/>
          </p:nvSpPr>
          <p:spPr>
            <a:xfrm>
              <a:off x="3311" y="2701"/>
              <a:ext cx="42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550" name="Google Shape;550;p37"/>
            <p:cNvSpPr txBox="1"/>
            <p:nvPr/>
          </p:nvSpPr>
          <p:spPr>
            <a:xfrm>
              <a:off x="1776" y="2701"/>
              <a:ext cx="742" cy="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551" name="Google Shape;551;p37"/>
            <p:cNvSpPr txBox="1"/>
            <p:nvPr/>
          </p:nvSpPr>
          <p:spPr>
            <a:xfrm>
              <a:off x="4698" y="2701"/>
              <a:ext cx="482"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552" name="Google Shape;552;p37"/>
            <p:cNvSpPr txBox="1"/>
            <p:nvPr/>
          </p:nvSpPr>
          <p:spPr>
            <a:xfrm>
              <a:off x="4045" y="1871"/>
              <a:ext cx="854" cy="50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rays</a:t>
              </a:r>
              <a:endParaRPr/>
            </a:p>
          </p:txBody>
        </p:sp>
        <p:sp>
          <p:nvSpPr>
            <p:cNvPr id="553" name="Google Shape;553;p37"/>
            <p:cNvSpPr txBox="1"/>
            <p:nvPr/>
          </p:nvSpPr>
          <p:spPr>
            <a:xfrm>
              <a:off x="1094" y="2949"/>
              <a:ext cx="2837"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
        <p:nvSpPr>
          <p:cNvPr id="554" name="Google Shape;554;p37"/>
          <p:cNvSpPr txBox="1"/>
          <p:nvPr/>
        </p:nvSpPr>
        <p:spPr>
          <a:xfrm>
            <a:off x="260493" y="1847500"/>
            <a:ext cx="1153895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X-rays are a form of electromagnetic radiation that are very penetrating. In the electromagnetic spectrum, they are found between UV and gamma rays.</a:t>
            </a:r>
            <a:endParaRPr/>
          </a:p>
        </p:txBody>
      </p:sp>
      <p:pic>
        <p:nvPicPr>
          <p:cNvPr descr="PC4_gfx_X-ray" id="555" name="Google Shape;555;p37"/>
          <p:cNvPicPr preferRelativeResize="0"/>
          <p:nvPr/>
        </p:nvPicPr>
        <p:blipFill rotWithShape="1">
          <a:blip r:embed="rId4">
            <a:alphaModFix/>
          </a:blip>
          <a:srcRect b="0" l="0" r="0" t="0"/>
          <a:stretch/>
        </p:blipFill>
        <p:spPr>
          <a:xfrm>
            <a:off x="10234615" y="243545"/>
            <a:ext cx="1571625" cy="16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8"/>
          <p:cNvSpPr txBox="1"/>
          <p:nvPr>
            <p:ph type="title"/>
          </p:nvPr>
        </p:nvSpPr>
        <p:spPr>
          <a:xfrm>
            <a:off x="795997" y="-2127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are X-rays produced?</a:t>
            </a:r>
            <a:endParaRPr/>
          </a:p>
        </p:txBody>
      </p:sp>
      <p:sp>
        <p:nvSpPr>
          <p:cNvPr id="562" name="Google Shape;562;p38"/>
          <p:cNvSpPr txBox="1"/>
          <p:nvPr/>
        </p:nvSpPr>
        <p:spPr>
          <a:xfrm>
            <a:off x="225084" y="784226"/>
            <a:ext cx="1044291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are created when high-energy electrons suddenly lose energy. X-rays are produced artificially using a </a:t>
            </a:r>
            <a:r>
              <a:rPr b="1" lang="en-GB" sz="2400">
                <a:solidFill>
                  <a:srgbClr val="CC00CC"/>
                </a:solidFill>
                <a:latin typeface="Comic Sans MS"/>
                <a:ea typeface="Comic Sans MS"/>
                <a:cs typeface="Comic Sans MS"/>
                <a:sym typeface="Comic Sans MS"/>
              </a:rPr>
              <a:t>X-ray tube.</a:t>
            </a:r>
            <a:endParaRPr/>
          </a:p>
        </p:txBody>
      </p:sp>
      <p:pic>
        <p:nvPicPr>
          <p:cNvPr descr="PC4_gfx_x-ray machine" id="563" name="Google Shape;563;p38"/>
          <p:cNvPicPr preferRelativeResize="0"/>
          <p:nvPr/>
        </p:nvPicPr>
        <p:blipFill rotWithShape="1">
          <a:blip r:embed="rId3">
            <a:alphaModFix/>
          </a:blip>
          <a:srcRect b="0" l="0" r="0" t="0"/>
          <a:stretch/>
        </p:blipFill>
        <p:spPr>
          <a:xfrm>
            <a:off x="4381500" y="996950"/>
            <a:ext cx="3811588" cy="5240338"/>
          </a:xfrm>
          <a:prstGeom prst="rect">
            <a:avLst/>
          </a:prstGeom>
          <a:noFill/>
          <a:ln>
            <a:noFill/>
          </a:ln>
        </p:spPr>
      </p:pic>
      <p:sp>
        <p:nvSpPr>
          <p:cNvPr id="564" name="Google Shape;564;p38"/>
          <p:cNvSpPr txBox="1"/>
          <p:nvPr/>
        </p:nvSpPr>
        <p:spPr>
          <a:xfrm>
            <a:off x="2602524" y="1673225"/>
            <a:ext cx="1317990"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high</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voltage</a:t>
            </a:r>
            <a:endParaRPr/>
          </a:p>
        </p:txBody>
      </p:sp>
      <p:sp>
        <p:nvSpPr>
          <p:cNvPr id="565" name="Google Shape;565;p38"/>
          <p:cNvSpPr txBox="1"/>
          <p:nvPr/>
        </p:nvSpPr>
        <p:spPr>
          <a:xfrm>
            <a:off x="2471738" y="2921001"/>
            <a:ext cx="1447832"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cathode</a:t>
            </a:r>
            <a:endParaRPr/>
          </a:p>
        </p:txBody>
      </p:sp>
      <p:sp>
        <p:nvSpPr>
          <p:cNvPr id="566" name="Google Shape;566;p38"/>
          <p:cNvSpPr txBox="1"/>
          <p:nvPr/>
        </p:nvSpPr>
        <p:spPr>
          <a:xfrm>
            <a:off x="8732838" y="2235201"/>
            <a:ext cx="1101584"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anode</a:t>
            </a:r>
            <a:endParaRPr/>
          </a:p>
        </p:txBody>
      </p:sp>
      <p:sp>
        <p:nvSpPr>
          <p:cNvPr id="567" name="Google Shape;567;p38"/>
          <p:cNvSpPr txBox="1"/>
          <p:nvPr/>
        </p:nvSpPr>
        <p:spPr>
          <a:xfrm>
            <a:off x="8537881" y="3159125"/>
            <a:ext cx="1545616"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tungsten</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target</a:t>
            </a:r>
            <a:endParaRPr/>
          </a:p>
        </p:txBody>
      </p:sp>
      <p:sp>
        <p:nvSpPr>
          <p:cNvPr id="568" name="Google Shape;568;p38"/>
          <p:cNvSpPr txBox="1"/>
          <p:nvPr/>
        </p:nvSpPr>
        <p:spPr>
          <a:xfrm>
            <a:off x="7113589" y="4445001"/>
            <a:ext cx="1322798"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X-rays</a:t>
            </a:r>
            <a:endParaRPr/>
          </a:p>
        </p:txBody>
      </p:sp>
      <p:cxnSp>
        <p:nvCxnSpPr>
          <p:cNvPr id="569" name="Google Shape;569;p38"/>
          <p:cNvCxnSpPr/>
          <p:nvPr/>
        </p:nvCxnSpPr>
        <p:spPr>
          <a:xfrm>
            <a:off x="3851276" y="1916113"/>
            <a:ext cx="2549525" cy="203200"/>
          </a:xfrm>
          <a:prstGeom prst="straightConnector1">
            <a:avLst/>
          </a:prstGeom>
          <a:noFill/>
          <a:ln cap="flat" cmpd="sng" w="38100">
            <a:solidFill>
              <a:srgbClr val="010066"/>
            </a:solidFill>
            <a:prstDash val="solid"/>
            <a:round/>
            <a:headEnd len="med" w="med" type="oval"/>
            <a:tailEnd len="lg" w="lg" type="triangle"/>
          </a:ln>
        </p:spPr>
      </p:cxnSp>
      <p:sp>
        <p:nvSpPr>
          <p:cNvPr id="570" name="Google Shape;570;p38"/>
          <p:cNvSpPr txBox="1"/>
          <p:nvPr/>
        </p:nvSpPr>
        <p:spPr>
          <a:xfrm>
            <a:off x="2486314" y="3844925"/>
            <a:ext cx="1548822"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lead</a:t>
            </a:r>
            <a:endParaRPr/>
          </a:p>
          <a:p>
            <a:pPr indent="0" lvl="0" marL="0" marR="0" rtl="0" algn="ctr">
              <a:spcBef>
                <a:spcPts val="0"/>
              </a:spcBef>
              <a:spcAft>
                <a:spcPts val="0"/>
              </a:spcAft>
              <a:buClr>
                <a:srgbClr val="010066"/>
              </a:buClr>
              <a:buSzPts val="2600"/>
              <a:buFont typeface="Comic Sans MS"/>
              <a:buNone/>
            </a:pPr>
            <a:r>
              <a:rPr b="1" lang="en-GB" sz="2600">
                <a:solidFill>
                  <a:srgbClr val="010066"/>
                </a:solidFill>
                <a:latin typeface="Comic Sans MS"/>
                <a:ea typeface="Comic Sans MS"/>
                <a:cs typeface="Comic Sans MS"/>
                <a:sym typeface="Comic Sans MS"/>
              </a:rPr>
              <a:t>shielding</a:t>
            </a:r>
            <a:endParaRPr/>
          </a:p>
        </p:txBody>
      </p:sp>
      <p:cxnSp>
        <p:nvCxnSpPr>
          <p:cNvPr id="571" name="Google Shape;571;p38"/>
          <p:cNvCxnSpPr/>
          <p:nvPr/>
        </p:nvCxnSpPr>
        <p:spPr>
          <a:xfrm>
            <a:off x="3851276" y="4125913"/>
            <a:ext cx="708025" cy="12700"/>
          </a:xfrm>
          <a:prstGeom prst="straightConnector1">
            <a:avLst/>
          </a:prstGeom>
          <a:noFill/>
          <a:ln cap="flat" cmpd="sng" w="38100">
            <a:solidFill>
              <a:srgbClr val="010066"/>
            </a:solidFill>
            <a:prstDash val="solid"/>
            <a:round/>
            <a:headEnd len="med" w="med" type="oval"/>
            <a:tailEnd len="lg" w="lg" type="triangle"/>
          </a:ln>
        </p:spPr>
      </p:cxnSp>
      <p:cxnSp>
        <p:nvCxnSpPr>
          <p:cNvPr id="572" name="Google Shape;572;p38"/>
          <p:cNvCxnSpPr/>
          <p:nvPr/>
        </p:nvCxnSpPr>
        <p:spPr>
          <a:xfrm>
            <a:off x="3978276" y="3173413"/>
            <a:ext cx="949325" cy="0"/>
          </a:xfrm>
          <a:prstGeom prst="straightConnector1">
            <a:avLst/>
          </a:prstGeom>
          <a:noFill/>
          <a:ln cap="flat" cmpd="sng" w="38100">
            <a:solidFill>
              <a:srgbClr val="010066"/>
            </a:solidFill>
            <a:prstDash val="solid"/>
            <a:round/>
            <a:headEnd len="med" w="med" type="oval"/>
            <a:tailEnd len="lg" w="lg" type="triangle"/>
          </a:ln>
        </p:spPr>
      </p:cxnSp>
      <p:cxnSp>
        <p:nvCxnSpPr>
          <p:cNvPr id="573" name="Google Shape;573;p38"/>
          <p:cNvCxnSpPr/>
          <p:nvPr/>
        </p:nvCxnSpPr>
        <p:spPr>
          <a:xfrm flipH="1">
            <a:off x="7251701" y="2487613"/>
            <a:ext cx="1438275" cy="431800"/>
          </a:xfrm>
          <a:prstGeom prst="straightConnector1">
            <a:avLst/>
          </a:prstGeom>
          <a:noFill/>
          <a:ln cap="flat" cmpd="sng" w="38100">
            <a:solidFill>
              <a:srgbClr val="010066"/>
            </a:solidFill>
            <a:prstDash val="solid"/>
            <a:round/>
            <a:headEnd len="med" w="med" type="oval"/>
            <a:tailEnd len="lg" w="lg" type="triangle"/>
          </a:ln>
        </p:spPr>
      </p:cxnSp>
      <p:cxnSp>
        <p:nvCxnSpPr>
          <p:cNvPr id="574" name="Google Shape;574;p38"/>
          <p:cNvCxnSpPr/>
          <p:nvPr/>
        </p:nvCxnSpPr>
        <p:spPr>
          <a:xfrm rot="10800000">
            <a:off x="7175501" y="3236913"/>
            <a:ext cx="1527175" cy="431800"/>
          </a:xfrm>
          <a:prstGeom prst="straightConnector1">
            <a:avLst/>
          </a:prstGeom>
          <a:noFill/>
          <a:ln cap="flat" cmpd="sng" w="38100">
            <a:solidFill>
              <a:srgbClr val="010066"/>
            </a:solidFill>
            <a:prstDash val="solid"/>
            <a:round/>
            <a:headEnd len="med" w="med" type="oval"/>
            <a:tailEnd len="lg" w="lg" type="triangle"/>
          </a:ln>
        </p:spPr>
      </p:cxnSp>
      <p:sp>
        <p:nvSpPr>
          <p:cNvPr id="575" name="Google Shape;575;p38"/>
          <p:cNvSpPr txBox="1"/>
          <p:nvPr/>
        </p:nvSpPr>
        <p:spPr>
          <a:xfrm>
            <a:off x="225084" y="5338760"/>
            <a:ext cx="11966916" cy="15700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omic Sans MS"/>
                <a:ea typeface="Comic Sans MS"/>
                <a:cs typeface="Comic Sans MS"/>
                <a:sym typeface="Comic Sans MS"/>
              </a:rPr>
              <a:t>Electrons from the hot cathode are fired at the tungsten target at high speed. When these high-energy electrons strike the target, some of their energy is changed into X-rays. </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3"/>
                                        </p:tgtEl>
                                        <p:attrNameLst>
                                          <p:attrName>style.visibility</p:attrName>
                                        </p:attrNameLst>
                                      </p:cBhvr>
                                      <p:to>
                                        <p:strVal val="visible"/>
                                      </p:to>
                                    </p:set>
                                    <p:anim calcmode="lin" valueType="num">
                                      <p:cBhvr additive="base">
                                        <p:cTn dur="500"/>
                                        <p:tgtEl>
                                          <p:spTgt spid="563"/>
                                        </p:tgtEl>
                                        <p:attrNameLst>
                                          <p:attrName>ppt_w</p:attrName>
                                        </p:attrNameLst>
                                      </p:cBhvr>
                                      <p:tavLst>
                                        <p:tav fmla="" tm="0">
                                          <p:val>
                                            <p:strVal val="0"/>
                                          </p:val>
                                        </p:tav>
                                        <p:tav fmla="" tm="100000">
                                          <p:val>
                                            <p:strVal val="#ppt_w"/>
                                          </p:val>
                                        </p:tav>
                                      </p:tavLst>
                                    </p:anim>
                                    <p:anim calcmode="lin" valueType="num">
                                      <p:cBhvr additive="base">
                                        <p:cTn dur="500"/>
                                        <p:tgtEl>
                                          <p:spTgt spid="563"/>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par>
                                <p:cTn fill="hold" nodeType="with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par>
                                <p:cTn fill="hold" nodeType="with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par>
                                <p:cTn fill="hold" nodeType="with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par>
                                <p:cTn fill="hold" nodeType="with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pic>
        <p:nvPicPr>
          <p:cNvPr descr="JM_CC0007_credit" id="581" name="Google Shape;581;p39"/>
          <p:cNvPicPr preferRelativeResize="0"/>
          <p:nvPr/>
        </p:nvPicPr>
        <p:blipFill rotWithShape="1">
          <a:blip r:embed="rId3">
            <a:alphaModFix/>
          </a:blip>
          <a:srcRect b="0" l="0" r="0" t="0"/>
          <a:stretch/>
        </p:blipFill>
        <p:spPr>
          <a:xfrm>
            <a:off x="7840078" y="3629465"/>
            <a:ext cx="4034424" cy="2996125"/>
          </a:xfrm>
          <a:prstGeom prst="rect">
            <a:avLst/>
          </a:prstGeom>
          <a:noFill/>
          <a:ln>
            <a:noFill/>
          </a:ln>
        </p:spPr>
      </p:pic>
      <p:sp>
        <p:nvSpPr>
          <p:cNvPr id="582" name="Google Shape;582;p39"/>
          <p:cNvSpPr txBox="1"/>
          <p:nvPr>
            <p:ph type="title"/>
          </p:nvPr>
        </p:nvSpPr>
        <p:spPr>
          <a:xfrm>
            <a:off x="472440" y="-1971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X-rays used for?</a:t>
            </a:r>
            <a:endParaRPr/>
          </a:p>
        </p:txBody>
      </p:sp>
      <p:pic>
        <p:nvPicPr>
          <p:cNvPr descr="262066_4290" id="583" name="Google Shape;583;p39"/>
          <p:cNvPicPr preferRelativeResize="0"/>
          <p:nvPr/>
        </p:nvPicPr>
        <p:blipFill rotWithShape="1">
          <a:blip r:embed="rId4">
            <a:alphaModFix/>
          </a:blip>
          <a:srcRect b="0" l="0" r="0" t="0"/>
          <a:stretch/>
        </p:blipFill>
        <p:spPr>
          <a:xfrm>
            <a:off x="8271803" y="151337"/>
            <a:ext cx="3602699" cy="3225177"/>
          </a:xfrm>
          <a:prstGeom prst="rect">
            <a:avLst/>
          </a:prstGeom>
          <a:noFill/>
          <a:ln>
            <a:noFill/>
          </a:ln>
        </p:spPr>
      </p:pic>
      <p:sp>
        <p:nvSpPr>
          <p:cNvPr id="584" name="Google Shape;584;p39"/>
          <p:cNvSpPr txBox="1"/>
          <p:nvPr/>
        </p:nvSpPr>
        <p:spPr>
          <a:xfrm>
            <a:off x="239151" y="781050"/>
            <a:ext cx="7095099" cy="1892826"/>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Imaging</a:t>
            </a:r>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X-rays are very penetrating and can pass through many forms of matter. They are used in medicine, industry and security to take pictures of the inside of objects. </a:t>
            </a:r>
            <a:endParaRPr/>
          </a:p>
        </p:txBody>
      </p:sp>
      <p:sp>
        <p:nvSpPr>
          <p:cNvPr id="585" name="Google Shape;585;p39"/>
          <p:cNvSpPr/>
          <p:nvPr/>
        </p:nvSpPr>
        <p:spPr>
          <a:xfrm>
            <a:off x="424195" y="3135313"/>
            <a:ext cx="7091144" cy="1154162"/>
          </a:xfrm>
          <a:prstGeom prst="rect">
            <a:avLst/>
          </a:prstGeom>
          <a:noFill/>
          <a:ln>
            <a:noFill/>
          </a:ln>
        </p:spPr>
        <p:txBody>
          <a:bodyPr anchorCtr="0" anchor="t" bIns="0" lIns="91425" spcFirstLastPara="1" rIns="0" wrap="square" tIns="45700">
            <a:spAutoFit/>
          </a:bodyPr>
          <a:lstStyle/>
          <a:p>
            <a:pPr indent="-361950" lvl="0" marL="36195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Treating cancer</a:t>
            </a:r>
            <a:endParaRPr/>
          </a:p>
          <a:p>
            <a:pPr indent="-361950" lvl="0" marL="36195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Concentrated beams of short wavelength X-rays can be used to kill cancerous cells.</a:t>
            </a:r>
            <a:endParaRPr/>
          </a:p>
        </p:txBody>
      </p:sp>
      <p:sp>
        <p:nvSpPr>
          <p:cNvPr id="586" name="Google Shape;586;p39"/>
          <p:cNvSpPr/>
          <p:nvPr/>
        </p:nvSpPr>
        <p:spPr>
          <a:xfrm>
            <a:off x="346677" y="4759325"/>
            <a:ext cx="7517163" cy="1523494"/>
          </a:xfrm>
          <a:prstGeom prst="rect">
            <a:avLst/>
          </a:prstGeom>
          <a:noFill/>
          <a:ln>
            <a:noFill/>
          </a:ln>
        </p:spPr>
        <p:txBody>
          <a:bodyPr anchorCtr="0" anchor="t" bIns="0" lIns="91425" spcFirstLastPara="1" rIns="0" wrap="square" tIns="45700">
            <a:spAutoFit/>
          </a:bodyPr>
          <a:lstStyle/>
          <a:p>
            <a:pPr indent="-361950" lvl="0" marL="361950" marR="0" rtl="0" algn="l">
              <a:spcBef>
                <a:spcPts val="0"/>
              </a:spcBef>
              <a:spcAft>
                <a:spcPts val="0"/>
              </a:spcAft>
              <a:buNone/>
            </a:pPr>
            <a:r>
              <a:rPr b="1" lang="en-GB" sz="2400">
                <a:solidFill>
                  <a:srgbClr val="CC00CC"/>
                </a:solidFill>
                <a:latin typeface="Comic Sans MS"/>
                <a:ea typeface="Comic Sans MS"/>
                <a:cs typeface="Comic Sans MS"/>
                <a:sym typeface="Comic Sans MS"/>
              </a:rPr>
              <a:t>Crystallography</a:t>
            </a:r>
            <a:endParaRPr/>
          </a:p>
          <a:p>
            <a:pPr indent="-361950" lvl="0" marL="361950" marR="0" rtl="0" algn="l">
              <a:spcBef>
                <a:spcPts val="0"/>
              </a:spcBef>
              <a:spcAft>
                <a:spcPts val="0"/>
              </a:spcAft>
              <a:buNone/>
            </a:pPr>
            <a:r>
              <a:rPr lang="en-GB" sz="2400">
                <a:solidFill>
                  <a:srgbClr val="000066"/>
                </a:solidFill>
                <a:latin typeface="Comic Sans MS"/>
                <a:ea typeface="Comic Sans MS"/>
                <a:cs typeface="Comic Sans MS"/>
                <a:sym typeface="Comic Sans MS"/>
              </a:rPr>
              <a:t> 	X-rays are used to work out the arrangement of atoms in various substances, including crystals.</a:t>
            </a:r>
            <a:endParaRPr/>
          </a:p>
          <a:p>
            <a:pPr indent="-361950" lvl="0" marL="361950" marR="0" rtl="0" algn="l">
              <a:lnSpc>
                <a:spcPct val="100000"/>
              </a:lnSpc>
              <a:spcBef>
                <a:spcPts val="0"/>
              </a:spcBef>
              <a:spcAft>
                <a:spcPts val="0"/>
              </a:spcAft>
              <a:buClr>
                <a:schemeClr val="dk1"/>
              </a:buClr>
              <a:buSzPts val="2400"/>
              <a:buFont typeface="Noto Sans Symbols"/>
              <a:buNone/>
            </a:pPr>
            <a:r>
              <a:t/>
            </a:r>
            <a:endParaRPr sz="2400">
              <a:solidFill>
                <a:srgbClr val="000066"/>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0" name="Shape 590"/>
        <p:cNvGrpSpPr/>
        <p:nvPr/>
      </p:nvGrpSpPr>
      <p:grpSpPr>
        <a:xfrm>
          <a:off x="0" y="0"/>
          <a:ext cx="0" cy="0"/>
          <a:chOff x="0" y="0"/>
          <a:chExt cx="0" cy="0"/>
        </a:xfrm>
      </p:grpSpPr>
      <p:pic>
        <p:nvPicPr>
          <p:cNvPr descr="Normal foot X-ray" id="591" name="Google Shape;591;p40"/>
          <p:cNvPicPr preferRelativeResize="0"/>
          <p:nvPr/>
        </p:nvPicPr>
        <p:blipFill rotWithShape="1">
          <a:blip r:embed="rId3">
            <a:alphaModFix/>
          </a:blip>
          <a:srcRect b="0" l="0" r="0" t="0"/>
          <a:stretch/>
        </p:blipFill>
        <p:spPr>
          <a:xfrm>
            <a:off x="72356" y="3603147"/>
            <a:ext cx="4211209" cy="3368966"/>
          </a:xfrm>
          <a:prstGeom prst="rect">
            <a:avLst/>
          </a:prstGeom>
          <a:noFill/>
          <a:ln>
            <a:noFill/>
          </a:ln>
        </p:spPr>
      </p:pic>
      <p:pic>
        <p:nvPicPr>
          <p:cNvPr descr="stock photo : Front face on X-ray film" id="592" name="Google Shape;592;p40">
            <a:hlinkClick r:id="rId4"/>
          </p:cNvPr>
          <p:cNvPicPr preferRelativeResize="0"/>
          <p:nvPr/>
        </p:nvPicPr>
        <p:blipFill rotWithShape="1">
          <a:blip r:embed="rId5">
            <a:alphaModFix/>
          </a:blip>
          <a:srcRect b="0" l="0" r="0" t="0"/>
          <a:stretch/>
        </p:blipFill>
        <p:spPr>
          <a:xfrm>
            <a:off x="-373337" y="-26988"/>
            <a:ext cx="4584546" cy="4788302"/>
          </a:xfrm>
          <a:prstGeom prst="rect">
            <a:avLst/>
          </a:prstGeom>
          <a:noFill/>
          <a:ln>
            <a:noFill/>
          </a:ln>
        </p:spPr>
      </p:pic>
      <p:pic>
        <p:nvPicPr>
          <p:cNvPr descr="stock photo : Knees x-ray" id="593" name="Google Shape;593;p40">
            <a:hlinkClick r:id="rId6"/>
          </p:cNvPr>
          <p:cNvPicPr preferRelativeResize="0"/>
          <p:nvPr/>
        </p:nvPicPr>
        <p:blipFill rotWithShape="1">
          <a:blip r:embed="rId7">
            <a:alphaModFix/>
          </a:blip>
          <a:srcRect b="0" l="0" r="0" t="0"/>
          <a:stretch/>
        </p:blipFill>
        <p:spPr>
          <a:xfrm>
            <a:off x="6157390" y="-1"/>
            <a:ext cx="6049316" cy="3746545"/>
          </a:xfrm>
          <a:prstGeom prst="rect">
            <a:avLst/>
          </a:prstGeom>
          <a:noFill/>
          <a:ln>
            <a:noFill/>
          </a:ln>
        </p:spPr>
      </p:pic>
      <p:pic>
        <p:nvPicPr>
          <p:cNvPr descr="stock photo : X-ray of a young woman's hand" id="594" name="Google Shape;594;p40">
            <a:hlinkClick r:id="rId8"/>
          </p:cNvPr>
          <p:cNvPicPr preferRelativeResize="0"/>
          <p:nvPr/>
        </p:nvPicPr>
        <p:blipFill rotWithShape="1">
          <a:blip r:embed="rId9">
            <a:alphaModFix/>
          </a:blip>
          <a:srcRect b="0" l="0" r="0" t="0"/>
          <a:stretch/>
        </p:blipFill>
        <p:spPr>
          <a:xfrm>
            <a:off x="9125062" y="2561554"/>
            <a:ext cx="3081644" cy="4476750"/>
          </a:xfrm>
          <a:prstGeom prst="rect">
            <a:avLst/>
          </a:prstGeom>
          <a:noFill/>
          <a:ln>
            <a:noFill/>
          </a:ln>
        </p:spPr>
      </p:pic>
      <p:pic>
        <p:nvPicPr>
          <p:cNvPr descr="stock photo : x ray hips" id="595" name="Google Shape;595;p40">
            <a:hlinkClick r:id="rId10"/>
          </p:cNvPr>
          <p:cNvPicPr preferRelativeResize="0"/>
          <p:nvPr/>
        </p:nvPicPr>
        <p:blipFill rotWithShape="1">
          <a:blip r:embed="rId11">
            <a:alphaModFix/>
          </a:blip>
          <a:srcRect b="0" l="0" r="0" t="0"/>
          <a:stretch/>
        </p:blipFill>
        <p:spPr>
          <a:xfrm>
            <a:off x="4754565" y="3437075"/>
            <a:ext cx="4427483" cy="3443598"/>
          </a:xfrm>
          <a:prstGeom prst="rect">
            <a:avLst/>
          </a:prstGeom>
          <a:noFill/>
          <a:ln>
            <a:noFill/>
          </a:ln>
        </p:spPr>
      </p:pic>
      <p:pic>
        <p:nvPicPr>
          <p:cNvPr descr="Click to view original file" id="596" name="Google Shape;596;p40">
            <a:hlinkClick r:id="rId12"/>
          </p:cNvPr>
          <p:cNvPicPr preferRelativeResize="0"/>
          <p:nvPr/>
        </p:nvPicPr>
        <p:blipFill rotWithShape="1">
          <a:blip r:embed="rId13">
            <a:alphaModFix/>
          </a:blip>
          <a:srcRect b="0" l="0" r="0" t="0"/>
          <a:stretch/>
        </p:blipFill>
        <p:spPr>
          <a:xfrm>
            <a:off x="4315315" y="-26988"/>
            <a:ext cx="2271713" cy="3441390"/>
          </a:xfrm>
          <a:prstGeom prst="rect">
            <a:avLst/>
          </a:prstGeom>
          <a:noFill/>
          <a:ln>
            <a:noFill/>
          </a:ln>
        </p:spPr>
      </p:pic>
      <p:sp>
        <p:nvSpPr>
          <p:cNvPr id="597" name="Google Shape;597;p40"/>
          <p:cNvSpPr txBox="1"/>
          <p:nvPr/>
        </p:nvSpPr>
        <p:spPr>
          <a:xfrm>
            <a:off x="2082171" y="3297198"/>
            <a:ext cx="4466287" cy="1323439"/>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4000">
                <a:solidFill>
                  <a:srgbClr val="FFFF00"/>
                </a:solidFill>
                <a:latin typeface="Comic Sans MS"/>
                <a:ea typeface="Comic Sans MS"/>
                <a:cs typeface="Comic Sans MS"/>
                <a:sym typeface="Comic Sans MS"/>
              </a:rPr>
              <a:t>What do you look </a:t>
            </a:r>
            <a:endParaRPr/>
          </a:p>
          <a:p>
            <a:pPr indent="0" lvl="0" marL="0" marR="0" rtl="0" algn="l">
              <a:spcBef>
                <a:spcPts val="0"/>
              </a:spcBef>
              <a:spcAft>
                <a:spcPts val="0"/>
              </a:spcAft>
              <a:buNone/>
            </a:pPr>
            <a:r>
              <a:rPr lang="en-GB" sz="4000">
                <a:solidFill>
                  <a:srgbClr val="FFFF00"/>
                </a:solidFill>
                <a:latin typeface="Comic Sans MS"/>
                <a:ea typeface="Comic Sans MS"/>
                <a:cs typeface="Comic Sans MS"/>
                <a:sym typeface="Comic Sans MS"/>
              </a:rPr>
              <a:t>like in x –rays?</a:t>
            </a:r>
            <a:endParaRPr sz="4000">
              <a:solidFill>
                <a:srgbClr val="FFFF00"/>
              </a:solidFill>
              <a:latin typeface="Comic Sans MS"/>
              <a:ea typeface="Comic Sans MS"/>
              <a:cs typeface="Comic Sans MS"/>
              <a:sym typeface="Comic Sans M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1"/>
          <p:cNvSpPr txBox="1"/>
          <p:nvPr>
            <p:ph type="title"/>
          </p:nvPr>
        </p:nvSpPr>
        <p:spPr>
          <a:xfrm>
            <a:off x="514643" y="-300832"/>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omic Sans MS"/>
              <a:buNone/>
            </a:pPr>
            <a:r>
              <a:rPr lang="en-GB" sz="4800">
                <a:latin typeface="Comic Sans MS"/>
                <a:ea typeface="Comic Sans MS"/>
                <a:cs typeface="Comic Sans MS"/>
                <a:sym typeface="Comic Sans MS"/>
              </a:rPr>
              <a:t>How can X-rays ‘look inside’ objects?</a:t>
            </a:r>
            <a:endParaRPr/>
          </a:p>
        </p:txBody>
      </p:sp>
      <p:sp>
        <p:nvSpPr>
          <p:cNvPr id="604" name="Google Shape;604;p41"/>
          <p:cNvSpPr txBox="1"/>
          <p:nvPr/>
        </p:nvSpPr>
        <p:spPr>
          <a:xfrm>
            <a:off x="2475914" y="1701800"/>
            <a:ext cx="971608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pass through soft tissue, such as skin and muscle, without being absorbed. Denser tissue, such as bone, can absorb X-rays. Film that is exposed appears black and areas that are not exposed, because of X-ray absorption, appear white.</a:t>
            </a:r>
            <a:endParaRPr/>
          </a:p>
        </p:txBody>
      </p:sp>
      <p:sp>
        <p:nvSpPr>
          <p:cNvPr id="605" name="Google Shape;605;p41"/>
          <p:cNvSpPr txBox="1"/>
          <p:nvPr/>
        </p:nvSpPr>
        <p:spPr>
          <a:xfrm>
            <a:off x="514644" y="784226"/>
            <a:ext cx="1015335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images can be taken because X-rays can pass through opaque materials and also expose photographic film.</a:t>
            </a:r>
            <a:endParaRPr/>
          </a:p>
        </p:txBody>
      </p:sp>
      <p:pic>
        <p:nvPicPr>
          <p:cNvPr descr="t980088" id="606" name="Google Shape;606;p41"/>
          <p:cNvPicPr preferRelativeResize="0"/>
          <p:nvPr/>
        </p:nvPicPr>
        <p:blipFill rotWithShape="1">
          <a:blip r:embed="rId3">
            <a:alphaModFix/>
          </a:blip>
          <a:srcRect b="0" l="0" r="0" t="0"/>
          <a:stretch/>
        </p:blipFill>
        <p:spPr>
          <a:xfrm>
            <a:off x="6794279" y="3271460"/>
            <a:ext cx="5194643" cy="3463095"/>
          </a:xfrm>
          <a:prstGeom prst="rect">
            <a:avLst/>
          </a:prstGeom>
          <a:noFill/>
          <a:ln>
            <a:noFill/>
          </a:ln>
        </p:spPr>
      </p:pic>
      <p:pic>
        <p:nvPicPr>
          <p:cNvPr descr="262068_7849" id="607" name="Google Shape;607;p41"/>
          <p:cNvPicPr preferRelativeResize="0"/>
          <p:nvPr/>
        </p:nvPicPr>
        <p:blipFill rotWithShape="1">
          <a:blip r:embed="rId4">
            <a:alphaModFix/>
          </a:blip>
          <a:srcRect b="0" l="0" r="0" t="0"/>
          <a:stretch/>
        </p:blipFill>
        <p:spPr>
          <a:xfrm>
            <a:off x="107951" y="1733551"/>
            <a:ext cx="2252663" cy="2292350"/>
          </a:xfrm>
          <a:prstGeom prst="rect">
            <a:avLst/>
          </a:prstGeom>
          <a:noFill/>
          <a:ln>
            <a:noFill/>
          </a:ln>
        </p:spPr>
      </p:pic>
      <p:sp>
        <p:nvSpPr>
          <p:cNvPr id="608" name="Google Shape;608;p41"/>
          <p:cNvSpPr txBox="1"/>
          <p:nvPr/>
        </p:nvSpPr>
        <p:spPr>
          <a:xfrm>
            <a:off x="0" y="4538149"/>
            <a:ext cx="69723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X-rays are used by customs staff to check for weapons and drugs. Baggage is passed through an X-ray machine, which instantly reveals the contents. Even an articulated lorry can be      X-rayed!</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2"/>
          <p:cNvSpPr txBox="1"/>
          <p:nvPr>
            <p:ph type="title"/>
          </p:nvPr>
        </p:nvSpPr>
        <p:spPr>
          <a:xfrm>
            <a:off x="627184" y="-26792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do X-rays do to cells?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8" name="Shape 618"/>
        <p:cNvGrpSpPr/>
        <p:nvPr/>
      </p:nvGrpSpPr>
      <p:grpSpPr>
        <a:xfrm>
          <a:off x="0" y="0"/>
          <a:ext cx="0" cy="0"/>
          <a:chOff x="0" y="0"/>
          <a:chExt cx="0" cy="0"/>
        </a:xfrm>
      </p:grpSpPr>
      <p:sp>
        <p:nvSpPr>
          <p:cNvPr descr="EM_Spectrum3-new" id="619" name="Google Shape;619;p43"/>
          <p:cNvSpPr/>
          <p:nvPr/>
        </p:nvSpPr>
        <p:spPr>
          <a:xfrm>
            <a:off x="5948363" y="3281363"/>
            <a:ext cx="296862" cy="2968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620" name="Google Shape;620;p43"/>
          <p:cNvSpPr/>
          <p:nvPr/>
        </p:nvSpPr>
        <p:spPr>
          <a:xfrm>
            <a:off x="1327150" y="5224464"/>
            <a:ext cx="95377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en-GB" sz="2400">
                <a:solidFill>
                  <a:schemeClr val="dk1"/>
                </a:solidFill>
                <a:latin typeface="Comic Sans MS"/>
                <a:ea typeface="Comic Sans MS"/>
                <a:cs typeface="Comic Sans MS"/>
                <a:sym typeface="Comic Sans MS"/>
              </a:rPr>
            </a:br>
            <a:endParaRPr sz="2400">
              <a:solidFill>
                <a:schemeClr val="dk1"/>
              </a:solidFill>
              <a:latin typeface="Comic Sans MS"/>
              <a:ea typeface="Comic Sans MS"/>
              <a:cs typeface="Comic Sans MS"/>
              <a:sym typeface="Comic Sans MS"/>
            </a:endParaRPr>
          </a:p>
        </p:txBody>
      </p:sp>
      <p:sp>
        <p:nvSpPr>
          <p:cNvPr descr="COMPUTER TOOLS" id="621" name="Google Shape;621;p43"/>
          <p:cNvSpPr/>
          <p:nvPr/>
        </p:nvSpPr>
        <p:spPr>
          <a:xfrm>
            <a:off x="8791576" y="-2884488"/>
            <a:ext cx="296863" cy="2968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SCIENCE FOCUS" id="622" name="Google Shape;622;p43">
            <a:hlinkClick r:id="rId3"/>
          </p:cNvPr>
          <p:cNvPicPr preferRelativeResize="0"/>
          <p:nvPr/>
        </p:nvPicPr>
        <p:blipFill rotWithShape="1">
          <a:blip r:embed="rId4">
            <a:alphaModFix/>
          </a:blip>
          <a:srcRect b="0" l="0" r="0" t="0"/>
          <a:stretch/>
        </p:blipFill>
        <p:spPr>
          <a:xfrm>
            <a:off x="9229725" y="-2884488"/>
            <a:ext cx="1474788" cy="285750"/>
          </a:xfrm>
          <a:prstGeom prst="rect">
            <a:avLst/>
          </a:prstGeom>
          <a:noFill/>
          <a:ln>
            <a:noFill/>
          </a:ln>
        </p:spPr>
      </p:pic>
      <p:sp>
        <p:nvSpPr>
          <p:cNvPr descr="NASA" id="623" name="Google Shape;623;p43">
            <a:hlinkClick r:id="rId5"/>
          </p:cNvPr>
          <p:cNvSpPr/>
          <p:nvPr/>
        </p:nvSpPr>
        <p:spPr>
          <a:xfrm>
            <a:off x="4121150" y="6092826"/>
            <a:ext cx="560388" cy="549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descr="The electromagnetic spectrum from largest wavelength (radio waves) to smallest (gamma rays)." id="624" name="Google Shape;624;p43"/>
          <p:cNvSpPr/>
          <p:nvPr/>
        </p:nvSpPr>
        <p:spPr>
          <a:xfrm>
            <a:off x="3078164" y="1343025"/>
            <a:ext cx="6035675" cy="417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grpSp>
        <p:nvGrpSpPr>
          <p:cNvPr id="625" name="Google Shape;625;p43"/>
          <p:cNvGrpSpPr/>
          <p:nvPr/>
        </p:nvGrpSpPr>
        <p:grpSpPr>
          <a:xfrm>
            <a:off x="1524000" y="438152"/>
            <a:ext cx="9144000" cy="1858963"/>
            <a:chOff x="0" y="3769"/>
            <a:chExt cx="5760" cy="1171"/>
          </a:xfrm>
        </p:grpSpPr>
        <p:sp>
          <p:nvSpPr>
            <p:cNvPr id="626" name="Google Shape;626;p43"/>
            <p:cNvSpPr/>
            <p:nvPr/>
          </p:nvSpPr>
          <p:spPr>
            <a:xfrm>
              <a:off x="0" y="3769"/>
              <a:ext cx="4050"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627" name="Google Shape;627;p43"/>
            <p:cNvSpPr/>
            <p:nvPr/>
          </p:nvSpPr>
          <p:spPr>
            <a:xfrm>
              <a:off x="0" y="3769"/>
              <a:ext cx="5760" cy="117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92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footnboot" id="628" name="Google Shape;628;p43"/>
          <p:cNvPicPr preferRelativeResize="0"/>
          <p:nvPr/>
        </p:nvPicPr>
        <p:blipFill rotWithShape="1">
          <a:blip r:embed="rId6">
            <a:alphaModFix/>
          </a:blip>
          <a:srcRect b="0" l="0" r="0" t="0"/>
          <a:stretch/>
        </p:blipFill>
        <p:spPr>
          <a:xfrm>
            <a:off x="1919288" y="1125539"/>
            <a:ext cx="3200400" cy="2135187"/>
          </a:xfrm>
          <a:prstGeom prst="rect">
            <a:avLst/>
          </a:prstGeom>
          <a:noFill/>
          <a:ln>
            <a:noFill/>
          </a:ln>
        </p:spPr>
      </p:pic>
      <p:grpSp>
        <p:nvGrpSpPr>
          <p:cNvPr id="629" name="Google Shape;629;p43"/>
          <p:cNvGrpSpPr/>
          <p:nvPr/>
        </p:nvGrpSpPr>
        <p:grpSpPr>
          <a:xfrm>
            <a:off x="1524000" y="438151"/>
            <a:ext cx="9144000" cy="2560638"/>
            <a:chOff x="0" y="3769"/>
            <a:chExt cx="5760" cy="1613"/>
          </a:xfrm>
        </p:grpSpPr>
        <p:sp>
          <p:nvSpPr>
            <p:cNvPr id="630" name="Google Shape;630;p43"/>
            <p:cNvSpPr/>
            <p:nvPr/>
          </p:nvSpPr>
          <p:spPr>
            <a:xfrm>
              <a:off x="0" y="3769"/>
              <a:ext cx="4050"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631" name="Google Shape;631;p43"/>
            <p:cNvSpPr/>
            <p:nvPr/>
          </p:nvSpPr>
          <p:spPr>
            <a:xfrm>
              <a:off x="0" y="3769"/>
              <a:ext cx="5760" cy="161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138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hand3" id="632" name="Google Shape;632;p43"/>
          <p:cNvPicPr preferRelativeResize="0"/>
          <p:nvPr/>
        </p:nvPicPr>
        <p:blipFill rotWithShape="1">
          <a:blip r:embed="rId7">
            <a:alphaModFix/>
          </a:blip>
          <a:srcRect b="0" l="0" r="0" t="0"/>
          <a:stretch/>
        </p:blipFill>
        <p:spPr>
          <a:xfrm>
            <a:off x="7680325" y="981075"/>
            <a:ext cx="2389188" cy="3581400"/>
          </a:xfrm>
          <a:prstGeom prst="rect">
            <a:avLst/>
          </a:prstGeom>
          <a:noFill/>
          <a:ln>
            <a:noFill/>
          </a:ln>
        </p:spPr>
      </p:pic>
      <p:grpSp>
        <p:nvGrpSpPr>
          <p:cNvPr id="633" name="Google Shape;633;p43"/>
          <p:cNvGrpSpPr/>
          <p:nvPr/>
        </p:nvGrpSpPr>
        <p:grpSpPr>
          <a:xfrm>
            <a:off x="911225" y="-523877"/>
            <a:ext cx="9144000" cy="1812925"/>
            <a:chOff x="0" y="3592"/>
            <a:chExt cx="5760" cy="1142"/>
          </a:xfrm>
        </p:grpSpPr>
        <p:sp>
          <p:nvSpPr>
            <p:cNvPr id="634" name="Google Shape;634;p43"/>
            <p:cNvSpPr/>
            <p:nvPr/>
          </p:nvSpPr>
          <p:spPr>
            <a:xfrm>
              <a:off x="0" y="3769"/>
              <a:ext cx="4050"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sp>
          <p:nvSpPr>
            <p:cNvPr id="635" name="Google Shape;635;p43"/>
            <p:cNvSpPr/>
            <p:nvPr/>
          </p:nvSpPr>
          <p:spPr>
            <a:xfrm>
              <a:off x="0" y="3592"/>
              <a:ext cx="5760" cy="11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400">
                  <a:solidFill>
                    <a:schemeClr val="dk1"/>
                  </a:solidFill>
                  <a:latin typeface="Comic Sans MS"/>
                  <a:ea typeface="Comic Sans MS"/>
                  <a:cs typeface="Comic Sans MS"/>
                  <a:sym typeface="Comic Sans MS"/>
                </a:rPr>
                <a:t>  </a:t>
              </a:r>
              <a:r>
                <a:rPr lang="en-GB" sz="8900">
                  <a:solidFill>
                    <a:schemeClr val="dk1"/>
                  </a:solidFill>
                  <a:latin typeface="Comic Sans MS"/>
                  <a:ea typeface="Comic Sans MS"/>
                  <a:cs typeface="Comic Sans MS"/>
                  <a:sym typeface="Comic Sans MS"/>
                </a:rPr>
                <a:t> </a:t>
              </a:r>
              <a:r>
                <a:rPr lang="en-GB" sz="2400">
                  <a:solidFill>
                    <a:schemeClr val="dk1"/>
                  </a:solidFill>
                  <a:latin typeface="Comic Sans MS"/>
                  <a:ea typeface="Comic Sans MS"/>
                  <a:cs typeface="Comic Sans MS"/>
                  <a:sym typeface="Comic Sans MS"/>
                </a:rPr>
                <a:t>         </a:t>
              </a:r>
              <a:r>
                <a:rPr lang="en-GB" sz="2400">
                  <a:solidFill>
                    <a:srgbClr val="FFFF00"/>
                  </a:solidFill>
                  <a:latin typeface="Comic Sans MS"/>
                  <a:ea typeface="Comic Sans MS"/>
                  <a:cs typeface="Comic Sans MS"/>
                  <a:sym typeface="Comic Sans MS"/>
                </a:rPr>
                <a:t>  </a:t>
              </a:r>
              <a:r>
                <a:rPr lang="en-GB" sz="4000">
                  <a:solidFill>
                    <a:srgbClr val="FFFF00"/>
                  </a:solidFill>
                  <a:latin typeface="Comic Sans MS"/>
                  <a:ea typeface="Comic Sans MS"/>
                  <a:cs typeface="Comic Sans MS"/>
                  <a:sym typeface="Comic Sans MS"/>
                </a:rPr>
                <a:t> The earliest X-ray images </a:t>
              </a:r>
              <a:r>
                <a:rPr lang="en-GB" sz="2400">
                  <a:solidFill>
                    <a:schemeClr val="dk1"/>
                  </a:solidFill>
                  <a:latin typeface="Comic Sans MS"/>
                  <a:ea typeface="Comic Sans MS"/>
                  <a:cs typeface="Comic Sans MS"/>
                  <a:sym typeface="Comic Sans MS"/>
                </a:rPr>
                <a:t>  </a:t>
              </a:r>
              <a:endParaRPr/>
            </a:p>
            <a:p>
              <a:pPr indent="0" lvl="0" marL="0" marR="0" rtl="0" algn="ctr">
                <a:spcBef>
                  <a:spcPts val="0"/>
                </a:spcBef>
                <a:spcAft>
                  <a:spcPts val="0"/>
                </a:spcAft>
                <a:buNone/>
              </a:pPr>
              <a:r>
                <a:t/>
              </a:r>
              <a:endParaRPr sz="2400">
                <a:solidFill>
                  <a:schemeClr val="dk1"/>
                </a:solidFill>
                <a:latin typeface="Comic Sans MS"/>
                <a:ea typeface="Comic Sans MS"/>
                <a:cs typeface="Comic Sans MS"/>
                <a:sym typeface="Comic Sans MS"/>
              </a:endParaRPr>
            </a:p>
          </p:txBody>
        </p:sp>
      </p:grpSp>
      <p:pic>
        <p:nvPicPr>
          <p:cNvPr descr="coininpurse1" id="636" name="Google Shape;636;p43"/>
          <p:cNvPicPr preferRelativeResize="0"/>
          <p:nvPr/>
        </p:nvPicPr>
        <p:blipFill rotWithShape="1">
          <a:blip r:embed="rId8">
            <a:alphaModFix/>
          </a:blip>
          <a:srcRect b="0" l="0" r="0" t="0"/>
          <a:stretch/>
        </p:blipFill>
        <p:spPr>
          <a:xfrm>
            <a:off x="5016500" y="3068639"/>
            <a:ext cx="2349500" cy="2408237"/>
          </a:xfrm>
          <a:prstGeom prst="rect">
            <a:avLst/>
          </a:prstGeom>
          <a:noFill/>
          <a:ln>
            <a:noFill/>
          </a:ln>
        </p:spPr>
      </p:pic>
      <p:sp>
        <p:nvSpPr>
          <p:cNvPr id="637" name="Google Shape;637;p43"/>
          <p:cNvSpPr txBox="1"/>
          <p:nvPr/>
        </p:nvSpPr>
        <p:spPr>
          <a:xfrm>
            <a:off x="685188" y="3478212"/>
            <a:ext cx="4277133"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Early researchers did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not know the dangers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of x-ray radiation.</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they did countless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experiments looking at</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body movement.</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even getting babies to</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walk in front of the screen</a:t>
            </a:r>
            <a:endParaRPr b="1" sz="2400">
              <a:solidFill>
                <a:srgbClr val="FFFF00"/>
              </a:solidFill>
              <a:latin typeface="Comic Sans MS"/>
              <a:ea typeface="Comic Sans MS"/>
              <a:cs typeface="Comic Sans MS"/>
              <a:sym typeface="Comic Sans MS"/>
            </a:endParaRPr>
          </a:p>
        </p:txBody>
      </p:sp>
      <p:sp>
        <p:nvSpPr>
          <p:cNvPr id="638" name="Google Shape;638;p43"/>
          <p:cNvSpPr txBox="1"/>
          <p:nvPr/>
        </p:nvSpPr>
        <p:spPr>
          <a:xfrm>
            <a:off x="7475539" y="4652963"/>
            <a:ext cx="471646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2400" u="sng">
                <a:solidFill>
                  <a:srgbClr val="FFFF00"/>
                </a:solidFill>
                <a:latin typeface="Comic Sans MS"/>
                <a:ea typeface="Comic Sans MS"/>
                <a:cs typeface="Comic Sans MS"/>
                <a:sym typeface="Comic Sans MS"/>
              </a:rPr>
              <a:t>Duh!</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Consequently, many of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the pioneers of this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technology died </a:t>
            </a:r>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prematurely of leukamia</a:t>
            </a:r>
            <a:endParaRPr b="1" sz="2400">
              <a:solidFill>
                <a:srgbClr val="FFFF00"/>
              </a:solidFill>
              <a:latin typeface="Comic Sans MS"/>
              <a:ea typeface="Comic Sans MS"/>
              <a:cs typeface="Comic Sans MS"/>
              <a:sym typeface="Comic Sans MS"/>
            </a:endParaRPr>
          </a:p>
          <a:p>
            <a:pPr indent="0" lvl="0" marL="0" marR="0" rtl="0" algn="l">
              <a:spcBef>
                <a:spcPts val="0"/>
              </a:spcBef>
              <a:spcAft>
                <a:spcPts val="0"/>
              </a:spcAft>
              <a:buNone/>
            </a:pPr>
            <a:r>
              <a:rPr b="1" lang="en-GB" sz="2400">
                <a:solidFill>
                  <a:srgbClr val="FFFF00"/>
                </a:solidFill>
                <a:latin typeface="Comic Sans MS"/>
                <a:ea typeface="Comic Sans MS"/>
                <a:cs typeface="Comic Sans MS"/>
                <a:sym typeface="Comic Sans MS"/>
              </a:rPr>
              <a:t>and cancers ☹ </a:t>
            </a:r>
            <a:endParaRPr b="1" sz="2400">
              <a:solidFill>
                <a:srgbClr val="FFFF00"/>
              </a:solidFill>
              <a:latin typeface="Comic Sans MS"/>
              <a:ea typeface="Comic Sans MS"/>
              <a:cs typeface="Comic Sans MS"/>
              <a:sym typeface="Comic Sans M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4"/>
          <p:cNvSpPr txBox="1"/>
          <p:nvPr>
            <p:ph type="title"/>
          </p:nvPr>
        </p:nvSpPr>
        <p:spPr>
          <a:xfrm>
            <a:off x="753794" y="-21589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are X-ray images taken safely?</a:t>
            </a:r>
            <a:endParaRPr/>
          </a:p>
        </p:txBody>
      </p:sp>
      <p:sp>
        <p:nvSpPr>
          <p:cNvPr id="645" name="Google Shape;645;p44"/>
          <p:cNvSpPr txBox="1"/>
          <p:nvPr/>
        </p:nvSpPr>
        <p:spPr>
          <a:xfrm>
            <a:off x="200930" y="784225"/>
            <a:ext cx="10467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Precautions must be used when X-ray images are taken.</a:t>
            </a:r>
            <a:endParaRPr/>
          </a:p>
        </p:txBody>
      </p:sp>
      <p:sp>
        <p:nvSpPr>
          <p:cNvPr id="646" name="Google Shape;646;p44"/>
          <p:cNvSpPr txBox="1"/>
          <p:nvPr/>
        </p:nvSpPr>
        <p:spPr>
          <a:xfrm>
            <a:off x="244120" y="4981575"/>
            <a:ext cx="691633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To minimise their exposure when an X-ray image is being taken, radiographers must wear a lead apron (shown), stand behind a screen that absorbs X-rays or even leave the room. </a:t>
            </a:r>
            <a:endParaRPr/>
          </a:p>
        </p:txBody>
      </p:sp>
      <p:sp>
        <p:nvSpPr>
          <p:cNvPr id="647" name="Google Shape;647;p44"/>
          <p:cNvSpPr txBox="1"/>
          <p:nvPr/>
        </p:nvSpPr>
        <p:spPr>
          <a:xfrm>
            <a:off x="200931" y="1330326"/>
            <a:ext cx="669040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Only the area of the body being examined is targeted with X-rays. Other areas are protected with lead shield, which is too dense </a:t>
            </a:r>
            <a:endParaRPr/>
          </a:p>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for X-rays to pass through. </a:t>
            </a:r>
            <a:endParaRPr/>
          </a:p>
        </p:txBody>
      </p:sp>
      <p:pic>
        <p:nvPicPr>
          <p:cNvPr descr="m415361" id="648" name="Google Shape;648;p44"/>
          <p:cNvPicPr preferRelativeResize="0"/>
          <p:nvPr/>
        </p:nvPicPr>
        <p:blipFill rotWithShape="1">
          <a:blip r:embed="rId3">
            <a:alphaModFix/>
          </a:blip>
          <a:srcRect b="0" l="998" r="998" t="0"/>
          <a:stretch/>
        </p:blipFill>
        <p:spPr>
          <a:xfrm>
            <a:off x="7303846" y="1330326"/>
            <a:ext cx="4822507" cy="4493503"/>
          </a:xfrm>
          <a:prstGeom prst="rect">
            <a:avLst/>
          </a:prstGeom>
          <a:noFill/>
          <a:ln>
            <a:noFill/>
          </a:ln>
        </p:spPr>
      </p:pic>
      <p:sp>
        <p:nvSpPr>
          <p:cNvPr id="649" name="Google Shape;649;p44"/>
          <p:cNvSpPr/>
          <p:nvPr/>
        </p:nvSpPr>
        <p:spPr>
          <a:xfrm>
            <a:off x="241902" y="3179033"/>
            <a:ext cx="6608466" cy="1523494"/>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One-off X-rays do not pose much risk to health. Radiographers take several X-rays each day and their potential dose is much higher.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5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5"/>
          <p:cNvSpPr txBox="1"/>
          <p:nvPr>
            <p:ph type="title"/>
          </p:nvPr>
        </p:nvSpPr>
        <p:spPr>
          <a:xfrm>
            <a:off x="828675" y="-29605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X-rays – true or false?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6"/>
          <p:cNvSpPr txBox="1"/>
          <p:nvPr>
            <p:ph type="title"/>
          </p:nvPr>
        </p:nvSpPr>
        <p:spPr>
          <a:xfrm>
            <a:off x="3032761" y="2419643"/>
            <a:ext cx="7518009" cy="17328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Comic Sans MS"/>
              <a:buNone/>
            </a:pPr>
            <a:r>
              <a:rPr lang="en-GB" sz="6000">
                <a:latin typeface="Comic Sans MS"/>
                <a:ea typeface="Comic Sans MS"/>
                <a:cs typeface="Comic Sans MS"/>
                <a:sym typeface="Comic Sans MS"/>
              </a:rPr>
              <a:t>7. Gamma Radiation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47"/>
          <p:cNvSpPr txBox="1"/>
          <p:nvPr>
            <p:ph type="title"/>
          </p:nvPr>
        </p:nvSpPr>
        <p:spPr>
          <a:xfrm>
            <a:off x="525463" y="-23816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gamma rays?</a:t>
            </a:r>
            <a:endParaRPr/>
          </a:p>
        </p:txBody>
      </p:sp>
      <p:sp>
        <p:nvSpPr>
          <p:cNvPr id="667" name="Google Shape;667;p47"/>
          <p:cNvSpPr txBox="1"/>
          <p:nvPr/>
        </p:nvSpPr>
        <p:spPr>
          <a:xfrm>
            <a:off x="253219" y="784226"/>
            <a:ext cx="991772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Gamma rays are emitted by certain radioactive materials and have many uses in medicine.</a:t>
            </a:r>
            <a:endParaRPr/>
          </a:p>
        </p:txBody>
      </p:sp>
      <p:grpSp>
        <p:nvGrpSpPr>
          <p:cNvPr id="668" name="Google Shape;668;p47"/>
          <p:cNvGrpSpPr/>
          <p:nvPr/>
        </p:nvGrpSpPr>
        <p:grpSpPr>
          <a:xfrm>
            <a:off x="1866813" y="3037481"/>
            <a:ext cx="8955087" cy="2159000"/>
            <a:chOff x="65" y="1811"/>
            <a:chExt cx="5737" cy="1383"/>
          </a:xfrm>
        </p:grpSpPr>
        <p:sp>
          <p:nvSpPr>
            <p:cNvPr id="669" name="Google Shape;669;p47"/>
            <p:cNvSpPr/>
            <p:nvPr/>
          </p:nvSpPr>
          <p:spPr>
            <a:xfrm>
              <a:off x="66" y="1811"/>
              <a:ext cx="5736" cy="1383"/>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PS_gfx_emscale" id="670" name="Google Shape;670;p47"/>
            <p:cNvPicPr preferRelativeResize="0"/>
            <p:nvPr/>
          </p:nvPicPr>
          <p:blipFill rotWithShape="1">
            <a:blip r:embed="rId3">
              <a:alphaModFix/>
            </a:blip>
            <a:srcRect b="0" l="13417" r="12046" t="0"/>
            <a:stretch/>
          </p:blipFill>
          <p:spPr>
            <a:xfrm>
              <a:off x="65" y="2009"/>
              <a:ext cx="5736" cy="918"/>
            </a:xfrm>
            <a:prstGeom prst="rect">
              <a:avLst/>
            </a:prstGeom>
            <a:noFill/>
            <a:ln>
              <a:noFill/>
            </a:ln>
          </p:spPr>
        </p:pic>
        <p:sp>
          <p:nvSpPr>
            <p:cNvPr id="671" name="Google Shape;671;p47"/>
            <p:cNvSpPr txBox="1"/>
            <p:nvPr/>
          </p:nvSpPr>
          <p:spPr>
            <a:xfrm>
              <a:off x="2148" y="1826"/>
              <a:ext cx="949" cy="49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ultra-violet</a:t>
              </a:r>
              <a:endParaRPr/>
            </a:p>
          </p:txBody>
        </p:sp>
        <p:sp>
          <p:nvSpPr>
            <p:cNvPr id="672" name="Google Shape;672;p47"/>
            <p:cNvSpPr txBox="1"/>
            <p:nvPr/>
          </p:nvSpPr>
          <p:spPr>
            <a:xfrm>
              <a:off x="940" y="1946"/>
              <a:ext cx="1033" cy="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infrared</a:t>
              </a:r>
              <a:endParaRPr/>
            </a:p>
          </p:txBody>
        </p:sp>
        <p:sp>
          <p:nvSpPr>
            <p:cNvPr id="673" name="Google Shape;673;p47"/>
            <p:cNvSpPr txBox="1"/>
            <p:nvPr/>
          </p:nvSpPr>
          <p:spPr>
            <a:xfrm>
              <a:off x="3130" y="1948"/>
              <a:ext cx="1003" cy="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b="1" lang="en-GB" sz="2800">
                  <a:solidFill>
                    <a:schemeClr val="dk1"/>
                  </a:solidFill>
                  <a:latin typeface="Comic Sans MS"/>
                  <a:ea typeface="Comic Sans MS"/>
                  <a:cs typeface="Comic Sans MS"/>
                  <a:sym typeface="Comic Sans MS"/>
                </a:rPr>
                <a:t>X-rays </a:t>
              </a:r>
              <a:endParaRPr/>
            </a:p>
          </p:txBody>
        </p:sp>
        <p:sp>
          <p:nvSpPr>
            <p:cNvPr id="674" name="Google Shape;674;p47"/>
            <p:cNvSpPr txBox="1"/>
            <p:nvPr/>
          </p:nvSpPr>
          <p:spPr>
            <a:xfrm>
              <a:off x="559" y="2652"/>
              <a:ext cx="420"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-3</a:t>
              </a:r>
              <a:endParaRPr b="1" sz="1800">
                <a:solidFill>
                  <a:srgbClr val="9900CC"/>
                </a:solidFill>
                <a:latin typeface="Comic Sans MS"/>
                <a:ea typeface="Comic Sans MS"/>
                <a:cs typeface="Comic Sans MS"/>
                <a:sym typeface="Comic Sans MS"/>
              </a:endParaRPr>
            </a:p>
          </p:txBody>
        </p:sp>
        <p:sp>
          <p:nvSpPr>
            <p:cNvPr id="675" name="Google Shape;675;p47"/>
            <p:cNvSpPr txBox="1"/>
            <p:nvPr/>
          </p:nvSpPr>
          <p:spPr>
            <a:xfrm>
              <a:off x="3319" y="2652"/>
              <a:ext cx="420"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-9</a:t>
              </a:r>
              <a:endParaRPr b="1" sz="1800">
                <a:solidFill>
                  <a:srgbClr val="9900CC"/>
                </a:solidFill>
                <a:latin typeface="Comic Sans MS"/>
                <a:ea typeface="Comic Sans MS"/>
                <a:cs typeface="Comic Sans MS"/>
                <a:sym typeface="Comic Sans MS"/>
              </a:endParaRPr>
            </a:p>
          </p:txBody>
        </p:sp>
        <p:sp>
          <p:nvSpPr>
            <p:cNvPr id="676" name="Google Shape;676;p47"/>
            <p:cNvSpPr txBox="1"/>
            <p:nvPr/>
          </p:nvSpPr>
          <p:spPr>
            <a:xfrm>
              <a:off x="1784" y="2652"/>
              <a:ext cx="742" cy="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-6</a:t>
              </a:r>
              <a:endParaRPr b="1" sz="1800">
                <a:solidFill>
                  <a:srgbClr val="9900CC"/>
                </a:solidFill>
                <a:latin typeface="Comic Sans MS"/>
                <a:ea typeface="Comic Sans MS"/>
                <a:cs typeface="Comic Sans MS"/>
                <a:sym typeface="Comic Sans MS"/>
              </a:endParaRPr>
            </a:p>
          </p:txBody>
        </p:sp>
        <p:sp>
          <p:nvSpPr>
            <p:cNvPr id="677" name="Google Shape;677;p47"/>
            <p:cNvSpPr txBox="1"/>
            <p:nvPr/>
          </p:nvSpPr>
          <p:spPr>
            <a:xfrm>
              <a:off x="4706" y="2652"/>
              <a:ext cx="481"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10</a:t>
              </a:r>
              <a:r>
                <a:rPr b="1" baseline="30000" lang="en-GB" sz="1800">
                  <a:solidFill>
                    <a:srgbClr val="9900CC"/>
                  </a:solidFill>
                  <a:latin typeface="Comic Sans MS"/>
                  <a:ea typeface="Comic Sans MS"/>
                  <a:cs typeface="Comic Sans MS"/>
                  <a:sym typeface="Comic Sans MS"/>
                </a:rPr>
                <a:t>-12</a:t>
              </a:r>
              <a:endParaRPr b="1" sz="1800">
                <a:solidFill>
                  <a:srgbClr val="9900CC"/>
                </a:solidFill>
                <a:latin typeface="Comic Sans MS"/>
                <a:ea typeface="Comic Sans MS"/>
                <a:cs typeface="Comic Sans MS"/>
                <a:sym typeface="Comic Sans MS"/>
              </a:endParaRPr>
            </a:p>
          </p:txBody>
        </p:sp>
        <p:sp>
          <p:nvSpPr>
            <p:cNvPr id="678" name="Google Shape;678;p47"/>
            <p:cNvSpPr txBox="1"/>
            <p:nvPr/>
          </p:nvSpPr>
          <p:spPr>
            <a:xfrm>
              <a:off x="4055" y="1822"/>
              <a:ext cx="853" cy="50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gamma</a:t>
              </a:r>
              <a:endParaRPr/>
            </a:p>
            <a:p>
              <a:pPr indent="0" lvl="0" marL="0" marR="0" rtl="0" algn="ctr">
                <a:lnSpc>
                  <a:spcPct val="80000"/>
                </a:lnSpc>
                <a:spcBef>
                  <a:spcPts val="0"/>
                </a:spcBef>
                <a:spcAft>
                  <a:spcPts val="0"/>
                </a:spcAft>
                <a:buClr>
                  <a:srgbClr val="CC00CC"/>
                </a:buClr>
                <a:buSzPts val="2800"/>
                <a:buFont typeface="Comic Sans MS"/>
                <a:buNone/>
              </a:pPr>
              <a:r>
                <a:rPr b="1" lang="en-GB" sz="2800">
                  <a:solidFill>
                    <a:srgbClr val="CC00CC"/>
                  </a:solidFill>
                  <a:latin typeface="Comic Sans MS"/>
                  <a:ea typeface="Comic Sans MS"/>
                  <a:cs typeface="Comic Sans MS"/>
                  <a:sym typeface="Comic Sans MS"/>
                </a:rPr>
                <a:t>rays</a:t>
              </a:r>
              <a:r>
                <a:rPr b="1" lang="en-GB" sz="2800">
                  <a:solidFill>
                    <a:schemeClr val="dk1"/>
                  </a:solidFill>
                  <a:latin typeface="Comic Sans MS"/>
                  <a:ea typeface="Comic Sans MS"/>
                  <a:cs typeface="Comic Sans MS"/>
                  <a:sym typeface="Comic Sans MS"/>
                </a:rPr>
                <a:t> </a:t>
              </a:r>
              <a:endParaRPr/>
            </a:p>
          </p:txBody>
        </p:sp>
        <p:sp>
          <p:nvSpPr>
            <p:cNvPr id="679" name="Google Shape;679;p47"/>
            <p:cNvSpPr txBox="1"/>
            <p:nvPr/>
          </p:nvSpPr>
          <p:spPr>
            <a:xfrm>
              <a:off x="1102" y="2900"/>
              <a:ext cx="2833" cy="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00CC"/>
                </a:buClr>
                <a:buSzPts val="1800"/>
                <a:buFont typeface="Comic Sans MS"/>
                <a:buNone/>
              </a:pPr>
              <a:r>
                <a:rPr b="1" lang="en-GB" sz="1800">
                  <a:solidFill>
                    <a:srgbClr val="9900CC"/>
                  </a:solidFill>
                  <a:latin typeface="Comic Sans MS"/>
                  <a:ea typeface="Comic Sans MS"/>
                  <a:cs typeface="Comic Sans MS"/>
                  <a:sym typeface="Comic Sans MS"/>
                </a:rPr>
                <a:t>wavelength of electromagnetic waves </a:t>
              </a:r>
              <a:endParaRPr/>
            </a:p>
          </p:txBody>
        </p:sp>
      </p:grpSp>
      <p:sp>
        <p:nvSpPr>
          <p:cNvPr id="680" name="Google Shape;680;p47"/>
          <p:cNvSpPr txBox="1"/>
          <p:nvPr/>
        </p:nvSpPr>
        <p:spPr>
          <a:xfrm>
            <a:off x="253219" y="1622425"/>
            <a:ext cx="939552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mic Sans MS"/>
              <a:buNone/>
            </a:pPr>
            <a:r>
              <a:rPr lang="en-GB" sz="2800">
                <a:solidFill>
                  <a:schemeClr val="dk1"/>
                </a:solidFill>
                <a:latin typeface="Comic Sans MS"/>
                <a:ea typeface="Comic Sans MS"/>
                <a:cs typeface="Comic Sans MS"/>
                <a:sym typeface="Comic Sans MS"/>
              </a:rPr>
              <a:t>Gamma rays are the highest-energy form of  electromagnetic radiation and are beside X-rays in the electromagnetic spectrum.</a:t>
            </a:r>
            <a:endParaRPr/>
          </a:p>
        </p:txBody>
      </p:sp>
      <p:pic>
        <p:nvPicPr>
          <p:cNvPr descr="radioActive" id="681" name="Google Shape;681;p47"/>
          <p:cNvPicPr preferRelativeResize="0"/>
          <p:nvPr/>
        </p:nvPicPr>
        <p:blipFill rotWithShape="1">
          <a:blip r:embed="rId4">
            <a:alphaModFix/>
          </a:blip>
          <a:srcRect b="0" l="0" r="0" t="0"/>
          <a:stretch/>
        </p:blipFill>
        <p:spPr>
          <a:xfrm>
            <a:off x="9648738" y="333970"/>
            <a:ext cx="2346325" cy="1865312"/>
          </a:xfrm>
          <a:prstGeom prst="rect">
            <a:avLst/>
          </a:prstGeom>
          <a:noFill/>
          <a:ln>
            <a:noFill/>
          </a:ln>
        </p:spPr>
      </p:pic>
      <p:sp>
        <p:nvSpPr>
          <p:cNvPr id="682" name="Google Shape;682;p47"/>
          <p:cNvSpPr txBox="1"/>
          <p:nvPr/>
        </p:nvSpPr>
        <p:spPr>
          <a:xfrm>
            <a:off x="104174" y="5262556"/>
            <a:ext cx="11890889" cy="18161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omic Sans MS"/>
                <a:ea typeface="Comic Sans MS"/>
                <a:cs typeface="Comic Sans MS"/>
                <a:sym typeface="Comic Sans MS"/>
              </a:rPr>
              <a:t>Gamma rays have wavelengths between 0.001 and 0.1 nm (less than the size of an atom), which makes them the form of electromagnetic radiation with the shortest wavelengths.</a:t>
            </a:r>
            <a:endParaRPr/>
          </a:p>
          <a:p>
            <a:pPr indent="0" lvl="0" marL="0" marR="0" rtl="0" algn="l">
              <a:lnSpc>
                <a:spcPct val="100000"/>
              </a:lnSpc>
              <a:spcBef>
                <a:spcPts val="0"/>
              </a:spcBef>
              <a:spcAft>
                <a:spcPts val="0"/>
              </a:spcAft>
              <a:buClr>
                <a:schemeClr val="dk1"/>
              </a:buClr>
              <a:buSzPts val="2800"/>
              <a:buFont typeface="Calibri"/>
              <a:buNone/>
            </a:pPr>
            <a:r>
              <a:t/>
            </a:r>
            <a:endParaRPr sz="28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500"/>
                                        <p:tgtEl>
                                          <p:spTgt spid="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8"/>
          <p:cNvSpPr txBox="1"/>
          <p:nvPr>
            <p:ph type="title"/>
          </p:nvPr>
        </p:nvSpPr>
        <p:spPr>
          <a:xfrm>
            <a:off x="249606" y="-13124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What are gamma rays used for?</a:t>
            </a:r>
            <a:endParaRPr/>
          </a:p>
        </p:txBody>
      </p:sp>
      <p:sp>
        <p:nvSpPr>
          <p:cNvPr id="689" name="Google Shape;689;p48"/>
          <p:cNvSpPr txBox="1"/>
          <p:nvPr/>
        </p:nvSpPr>
        <p:spPr>
          <a:xfrm>
            <a:off x="-1" y="781050"/>
            <a:ext cx="8918917" cy="1892826"/>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Medical imaging</a:t>
            </a:r>
            <a:endParaRPr/>
          </a:p>
          <a:p>
            <a:pPr indent="-355600" lvl="0" marL="355600" marR="0" rtl="0" algn="l">
              <a:lnSpc>
                <a:spcPct val="100000"/>
              </a:lnSpc>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A gamma scan is obtained by injecting a radioactive tracer, which concentrates in the area of the body being investigated. Gamma rays emitted from this area are detected by a gamma camera.</a:t>
            </a:r>
            <a:endParaRPr/>
          </a:p>
        </p:txBody>
      </p:sp>
      <p:pic>
        <p:nvPicPr>
          <p:cNvPr descr="m134711" id="690" name="Google Shape;690;p48"/>
          <p:cNvPicPr preferRelativeResize="0"/>
          <p:nvPr/>
        </p:nvPicPr>
        <p:blipFill rotWithShape="1">
          <a:blip r:embed="rId3">
            <a:alphaModFix/>
          </a:blip>
          <a:srcRect b="0" l="0" r="0" t="0"/>
          <a:stretch/>
        </p:blipFill>
        <p:spPr>
          <a:xfrm>
            <a:off x="8918917" y="300099"/>
            <a:ext cx="3106518" cy="4659777"/>
          </a:xfrm>
          <a:prstGeom prst="rect">
            <a:avLst/>
          </a:prstGeom>
          <a:noFill/>
          <a:ln>
            <a:noFill/>
          </a:ln>
        </p:spPr>
      </p:pic>
      <p:sp>
        <p:nvSpPr>
          <p:cNvPr id="691" name="Google Shape;691;p48"/>
          <p:cNvSpPr txBox="1"/>
          <p:nvPr/>
        </p:nvSpPr>
        <p:spPr>
          <a:xfrm>
            <a:off x="249606" y="4718052"/>
            <a:ext cx="9808794" cy="1892300"/>
          </a:xfrm>
          <a:prstGeom prst="rect">
            <a:avLst/>
          </a:prstGeom>
          <a:noFill/>
          <a:ln>
            <a:noFill/>
          </a:ln>
        </p:spPr>
        <p:txBody>
          <a:bodyPr anchorCtr="0" anchor="t" bIns="0" lIns="91425" spcFirstLastPara="1" rIns="0" wrap="square" tIns="45700">
            <a:spAutoFit/>
          </a:bodyPr>
          <a:lstStyle/>
          <a:p>
            <a:pPr indent="-355600" lvl="0" marL="355600" marR="0" rtl="0" algn="l">
              <a:lnSpc>
                <a:spcPct val="100000"/>
              </a:lnSpc>
              <a:spcBef>
                <a:spcPts val="0"/>
              </a:spcBef>
              <a:spcAft>
                <a:spcPts val="0"/>
              </a:spcAft>
              <a:buNone/>
            </a:pPr>
            <a:r>
              <a:rPr b="1" lang="en-GB" sz="2400">
                <a:solidFill>
                  <a:srgbClr val="CC00CC"/>
                </a:solidFill>
                <a:latin typeface="Comic Sans MS"/>
                <a:ea typeface="Comic Sans MS"/>
                <a:cs typeface="Comic Sans MS"/>
                <a:sym typeface="Comic Sans MS"/>
              </a:rPr>
              <a:t>Industrial imaging</a:t>
            </a:r>
            <a:endParaRPr/>
          </a:p>
          <a:p>
            <a:pPr indent="-355600" lvl="0" marL="355600" marR="0" rtl="0" algn="l">
              <a:spcBef>
                <a:spcPts val="0"/>
              </a:spcBef>
              <a:spcAft>
                <a:spcPts val="0"/>
              </a:spcAft>
              <a:buNone/>
            </a:pPr>
            <a:r>
              <a:rPr lang="en-GB" sz="2400">
                <a:solidFill>
                  <a:srgbClr val="000066"/>
                </a:solidFill>
                <a:latin typeface="Comic Sans MS"/>
                <a:ea typeface="Comic Sans MS"/>
                <a:cs typeface="Comic Sans MS"/>
                <a:sym typeface="Comic Sans MS"/>
              </a:rPr>
              <a:t> 	Gamma rays are even more penetrating than X-rays and can pass through denser materials. They can be used to examine metal castings and welded structures. </a:t>
            </a:r>
            <a:endParaRPr/>
          </a:p>
          <a:p>
            <a:pPr indent="-355600" lvl="0" marL="355600" marR="0" rtl="0" algn="l">
              <a:lnSpc>
                <a:spcPct val="100000"/>
              </a:lnSpc>
              <a:spcBef>
                <a:spcPts val="0"/>
              </a:spcBef>
              <a:spcAft>
                <a:spcPts val="0"/>
              </a:spcAft>
              <a:buClr>
                <a:schemeClr val="dk1"/>
              </a:buClr>
              <a:buSzPts val="2400"/>
              <a:buFont typeface="Noto Sans Symbols"/>
              <a:buNone/>
            </a:pPr>
            <a:r>
              <a:t/>
            </a:r>
            <a:endParaRPr sz="2400">
              <a:solidFill>
                <a:srgbClr val="000066"/>
              </a:solidFill>
              <a:latin typeface="Comic Sans MS"/>
              <a:ea typeface="Comic Sans MS"/>
              <a:cs typeface="Comic Sans MS"/>
              <a:sym typeface="Comic Sans MS"/>
            </a:endParaRPr>
          </a:p>
        </p:txBody>
      </p:sp>
      <p:sp>
        <p:nvSpPr>
          <p:cNvPr id="692" name="Google Shape;692;p48"/>
          <p:cNvSpPr/>
          <p:nvPr/>
        </p:nvSpPr>
        <p:spPr>
          <a:xfrm>
            <a:off x="110462" y="2824419"/>
            <a:ext cx="8133206" cy="1523494"/>
          </a:xfrm>
          <a:prstGeom prst="rect">
            <a:avLst/>
          </a:prstGeom>
          <a:noFill/>
          <a:ln>
            <a:noFill/>
          </a:ln>
        </p:spPr>
        <p:txBody>
          <a:bodyPr anchorCtr="0" anchor="t" bIns="0" lIns="91425" spcFirstLastPara="1" rIns="0" wrap="square" tIns="45700">
            <a:spAutoFit/>
          </a:bodyPr>
          <a:lstStyle/>
          <a:p>
            <a:pPr indent="-361950" lvl="0" marL="361950" marR="0" rtl="0" algn="l">
              <a:spcBef>
                <a:spcPts val="0"/>
              </a:spcBef>
              <a:spcAft>
                <a:spcPts val="0"/>
              </a:spcAft>
              <a:buNone/>
            </a:pPr>
            <a:r>
              <a:rPr b="1" lang="en-GB" sz="2400">
                <a:solidFill>
                  <a:srgbClr val="CC00CC"/>
                </a:solidFill>
                <a:latin typeface="Comic Sans MS"/>
                <a:ea typeface="Comic Sans MS"/>
                <a:cs typeface="Comic Sans MS"/>
                <a:sym typeface="Comic Sans MS"/>
              </a:rPr>
              <a:t>Sterilizing</a:t>
            </a:r>
            <a:endParaRPr/>
          </a:p>
          <a:p>
            <a:pPr indent="-361950" lvl="0" marL="361950" marR="0" rtl="0" algn="l">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Gamma rays are used to sterilize </a:t>
            </a:r>
            <a:endParaRPr/>
          </a:p>
          <a:p>
            <a:pPr indent="-361950" lvl="0" marL="361950" marR="0" rtl="0" algn="l">
              <a:spcBef>
                <a:spcPts val="0"/>
              </a:spcBef>
              <a:spcAft>
                <a:spcPts val="0"/>
              </a:spcAft>
              <a:buClr>
                <a:srgbClr val="000066"/>
              </a:buClr>
              <a:buSzPts val="2400"/>
              <a:buFont typeface="Noto Sans Symbols"/>
              <a:buNone/>
            </a:pPr>
            <a:r>
              <a:rPr lang="en-GB" sz="2400">
                <a:solidFill>
                  <a:srgbClr val="000066"/>
                </a:solidFill>
                <a:latin typeface="Comic Sans MS"/>
                <a:ea typeface="Comic Sans MS"/>
                <a:cs typeface="Comic Sans MS"/>
                <a:sym typeface="Comic Sans MS"/>
              </a:rPr>
              <a:t>	medical equipment because they are highly penetrating and kill all living cells.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49"/>
          <p:cNvSpPr txBox="1"/>
          <p:nvPr>
            <p:ph type="title"/>
          </p:nvPr>
        </p:nvSpPr>
        <p:spPr>
          <a:xfrm>
            <a:off x="490024" y="-311531"/>
            <a:ext cx="1159295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omic Sans MS"/>
              <a:buNone/>
            </a:pPr>
            <a:r>
              <a:rPr lang="en-GB" sz="4000">
                <a:latin typeface="Comic Sans MS"/>
                <a:ea typeface="Comic Sans MS"/>
                <a:cs typeface="Comic Sans MS"/>
                <a:sym typeface="Comic Sans MS"/>
              </a:rPr>
              <a:t>How can gamma rays be used to treat cancer?</a:t>
            </a:r>
            <a:endParaRPr/>
          </a:p>
        </p:txBody>
      </p:sp>
      <p:sp>
        <p:nvSpPr>
          <p:cNvPr id="699" name="Google Shape;699;p49"/>
          <p:cNvSpPr txBox="1"/>
          <p:nvPr/>
        </p:nvSpPr>
        <p:spPr>
          <a:xfrm>
            <a:off x="171729" y="784226"/>
            <a:ext cx="1140598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CC"/>
              </a:buClr>
              <a:buSzPts val="2400"/>
              <a:buFont typeface="Comic Sans MS"/>
              <a:buNone/>
            </a:pPr>
            <a:r>
              <a:rPr b="1" lang="en-GB" sz="2400">
                <a:solidFill>
                  <a:srgbClr val="CC00CC"/>
                </a:solidFill>
                <a:latin typeface="Comic Sans MS"/>
                <a:ea typeface="Comic Sans MS"/>
                <a:cs typeface="Comic Sans MS"/>
                <a:sym typeface="Comic Sans MS"/>
              </a:rPr>
              <a:t>Radiotherapy</a:t>
            </a:r>
            <a:r>
              <a:rPr lang="en-GB" sz="2400">
                <a:solidFill>
                  <a:schemeClr val="dk1"/>
                </a:solidFill>
                <a:latin typeface="Comic Sans MS"/>
                <a:ea typeface="Comic Sans MS"/>
                <a:cs typeface="Comic Sans MS"/>
                <a:sym typeface="Comic Sans MS"/>
              </a:rPr>
              <a:t> is the use of high-energy ionizing radiation, such as gamma rays, to kill cancer cells.</a:t>
            </a:r>
            <a:endParaRPr/>
          </a:p>
        </p:txBody>
      </p:sp>
      <p:sp>
        <p:nvSpPr>
          <p:cNvPr id="700" name="Google Shape;700;p49"/>
          <p:cNvSpPr txBox="1"/>
          <p:nvPr/>
        </p:nvSpPr>
        <p:spPr>
          <a:xfrm>
            <a:off x="171729" y="1788548"/>
            <a:ext cx="6114771"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The radiation dose may come from a radioactive source in a machine outside the body, which directs a beam of radiation at the cancer cells.</a:t>
            </a:r>
            <a:endParaRPr/>
          </a:p>
        </p:txBody>
      </p:sp>
      <p:pic>
        <p:nvPicPr>
          <p:cNvPr descr="m705044" id="701" name="Google Shape;701;p49"/>
          <p:cNvPicPr preferRelativeResize="0"/>
          <p:nvPr/>
        </p:nvPicPr>
        <p:blipFill rotWithShape="1">
          <a:blip r:embed="rId3">
            <a:alphaModFix/>
          </a:blip>
          <a:srcRect b="0" l="0" r="0" t="0"/>
          <a:stretch/>
        </p:blipFill>
        <p:spPr>
          <a:xfrm>
            <a:off x="6701253" y="1212160"/>
            <a:ext cx="5340692" cy="3663963"/>
          </a:xfrm>
          <a:prstGeom prst="rect">
            <a:avLst/>
          </a:prstGeom>
          <a:noFill/>
          <a:ln>
            <a:noFill/>
          </a:ln>
        </p:spPr>
      </p:pic>
      <p:sp>
        <p:nvSpPr>
          <p:cNvPr id="702" name="Google Shape;702;p49"/>
          <p:cNvSpPr txBox="1"/>
          <p:nvPr/>
        </p:nvSpPr>
        <p:spPr>
          <a:xfrm>
            <a:off x="171729" y="4848266"/>
            <a:ext cx="8394700" cy="2530476"/>
          </a:xfrm>
          <a:prstGeom prst="rect">
            <a:avLst/>
          </a:prstGeom>
          <a:noFill/>
          <a:ln>
            <a:noFill/>
          </a:ln>
        </p:spPr>
        <p:txBody>
          <a:bodyPr anchorCtr="0" anchor="t" bIns="45700" lIns="91425" spcFirstLastPara="1" rIns="91425" wrap="square" tIns="45700">
            <a:spAutoFit/>
          </a:bodyPr>
          <a:lstStyle/>
          <a:p>
            <a:pPr indent="-355600" lvl="0" marL="355600" marR="0" rtl="0" algn="l">
              <a:lnSpc>
                <a:spcPct val="100000"/>
              </a:lnSpc>
              <a:spcBef>
                <a:spcPts val="0"/>
              </a:spcBef>
              <a:spcAft>
                <a:spcPts val="0"/>
              </a:spcAft>
              <a:buClr>
                <a:srgbClr val="000066"/>
              </a:buClr>
              <a:buSzPts val="2400"/>
              <a:buFont typeface="Comic Sans MS"/>
              <a:buNone/>
            </a:pPr>
            <a:r>
              <a:rPr lang="en-GB" sz="2400">
                <a:solidFill>
                  <a:srgbClr val="000066"/>
                </a:solidFill>
                <a:latin typeface="Comic Sans MS"/>
                <a:ea typeface="Comic Sans MS"/>
                <a:cs typeface="Comic Sans MS"/>
                <a:sym typeface="Comic Sans MS"/>
              </a:rPr>
              <a:t>Steps to reduce the effects on healthy tissue include:</a:t>
            </a:r>
            <a:endParaRPr/>
          </a:p>
          <a:p>
            <a:pPr indent="-355600" lvl="0" marL="355600" marR="0" rtl="0" algn="l">
              <a:lnSpc>
                <a:spcPct val="100000"/>
              </a:lnSpc>
              <a:spcBef>
                <a:spcPts val="480"/>
              </a:spcBef>
              <a:spcAft>
                <a:spcPts val="0"/>
              </a:spcAft>
              <a:buNone/>
            </a:pPr>
            <a:r>
              <a:rPr b="1" lang="en-GB" sz="2400">
                <a:solidFill>
                  <a:srgbClr val="CC00CC"/>
                </a:solidFill>
                <a:latin typeface="Comic Sans MS"/>
                <a:ea typeface="Comic Sans MS"/>
                <a:cs typeface="Comic Sans MS"/>
                <a:sym typeface="Comic Sans MS"/>
              </a:rPr>
              <a:t>splitting the radiation dose</a:t>
            </a:r>
            <a:r>
              <a:rPr lang="en-GB" sz="2400">
                <a:solidFill>
                  <a:srgbClr val="000066"/>
                </a:solidFill>
                <a:latin typeface="Comic Sans MS"/>
                <a:ea typeface="Comic Sans MS"/>
                <a:cs typeface="Comic Sans MS"/>
                <a:sym typeface="Comic Sans MS"/>
              </a:rPr>
              <a:t> into a number of treatments; </a:t>
            </a:r>
            <a:endParaRPr/>
          </a:p>
          <a:p>
            <a:pPr indent="-355600" lvl="0" marL="355600" marR="0" rtl="0" algn="l">
              <a:spcBef>
                <a:spcPts val="480"/>
              </a:spcBef>
              <a:spcAft>
                <a:spcPts val="0"/>
              </a:spcAft>
              <a:buNone/>
            </a:pPr>
            <a:r>
              <a:rPr b="1" lang="en-GB" sz="2400">
                <a:solidFill>
                  <a:srgbClr val="CC00CC"/>
                </a:solidFill>
                <a:latin typeface="Comic Sans MS"/>
                <a:ea typeface="Comic Sans MS"/>
                <a:cs typeface="Comic Sans MS"/>
                <a:sym typeface="Comic Sans MS"/>
              </a:rPr>
              <a:t>rotating the beam</a:t>
            </a:r>
            <a:r>
              <a:rPr lang="en-GB" sz="2400">
                <a:solidFill>
                  <a:srgbClr val="000066"/>
                </a:solidFill>
                <a:latin typeface="Comic Sans MS"/>
                <a:ea typeface="Comic Sans MS"/>
                <a:cs typeface="Comic Sans MS"/>
                <a:sym typeface="Comic Sans MS"/>
              </a:rPr>
              <a:t> of radiation so that healthy cells receive a lower dose than the cancer cells. </a:t>
            </a:r>
            <a:endParaRPr/>
          </a:p>
          <a:p>
            <a:pPr indent="-355600" lvl="0" marL="355600" marR="0" rtl="0" algn="l">
              <a:lnSpc>
                <a:spcPct val="100000"/>
              </a:lnSpc>
              <a:spcBef>
                <a:spcPts val="480"/>
              </a:spcBef>
              <a:spcAft>
                <a:spcPts val="0"/>
              </a:spcAft>
              <a:buNone/>
            </a:pPr>
            <a:r>
              <a:t/>
            </a:r>
            <a:endParaRPr sz="2400">
              <a:solidFill>
                <a:srgbClr val="000066"/>
              </a:solidFill>
              <a:latin typeface="Comic Sans MS"/>
              <a:ea typeface="Comic Sans MS"/>
              <a:cs typeface="Comic Sans MS"/>
              <a:sym typeface="Comic Sans MS"/>
            </a:endParaRPr>
          </a:p>
        </p:txBody>
      </p:sp>
      <p:sp>
        <p:nvSpPr>
          <p:cNvPr id="703" name="Google Shape;703;p49"/>
          <p:cNvSpPr/>
          <p:nvPr/>
        </p:nvSpPr>
        <p:spPr>
          <a:xfrm>
            <a:off x="171730" y="3481388"/>
            <a:ext cx="6263996" cy="784830"/>
          </a:xfrm>
          <a:prstGeom prst="rect">
            <a:avLst/>
          </a:prstGeom>
          <a:noFill/>
          <a:ln>
            <a:noFill/>
          </a:ln>
        </p:spPr>
        <p:txBody>
          <a:bodyPr anchorCtr="0" anchor="t" bIns="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lang="en-GB" sz="2400">
                <a:solidFill>
                  <a:schemeClr val="dk1"/>
                </a:solidFill>
                <a:latin typeface="Comic Sans MS"/>
                <a:ea typeface="Comic Sans MS"/>
                <a:cs typeface="Comic Sans MS"/>
                <a:sym typeface="Comic Sans MS"/>
              </a:rPr>
              <a:t>Healthy cells can also be affected by the radiation applied to the body.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0"/>
          <p:cNvSpPr txBox="1"/>
          <p:nvPr>
            <p:ph type="title"/>
          </p:nvPr>
        </p:nvSpPr>
        <p:spPr>
          <a:xfrm>
            <a:off x="915474" y="-29271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omic Sans MS"/>
              <a:buNone/>
            </a:pPr>
            <a:r>
              <a:rPr lang="en-GB">
                <a:latin typeface="Comic Sans MS"/>
                <a:ea typeface="Comic Sans MS"/>
                <a:cs typeface="Comic Sans MS"/>
                <a:sym typeface="Comic Sans MS"/>
              </a:rPr>
              <a:t>How do ionizing waves affect humans?</a:t>
            </a:r>
            <a:endParaRPr/>
          </a:p>
        </p:txBody>
      </p:sp>
      <p:sp>
        <p:nvSpPr>
          <p:cNvPr id="711" name="Google Shape;711;p50"/>
          <p:cNvSpPr txBox="1"/>
          <p:nvPr/>
        </p:nvSpPr>
        <p:spPr>
          <a:xfrm>
            <a:off x="231820" y="784226"/>
            <a:ext cx="1177041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10066"/>
                </a:solidFill>
                <a:latin typeface="Comic Sans MS"/>
                <a:ea typeface="Comic Sans MS"/>
                <a:cs typeface="Comic Sans MS"/>
                <a:sym typeface="Comic Sans MS"/>
              </a:rPr>
              <a:t>Ionizing waves</a:t>
            </a:r>
            <a:r>
              <a:rPr lang="en-GB" sz="2400">
                <a:solidFill>
                  <a:srgbClr val="000066"/>
                </a:solidFill>
                <a:latin typeface="Comic Sans MS"/>
                <a:ea typeface="Comic Sans MS"/>
                <a:cs typeface="Comic Sans MS"/>
                <a:sym typeface="Comic Sans MS"/>
              </a:rPr>
              <a:t> have enough energy to ionize the atoms in materials. These waves can have a severe effect on living tissue by killing cells or damaging DNA.</a:t>
            </a:r>
            <a:endParaRPr/>
          </a:p>
        </p:txBody>
      </p:sp>
      <p:pic>
        <p:nvPicPr>
          <p:cNvPr descr="PC4_gfx_X-ray" id="712" name="Google Shape;712;p50"/>
          <p:cNvPicPr preferRelativeResize="0"/>
          <p:nvPr/>
        </p:nvPicPr>
        <p:blipFill rotWithShape="1">
          <a:blip r:embed="rId3">
            <a:alphaModFix/>
          </a:blip>
          <a:srcRect b="0" l="0" r="0" t="0"/>
          <a:stretch/>
        </p:blipFill>
        <p:spPr>
          <a:xfrm>
            <a:off x="562825" y="3471864"/>
            <a:ext cx="1571625" cy="1666875"/>
          </a:xfrm>
          <a:prstGeom prst="rect">
            <a:avLst/>
          </a:prstGeom>
          <a:noFill/>
          <a:ln>
            <a:noFill/>
          </a:ln>
        </p:spPr>
      </p:pic>
      <p:pic>
        <p:nvPicPr>
          <p:cNvPr descr="radioActive" id="713" name="Google Shape;713;p50"/>
          <p:cNvPicPr preferRelativeResize="0"/>
          <p:nvPr/>
        </p:nvPicPr>
        <p:blipFill rotWithShape="1">
          <a:blip r:embed="rId4">
            <a:alphaModFix/>
          </a:blip>
          <a:srcRect b="0" l="0" r="0" t="0"/>
          <a:stretch/>
        </p:blipFill>
        <p:spPr>
          <a:xfrm>
            <a:off x="604100" y="5268914"/>
            <a:ext cx="1490663" cy="1184275"/>
          </a:xfrm>
          <a:prstGeom prst="rect">
            <a:avLst/>
          </a:prstGeom>
          <a:noFill/>
          <a:ln>
            <a:noFill/>
          </a:ln>
        </p:spPr>
      </p:pic>
      <p:pic>
        <p:nvPicPr>
          <p:cNvPr descr="PC7_tanningbed" id="714" name="Google Shape;714;p50"/>
          <p:cNvPicPr preferRelativeResize="0"/>
          <p:nvPr/>
        </p:nvPicPr>
        <p:blipFill rotWithShape="1">
          <a:blip r:embed="rId5">
            <a:alphaModFix/>
          </a:blip>
          <a:srcRect b="0" l="0" r="0" t="0"/>
          <a:stretch/>
        </p:blipFill>
        <p:spPr>
          <a:xfrm>
            <a:off x="697763" y="2035176"/>
            <a:ext cx="1303337" cy="1446213"/>
          </a:xfrm>
          <a:prstGeom prst="rect">
            <a:avLst/>
          </a:prstGeom>
          <a:noFill/>
          <a:ln>
            <a:noFill/>
          </a:ln>
        </p:spPr>
      </p:pic>
      <p:sp>
        <p:nvSpPr>
          <p:cNvPr id="715" name="Google Shape;715;p50"/>
          <p:cNvSpPr txBox="1"/>
          <p:nvPr/>
        </p:nvSpPr>
        <p:spPr>
          <a:xfrm>
            <a:off x="2440838" y="2030413"/>
            <a:ext cx="9561394" cy="1200329"/>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Ultraviolet rays</a:t>
            </a:r>
            <a:r>
              <a:rPr lang="en-GB" sz="2400">
                <a:solidFill>
                  <a:srgbClr val="000066"/>
                </a:solidFill>
                <a:latin typeface="Comic Sans MS"/>
                <a:ea typeface="Comic Sans MS"/>
                <a:cs typeface="Comic Sans MS"/>
                <a:sym typeface="Comic Sans MS"/>
              </a:rPr>
              <a:t> are absorbed by the body. Skin tissues can be ionized and damaged by the shortest-wavelength ultraviolet radiation causing skin cancer.</a:t>
            </a:r>
            <a:endParaRPr/>
          </a:p>
        </p:txBody>
      </p:sp>
      <p:sp>
        <p:nvSpPr>
          <p:cNvPr id="716" name="Google Shape;716;p50"/>
          <p:cNvSpPr txBox="1"/>
          <p:nvPr/>
        </p:nvSpPr>
        <p:spPr>
          <a:xfrm>
            <a:off x="2440838" y="3619500"/>
            <a:ext cx="9724619" cy="1200329"/>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X-rays</a:t>
            </a:r>
            <a:r>
              <a:rPr lang="en-GB" sz="2400">
                <a:solidFill>
                  <a:srgbClr val="000066"/>
                </a:solidFill>
                <a:latin typeface="Comic Sans MS"/>
                <a:ea typeface="Comic Sans MS"/>
                <a:cs typeface="Comic Sans MS"/>
                <a:sym typeface="Comic Sans MS"/>
              </a:rPr>
              <a:t> pass through soft body tissue, such as skin and muscle, without being absorbed. Denser tissue, such as bone, absorb some X-rays and can be ionized.</a:t>
            </a:r>
            <a:endParaRPr/>
          </a:p>
        </p:txBody>
      </p:sp>
      <p:sp>
        <p:nvSpPr>
          <p:cNvPr id="717" name="Google Shape;717;p50"/>
          <p:cNvSpPr txBox="1"/>
          <p:nvPr/>
        </p:nvSpPr>
        <p:spPr>
          <a:xfrm>
            <a:off x="2440838" y="5233989"/>
            <a:ext cx="9214542" cy="830997"/>
          </a:xfrm>
          <a:prstGeom prst="rect">
            <a:avLst/>
          </a:prstGeom>
          <a:noFill/>
          <a:ln>
            <a:noFill/>
          </a:ln>
        </p:spPr>
        <p:txBody>
          <a:bodyPr anchorCtr="0" anchor="t" bIns="45700" lIns="91425" spcFirstLastPara="1" rIns="91425" wrap="square" tIns="45700">
            <a:spAutoFit/>
          </a:bodyPr>
          <a:lstStyle/>
          <a:p>
            <a:pPr indent="-355600" lvl="0" marL="355600" marR="0" rtl="0" algn="l">
              <a:spcBef>
                <a:spcPts val="0"/>
              </a:spcBef>
              <a:spcAft>
                <a:spcPts val="0"/>
              </a:spcAft>
              <a:buClr>
                <a:srgbClr val="CC00CC"/>
              </a:buClr>
              <a:buSzPts val="2400"/>
              <a:buFont typeface="Noto Sans Symbols"/>
              <a:buChar char="●"/>
            </a:pPr>
            <a:r>
              <a:rPr b="1" lang="en-GB" sz="2400">
                <a:solidFill>
                  <a:srgbClr val="CC00CC"/>
                </a:solidFill>
                <a:latin typeface="Comic Sans MS"/>
                <a:ea typeface="Comic Sans MS"/>
                <a:cs typeface="Comic Sans MS"/>
                <a:sym typeface="Comic Sans MS"/>
              </a:rPr>
              <a:t>Gamma rays</a:t>
            </a:r>
            <a:r>
              <a:rPr lang="en-GB" sz="2400">
                <a:solidFill>
                  <a:srgbClr val="000066"/>
                </a:solidFill>
                <a:latin typeface="Comic Sans MS"/>
                <a:ea typeface="Comic Sans MS"/>
                <a:cs typeface="Comic Sans MS"/>
                <a:sym typeface="Comic Sans MS"/>
              </a:rPr>
              <a:t> pass through the body but very high energy waves can ionize atoms in living tissue.</a:t>
            </a:r>
            <a:endParaRPr/>
          </a:p>
        </p:txBody>
      </p:sp>
      <p:sp>
        <p:nvSpPr>
          <p:cNvPr id="718" name="Google Shape;718;p50"/>
          <p:cNvSpPr txBox="1"/>
          <p:nvPr/>
        </p:nvSpPr>
        <p:spPr>
          <a:xfrm>
            <a:off x="5693492" y="6064986"/>
            <a:ext cx="5961888" cy="646331"/>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NOTE: We will look more closely at this LATER in the</a:t>
            </a:r>
            <a:endParaRPr/>
          </a:p>
          <a:p>
            <a:pPr indent="0" lvl="0" marL="0" marR="0" rtl="0" algn="l">
              <a:spcBef>
                <a:spcPts val="0"/>
              </a:spcBef>
              <a:spcAft>
                <a:spcPts val="0"/>
              </a:spcAft>
              <a:buNone/>
            </a:pPr>
            <a:r>
              <a:rPr lang="en-GB" sz="1800">
                <a:solidFill>
                  <a:schemeClr val="dk1"/>
                </a:solidFill>
                <a:latin typeface="Comic Sans MS"/>
                <a:ea typeface="Comic Sans MS"/>
                <a:cs typeface="Comic Sans MS"/>
                <a:sym typeface="Comic Sans MS"/>
              </a:rPr>
              <a:t>Term!!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500"/>
                                        <p:tgtEl>
                                          <p:spTgt spid="7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1"/>
          <p:cNvSpPr txBox="1"/>
          <p:nvPr>
            <p:ph type="title"/>
          </p:nvPr>
        </p:nvSpPr>
        <p:spPr>
          <a:xfrm>
            <a:off x="828675" y="-240182"/>
            <a:ext cx="1123927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omic Sans MS"/>
              <a:buNone/>
            </a:pPr>
            <a:r>
              <a:rPr lang="en-GB" sz="4000">
                <a:latin typeface="Comic Sans MS"/>
                <a:ea typeface="Comic Sans MS"/>
                <a:cs typeface="Comic Sans MS"/>
                <a:sym typeface="Comic Sans MS"/>
              </a:rPr>
              <a:t>Whiteboard Activity: Arrange the EM Waves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2"/>
          <p:cNvSpPr txBox="1"/>
          <p:nvPr>
            <p:ph type="title"/>
          </p:nvPr>
        </p:nvSpPr>
        <p:spPr>
          <a:xfrm>
            <a:off x="541986" y="-1822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mic Sans MS"/>
              <a:buNone/>
            </a:pPr>
            <a:r>
              <a:rPr lang="en-GB" sz="3600">
                <a:latin typeface="Comic Sans MS"/>
                <a:ea typeface="Comic Sans MS"/>
                <a:cs typeface="Comic Sans MS"/>
                <a:sym typeface="Comic Sans MS"/>
              </a:rPr>
              <a:t>Whiteboard Activity: Match the EM Waves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2016-10-06T10:06:42Z</dcterms:created>
  <dc:creator>Summers, Simone 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0x0101000A11265E36BA1543ABC281ABABBF4963</vt:lpwstr>
  </property>
</Properties>
</file>