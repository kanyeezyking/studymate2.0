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BDE2C15-C281-4C8F-A411-1BF72326F33B}">
  <a:tblStyle styleId="{ABDE2C15-C281-4C8F-A411-1BF72326F33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30" name="Shape 30"/>
        <p:cNvGrpSpPr/>
        <p:nvPr/>
      </p:nvGrpSpPr>
      <p:grpSpPr>
        <a:xfrm>
          <a:off x="0" y="0"/>
          <a:ext cx="0" cy="0"/>
          <a:chOff x="0" y="0"/>
          <a:chExt cx="0" cy="0"/>
        </a:xfrm>
      </p:grpSpPr>
      <p:sp>
        <p:nvSpPr>
          <p:cNvPr id="31" name="Google Shape;31;p5"/>
          <p:cNvSpPr txBox="1"/>
          <p:nvPr>
            <p:ph type="title"/>
          </p:nvPr>
        </p:nvSpPr>
        <p:spPr>
          <a:xfrm>
            <a:off x="838200" y="365126"/>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5"/>
          <p:cNvSpPr/>
          <p:nvPr>
            <p:ph idx="2" type="tbl"/>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0" name="Shape 40"/>
        <p:cNvGrpSpPr/>
        <p:nvPr/>
      </p:nvGrpSpPr>
      <p:grpSpPr>
        <a:xfrm>
          <a:off x="0" y="0"/>
          <a:ext cx="0" cy="0"/>
          <a:chOff x="0" y="0"/>
          <a:chExt cx="0" cy="0"/>
        </a:xfrm>
      </p:grpSpPr>
      <p:sp>
        <p:nvSpPr>
          <p:cNvPr id="41" name="Google Shape;41;p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3" name="Google Shape;43;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6" name="Shape 46"/>
        <p:cNvGrpSpPr/>
        <p:nvPr/>
      </p:nvGrpSpPr>
      <p:grpSpPr>
        <a:xfrm>
          <a:off x="0" y="0"/>
          <a:ext cx="0" cy="0"/>
          <a:chOff x="0" y="0"/>
          <a:chExt cx="0" cy="0"/>
        </a:xfrm>
      </p:grpSpPr>
      <p:sp>
        <p:nvSpPr>
          <p:cNvPr id="47" name="Google Shape;47;p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9" name="Google Shape;49;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2" name="Shape 52"/>
        <p:cNvGrpSpPr/>
        <p:nvPr/>
      </p:nvGrpSpPr>
      <p:grpSpPr>
        <a:xfrm>
          <a:off x="0" y="0"/>
          <a:ext cx="0" cy="0"/>
          <a:chOff x="0" y="0"/>
          <a:chExt cx="0" cy="0"/>
        </a:xfrm>
      </p:grpSpPr>
      <p:sp>
        <p:nvSpPr>
          <p:cNvPr id="53" name="Google Shape;53;p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5" name="Google Shape;55;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7" name="Google Shape;57;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4" name="Google Shape;64;p1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8" name="Shape 68"/>
        <p:cNvGrpSpPr/>
        <p:nvPr/>
      </p:nvGrpSpPr>
      <p:grpSpPr>
        <a:xfrm>
          <a:off x="0" y="0"/>
          <a:ext cx="0" cy="0"/>
          <a:chOff x="0" y="0"/>
          <a:chExt cx="0" cy="0"/>
        </a:xfrm>
      </p:grpSpPr>
      <p:sp>
        <p:nvSpPr>
          <p:cNvPr id="69" name="Google Shape;69;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p:nvPr>
            <p:ph idx="2" type="pic"/>
          </p:nvPr>
        </p:nvSpPr>
        <p:spPr>
          <a:xfrm>
            <a:off x="5183188" y="987425"/>
            <a:ext cx="6172200" cy="4873625"/>
          </a:xfrm>
          <a:prstGeom prst="rect">
            <a:avLst/>
          </a:prstGeom>
          <a:noFill/>
          <a:ln>
            <a:noFill/>
          </a:ln>
        </p:spPr>
      </p:sp>
      <p:sp>
        <p:nvSpPr>
          <p:cNvPr id="71" name="Google Shape;71;p1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2" name="Google Shape;72;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5" name="Shape 75"/>
        <p:cNvGrpSpPr/>
        <p:nvPr/>
      </p:nvGrpSpPr>
      <p:grpSpPr>
        <a:xfrm>
          <a:off x="0" y="0"/>
          <a:ext cx="0" cy="0"/>
          <a:chOff x="0" y="0"/>
          <a:chExt cx="0" cy="0"/>
        </a:xfrm>
      </p:grpSpPr>
      <p:sp>
        <p:nvSpPr>
          <p:cNvPr id="76" name="Google Shape;76;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1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1" name="Shape 81"/>
        <p:cNvGrpSpPr/>
        <p:nvPr/>
      </p:nvGrpSpPr>
      <p:grpSpPr>
        <a:xfrm>
          <a:off x="0" y="0"/>
          <a:ext cx="0" cy="0"/>
          <a:chOff x="0" y="0"/>
          <a:chExt cx="0" cy="0"/>
        </a:xfrm>
      </p:grpSpPr>
      <p:sp>
        <p:nvSpPr>
          <p:cNvPr id="82" name="Google Shape;82;p1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jp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jp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p:nvPr/>
        </p:nvSpPr>
        <p:spPr>
          <a:xfrm>
            <a:off x="5013857" y="189886"/>
            <a:ext cx="5678644" cy="1624185"/>
          </a:xfrm>
          <a:prstGeom prst="rect">
            <a:avLst/>
          </a:prstGeom>
        </p:spPr>
        <p:txBody>
          <a:bodyPr>
            <a:prstTxWarp prst="textPlain"/>
          </a:bodyPr>
          <a:lstStyle/>
          <a:p>
            <a:pPr lvl="0" algn="l"/>
            <a:r>
              <a:rPr b="0" i="0">
                <a:ln>
                  <a:noFill/>
                </a:ln>
                <a:gradFill>
                  <a:gsLst>
                    <a:gs pos="0">
                      <a:srgbClr val="FFFF00"/>
                    </a:gs>
                    <a:gs pos="100000">
                      <a:srgbClr val="FF9933"/>
                    </a:gs>
                  </a:gsLst>
                  <a:path path="circle">
                    <a:fillToRect b="50%" l="50%" r="50%" t="50%"/>
                  </a:path>
                  <a:tileRect/>
                </a:gradFill>
                <a:latin typeface="Arial"/>
              </a:rPr>
              <a:t>Electricity</a:t>
            </a:r>
          </a:p>
        </p:txBody>
      </p:sp>
      <p:sp>
        <p:nvSpPr>
          <p:cNvPr id="92" name="Google Shape;92;p14"/>
          <p:cNvSpPr txBox="1"/>
          <p:nvPr/>
        </p:nvSpPr>
        <p:spPr>
          <a:xfrm>
            <a:off x="863099" y="4043411"/>
            <a:ext cx="10939800" cy="2247300"/>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None/>
            </a:pPr>
            <a:r>
              <a:rPr i="0" lang="en-GB" sz="2800" u="sng" cap="none" strike="noStrike">
                <a:solidFill>
                  <a:srgbClr val="FFFF00"/>
                </a:solidFill>
              </a:rPr>
              <a:t>Learning Objectives:</a:t>
            </a:r>
            <a:endParaRPr/>
          </a:p>
          <a:p>
            <a:pPr indent="-457200" lvl="0" marL="457200" marR="0" rtl="0" algn="l">
              <a:spcBef>
                <a:spcPts val="0"/>
              </a:spcBef>
              <a:spcAft>
                <a:spcPts val="0"/>
              </a:spcAft>
              <a:buNone/>
            </a:pPr>
            <a:r>
              <a:t/>
            </a:r>
            <a:endParaRPr i="0" sz="2800" u="sng" cap="none" strike="noStrike">
              <a:solidFill>
                <a:srgbClr val="FFFF00"/>
              </a:solidFill>
            </a:endParaRPr>
          </a:p>
          <a:p>
            <a:pPr indent="-514350" lvl="0" marL="514350" marR="0" rtl="0" algn="l">
              <a:spcBef>
                <a:spcPts val="0"/>
              </a:spcBef>
              <a:spcAft>
                <a:spcPts val="0"/>
              </a:spcAft>
              <a:buClr>
                <a:srgbClr val="FFFF00"/>
              </a:buClr>
              <a:buSzPts val="2800"/>
              <a:buAutoNum type="arabicPeriod"/>
            </a:pPr>
            <a:r>
              <a:rPr i="0" lang="en-GB" sz="2800" u="none" cap="none" strike="noStrike">
                <a:solidFill>
                  <a:srgbClr val="FFFF00"/>
                </a:solidFill>
              </a:rPr>
              <a:t>To understand the difference between voltage and current.</a:t>
            </a:r>
            <a:endParaRPr i="0" sz="2800" u="none" cap="none" strike="noStrike">
              <a:solidFill>
                <a:srgbClr val="FFFF00"/>
              </a:solidFill>
            </a:endParaRPr>
          </a:p>
          <a:p>
            <a:pPr indent="-514350" lvl="0" marL="514350" marR="0" rtl="0" algn="l">
              <a:spcBef>
                <a:spcPts val="0"/>
              </a:spcBef>
              <a:spcAft>
                <a:spcPts val="0"/>
              </a:spcAft>
              <a:buClr>
                <a:srgbClr val="FFFF00"/>
              </a:buClr>
              <a:buSzPts val="2800"/>
              <a:buAutoNum type="arabicPeriod"/>
            </a:pPr>
            <a:r>
              <a:rPr i="0" lang="en-GB" sz="2800" u="none" cap="none" strike="noStrike">
                <a:solidFill>
                  <a:srgbClr val="FFFF00"/>
                </a:solidFill>
              </a:rPr>
              <a:t>To identify the symbols for electrical components.</a:t>
            </a:r>
            <a:endParaRPr/>
          </a:p>
          <a:p>
            <a:pPr indent="-514350" lvl="0" marL="514350" marR="0" rtl="0" algn="l">
              <a:spcBef>
                <a:spcPts val="0"/>
              </a:spcBef>
              <a:spcAft>
                <a:spcPts val="0"/>
              </a:spcAft>
              <a:buClr>
                <a:srgbClr val="FFFF00"/>
              </a:buClr>
              <a:buSzPts val="2800"/>
              <a:buAutoNum type="arabicPeriod"/>
            </a:pPr>
            <a:r>
              <a:rPr i="0" lang="en-GB" sz="2800" u="none" cap="none" strike="noStrike">
                <a:solidFill>
                  <a:srgbClr val="FFFF00"/>
                </a:solidFill>
              </a:rPr>
              <a:t>To begin drawing circuit diagrams scientifically. </a:t>
            </a:r>
            <a:endParaRPr i="0" sz="2800" u="none" cap="none" strike="noStrike">
              <a:solidFill>
                <a:srgbClr val="FFFF00"/>
              </a:solidFill>
            </a:endParaRPr>
          </a:p>
        </p:txBody>
      </p:sp>
      <p:pic>
        <p:nvPicPr>
          <p:cNvPr id="93" name="Google Shape;93;p14"/>
          <p:cNvPicPr preferRelativeResize="0"/>
          <p:nvPr/>
        </p:nvPicPr>
        <p:blipFill rotWithShape="1">
          <a:blip r:embed="rId3">
            <a:alphaModFix/>
          </a:blip>
          <a:srcRect b="0" l="0" r="0" t="0"/>
          <a:stretch/>
        </p:blipFill>
        <p:spPr>
          <a:xfrm>
            <a:off x="5079682" y="1857375"/>
            <a:ext cx="6042477" cy="1672471"/>
          </a:xfrm>
          <a:prstGeom prst="rect">
            <a:avLst/>
          </a:prstGeom>
          <a:noFill/>
          <a:ln>
            <a:noFill/>
          </a:ln>
        </p:spPr>
      </p:pic>
      <p:pic>
        <p:nvPicPr>
          <p:cNvPr id="94" name="Google Shape;94;p14"/>
          <p:cNvPicPr preferRelativeResize="0"/>
          <p:nvPr/>
        </p:nvPicPr>
        <p:blipFill rotWithShape="1">
          <a:blip r:embed="rId4">
            <a:alphaModFix/>
          </a:blip>
          <a:srcRect b="0" l="0" r="0" t="0"/>
          <a:stretch/>
        </p:blipFill>
        <p:spPr>
          <a:xfrm>
            <a:off x="15313" y="0"/>
            <a:ext cx="4857750" cy="3714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1981200" y="188914"/>
            <a:ext cx="8229600" cy="77787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FF00"/>
              </a:buClr>
              <a:buSzPts val="4400"/>
              <a:buFont typeface="Comic Sans MS"/>
              <a:buNone/>
            </a:pPr>
            <a:r>
              <a:rPr lang="en-GB">
                <a:solidFill>
                  <a:srgbClr val="FFFF00"/>
                </a:solidFill>
                <a:latin typeface="Arial"/>
                <a:ea typeface="Arial"/>
                <a:cs typeface="Arial"/>
                <a:sym typeface="Arial"/>
              </a:rPr>
              <a:t>The 9 types of energy</a:t>
            </a:r>
            <a:endParaRPr>
              <a:latin typeface="Arial"/>
              <a:ea typeface="Arial"/>
              <a:cs typeface="Arial"/>
              <a:sym typeface="Arial"/>
            </a:endParaRPr>
          </a:p>
        </p:txBody>
      </p:sp>
      <p:sp>
        <p:nvSpPr>
          <p:cNvPr id="100" name="Google Shape;100;p15"/>
          <p:cNvSpPr txBox="1"/>
          <p:nvPr/>
        </p:nvSpPr>
        <p:spPr>
          <a:xfrm>
            <a:off x="5867400" y="1866900"/>
            <a:ext cx="20193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2400" u="none" cap="none" strike="noStrike">
              <a:solidFill>
                <a:schemeClr val="lt1"/>
              </a:solidFill>
              <a:latin typeface="Comic Sans MS"/>
              <a:ea typeface="Comic Sans MS"/>
              <a:cs typeface="Comic Sans MS"/>
              <a:sym typeface="Comic Sans MS"/>
            </a:endParaRPr>
          </a:p>
        </p:txBody>
      </p:sp>
      <p:sp>
        <p:nvSpPr>
          <p:cNvPr id="101" name="Google Shape;101;p15"/>
          <p:cNvSpPr txBox="1"/>
          <p:nvPr/>
        </p:nvSpPr>
        <p:spPr>
          <a:xfrm>
            <a:off x="399245" y="831740"/>
            <a:ext cx="11410800" cy="6557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GB" sz="3600" u="none" cap="none" strike="noStrike">
                <a:solidFill>
                  <a:schemeClr val="lt1"/>
                </a:solidFill>
              </a:rPr>
              <a:t>Starter: On your whiteboard write down the nine (9) forms of energy.</a:t>
            </a:r>
            <a:endParaRPr/>
          </a:p>
          <a:p>
            <a:pPr indent="0" lvl="0" marL="0" marR="0" rtl="0" algn="l">
              <a:spcBef>
                <a:spcPts val="0"/>
              </a:spcBef>
              <a:spcAft>
                <a:spcPts val="0"/>
              </a:spcAft>
              <a:buNone/>
            </a:pPr>
            <a:r>
              <a:rPr i="0" lang="en-GB" sz="3600" u="none" cap="none" strike="noStrike">
                <a:solidFill>
                  <a:schemeClr val="lt1"/>
                </a:solidFill>
              </a:rPr>
              <a:t>- S ________</a:t>
            </a:r>
            <a:endParaRPr/>
          </a:p>
          <a:p>
            <a:pPr indent="0" lvl="0" marL="0" marR="0" rtl="0" algn="l">
              <a:spcBef>
                <a:spcPts val="0"/>
              </a:spcBef>
              <a:spcAft>
                <a:spcPts val="0"/>
              </a:spcAft>
              <a:buNone/>
            </a:pPr>
            <a:r>
              <a:rPr i="0" lang="en-GB" sz="3600" u="none" cap="none" strike="noStrike">
                <a:solidFill>
                  <a:schemeClr val="lt1"/>
                </a:solidFill>
              </a:rPr>
              <a:t>- H ________ or T_________</a:t>
            </a:r>
            <a:endParaRPr/>
          </a:p>
          <a:p>
            <a:pPr indent="0" lvl="0" marL="0" marR="0" rtl="0" algn="l">
              <a:spcBef>
                <a:spcPts val="0"/>
              </a:spcBef>
              <a:spcAft>
                <a:spcPts val="0"/>
              </a:spcAft>
              <a:buNone/>
            </a:pPr>
            <a:r>
              <a:rPr i="0" lang="en-GB" sz="3600" u="none" cap="none" strike="noStrike">
                <a:solidFill>
                  <a:schemeClr val="lt1"/>
                </a:solidFill>
              </a:rPr>
              <a:t>- N________</a:t>
            </a:r>
            <a:endParaRPr/>
          </a:p>
          <a:p>
            <a:pPr indent="0" lvl="0" marL="0" marR="0" rtl="0" algn="l">
              <a:spcBef>
                <a:spcPts val="0"/>
              </a:spcBef>
              <a:spcAft>
                <a:spcPts val="0"/>
              </a:spcAft>
              <a:buNone/>
            </a:pPr>
            <a:r>
              <a:rPr i="0" lang="en-GB" sz="3600" u="none" cap="none" strike="noStrike">
                <a:solidFill>
                  <a:schemeClr val="lt1"/>
                </a:solidFill>
              </a:rPr>
              <a:t>- M________ or K _________</a:t>
            </a:r>
            <a:endParaRPr/>
          </a:p>
          <a:p>
            <a:pPr indent="0" lvl="0" marL="0" marR="0" rtl="0" algn="l">
              <a:spcBef>
                <a:spcPts val="0"/>
              </a:spcBef>
              <a:spcAft>
                <a:spcPts val="0"/>
              </a:spcAft>
              <a:buNone/>
            </a:pPr>
            <a:r>
              <a:rPr i="0" lang="en-GB" sz="3600" u="none" cap="none" strike="noStrike">
                <a:solidFill>
                  <a:schemeClr val="lt1"/>
                </a:solidFill>
              </a:rPr>
              <a:t>- L ________</a:t>
            </a:r>
            <a:endParaRPr/>
          </a:p>
          <a:p>
            <a:pPr indent="0" lvl="0" marL="0" marR="0" rtl="0" algn="l">
              <a:spcBef>
                <a:spcPts val="0"/>
              </a:spcBef>
              <a:spcAft>
                <a:spcPts val="0"/>
              </a:spcAft>
              <a:buNone/>
            </a:pPr>
            <a:r>
              <a:rPr i="0" lang="en-GB" sz="3600" u="none" cap="none" strike="noStrike">
                <a:solidFill>
                  <a:schemeClr val="lt1"/>
                </a:solidFill>
              </a:rPr>
              <a:t>- E________</a:t>
            </a:r>
            <a:endParaRPr/>
          </a:p>
          <a:p>
            <a:pPr indent="0" lvl="0" marL="0" marR="0" rtl="0" algn="l">
              <a:spcBef>
                <a:spcPts val="0"/>
              </a:spcBef>
              <a:spcAft>
                <a:spcPts val="0"/>
              </a:spcAft>
              <a:buNone/>
            </a:pPr>
            <a:r>
              <a:rPr i="0" lang="en-GB" sz="3600" u="none" cap="none" strike="noStrike">
                <a:solidFill>
                  <a:schemeClr val="lt1"/>
                </a:solidFill>
              </a:rPr>
              <a:t>- C_________</a:t>
            </a:r>
            <a:endParaRPr/>
          </a:p>
          <a:p>
            <a:pPr indent="0" lvl="0" marL="0" marR="0" rtl="0" algn="l">
              <a:spcBef>
                <a:spcPts val="0"/>
              </a:spcBef>
              <a:spcAft>
                <a:spcPts val="0"/>
              </a:spcAft>
              <a:buNone/>
            </a:pPr>
            <a:r>
              <a:rPr i="0" lang="en-GB" sz="3600" u="none" cap="none" strike="noStrike">
                <a:solidFill>
                  <a:schemeClr val="lt1"/>
                </a:solidFill>
              </a:rPr>
              <a:t>- G_________   P_________</a:t>
            </a:r>
            <a:endParaRPr/>
          </a:p>
          <a:p>
            <a:pPr indent="0" lvl="0" marL="0" marR="0" rtl="0" algn="l">
              <a:spcBef>
                <a:spcPts val="0"/>
              </a:spcBef>
              <a:spcAft>
                <a:spcPts val="0"/>
              </a:spcAft>
              <a:buNone/>
            </a:pPr>
            <a:r>
              <a:rPr i="0" lang="en-GB" sz="3600" u="none" cap="none" strike="noStrike">
                <a:solidFill>
                  <a:schemeClr val="lt1"/>
                </a:solidFill>
              </a:rPr>
              <a:t>- E_________   P_________</a:t>
            </a:r>
            <a:endParaRPr i="0" sz="2400" u="none" cap="none" strike="noStrike">
              <a:solidFill>
                <a:srgbClr val="00FFFF"/>
              </a:solidFill>
            </a:endParaRPr>
          </a:p>
          <a:p>
            <a:pPr indent="0" lvl="0" marL="0" marR="0" rtl="0" algn="l">
              <a:spcBef>
                <a:spcPts val="0"/>
              </a:spcBef>
              <a:spcAft>
                <a:spcPts val="0"/>
              </a:spcAft>
              <a:buNone/>
            </a:pPr>
            <a:r>
              <a:rPr b="0" i="0" lang="en-GB" sz="2400" u="none" cap="none" strike="noStrike">
                <a:solidFill>
                  <a:srgbClr val="00FFFF"/>
                </a:solidFill>
                <a:latin typeface="Comic Sans MS"/>
                <a:ea typeface="Comic Sans MS"/>
                <a:cs typeface="Comic Sans MS"/>
                <a:sym typeface="Comic Sans MS"/>
              </a:rPr>
              <a:t>        </a:t>
            </a:r>
            <a:endParaRPr b="0" i="0" sz="2400" u="none" cap="none" strike="noStrike">
              <a:solidFill>
                <a:srgbClr val="00FFFF"/>
              </a:solidFill>
              <a:latin typeface="Comic Sans MS"/>
              <a:ea typeface="Comic Sans MS"/>
              <a:cs typeface="Comic Sans MS"/>
              <a:sym typeface="Comic Sans M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type="title"/>
          </p:nvPr>
        </p:nvSpPr>
        <p:spPr>
          <a:xfrm>
            <a:off x="1981200" y="188914"/>
            <a:ext cx="8229600" cy="77787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FF00"/>
              </a:buClr>
              <a:buSzPts val="4400"/>
              <a:buFont typeface="Comic Sans MS"/>
              <a:buNone/>
            </a:pPr>
            <a:r>
              <a:rPr lang="en-GB">
                <a:solidFill>
                  <a:srgbClr val="FFFF00"/>
                </a:solidFill>
                <a:latin typeface="Arial"/>
                <a:ea typeface="Arial"/>
                <a:cs typeface="Arial"/>
                <a:sym typeface="Arial"/>
              </a:rPr>
              <a:t>The 9 types of energy</a:t>
            </a:r>
            <a:endParaRPr>
              <a:latin typeface="Arial"/>
              <a:ea typeface="Arial"/>
              <a:cs typeface="Arial"/>
              <a:sym typeface="Arial"/>
            </a:endParaRPr>
          </a:p>
        </p:txBody>
      </p:sp>
      <p:sp>
        <p:nvSpPr>
          <p:cNvPr id="107" name="Google Shape;107;p16"/>
          <p:cNvSpPr txBox="1"/>
          <p:nvPr/>
        </p:nvSpPr>
        <p:spPr>
          <a:xfrm>
            <a:off x="5867400" y="1866900"/>
            <a:ext cx="20193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2400" u="none" cap="none" strike="noStrike">
              <a:solidFill>
                <a:schemeClr val="lt1"/>
              </a:solidFill>
              <a:latin typeface="Comic Sans MS"/>
              <a:ea typeface="Comic Sans MS"/>
              <a:cs typeface="Comic Sans MS"/>
              <a:sym typeface="Comic Sans MS"/>
            </a:endParaRPr>
          </a:p>
        </p:txBody>
      </p:sp>
      <p:sp>
        <p:nvSpPr>
          <p:cNvPr id="108" name="Google Shape;108;p16"/>
          <p:cNvSpPr txBox="1"/>
          <p:nvPr/>
        </p:nvSpPr>
        <p:spPr>
          <a:xfrm>
            <a:off x="399245" y="831740"/>
            <a:ext cx="11410800" cy="6003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GB" sz="3600" u="none" cap="none" strike="noStrike">
                <a:solidFill>
                  <a:schemeClr val="lt1"/>
                </a:solidFill>
              </a:rPr>
              <a:t>In YOUR BOOK write the nine forms of energy.</a:t>
            </a:r>
            <a:endParaRPr/>
          </a:p>
          <a:p>
            <a:pPr indent="0" lvl="0" marL="0" marR="0" rtl="0" algn="l">
              <a:spcBef>
                <a:spcPts val="0"/>
              </a:spcBef>
              <a:spcAft>
                <a:spcPts val="0"/>
              </a:spcAft>
              <a:buNone/>
            </a:pPr>
            <a:r>
              <a:rPr i="0" lang="en-GB" sz="3600" u="none" cap="none" strike="noStrike">
                <a:solidFill>
                  <a:srgbClr val="FFC000"/>
                </a:solidFill>
              </a:rPr>
              <a:t>- Sound </a:t>
            </a:r>
            <a:endParaRPr/>
          </a:p>
          <a:p>
            <a:pPr indent="0" lvl="0" marL="0" marR="0" rtl="0" algn="l">
              <a:spcBef>
                <a:spcPts val="0"/>
              </a:spcBef>
              <a:spcAft>
                <a:spcPts val="0"/>
              </a:spcAft>
              <a:buNone/>
            </a:pPr>
            <a:r>
              <a:rPr i="0" lang="en-GB" sz="3600" u="none" cap="none" strike="noStrike">
                <a:solidFill>
                  <a:srgbClr val="FFC000"/>
                </a:solidFill>
              </a:rPr>
              <a:t>- Heat or Thermal</a:t>
            </a:r>
            <a:endParaRPr/>
          </a:p>
          <a:p>
            <a:pPr indent="0" lvl="0" marL="0" marR="0" rtl="0" algn="l">
              <a:spcBef>
                <a:spcPts val="0"/>
              </a:spcBef>
              <a:spcAft>
                <a:spcPts val="0"/>
              </a:spcAft>
              <a:buNone/>
            </a:pPr>
            <a:r>
              <a:rPr i="0" lang="en-GB" sz="3600" u="none" cap="none" strike="noStrike">
                <a:solidFill>
                  <a:srgbClr val="FFC000"/>
                </a:solidFill>
              </a:rPr>
              <a:t>- Nuclear</a:t>
            </a:r>
            <a:endParaRPr/>
          </a:p>
          <a:p>
            <a:pPr indent="0" lvl="0" marL="0" marR="0" rtl="0" algn="l">
              <a:spcBef>
                <a:spcPts val="0"/>
              </a:spcBef>
              <a:spcAft>
                <a:spcPts val="0"/>
              </a:spcAft>
              <a:buNone/>
            </a:pPr>
            <a:r>
              <a:rPr i="0" lang="en-GB" sz="3600" u="none" cap="none" strike="noStrike">
                <a:solidFill>
                  <a:srgbClr val="FFC000"/>
                </a:solidFill>
              </a:rPr>
              <a:t>- Movement or Kinetic</a:t>
            </a:r>
            <a:endParaRPr/>
          </a:p>
          <a:p>
            <a:pPr indent="0" lvl="0" marL="0" marR="0" rtl="0" algn="l">
              <a:spcBef>
                <a:spcPts val="0"/>
              </a:spcBef>
              <a:spcAft>
                <a:spcPts val="0"/>
              </a:spcAft>
              <a:buNone/>
            </a:pPr>
            <a:r>
              <a:rPr i="0" lang="en-GB" sz="3600" u="none" cap="none" strike="noStrike">
                <a:solidFill>
                  <a:srgbClr val="FFC000"/>
                </a:solidFill>
              </a:rPr>
              <a:t>- Light </a:t>
            </a:r>
            <a:endParaRPr/>
          </a:p>
          <a:p>
            <a:pPr indent="0" lvl="0" marL="0" marR="0" rtl="0" algn="l">
              <a:spcBef>
                <a:spcPts val="0"/>
              </a:spcBef>
              <a:spcAft>
                <a:spcPts val="0"/>
              </a:spcAft>
              <a:buNone/>
            </a:pPr>
            <a:r>
              <a:rPr i="0" lang="en-GB" sz="3600" u="none" cap="none" strike="noStrike">
                <a:solidFill>
                  <a:srgbClr val="FFC000"/>
                </a:solidFill>
              </a:rPr>
              <a:t>- Electrical</a:t>
            </a:r>
            <a:endParaRPr/>
          </a:p>
          <a:p>
            <a:pPr indent="0" lvl="0" marL="0" marR="0" rtl="0" algn="l">
              <a:spcBef>
                <a:spcPts val="0"/>
              </a:spcBef>
              <a:spcAft>
                <a:spcPts val="0"/>
              </a:spcAft>
              <a:buNone/>
            </a:pPr>
            <a:r>
              <a:rPr i="0" lang="en-GB" sz="3600" u="none" cap="none" strike="noStrike">
                <a:solidFill>
                  <a:srgbClr val="FFC000"/>
                </a:solidFill>
              </a:rPr>
              <a:t>- Chemical</a:t>
            </a:r>
            <a:endParaRPr/>
          </a:p>
          <a:p>
            <a:pPr indent="0" lvl="0" marL="0" marR="0" rtl="0" algn="l">
              <a:spcBef>
                <a:spcPts val="0"/>
              </a:spcBef>
              <a:spcAft>
                <a:spcPts val="0"/>
              </a:spcAft>
              <a:buNone/>
            </a:pPr>
            <a:r>
              <a:rPr i="0" lang="en-GB" sz="3600" u="none" cap="none" strike="noStrike">
                <a:solidFill>
                  <a:srgbClr val="FFC000"/>
                </a:solidFill>
              </a:rPr>
              <a:t>- Gravitational  Potential</a:t>
            </a:r>
            <a:endParaRPr/>
          </a:p>
          <a:p>
            <a:pPr indent="0" lvl="0" marL="0" marR="0" rtl="0" algn="l">
              <a:spcBef>
                <a:spcPts val="0"/>
              </a:spcBef>
              <a:spcAft>
                <a:spcPts val="0"/>
              </a:spcAft>
              <a:buNone/>
            </a:pPr>
            <a:r>
              <a:rPr i="0" lang="en-GB" sz="3600" u="none" cap="none" strike="noStrike">
                <a:solidFill>
                  <a:srgbClr val="FFC000"/>
                </a:solidFill>
              </a:rPr>
              <a:t>- Elastic  Potential</a:t>
            </a:r>
            <a:endParaRPr i="0" sz="2400" u="none" cap="none" strike="noStrike">
              <a:solidFill>
                <a:srgbClr val="FFC000"/>
              </a:solidFill>
            </a:endParaRPr>
          </a:p>
          <a:p>
            <a:pPr indent="0" lvl="0" marL="0" marR="0" rtl="0" algn="l">
              <a:spcBef>
                <a:spcPts val="0"/>
              </a:spcBef>
              <a:spcAft>
                <a:spcPts val="0"/>
              </a:spcAft>
              <a:buNone/>
            </a:pPr>
            <a:r>
              <a:rPr b="0" i="0" lang="en-GB" sz="2400" u="none" cap="none" strike="noStrike">
                <a:solidFill>
                  <a:srgbClr val="00FFFF"/>
                </a:solidFill>
                <a:latin typeface="Comic Sans MS"/>
                <a:ea typeface="Comic Sans MS"/>
                <a:cs typeface="Comic Sans MS"/>
                <a:sym typeface="Comic Sans MS"/>
              </a:rPr>
              <a:t>        </a:t>
            </a:r>
            <a:endParaRPr b="0" i="0" sz="2400" u="none" cap="none" strike="noStrike">
              <a:solidFill>
                <a:srgbClr val="00FFFF"/>
              </a:solidFill>
              <a:latin typeface="Comic Sans MS"/>
              <a:ea typeface="Comic Sans MS"/>
              <a:cs typeface="Comic Sans MS"/>
              <a:sym typeface="Comic Sans M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7"/>
          <p:cNvSpPr txBox="1"/>
          <p:nvPr>
            <p:ph type="title"/>
          </p:nvPr>
        </p:nvSpPr>
        <p:spPr>
          <a:xfrm>
            <a:off x="1981200" y="274638"/>
            <a:ext cx="8229600" cy="11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omic Sans MS"/>
              <a:buNone/>
            </a:pPr>
            <a:r>
              <a:rPr lang="en-GB">
                <a:solidFill>
                  <a:schemeClr val="lt1"/>
                </a:solidFill>
                <a:latin typeface="Arial"/>
                <a:ea typeface="Arial"/>
                <a:cs typeface="Arial"/>
                <a:sym typeface="Arial"/>
              </a:rPr>
              <a:t>Think:</a:t>
            </a:r>
            <a:endParaRPr>
              <a:solidFill>
                <a:schemeClr val="lt1"/>
              </a:solidFill>
              <a:latin typeface="Arial"/>
              <a:ea typeface="Arial"/>
              <a:cs typeface="Arial"/>
              <a:sym typeface="Arial"/>
            </a:endParaRPr>
          </a:p>
        </p:txBody>
      </p:sp>
      <p:sp>
        <p:nvSpPr>
          <p:cNvPr id="114" name="Google Shape;114;p17"/>
          <p:cNvSpPr txBox="1"/>
          <p:nvPr>
            <p:ph idx="1" type="body"/>
          </p:nvPr>
        </p:nvSpPr>
        <p:spPr>
          <a:xfrm>
            <a:off x="1262130" y="1081826"/>
            <a:ext cx="8948670" cy="445609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3200"/>
              <a:buChar char="•"/>
            </a:pPr>
            <a:r>
              <a:rPr lang="en-GB" sz="3200">
                <a:solidFill>
                  <a:schemeClr val="lt1"/>
                </a:solidFill>
                <a:latin typeface="Arial"/>
                <a:ea typeface="Arial"/>
                <a:cs typeface="Arial"/>
                <a:sym typeface="Arial"/>
              </a:rPr>
              <a:t>Discuss on your table all the ways you have used electricity today. (2 mins)</a:t>
            </a:r>
            <a:endParaRPr>
              <a:latin typeface="Arial"/>
              <a:ea typeface="Arial"/>
              <a:cs typeface="Arial"/>
              <a:sym typeface="Arial"/>
            </a:endParaRPr>
          </a:p>
          <a:p>
            <a:pPr indent="-228600" lvl="0" marL="228600" rtl="0" algn="l">
              <a:lnSpc>
                <a:spcPct val="90000"/>
              </a:lnSpc>
              <a:spcBef>
                <a:spcPts val="1000"/>
              </a:spcBef>
              <a:spcAft>
                <a:spcPts val="0"/>
              </a:spcAft>
              <a:buClr>
                <a:schemeClr val="lt1"/>
              </a:buClr>
              <a:buSzPts val="3200"/>
              <a:buChar char="•"/>
            </a:pPr>
            <a:r>
              <a:rPr lang="en-GB" sz="3200">
                <a:solidFill>
                  <a:schemeClr val="lt1"/>
                </a:solidFill>
                <a:latin typeface="Arial"/>
                <a:ea typeface="Arial"/>
                <a:cs typeface="Arial"/>
                <a:sym typeface="Arial"/>
              </a:rPr>
              <a:t>Make a list of these on one mini-whiteboard.</a:t>
            </a:r>
            <a:endParaRPr>
              <a:latin typeface="Arial"/>
              <a:ea typeface="Arial"/>
              <a:cs typeface="Arial"/>
              <a:sym typeface="Arial"/>
            </a:endParaRPr>
          </a:p>
          <a:p>
            <a:pPr indent="-228600" lvl="0" marL="228600" rtl="0" algn="l">
              <a:lnSpc>
                <a:spcPct val="90000"/>
              </a:lnSpc>
              <a:spcBef>
                <a:spcPts val="1000"/>
              </a:spcBef>
              <a:spcAft>
                <a:spcPts val="0"/>
              </a:spcAft>
              <a:buClr>
                <a:srgbClr val="FFFF00"/>
              </a:buClr>
              <a:buSzPts val="3200"/>
              <a:buChar char="•"/>
            </a:pPr>
            <a:r>
              <a:rPr lang="en-GB" sz="3200">
                <a:solidFill>
                  <a:srgbClr val="FFFF00"/>
                </a:solidFill>
                <a:latin typeface="Arial"/>
                <a:ea typeface="Arial"/>
                <a:cs typeface="Arial"/>
                <a:sym typeface="Arial"/>
              </a:rPr>
              <a:t>I have used electricity today when:</a:t>
            </a:r>
            <a:endParaRPr>
              <a:latin typeface="Arial"/>
              <a:ea typeface="Arial"/>
              <a:cs typeface="Arial"/>
              <a:sym typeface="Arial"/>
            </a:endParaRPr>
          </a:p>
          <a:p>
            <a:pPr indent="-228600" lvl="1" marL="685800" rtl="0" algn="l">
              <a:lnSpc>
                <a:spcPct val="90000"/>
              </a:lnSpc>
              <a:spcBef>
                <a:spcPts val="500"/>
              </a:spcBef>
              <a:spcAft>
                <a:spcPts val="0"/>
              </a:spcAft>
              <a:buClr>
                <a:srgbClr val="FFFF00"/>
              </a:buClr>
              <a:buSzPts val="2800"/>
              <a:buChar char="•"/>
            </a:pPr>
            <a:r>
              <a:rPr lang="en-GB" sz="2800">
                <a:solidFill>
                  <a:srgbClr val="FFFF00"/>
                </a:solidFill>
                <a:latin typeface="Arial"/>
                <a:ea typeface="Arial"/>
                <a:cs typeface="Arial"/>
                <a:sym typeface="Arial"/>
              </a:rPr>
              <a:t>1.</a:t>
            </a:r>
            <a:endParaRPr>
              <a:latin typeface="Arial"/>
              <a:ea typeface="Arial"/>
              <a:cs typeface="Arial"/>
              <a:sym typeface="Arial"/>
            </a:endParaRPr>
          </a:p>
          <a:p>
            <a:pPr indent="-228600" lvl="1" marL="685800" rtl="0" algn="l">
              <a:lnSpc>
                <a:spcPct val="90000"/>
              </a:lnSpc>
              <a:spcBef>
                <a:spcPts val="500"/>
              </a:spcBef>
              <a:spcAft>
                <a:spcPts val="0"/>
              </a:spcAft>
              <a:buClr>
                <a:srgbClr val="FFFF00"/>
              </a:buClr>
              <a:buSzPts val="2800"/>
              <a:buChar char="•"/>
            </a:pPr>
            <a:r>
              <a:rPr lang="en-GB" sz="2800">
                <a:solidFill>
                  <a:srgbClr val="FFFF00"/>
                </a:solidFill>
                <a:latin typeface="Arial"/>
                <a:ea typeface="Arial"/>
                <a:cs typeface="Arial"/>
                <a:sym typeface="Arial"/>
              </a:rPr>
              <a:t>2. ……. etc</a:t>
            </a:r>
            <a:endParaRPr sz="2800">
              <a:solidFill>
                <a:srgbClr val="FFFF00"/>
              </a:solidFill>
              <a:latin typeface="Arial"/>
              <a:ea typeface="Arial"/>
              <a:cs typeface="Arial"/>
              <a:sym typeface="Arial"/>
            </a:endParaRPr>
          </a:p>
          <a:p>
            <a:pPr indent="-228600" lvl="0" marL="228600" rtl="0" algn="l">
              <a:lnSpc>
                <a:spcPct val="90000"/>
              </a:lnSpc>
              <a:spcBef>
                <a:spcPts val="1000"/>
              </a:spcBef>
              <a:spcAft>
                <a:spcPts val="0"/>
              </a:spcAft>
              <a:buClr>
                <a:schemeClr val="lt1"/>
              </a:buClr>
              <a:buSzPts val="3200"/>
              <a:buChar char="•"/>
            </a:pPr>
            <a:r>
              <a:rPr lang="en-GB" sz="3200">
                <a:solidFill>
                  <a:schemeClr val="lt1"/>
                </a:solidFill>
                <a:latin typeface="Arial"/>
                <a:ea typeface="Arial"/>
                <a:cs typeface="Arial"/>
                <a:sym typeface="Arial"/>
              </a:rPr>
              <a:t>From the list indicate those that could be done </a:t>
            </a:r>
            <a:r>
              <a:rPr b="1" lang="en-GB" sz="3200">
                <a:solidFill>
                  <a:schemeClr val="lt1"/>
                </a:solidFill>
                <a:latin typeface="Arial"/>
                <a:ea typeface="Arial"/>
                <a:cs typeface="Arial"/>
                <a:sym typeface="Arial"/>
              </a:rPr>
              <a:t>without</a:t>
            </a:r>
            <a:r>
              <a:rPr lang="en-GB" sz="3200">
                <a:solidFill>
                  <a:schemeClr val="lt1"/>
                </a:solidFill>
                <a:latin typeface="Arial"/>
                <a:ea typeface="Arial"/>
                <a:cs typeface="Arial"/>
                <a:sym typeface="Arial"/>
              </a:rPr>
              <a:t> electricity, and give the alternative.  (2 mins)</a:t>
            </a:r>
            <a:endParaRPr>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8"/>
          <p:cNvSpPr txBox="1"/>
          <p:nvPr>
            <p:ph type="title"/>
          </p:nvPr>
        </p:nvSpPr>
        <p:spPr>
          <a:xfrm>
            <a:off x="1981200" y="274638"/>
            <a:ext cx="8229600" cy="11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omic Sans MS"/>
              <a:buNone/>
            </a:pPr>
            <a:r>
              <a:rPr lang="en-GB">
                <a:solidFill>
                  <a:schemeClr val="lt1"/>
                </a:solidFill>
                <a:latin typeface="Arial"/>
                <a:ea typeface="Arial"/>
                <a:cs typeface="Arial"/>
                <a:sym typeface="Arial"/>
              </a:rPr>
              <a:t>What is Electricity?</a:t>
            </a:r>
            <a:endParaRPr>
              <a:solidFill>
                <a:schemeClr val="lt1"/>
              </a:solidFill>
              <a:latin typeface="Arial"/>
              <a:ea typeface="Arial"/>
              <a:cs typeface="Arial"/>
              <a:sym typeface="Arial"/>
            </a:endParaRPr>
          </a:p>
        </p:txBody>
      </p:sp>
      <p:sp>
        <p:nvSpPr>
          <p:cNvPr id="120" name="Google Shape;120;p18"/>
          <p:cNvSpPr txBox="1"/>
          <p:nvPr>
            <p:ph idx="1" type="body"/>
          </p:nvPr>
        </p:nvSpPr>
        <p:spPr>
          <a:xfrm>
            <a:off x="566670" y="1275008"/>
            <a:ext cx="11256136" cy="537049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3600"/>
              <a:buChar char="•"/>
            </a:pPr>
            <a:r>
              <a:rPr lang="en-GB" sz="3600">
                <a:solidFill>
                  <a:schemeClr val="lt1"/>
                </a:solidFill>
                <a:latin typeface="Arial"/>
                <a:ea typeface="Arial"/>
                <a:cs typeface="Arial"/>
                <a:sym typeface="Arial"/>
              </a:rPr>
              <a:t>The clue is in the name!  </a:t>
            </a:r>
            <a:endParaRPr>
              <a:latin typeface="Arial"/>
              <a:ea typeface="Arial"/>
              <a:cs typeface="Arial"/>
              <a:sym typeface="Arial"/>
            </a:endParaRPr>
          </a:p>
          <a:p>
            <a:pPr indent="-228600" lvl="0" marL="228600" rtl="0" algn="l">
              <a:lnSpc>
                <a:spcPct val="90000"/>
              </a:lnSpc>
              <a:spcBef>
                <a:spcPts val="1000"/>
              </a:spcBef>
              <a:spcAft>
                <a:spcPts val="0"/>
              </a:spcAft>
              <a:buClr>
                <a:schemeClr val="lt1"/>
              </a:buClr>
              <a:buSzPts val="3600"/>
              <a:buChar char="•"/>
            </a:pPr>
            <a:r>
              <a:rPr lang="en-GB" sz="3600">
                <a:solidFill>
                  <a:schemeClr val="lt1"/>
                </a:solidFill>
                <a:latin typeface="Arial"/>
                <a:ea typeface="Arial"/>
                <a:cs typeface="Arial"/>
                <a:sym typeface="Arial"/>
              </a:rPr>
              <a:t>Electricity is the flow of </a:t>
            </a:r>
            <a:r>
              <a:rPr b="1" lang="en-GB" sz="3600">
                <a:solidFill>
                  <a:srgbClr val="FFFF00"/>
                </a:solidFill>
                <a:latin typeface="Arial"/>
                <a:ea typeface="Arial"/>
                <a:cs typeface="Arial"/>
                <a:sym typeface="Arial"/>
              </a:rPr>
              <a:t>electrons </a:t>
            </a:r>
            <a:r>
              <a:rPr lang="en-GB" sz="3600">
                <a:solidFill>
                  <a:schemeClr val="lt1"/>
                </a:solidFill>
                <a:latin typeface="Arial"/>
                <a:ea typeface="Arial"/>
                <a:cs typeface="Arial"/>
                <a:sym typeface="Arial"/>
              </a:rPr>
              <a:t>around a circuit (</a:t>
            </a:r>
            <a:r>
              <a:rPr lang="en-GB" sz="3600" u="sng">
                <a:solidFill>
                  <a:schemeClr val="lt1"/>
                </a:solidFill>
                <a:latin typeface="Arial"/>
                <a:ea typeface="Arial"/>
                <a:cs typeface="Arial"/>
                <a:sym typeface="Arial"/>
              </a:rPr>
              <a:t>connected conductors</a:t>
            </a:r>
            <a:r>
              <a:rPr lang="en-GB" sz="3600">
                <a:solidFill>
                  <a:schemeClr val="lt1"/>
                </a:solidFill>
                <a:latin typeface="Arial"/>
                <a:ea typeface="Arial"/>
                <a:cs typeface="Arial"/>
                <a:sym typeface="Arial"/>
              </a:rPr>
              <a:t>).  </a:t>
            </a:r>
            <a:endParaRPr>
              <a:latin typeface="Arial"/>
              <a:ea typeface="Arial"/>
              <a:cs typeface="Arial"/>
              <a:sym typeface="Arial"/>
            </a:endParaRPr>
          </a:p>
          <a:p>
            <a:pPr indent="-228600" lvl="0" marL="228600" rtl="0" algn="l">
              <a:lnSpc>
                <a:spcPct val="90000"/>
              </a:lnSpc>
              <a:spcBef>
                <a:spcPts val="1000"/>
              </a:spcBef>
              <a:spcAft>
                <a:spcPts val="0"/>
              </a:spcAft>
              <a:buClr>
                <a:schemeClr val="lt1"/>
              </a:buClr>
              <a:buSzPts val="3600"/>
              <a:buChar char="•"/>
            </a:pPr>
            <a:r>
              <a:rPr lang="en-GB" sz="3600">
                <a:solidFill>
                  <a:schemeClr val="lt1"/>
                </a:solidFill>
                <a:latin typeface="Arial"/>
                <a:ea typeface="Arial"/>
                <a:cs typeface="Arial"/>
                <a:sym typeface="Arial"/>
              </a:rPr>
              <a:t>This flow of electrons is called the electrical </a:t>
            </a:r>
            <a:r>
              <a:rPr b="1" lang="en-GB" sz="3600">
                <a:solidFill>
                  <a:srgbClr val="FFFF00"/>
                </a:solidFill>
                <a:latin typeface="Arial"/>
                <a:ea typeface="Arial"/>
                <a:cs typeface="Arial"/>
                <a:sym typeface="Arial"/>
              </a:rPr>
              <a:t>current</a:t>
            </a:r>
            <a:r>
              <a:rPr lang="en-GB" sz="3600">
                <a:solidFill>
                  <a:schemeClr val="lt1"/>
                </a:solidFill>
                <a:latin typeface="Arial"/>
                <a:ea typeface="Arial"/>
                <a:cs typeface="Arial"/>
                <a:sym typeface="Arial"/>
              </a:rPr>
              <a:t> (I) and is measured in </a:t>
            </a:r>
            <a:r>
              <a:rPr b="1" lang="en-GB" sz="3600">
                <a:solidFill>
                  <a:srgbClr val="FFFF00"/>
                </a:solidFill>
                <a:latin typeface="Arial"/>
                <a:ea typeface="Arial"/>
                <a:cs typeface="Arial"/>
                <a:sym typeface="Arial"/>
              </a:rPr>
              <a:t>amps</a:t>
            </a:r>
            <a:r>
              <a:rPr lang="en-GB" sz="3600">
                <a:solidFill>
                  <a:schemeClr val="lt1"/>
                </a:solidFill>
                <a:latin typeface="Arial"/>
                <a:ea typeface="Arial"/>
                <a:cs typeface="Arial"/>
                <a:sym typeface="Arial"/>
              </a:rPr>
              <a:t> (A) using an </a:t>
            </a:r>
            <a:r>
              <a:rPr b="1" lang="en-GB" sz="3600">
                <a:solidFill>
                  <a:srgbClr val="FFFF00"/>
                </a:solidFill>
                <a:latin typeface="Arial"/>
                <a:ea typeface="Arial"/>
                <a:cs typeface="Arial"/>
                <a:sym typeface="Arial"/>
              </a:rPr>
              <a:t>ammeter</a:t>
            </a:r>
            <a:r>
              <a:rPr lang="en-GB" sz="3600">
                <a:solidFill>
                  <a:schemeClr val="lt1"/>
                </a:solidFill>
                <a:latin typeface="Arial"/>
                <a:ea typeface="Arial"/>
                <a:cs typeface="Arial"/>
                <a:sym typeface="Arial"/>
              </a:rPr>
              <a:t>.  </a:t>
            </a:r>
            <a:endParaRPr>
              <a:latin typeface="Arial"/>
              <a:ea typeface="Arial"/>
              <a:cs typeface="Arial"/>
              <a:sym typeface="Arial"/>
            </a:endParaRPr>
          </a:p>
          <a:p>
            <a:pPr indent="-228600" lvl="0" marL="228600" rtl="0" algn="l">
              <a:lnSpc>
                <a:spcPct val="90000"/>
              </a:lnSpc>
              <a:spcBef>
                <a:spcPts val="1000"/>
              </a:spcBef>
              <a:spcAft>
                <a:spcPts val="0"/>
              </a:spcAft>
              <a:buClr>
                <a:schemeClr val="lt1"/>
              </a:buClr>
              <a:buSzPts val="3600"/>
              <a:buChar char="•"/>
            </a:pPr>
            <a:r>
              <a:rPr lang="en-GB" sz="3600">
                <a:solidFill>
                  <a:schemeClr val="lt1"/>
                </a:solidFill>
                <a:latin typeface="Arial"/>
                <a:ea typeface="Arial"/>
                <a:cs typeface="Arial"/>
                <a:sym typeface="Arial"/>
              </a:rPr>
              <a:t>The electrons are </a:t>
            </a:r>
            <a:r>
              <a:rPr i="1" lang="en-GB" sz="3600">
                <a:solidFill>
                  <a:schemeClr val="lt1"/>
                </a:solidFill>
                <a:latin typeface="Arial"/>
                <a:ea typeface="Arial"/>
                <a:cs typeface="Arial"/>
                <a:sym typeface="Arial"/>
              </a:rPr>
              <a:t>pushed</a:t>
            </a:r>
            <a:r>
              <a:rPr lang="en-GB" sz="3600">
                <a:solidFill>
                  <a:schemeClr val="lt1"/>
                </a:solidFill>
                <a:latin typeface="Arial"/>
                <a:ea typeface="Arial"/>
                <a:cs typeface="Arial"/>
                <a:sym typeface="Arial"/>
              </a:rPr>
              <a:t> around the circuit by the </a:t>
            </a:r>
            <a:r>
              <a:rPr b="1" lang="en-GB" sz="3600">
                <a:solidFill>
                  <a:srgbClr val="FFFF00"/>
                </a:solidFill>
                <a:latin typeface="Arial"/>
                <a:ea typeface="Arial"/>
                <a:cs typeface="Arial"/>
                <a:sym typeface="Arial"/>
              </a:rPr>
              <a:t>voltage </a:t>
            </a:r>
            <a:r>
              <a:rPr lang="en-GB" sz="3600">
                <a:solidFill>
                  <a:schemeClr val="lt1"/>
                </a:solidFill>
                <a:latin typeface="Arial"/>
                <a:ea typeface="Arial"/>
                <a:cs typeface="Arial"/>
                <a:sym typeface="Arial"/>
              </a:rPr>
              <a:t>(V) supplied by the </a:t>
            </a:r>
            <a:r>
              <a:rPr lang="en-GB" sz="3600" u="sng">
                <a:solidFill>
                  <a:schemeClr val="lt1"/>
                </a:solidFill>
                <a:latin typeface="Arial"/>
                <a:ea typeface="Arial"/>
                <a:cs typeface="Arial"/>
                <a:sym typeface="Arial"/>
              </a:rPr>
              <a:t>cell/battery</a:t>
            </a:r>
            <a:r>
              <a:rPr lang="en-GB" sz="3600">
                <a:solidFill>
                  <a:schemeClr val="lt1"/>
                </a:solidFill>
                <a:latin typeface="Arial"/>
                <a:ea typeface="Arial"/>
                <a:cs typeface="Arial"/>
                <a:sym typeface="Arial"/>
              </a:rPr>
              <a:t>.  Voltage is measured in </a:t>
            </a:r>
            <a:r>
              <a:rPr b="1" lang="en-GB" sz="3600">
                <a:solidFill>
                  <a:srgbClr val="FFFF00"/>
                </a:solidFill>
                <a:latin typeface="Arial"/>
                <a:ea typeface="Arial"/>
                <a:cs typeface="Arial"/>
                <a:sym typeface="Arial"/>
              </a:rPr>
              <a:t>volts</a:t>
            </a:r>
            <a:r>
              <a:rPr lang="en-GB" sz="3600">
                <a:solidFill>
                  <a:schemeClr val="lt1"/>
                </a:solidFill>
                <a:latin typeface="Arial"/>
                <a:ea typeface="Arial"/>
                <a:cs typeface="Arial"/>
                <a:sym typeface="Arial"/>
              </a:rPr>
              <a:t> (V) using a </a:t>
            </a:r>
            <a:r>
              <a:rPr b="1" lang="en-GB" sz="3600">
                <a:solidFill>
                  <a:srgbClr val="FFFF00"/>
                </a:solidFill>
                <a:latin typeface="Arial"/>
                <a:ea typeface="Arial"/>
                <a:cs typeface="Arial"/>
                <a:sym typeface="Arial"/>
              </a:rPr>
              <a:t>voltmeter</a:t>
            </a:r>
            <a:r>
              <a:rPr lang="en-GB" sz="3600">
                <a:solidFill>
                  <a:schemeClr val="lt1"/>
                </a:solidFill>
                <a:latin typeface="Arial"/>
                <a:ea typeface="Arial"/>
                <a:cs typeface="Arial"/>
                <a:sym typeface="Arial"/>
              </a:rPr>
              <a:t>.</a:t>
            </a:r>
            <a:endParaRPr>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txBox="1"/>
          <p:nvPr>
            <p:ph type="title"/>
          </p:nvPr>
        </p:nvSpPr>
        <p:spPr>
          <a:xfrm>
            <a:off x="502277" y="326153"/>
            <a:ext cx="11217498" cy="11430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Comic Sans MS"/>
              <a:buNone/>
            </a:pPr>
            <a:r>
              <a:rPr lang="en-GB">
                <a:solidFill>
                  <a:schemeClr val="lt1"/>
                </a:solidFill>
                <a:latin typeface="Arial"/>
                <a:ea typeface="Arial"/>
                <a:cs typeface="Arial"/>
                <a:sym typeface="Arial"/>
              </a:rPr>
              <a:t>Key Terms Summary – Write this in your book</a:t>
            </a:r>
            <a:endParaRPr>
              <a:solidFill>
                <a:schemeClr val="lt1"/>
              </a:solidFill>
              <a:latin typeface="Arial"/>
              <a:ea typeface="Arial"/>
              <a:cs typeface="Arial"/>
              <a:sym typeface="Arial"/>
            </a:endParaRPr>
          </a:p>
        </p:txBody>
      </p:sp>
      <p:graphicFrame>
        <p:nvGraphicFramePr>
          <p:cNvPr id="126" name="Google Shape;126;p19"/>
          <p:cNvGraphicFramePr/>
          <p:nvPr/>
        </p:nvGraphicFramePr>
        <p:xfrm>
          <a:off x="1703389" y="1557338"/>
          <a:ext cx="3000000" cy="3000000"/>
        </p:xfrm>
        <a:graphic>
          <a:graphicData uri="http://schemas.openxmlformats.org/drawingml/2006/table">
            <a:tbl>
              <a:tblPr>
                <a:noFill/>
                <a:tableStyleId>{ABDE2C15-C281-4C8F-A411-1BF72326F33B}</a:tableStyleId>
              </a:tblPr>
              <a:tblGrid>
                <a:gridCol w="2089150"/>
                <a:gridCol w="1439850"/>
                <a:gridCol w="1655775"/>
                <a:gridCol w="1512875"/>
                <a:gridCol w="2087575"/>
              </a:tblGrid>
              <a:tr h="904875">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Quantity</a:t>
                      </a:r>
                      <a:endParaRPr i="0" sz="2800" u="none" cap="none" strike="noStrike">
                        <a:solidFill>
                          <a:schemeClr val="dk1"/>
                        </a:solidFil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Symbol</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Unit</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Unit Symbol</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Measured Using</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904875">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Current</a:t>
                      </a:r>
                      <a:endParaRPr i="0" sz="2800" u="none" cap="none" strike="noStrike">
                        <a:solidFill>
                          <a:schemeClr val="dk1"/>
                        </a:solidFil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I</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Amperes (Amps)</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A</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Ammeter</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906475">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Voltage</a:t>
                      </a:r>
                      <a:endParaRPr i="0" sz="2800" u="none" cap="none" strike="noStrike">
                        <a:solidFill>
                          <a:schemeClr val="dk1"/>
                        </a:solidFil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V</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Volts</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V</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Voltmeter</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904875">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Resistance</a:t>
                      </a:r>
                      <a:endParaRPr i="0" sz="2800" u="none" cap="none" strike="noStrike">
                        <a:solidFill>
                          <a:schemeClr val="dk1"/>
                        </a:solidFil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R</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Ohms</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Times New Roman"/>
                        <a:buNone/>
                      </a:pPr>
                      <a:r>
                        <a:rPr i="0" lang="en-GB" sz="2800" u="none" cap="none" strike="noStrike">
                          <a:solidFill>
                            <a:schemeClr val="dk1"/>
                          </a:solidFill>
                        </a:rPr>
                        <a:t>Ω</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i="0" lang="en-GB" sz="2800" u="none" cap="none" strike="noStrike">
                          <a:solidFill>
                            <a:schemeClr val="dk1"/>
                          </a:solidFill>
                        </a:rPr>
                        <a:t>Ohmmeter</a:t>
                      </a:r>
                      <a:endParaRPr i="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ph type="title"/>
          </p:nvPr>
        </p:nvSpPr>
        <p:spPr>
          <a:xfrm>
            <a:off x="1981200" y="274639"/>
            <a:ext cx="8229600" cy="706437"/>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mic Sans MS"/>
              <a:buNone/>
            </a:pPr>
            <a:r>
              <a:rPr lang="en-GB" sz="4000">
                <a:solidFill>
                  <a:schemeClr val="lt1"/>
                </a:solidFill>
                <a:latin typeface="Arial"/>
                <a:ea typeface="Arial"/>
                <a:cs typeface="Arial"/>
                <a:sym typeface="Arial"/>
              </a:rPr>
              <a:t>Electrical Energy</a:t>
            </a:r>
            <a:endParaRPr sz="4000">
              <a:solidFill>
                <a:schemeClr val="lt1"/>
              </a:solidFill>
              <a:latin typeface="Arial"/>
              <a:ea typeface="Arial"/>
              <a:cs typeface="Arial"/>
              <a:sym typeface="Arial"/>
            </a:endParaRPr>
          </a:p>
        </p:txBody>
      </p:sp>
      <p:sp>
        <p:nvSpPr>
          <p:cNvPr id="132" name="Google Shape;132;p20"/>
          <p:cNvSpPr txBox="1"/>
          <p:nvPr/>
        </p:nvSpPr>
        <p:spPr>
          <a:xfrm>
            <a:off x="1524000" y="836613"/>
            <a:ext cx="91440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GB" sz="2400" u="none" cap="none" strike="noStrike">
                <a:solidFill>
                  <a:srgbClr val="99FFCC"/>
                </a:solidFill>
              </a:rPr>
              <a:t>Consider a simple circuit:</a:t>
            </a:r>
            <a:endParaRPr i="0" sz="2400" u="none" cap="none" strike="noStrike">
              <a:solidFill>
                <a:srgbClr val="99FFCC"/>
              </a:solidFill>
            </a:endParaRPr>
          </a:p>
        </p:txBody>
      </p:sp>
      <p:pic>
        <p:nvPicPr>
          <p:cNvPr descr="circuit 1" id="133" name="Google Shape;133;p20"/>
          <p:cNvPicPr preferRelativeResize="0"/>
          <p:nvPr/>
        </p:nvPicPr>
        <p:blipFill rotWithShape="1">
          <a:blip r:embed="rId3">
            <a:alphaModFix/>
          </a:blip>
          <a:srcRect b="0" l="7022" r="8989" t="0"/>
          <a:stretch/>
        </p:blipFill>
        <p:spPr>
          <a:xfrm>
            <a:off x="5699126" y="1484314"/>
            <a:ext cx="4968875" cy="4416425"/>
          </a:xfrm>
          <a:prstGeom prst="rect">
            <a:avLst/>
          </a:prstGeom>
          <a:noFill/>
          <a:ln>
            <a:noFill/>
          </a:ln>
        </p:spPr>
      </p:pic>
      <p:sp>
        <p:nvSpPr>
          <p:cNvPr id="134" name="Google Shape;134;p20"/>
          <p:cNvSpPr txBox="1"/>
          <p:nvPr/>
        </p:nvSpPr>
        <p:spPr>
          <a:xfrm>
            <a:off x="1919288" y="6092826"/>
            <a:ext cx="8424862" cy="461665"/>
          </a:xfrm>
          <a:prstGeom prst="rect">
            <a:avLst/>
          </a:prstGeom>
          <a:noFill/>
          <a:ln cap="flat" cmpd="sng" w="25400">
            <a:solidFill>
              <a:srgbClr val="FF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0" lang="en-GB" sz="2400" u="none" cap="none" strike="noStrike">
                <a:solidFill>
                  <a:schemeClr val="lt1"/>
                </a:solidFill>
              </a:rPr>
              <a:t>Words</a:t>
            </a:r>
            <a:r>
              <a:rPr i="0" lang="en-GB" sz="2400" u="none" cap="none" strike="noStrike">
                <a:solidFill>
                  <a:schemeClr val="lt1"/>
                </a:solidFill>
              </a:rPr>
              <a:t> – electrical (x2), light, chemical</a:t>
            </a:r>
            <a:endParaRPr i="0" sz="2400" u="none" cap="none" strike="noStrike">
              <a:solidFill>
                <a:schemeClr val="lt1"/>
              </a:solidFill>
            </a:endParaRPr>
          </a:p>
        </p:txBody>
      </p:sp>
      <p:grpSp>
        <p:nvGrpSpPr>
          <p:cNvPr id="135" name="Google Shape;135;p20"/>
          <p:cNvGrpSpPr/>
          <p:nvPr/>
        </p:nvGrpSpPr>
        <p:grpSpPr>
          <a:xfrm>
            <a:off x="1524001" y="1789336"/>
            <a:ext cx="6018925" cy="1484089"/>
            <a:chOff x="0" y="1172"/>
            <a:chExt cx="3791" cy="935"/>
          </a:xfrm>
        </p:grpSpPr>
        <p:sp>
          <p:nvSpPr>
            <p:cNvPr id="136" name="Google Shape;136;p20"/>
            <p:cNvSpPr txBox="1"/>
            <p:nvPr/>
          </p:nvSpPr>
          <p:spPr>
            <a:xfrm>
              <a:off x="0" y="1207"/>
              <a:ext cx="2700" cy="900"/>
            </a:xfrm>
            <a:prstGeom prst="rect">
              <a:avLst/>
            </a:prstGeom>
            <a:solidFill>
              <a:srgbClr val="A5002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GB" sz="2400" u="none" cap="none" strike="noStrike">
                  <a:solidFill>
                    <a:schemeClr val="lt1"/>
                  </a:solidFill>
                </a:rPr>
                <a:t>The job of the battery is to convert ______ energy into _________ energy…</a:t>
              </a:r>
              <a:endParaRPr i="0" sz="2400" u="none" cap="none" strike="noStrike">
                <a:solidFill>
                  <a:schemeClr val="lt1"/>
                </a:solidFill>
              </a:endParaRPr>
            </a:p>
          </p:txBody>
        </p:sp>
        <p:sp>
          <p:nvSpPr>
            <p:cNvPr id="137" name="Google Shape;137;p20"/>
            <p:cNvSpPr/>
            <p:nvPr/>
          </p:nvSpPr>
          <p:spPr>
            <a:xfrm rot="908668">
              <a:off x="2468" y="1328"/>
              <a:ext cx="1270" cy="578"/>
            </a:xfrm>
            <a:prstGeom prst="rightArrow">
              <a:avLst>
                <a:gd fmla="val 50000" name="adj1"/>
                <a:gd fmla="val 139868" name="adj2"/>
              </a:avLst>
            </a:prstGeom>
            <a:solidFill>
              <a:srgbClr val="A5002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FFFF"/>
                </a:solidFill>
                <a:latin typeface="Comic Sans MS"/>
                <a:ea typeface="Comic Sans MS"/>
                <a:cs typeface="Comic Sans MS"/>
                <a:sym typeface="Comic Sans MS"/>
              </a:endParaRPr>
            </a:p>
          </p:txBody>
        </p:sp>
      </p:grpSp>
      <p:grpSp>
        <p:nvGrpSpPr>
          <p:cNvPr id="138" name="Google Shape;138;p20"/>
          <p:cNvGrpSpPr/>
          <p:nvPr/>
        </p:nvGrpSpPr>
        <p:grpSpPr>
          <a:xfrm>
            <a:off x="1524001" y="3584577"/>
            <a:ext cx="4932363" cy="1633538"/>
            <a:chOff x="0" y="2303"/>
            <a:chExt cx="3107" cy="1029"/>
          </a:xfrm>
        </p:grpSpPr>
        <p:sp>
          <p:nvSpPr>
            <p:cNvPr id="139" name="Google Shape;139;p20"/>
            <p:cNvSpPr txBox="1"/>
            <p:nvPr/>
          </p:nvSpPr>
          <p:spPr>
            <a:xfrm>
              <a:off x="0" y="2432"/>
              <a:ext cx="2700" cy="900"/>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GB" sz="2400" u="none" cap="none" strike="noStrike">
                  <a:solidFill>
                    <a:schemeClr val="lt1"/>
                  </a:solidFill>
                </a:rPr>
                <a:t>The job of the bulb is to convert the _________ energy it receives from the battery into ______ energy.</a:t>
              </a:r>
              <a:endParaRPr i="0" sz="2400" u="none" cap="none" strike="noStrike">
                <a:solidFill>
                  <a:schemeClr val="lt1"/>
                </a:solidFill>
              </a:endParaRPr>
            </a:p>
          </p:txBody>
        </p:sp>
        <p:sp>
          <p:nvSpPr>
            <p:cNvPr id="140" name="Google Shape;140;p20"/>
            <p:cNvSpPr/>
            <p:nvPr/>
          </p:nvSpPr>
          <p:spPr>
            <a:xfrm rot="10800000">
              <a:off x="2472" y="2303"/>
              <a:ext cx="635" cy="578"/>
            </a:xfrm>
            <a:prstGeom prst="leftArrow">
              <a:avLst>
                <a:gd fmla="val 50000" name="adj1"/>
                <a:gd fmla="val 69934" name="adj2"/>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FFFF"/>
                </a:solidFill>
                <a:latin typeface="Comic Sans MS"/>
                <a:ea typeface="Comic Sans MS"/>
                <a:cs typeface="Comic Sans MS"/>
                <a:sym typeface="Comic Sans M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500"/>
                                        <p:tgtEl>
                                          <p:spTgt spid="1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4"/>
                                        </p:tgtEl>
                                        <p:attrNameLst>
                                          <p:attrName>style.visibility</p:attrName>
                                        </p:attrNameLst>
                                      </p:cBhvr>
                                      <p:to>
                                        <p:strVal val="visible"/>
                                      </p:to>
                                    </p:set>
                                    <p:anim calcmode="lin" valueType="num">
                                      <p:cBhvr additive="base">
                                        <p:cTn dur="500"/>
                                        <p:tgtEl>
                                          <p:spTgt spid="13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500"/>
                                        <p:tgtEl>
                                          <p:spTgt spid="1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500"/>
                                        <p:tgtEl>
                                          <p:spTgt spid="1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1"/>
          <p:cNvSpPr txBox="1"/>
          <p:nvPr>
            <p:ph type="title"/>
          </p:nvPr>
        </p:nvSpPr>
        <p:spPr>
          <a:xfrm>
            <a:off x="5671915" y="60919"/>
            <a:ext cx="6122987" cy="97770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4400"/>
              <a:buFont typeface="Comic Sans MS"/>
              <a:buNone/>
            </a:pPr>
            <a:r>
              <a:rPr b="1" lang="en-GB">
                <a:solidFill>
                  <a:srgbClr val="00FF00"/>
                </a:solidFill>
                <a:latin typeface="Arial"/>
                <a:ea typeface="Arial"/>
                <a:cs typeface="Arial"/>
                <a:sym typeface="Arial"/>
              </a:rPr>
              <a:t>Electrical Energy</a:t>
            </a:r>
            <a:endParaRPr b="1">
              <a:solidFill>
                <a:srgbClr val="00FF00"/>
              </a:solidFill>
              <a:latin typeface="Arial"/>
              <a:ea typeface="Arial"/>
              <a:cs typeface="Arial"/>
              <a:sym typeface="Arial"/>
            </a:endParaRPr>
          </a:p>
        </p:txBody>
      </p:sp>
      <p:pic>
        <p:nvPicPr>
          <p:cNvPr descr="circuit 1" id="146" name="Google Shape;146;p21"/>
          <p:cNvPicPr preferRelativeResize="0"/>
          <p:nvPr/>
        </p:nvPicPr>
        <p:blipFill rotWithShape="1">
          <a:blip r:embed="rId3">
            <a:alphaModFix/>
          </a:blip>
          <a:srcRect b="0" l="7022" r="8989" t="0"/>
          <a:stretch/>
        </p:blipFill>
        <p:spPr>
          <a:xfrm>
            <a:off x="5149549" y="1123923"/>
            <a:ext cx="6122975" cy="5440878"/>
          </a:xfrm>
          <a:prstGeom prst="rect">
            <a:avLst/>
          </a:prstGeom>
          <a:noFill/>
          <a:ln>
            <a:noFill/>
          </a:ln>
        </p:spPr>
      </p:pic>
      <p:grpSp>
        <p:nvGrpSpPr>
          <p:cNvPr id="147" name="Google Shape;147;p21"/>
          <p:cNvGrpSpPr/>
          <p:nvPr/>
        </p:nvGrpSpPr>
        <p:grpSpPr>
          <a:xfrm>
            <a:off x="6743700" y="1628776"/>
            <a:ext cx="1441450" cy="1368425"/>
            <a:chOff x="3424" y="1162"/>
            <a:chExt cx="908" cy="862"/>
          </a:xfrm>
        </p:grpSpPr>
        <p:pic>
          <p:nvPicPr>
            <p:cNvPr descr="Happy bloke" id="148" name="Google Shape;148;p21"/>
            <p:cNvPicPr preferRelativeResize="0"/>
            <p:nvPr/>
          </p:nvPicPr>
          <p:blipFill rotWithShape="1">
            <a:blip r:embed="rId4">
              <a:alphaModFix/>
            </a:blip>
            <a:srcRect b="0" l="0" r="0" t="0"/>
            <a:stretch/>
          </p:blipFill>
          <p:spPr>
            <a:xfrm flipH="1">
              <a:off x="3424" y="1162"/>
              <a:ext cx="479" cy="862"/>
            </a:xfrm>
            <a:prstGeom prst="rect">
              <a:avLst/>
            </a:prstGeom>
            <a:noFill/>
            <a:ln>
              <a:noFill/>
            </a:ln>
          </p:spPr>
        </p:pic>
        <p:grpSp>
          <p:nvGrpSpPr>
            <p:cNvPr id="149" name="Google Shape;149;p21"/>
            <p:cNvGrpSpPr/>
            <p:nvPr/>
          </p:nvGrpSpPr>
          <p:grpSpPr>
            <a:xfrm>
              <a:off x="3742" y="1570"/>
              <a:ext cx="590" cy="318"/>
              <a:chOff x="295" y="3339"/>
              <a:chExt cx="590" cy="318"/>
            </a:xfrm>
          </p:grpSpPr>
          <p:sp>
            <p:nvSpPr>
              <p:cNvPr id="150" name="Google Shape;150;p21"/>
              <p:cNvSpPr/>
              <p:nvPr/>
            </p:nvSpPr>
            <p:spPr>
              <a:xfrm>
                <a:off x="295" y="3339"/>
                <a:ext cx="590" cy="318"/>
              </a:xfrm>
              <a:prstGeom prst="star32">
                <a:avLst>
                  <a:gd fmla="val 37500" name="adj"/>
                </a:avLst>
              </a:prstGeom>
              <a:gradFill>
                <a:gsLst>
                  <a:gs pos="0">
                    <a:srgbClr val="FFF200"/>
                  </a:gs>
                  <a:gs pos="45000">
                    <a:srgbClr val="FF7A00"/>
                  </a:gs>
                  <a:gs pos="70000">
                    <a:srgbClr val="FF0300"/>
                  </a:gs>
                  <a:gs pos="100000">
                    <a:srgbClr val="4D0808"/>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FFFF"/>
                  </a:solidFill>
                  <a:latin typeface="Comic Sans MS"/>
                  <a:ea typeface="Comic Sans MS"/>
                  <a:cs typeface="Comic Sans MS"/>
                  <a:sym typeface="Comic Sans MS"/>
                </a:endParaRPr>
              </a:p>
            </p:txBody>
          </p:sp>
          <p:sp>
            <p:nvSpPr>
              <p:cNvPr id="151" name="Google Shape;151;p21"/>
              <p:cNvSpPr txBox="1"/>
              <p:nvPr/>
            </p:nvSpPr>
            <p:spPr>
              <a:xfrm>
                <a:off x="340" y="3385"/>
                <a:ext cx="544"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600" u="none" cap="none" strike="noStrike">
                    <a:solidFill>
                      <a:schemeClr val="lt1"/>
                    </a:solidFill>
                    <a:latin typeface="Comic Sans MS"/>
                    <a:ea typeface="Comic Sans MS"/>
                    <a:cs typeface="Comic Sans MS"/>
                    <a:sym typeface="Comic Sans MS"/>
                  </a:rPr>
                  <a:t>Energy</a:t>
                </a:r>
                <a:endParaRPr b="0" i="0" sz="1600" u="none" cap="none" strike="noStrike">
                  <a:solidFill>
                    <a:schemeClr val="lt1"/>
                  </a:solidFill>
                  <a:latin typeface="Comic Sans MS"/>
                  <a:ea typeface="Comic Sans MS"/>
                  <a:cs typeface="Comic Sans MS"/>
                  <a:sym typeface="Comic Sans MS"/>
                </a:endParaRPr>
              </a:p>
            </p:txBody>
          </p:sp>
        </p:grpSp>
      </p:grpSp>
      <p:pic>
        <p:nvPicPr>
          <p:cNvPr descr="Happy bloke" id="152" name="Google Shape;152;p21"/>
          <p:cNvPicPr preferRelativeResize="0"/>
          <p:nvPr/>
        </p:nvPicPr>
        <p:blipFill rotWithShape="1">
          <a:blip r:embed="rId4">
            <a:alphaModFix/>
          </a:blip>
          <a:srcRect b="0" l="0" r="0" t="0"/>
          <a:stretch/>
        </p:blipFill>
        <p:spPr>
          <a:xfrm flipH="1">
            <a:off x="1524001" y="2349500"/>
            <a:ext cx="1211263" cy="2179638"/>
          </a:xfrm>
          <a:prstGeom prst="rect">
            <a:avLst/>
          </a:prstGeom>
          <a:noFill/>
          <a:ln>
            <a:noFill/>
          </a:ln>
        </p:spPr>
      </p:pic>
      <p:sp>
        <p:nvSpPr>
          <p:cNvPr id="153" name="Google Shape;153;p21"/>
          <p:cNvSpPr/>
          <p:nvPr/>
        </p:nvSpPr>
        <p:spPr>
          <a:xfrm>
            <a:off x="1703388" y="188913"/>
            <a:ext cx="3168650" cy="1439862"/>
          </a:xfrm>
          <a:prstGeom prst="wedgeRoundRectCallout">
            <a:avLst>
              <a:gd fmla="val -31264" name="adj1"/>
              <a:gd fmla="val 128611" name="adj2"/>
              <a:gd fmla="val 16667" name="adj3"/>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i="0" lang="en-GB" sz="2000" u="none" cap="none" strike="noStrike">
                <a:solidFill>
                  <a:schemeClr val="dk1"/>
                </a:solidFill>
              </a:rPr>
              <a:t>Hi.  I’m Ernie Electron and I’m going to show you how I get energy around a circuit.</a:t>
            </a:r>
            <a:endParaRPr i="0" sz="2000" u="none" cap="none" strike="noStrike">
              <a:solidFill>
                <a:schemeClr val="dk1"/>
              </a:solidFill>
            </a:endParaRPr>
          </a:p>
        </p:txBody>
      </p:sp>
      <p:sp>
        <p:nvSpPr>
          <p:cNvPr id="154" name="Google Shape;154;p21"/>
          <p:cNvSpPr/>
          <p:nvPr/>
        </p:nvSpPr>
        <p:spPr>
          <a:xfrm>
            <a:off x="5993114" y="3708701"/>
            <a:ext cx="576263" cy="504825"/>
          </a:xfrm>
          <a:prstGeom prst="star32">
            <a:avLst>
              <a:gd fmla="val 37500" name="adj"/>
            </a:avLst>
          </a:prstGeom>
          <a:noFill/>
          <a:ln cap="flat" cmpd="sng" w="41275">
            <a:solidFill>
              <a:srgbClr val="FF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FFFF"/>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2"/>
                                        </p:tgtEl>
                                        <p:attrNameLst>
                                          <p:attrName>style.visibility</p:attrName>
                                        </p:attrNameLst>
                                      </p:cBhvr>
                                      <p:to>
                                        <p:strVal val="visible"/>
                                      </p:to>
                                    </p:set>
                                    <p:anim calcmode="lin" valueType="num">
                                      <p:cBhvr additive="base">
                                        <p:cTn dur="500"/>
                                        <p:tgtEl>
                                          <p:spTgt spid="15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500"/>
                                        <p:tgtEl>
                                          <p:spTgt spid="1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500"/>
                                        <p:tgtEl>
                                          <p:spTgt spid="1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500"/>
                                        <p:tgtEl>
                                          <p:spTgt spid="147"/>
                                        </p:tgtEl>
                                      </p:cBhvr>
                                    </p:animEffec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154"/>
                                        </p:tgtEl>
                                        <p:attrNameLst>
                                          <p:attrName>style.visibility</p:attrName>
                                        </p:attrNameLst>
                                      </p:cBhvr>
                                      <p:to>
                                        <p:strVal val="visible"/>
                                      </p:to>
                                    </p:set>
                                    <p:anim calcmode="lin" valueType="num">
                                      <p:cBhvr additive="base">
                                        <p:cTn dur="500"/>
                                        <p:tgtEl>
                                          <p:spTgt spid="154"/>
                                        </p:tgtEl>
                                        <p:attrNameLst>
                                          <p:attrName>ppt_w</p:attrName>
                                        </p:attrNameLst>
                                      </p:cBhvr>
                                      <p:tavLst>
                                        <p:tav fmla="" tm="0">
                                          <p:val>
                                            <p:strVal val="0"/>
                                          </p:val>
                                        </p:tav>
                                        <p:tav fmla="" tm="100000">
                                          <p:val>
                                            <p:strVal val="#ppt_w"/>
                                          </p:val>
                                        </p:tav>
                                      </p:tavLst>
                                    </p:anim>
                                    <p:anim calcmode="lin" valueType="num">
                                      <p:cBhvr additive="base">
                                        <p:cTn dur="500"/>
                                        <p:tgtEl>
                                          <p:spTgt spid="15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descr="circuit 1" id="159" name="Google Shape;159;p22"/>
          <p:cNvPicPr preferRelativeResize="0"/>
          <p:nvPr/>
        </p:nvPicPr>
        <p:blipFill rotWithShape="1">
          <a:blip r:embed="rId3">
            <a:alphaModFix/>
          </a:blip>
          <a:srcRect b="0" l="7022" r="8989" t="0"/>
          <a:stretch/>
        </p:blipFill>
        <p:spPr>
          <a:xfrm>
            <a:off x="3898900" y="781050"/>
            <a:ext cx="6769100" cy="6015038"/>
          </a:xfrm>
          <a:prstGeom prst="rect">
            <a:avLst/>
          </a:prstGeom>
          <a:noFill/>
          <a:ln>
            <a:noFill/>
          </a:ln>
        </p:spPr>
      </p:pic>
      <p:grpSp>
        <p:nvGrpSpPr>
          <p:cNvPr id="160" name="Google Shape;160;p22"/>
          <p:cNvGrpSpPr/>
          <p:nvPr/>
        </p:nvGrpSpPr>
        <p:grpSpPr>
          <a:xfrm>
            <a:off x="4131469" y="3104356"/>
            <a:ext cx="1481138" cy="1368425"/>
            <a:chOff x="4150" y="1570"/>
            <a:chExt cx="933" cy="862"/>
          </a:xfrm>
        </p:grpSpPr>
        <p:pic>
          <p:nvPicPr>
            <p:cNvPr descr="Happy bloke" id="161" name="Google Shape;161;p22"/>
            <p:cNvPicPr preferRelativeResize="0"/>
            <p:nvPr/>
          </p:nvPicPr>
          <p:blipFill rotWithShape="1">
            <a:blip r:embed="rId4">
              <a:alphaModFix/>
            </a:blip>
            <a:srcRect b="0" l="0" r="0" t="0"/>
            <a:stretch/>
          </p:blipFill>
          <p:spPr>
            <a:xfrm>
              <a:off x="4604" y="1570"/>
              <a:ext cx="479" cy="862"/>
            </a:xfrm>
            <a:prstGeom prst="rect">
              <a:avLst/>
            </a:prstGeom>
            <a:noFill/>
            <a:ln>
              <a:noFill/>
            </a:ln>
          </p:spPr>
        </p:pic>
        <p:grpSp>
          <p:nvGrpSpPr>
            <p:cNvPr id="162" name="Google Shape;162;p22"/>
            <p:cNvGrpSpPr/>
            <p:nvPr/>
          </p:nvGrpSpPr>
          <p:grpSpPr>
            <a:xfrm>
              <a:off x="4150" y="1979"/>
              <a:ext cx="590" cy="318"/>
              <a:chOff x="295" y="3339"/>
              <a:chExt cx="590" cy="318"/>
            </a:xfrm>
          </p:grpSpPr>
          <p:sp>
            <p:nvSpPr>
              <p:cNvPr id="163" name="Google Shape;163;p22"/>
              <p:cNvSpPr/>
              <p:nvPr/>
            </p:nvSpPr>
            <p:spPr>
              <a:xfrm>
                <a:off x="295" y="3339"/>
                <a:ext cx="590" cy="318"/>
              </a:xfrm>
              <a:prstGeom prst="star32">
                <a:avLst>
                  <a:gd fmla="val 37500" name="adj"/>
                </a:avLst>
              </a:prstGeom>
              <a:gradFill>
                <a:gsLst>
                  <a:gs pos="0">
                    <a:srgbClr val="FFF200"/>
                  </a:gs>
                  <a:gs pos="45000">
                    <a:srgbClr val="FF7A00"/>
                  </a:gs>
                  <a:gs pos="70000">
                    <a:srgbClr val="FF0300"/>
                  </a:gs>
                  <a:gs pos="100000">
                    <a:srgbClr val="4D0808"/>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FFFF"/>
                  </a:solidFill>
                  <a:latin typeface="Comic Sans MS"/>
                  <a:ea typeface="Comic Sans MS"/>
                  <a:cs typeface="Comic Sans MS"/>
                  <a:sym typeface="Comic Sans MS"/>
                </a:endParaRPr>
              </a:p>
            </p:txBody>
          </p:sp>
          <p:sp>
            <p:nvSpPr>
              <p:cNvPr id="164" name="Google Shape;164;p22"/>
              <p:cNvSpPr txBox="1"/>
              <p:nvPr/>
            </p:nvSpPr>
            <p:spPr>
              <a:xfrm>
                <a:off x="340" y="3385"/>
                <a:ext cx="544"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600" u="none" cap="none" strike="noStrike">
                    <a:solidFill>
                      <a:schemeClr val="lt1"/>
                    </a:solidFill>
                    <a:latin typeface="Comic Sans MS"/>
                    <a:ea typeface="Comic Sans MS"/>
                    <a:cs typeface="Comic Sans MS"/>
                    <a:sym typeface="Comic Sans MS"/>
                  </a:rPr>
                  <a:t>Energy</a:t>
                </a:r>
                <a:endParaRPr b="0" i="0" sz="1600" u="none" cap="none" strike="noStrike">
                  <a:solidFill>
                    <a:schemeClr val="lt1"/>
                  </a:solidFill>
                  <a:latin typeface="Comic Sans MS"/>
                  <a:ea typeface="Comic Sans MS"/>
                  <a:cs typeface="Comic Sans MS"/>
                  <a:sym typeface="Comic Sans MS"/>
                </a:endParaRPr>
              </a:p>
            </p:txBody>
          </p:sp>
        </p:grpSp>
      </p:grpSp>
      <p:pic>
        <p:nvPicPr>
          <p:cNvPr descr="Happy bloke" id="165" name="Google Shape;165;p22"/>
          <p:cNvPicPr preferRelativeResize="0"/>
          <p:nvPr/>
        </p:nvPicPr>
        <p:blipFill rotWithShape="1">
          <a:blip r:embed="rId4">
            <a:alphaModFix/>
          </a:blip>
          <a:srcRect b="0" l="0" r="0" t="0"/>
          <a:stretch/>
        </p:blipFill>
        <p:spPr>
          <a:xfrm flipH="1">
            <a:off x="1524001" y="2349500"/>
            <a:ext cx="1211263" cy="2179638"/>
          </a:xfrm>
          <a:prstGeom prst="rect">
            <a:avLst/>
          </a:prstGeom>
          <a:noFill/>
          <a:ln>
            <a:noFill/>
          </a:ln>
        </p:spPr>
      </p:pic>
      <p:sp>
        <p:nvSpPr>
          <p:cNvPr id="166" name="Google Shape;166;p22"/>
          <p:cNvSpPr/>
          <p:nvPr/>
        </p:nvSpPr>
        <p:spPr>
          <a:xfrm>
            <a:off x="2027239" y="268331"/>
            <a:ext cx="3348037" cy="1652244"/>
          </a:xfrm>
          <a:prstGeom prst="wedgeRoundRectCallout">
            <a:avLst>
              <a:gd fmla="val -37169" name="adj1"/>
              <a:gd fmla="val 109166" name="adj2"/>
              <a:gd fmla="val 16667" name="adj3"/>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i="0" lang="en-GB" sz="2000" u="none" cap="none" strike="noStrike">
                <a:solidFill>
                  <a:schemeClr val="dk1"/>
                </a:solidFill>
              </a:rPr>
              <a:t>I leave from the negative terminal of the battery cell and I am attracted to the positive end.</a:t>
            </a:r>
            <a:endParaRPr i="0" sz="2000" u="none" cap="none" strike="noStrike">
              <a:solidFill>
                <a:schemeClr val="dk1"/>
              </a:solidFill>
            </a:endParaRPr>
          </a:p>
        </p:txBody>
      </p:sp>
      <p:sp>
        <p:nvSpPr>
          <p:cNvPr id="167" name="Google Shape;167;p22"/>
          <p:cNvSpPr txBox="1"/>
          <p:nvPr/>
        </p:nvSpPr>
        <p:spPr>
          <a:xfrm>
            <a:off x="5671915" y="60919"/>
            <a:ext cx="6122987" cy="977709"/>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FF0000"/>
              </a:buClr>
              <a:buSzPts val="4400"/>
              <a:buFont typeface="Comic Sans MS"/>
              <a:buNone/>
            </a:pPr>
            <a:r>
              <a:rPr b="1" i="0" lang="en-GB" sz="4400" u="none" cap="none" strike="noStrike">
                <a:solidFill>
                  <a:srgbClr val="00FF00"/>
                </a:solidFill>
              </a:rPr>
              <a:t>Electrical Energy</a:t>
            </a:r>
            <a:endParaRPr b="1" i="0" sz="4400" u="none" cap="none" strike="noStrike">
              <a:solidFill>
                <a:srgbClr val="00FF00"/>
              </a:solidFill>
            </a:endParaRPr>
          </a:p>
        </p:txBody>
      </p:sp>
      <p:sp>
        <p:nvSpPr>
          <p:cNvPr id="168" name="Google Shape;168;p22"/>
          <p:cNvSpPr/>
          <p:nvPr/>
        </p:nvSpPr>
        <p:spPr>
          <a:xfrm>
            <a:off x="5375276" y="4005264"/>
            <a:ext cx="576263" cy="504825"/>
          </a:xfrm>
          <a:prstGeom prst="star32">
            <a:avLst>
              <a:gd fmla="val 37500" name="adj"/>
            </a:avLst>
          </a:prstGeom>
          <a:noFill/>
          <a:ln cap="flat" cmpd="sng" w="41275">
            <a:solidFill>
              <a:srgbClr val="FF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FFFF"/>
              </a:solidFill>
              <a:latin typeface="Comic Sans MS"/>
              <a:ea typeface="Comic Sans MS"/>
              <a:cs typeface="Comic Sans MS"/>
              <a:sym typeface="Comic Sans M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descr="circuit 1" id="173" name="Google Shape;173;p23"/>
          <p:cNvPicPr preferRelativeResize="0"/>
          <p:nvPr/>
        </p:nvPicPr>
        <p:blipFill rotWithShape="1">
          <a:blip r:embed="rId3">
            <a:alphaModFix/>
          </a:blip>
          <a:srcRect b="0" l="7022" r="8989" t="0"/>
          <a:stretch/>
        </p:blipFill>
        <p:spPr>
          <a:xfrm>
            <a:off x="3898900" y="781050"/>
            <a:ext cx="6769100" cy="6015038"/>
          </a:xfrm>
          <a:prstGeom prst="rect">
            <a:avLst/>
          </a:prstGeom>
          <a:noFill/>
          <a:ln>
            <a:noFill/>
          </a:ln>
        </p:spPr>
      </p:pic>
      <p:pic>
        <p:nvPicPr>
          <p:cNvPr descr="Happy bloke" id="174" name="Google Shape;174;p23"/>
          <p:cNvPicPr preferRelativeResize="0"/>
          <p:nvPr/>
        </p:nvPicPr>
        <p:blipFill rotWithShape="1">
          <a:blip r:embed="rId4">
            <a:alphaModFix/>
          </a:blip>
          <a:srcRect b="0" l="0" r="0" t="0"/>
          <a:stretch/>
        </p:blipFill>
        <p:spPr>
          <a:xfrm flipH="1">
            <a:off x="8675100" y="2565401"/>
            <a:ext cx="760412" cy="1368425"/>
          </a:xfrm>
          <a:prstGeom prst="rect">
            <a:avLst/>
          </a:prstGeom>
          <a:noFill/>
          <a:ln>
            <a:noFill/>
          </a:ln>
        </p:spPr>
      </p:pic>
      <p:pic>
        <p:nvPicPr>
          <p:cNvPr descr="Happy bloke" id="175" name="Google Shape;175;p23"/>
          <p:cNvPicPr preferRelativeResize="0"/>
          <p:nvPr/>
        </p:nvPicPr>
        <p:blipFill rotWithShape="1">
          <a:blip r:embed="rId4">
            <a:alphaModFix/>
          </a:blip>
          <a:srcRect b="0" l="0" r="0" t="0"/>
          <a:stretch/>
        </p:blipFill>
        <p:spPr>
          <a:xfrm flipH="1">
            <a:off x="1524001" y="2349500"/>
            <a:ext cx="1211263" cy="2179638"/>
          </a:xfrm>
          <a:prstGeom prst="rect">
            <a:avLst/>
          </a:prstGeom>
          <a:noFill/>
          <a:ln>
            <a:noFill/>
          </a:ln>
        </p:spPr>
      </p:pic>
      <p:sp>
        <p:nvSpPr>
          <p:cNvPr id="176" name="Google Shape;176;p23"/>
          <p:cNvSpPr/>
          <p:nvPr/>
        </p:nvSpPr>
        <p:spPr>
          <a:xfrm>
            <a:off x="1703388" y="188913"/>
            <a:ext cx="3168650" cy="1439862"/>
          </a:xfrm>
          <a:prstGeom prst="wedgeRoundRectCallout">
            <a:avLst>
              <a:gd fmla="val -31264" name="adj1"/>
              <a:gd fmla="val 128611" name="adj2"/>
              <a:gd fmla="val 16667" name="adj3"/>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i="0" lang="en-GB" sz="2000" u="none" cap="none" strike="noStrike">
                <a:solidFill>
                  <a:schemeClr val="dk1"/>
                </a:solidFill>
              </a:rPr>
              <a:t>Notice, the switch is ‘ON’ which means the circuit is closed and I am free to travel</a:t>
            </a:r>
            <a:endParaRPr/>
          </a:p>
        </p:txBody>
      </p:sp>
      <p:grpSp>
        <p:nvGrpSpPr>
          <p:cNvPr id="177" name="Google Shape;177;p23"/>
          <p:cNvGrpSpPr/>
          <p:nvPr/>
        </p:nvGrpSpPr>
        <p:grpSpPr>
          <a:xfrm>
            <a:off x="6888164" y="2492376"/>
            <a:ext cx="936625" cy="504825"/>
            <a:chOff x="295" y="3339"/>
            <a:chExt cx="590" cy="318"/>
          </a:xfrm>
        </p:grpSpPr>
        <p:sp>
          <p:nvSpPr>
            <p:cNvPr id="178" name="Google Shape;178;p23"/>
            <p:cNvSpPr/>
            <p:nvPr/>
          </p:nvSpPr>
          <p:spPr>
            <a:xfrm>
              <a:off x="295" y="3339"/>
              <a:ext cx="590" cy="318"/>
            </a:xfrm>
            <a:prstGeom prst="star32">
              <a:avLst>
                <a:gd fmla="val 37500" name="adj"/>
              </a:avLst>
            </a:prstGeom>
            <a:gradFill>
              <a:gsLst>
                <a:gs pos="0">
                  <a:srgbClr val="FFF200"/>
                </a:gs>
                <a:gs pos="45000">
                  <a:srgbClr val="FF7A00"/>
                </a:gs>
                <a:gs pos="70000">
                  <a:srgbClr val="FF0300"/>
                </a:gs>
                <a:gs pos="100000">
                  <a:srgbClr val="4D0808"/>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FFFF"/>
                </a:solidFill>
                <a:latin typeface="Comic Sans MS"/>
                <a:ea typeface="Comic Sans MS"/>
                <a:cs typeface="Comic Sans MS"/>
                <a:sym typeface="Comic Sans MS"/>
              </a:endParaRPr>
            </a:p>
          </p:txBody>
        </p:sp>
        <p:sp>
          <p:nvSpPr>
            <p:cNvPr id="179" name="Google Shape;179;p23"/>
            <p:cNvSpPr txBox="1"/>
            <p:nvPr/>
          </p:nvSpPr>
          <p:spPr>
            <a:xfrm>
              <a:off x="340" y="3385"/>
              <a:ext cx="544"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600" u="none" cap="none" strike="noStrike">
                  <a:solidFill>
                    <a:schemeClr val="lt1"/>
                  </a:solidFill>
                  <a:latin typeface="Comic Sans MS"/>
                  <a:ea typeface="Comic Sans MS"/>
                  <a:cs typeface="Comic Sans MS"/>
                  <a:sym typeface="Comic Sans MS"/>
                </a:rPr>
                <a:t>Energy</a:t>
              </a:r>
              <a:endParaRPr b="0" i="0" sz="1600" u="none" cap="none" strike="noStrike">
                <a:solidFill>
                  <a:schemeClr val="lt1"/>
                </a:solidFill>
                <a:latin typeface="Comic Sans MS"/>
                <a:ea typeface="Comic Sans MS"/>
                <a:cs typeface="Comic Sans MS"/>
                <a:sym typeface="Comic Sans MS"/>
              </a:endParaRPr>
            </a:p>
          </p:txBody>
        </p:sp>
      </p:grpSp>
      <p:sp>
        <p:nvSpPr>
          <p:cNvPr id="180" name="Google Shape;180;p23"/>
          <p:cNvSpPr txBox="1"/>
          <p:nvPr>
            <p:ph type="title"/>
          </p:nvPr>
        </p:nvSpPr>
        <p:spPr>
          <a:xfrm>
            <a:off x="5671915" y="60919"/>
            <a:ext cx="6122987" cy="97770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4400"/>
              <a:buFont typeface="Comic Sans MS"/>
              <a:buNone/>
            </a:pPr>
            <a:r>
              <a:rPr b="1" lang="en-GB">
                <a:solidFill>
                  <a:srgbClr val="00FF00"/>
                </a:solidFill>
                <a:latin typeface="Arial"/>
                <a:ea typeface="Arial"/>
                <a:cs typeface="Arial"/>
                <a:sym typeface="Arial"/>
              </a:rPr>
              <a:t>Electrical Energy</a:t>
            </a:r>
            <a:endParaRPr b="1">
              <a:solidFill>
                <a:srgbClr val="00FF00"/>
              </a:solidFill>
              <a:latin typeface="Arial"/>
              <a:ea typeface="Arial"/>
              <a:cs typeface="Arial"/>
              <a:sym typeface="Arial"/>
            </a:endParaRPr>
          </a:p>
        </p:txBody>
      </p:sp>
      <p:sp>
        <p:nvSpPr>
          <p:cNvPr id="181" name="Google Shape;181;p23"/>
          <p:cNvSpPr/>
          <p:nvPr/>
        </p:nvSpPr>
        <p:spPr>
          <a:xfrm>
            <a:off x="5375276" y="4005264"/>
            <a:ext cx="576263" cy="504825"/>
          </a:xfrm>
          <a:prstGeom prst="star32">
            <a:avLst>
              <a:gd fmla="val 37500" name="adj"/>
            </a:avLst>
          </a:prstGeom>
          <a:noFill/>
          <a:ln cap="flat" cmpd="sng" w="41275">
            <a:solidFill>
              <a:srgbClr val="FF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FFFF"/>
              </a:solidFill>
              <a:latin typeface="Comic Sans MS"/>
              <a:ea typeface="Comic Sans MS"/>
              <a:cs typeface="Comic Sans MS"/>
              <a:sym typeface="Comic Sans M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4"/>
          <p:cNvSpPr txBox="1"/>
          <p:nvPr>
            <p:ph type="title"/>
          </p:nvPr>
        </p:nvSpPr>
        <p:spPr>
          <a:xfrm>
            <a:off x="1981200" y="274638"/>
            <a:ext cx="8229600" cy="11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omic Sans MS"/>
              <a:buNone/>
            </a:pPr>
            <a:r>
              <a:rPr lang="en-GB">
                <a:solidFill>
                  <a:srgbClr val="00FF00"/>
                </a:solidFill>
                <a:latin typeface="Arial"/>
                <a:ea typeface="Arial"/>
                <a:cs typeface="Arial"/>
                <a:sym typeface="Arial"/>
              </a:rPr>
              <a:t>Materials</a:t>
            </a:r>
            <a:endParaRPr>
              <a:solidFill>
                <a:srgbClr val="00FF00"/>
              </a:solidFill>
              <a:latin typeface="Arial"/>
              <a:ea typeface="Arial"/>
              <a:cs typeface="Arial"/>
              <a:sym typeface="Arial"/>
            </a:endParaRPr>
          </a:p>
        </p:txBody>
      </p:sp>
      <p:sp>
        <p:nvSpPr>
          <p:cNvPr id="187" name="Google Shape;187;p24"/>
          <p:cNvSpPr txBox="1"/>
          <p:nvPr>
            <p:ph idx="1" type="body"/>
          </p:nvPr>
        </p:nvSpPr>
        <p:spPr>
          <a:xfrm>
            <a:off x="759854" y="1417638"/>
            <a:ext cx="11127346" cy="508619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3600"/>
              <a:buChar char="•"/>
            </a:pPr>
            <a:r>
              <a:rPr lang="en-GB" sz="3600">
                <a:solidFill>
                  <a:schemeClr val="lt1"/>
                </a:solidFill>
                <a:latin typeface="Arial"/>
                <a:ea typeface="Arial"/>
                <a:cs typeface="Arial"/>
                <a:sym typeface="Arial"/>
              </a:rPr>
              <a:t>Materials that allow electricity to pass through them are called </a:t>
            </a:r>
            <a:r>
              <a:rPr lang="en-GB" sz="3600">
                <a:solidFill>
                  <a:srgbClr val="FFFF00"/>
                </a:solidFill>
                <a:latin typeface="Arial"/>
                <a:ea typeface="Arial"/>
                <a:cs typeface="Arial"/>
                <a:sym typeface="Arial"/>
              </a:rPr>
              <a:t>CONDUCTORS</a:t>
            </a:r>
            <a:r>
              <a:rPr lang="en-GB" sz="3600">
                <a:solidFill>
                  <a:schemeClr val="lt1"/>
                </a:solidFill>
                <a:latin typeface="Arial"/>
                <a:ea typeface="Arial"/>
                <a:cs typeface="Arial"/>
                <a:sym typeface="Arial"/>
              </a:rPr>
              <a:t>.</a:t>
            </a:r>
            <a:endParaRPr>
              <a:latin typeface="Arial"/>
              <a:ea typeface="Arial"/>
              <a:cs typeface="Arial"/>
              <a:sym typeface="Arial"/>
            </a:endParaRPr>
          </a:p>
          <a:p>
            <a:pPr indent="-228600" lvl="1" marL="685800" rtl="0" algn="l">
              <a:lnSpc>
                <a:spcPct val="90000"/>
              </a:lnSpc>
              <a:spcBef>
                <a:spcPts val="500"/>
              </a:spcBef>
              <a:spcAft>
                <a:spcPts val="0"/>
              </a:spcAft>
              <a:buClr>
                <a:schemeClr val="lt1"/>
              </a:buClr>
              <a:buSzPts val="3200"/>
              <a:buChar char="•"/>
            </a:pPr>
            <a:r>
              <a:rPr lang="en-GB" sz="3200">
                <a:solidFill>
                  <a:schemeClr val="lt1"/>
                </a:solidFill>
                <a:latin typeface="Arial"/>
                <a:ea typeface="Arial"/>
                <a:cs typeface="Arial"/>
                <a:sym typeface="Arial"/>
              </a:rPr>
              <a:t>Give 3 examples</a:t>
            </a:r>
            <a:endParaRPr>
              <a:latin typeface="Arial"/>
              <a:ea typeface="Arial"/>
              <a:cs typeface="Arial"/>
              <a:sym typeface="Arial"/>
            </a:endParaRPr>
          </a:p>
          <a:p>
            <a:pPr indent="0" lvl="0" marL="228600" rtl="0" algn="l">
              <a:lnSpc>
                <a:spcPct val="90000"/>
              </a:lnSpc>
              <a:spcBef>
                <a:spcPts val="1000"/>
              </a:spcBef>
              <a:spcAft>
                <a:spcPts val="0"/>
              </a:spcAft>
              <a:buClr>
                <a:schemeClr val="dk1"/>
              </a:buClr>
              <a:buSzPts val="3600"/>
              <a:buNone/>
            </a:pPr>
            <a:r>
              <a:t/>
            </a:r>
            <a:endParaRPr sz="3600">
              <a:solidFill>
                <a:schemeClr val="lt1"/>
              </a:solidFill>
              <a:latin typeface="Arial"/>
              <a:ea typeface="Arial"/>
              <a:cs typeface="Arial"/>
              <a:sym typeface="Arial"/>
            </a:endParaRPr>
          </a:p>
          <a:p>
            <a:pPr indent="-228600" lvl="0" marL="228600" rtl="0" algn="l">
              <a:lnSpc>
                <a:spcPct val="90000"/>
              </a:lnSpc>
              <a:spcBef>
                <a:spcPts val="1000"/>
              </a:spcBef>
              <a:spcAft>
                <a:spcPts val="0"/>
              </a:spcAft>
              <a:buClr>
                <a:schemeClr val="lt1"/>
              </a:buClr>
              <a:buSzPts val="3600"/>
              <a:buChar char="•"/>
            </a:pPr>
            <a:r>
              <a:rPr lang="en-GB" sz="3600">
                <a:solidFill>
                  <a:schemeClr val="lt1"/>
                </a:solidFill>
                <a:latin typeface="Arial"/>
                <a:ea typeface="Arial"/>
                <a:cs typeface="Arial"/>
                <a:sym typeface="Arial"/>
              </a:rPr>
              <a:t>Materials that electricity does not pass through are called </a:t>
            </a:r>
            <a:r>
              <a:rPr lang="en-GB" sz="3600">
                <a:solidFill>
                  <a:srgbClr val="FFFF00"/>
                </a:solidFill>
                <a:latin typeface="Arial"/>
                <a:ea typeface="Arial"/>
                <a:cs typeface="Arial"/>
                <a:sym typeface="Arial"/>
              </a:rPr>
              <a:t>INSULATORS.</a:t>
            </a:r>
            <a:endParaRPr>
              <a:latin typeface="Arial"/>
              <a:ea typeface="Arial"/>
              <a:cs typeface="Arial"/>
              <a:sym typeface="Arial"/>
            </a:endParaRPr>
          </a:p>
          <a:p>
            <a:pPr indent="-228600" lvl="1" marL="685800" rtl="0" algn="l">
              <a:lnSpc>
                <a:spcPct val="90000"/>
              </a:lnSpc>
              <a:spcBef>
                <a:spcPts val="500"/>
              </a:spcBef>
              <a:spcAft>
                <a:spcPts val="0"/>
              </a:spcAft>
              <a:buClr>
                <a:schemeClr val="lt1"/>
              </a:buClr>
              <a:buSzPts val="3200"/>
              <a:buChar char="•"/>
            </a:pPr>
            <a:r>
              <a:rPr lang="en-GB" sz="3200">
                <a:solidFill>
                  <a:schemeClr val="lt1"/>
                </a:solidFill>
                <a:latin typeface="Arial"/>
                <a:ea typeface="Arial"/>
                <a:cs typeface="Arial"/>
                <a:sym typeface="Arial"/>
              </a:rPr>
              <a:t>Give 3 examples</a:t>
            </a:r>
            <a:endParaRPr>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5"/>
          <p:cNvSpPr txBox="1"/>
          <p:nvPr>
            <p:ph type="title"/>
          </p:nvPr>
        </p:nvSpPr>
        <p:spPr>
          <a:xfrm>
            <a:off x="675250" y="70486"/>
            <a:ext cx="8243668" cy="626666"/>
          </a:xfrm>
          <a:prstGeom prst="rect">
            <a:avLst/>
          </a:prstGeom>
          <a:solidFill>
            <a:schemeClr val="lt1"/>
          </a:solidFill>
          <a:ln cap="flat" cmpd="sng" w="9525">
            <a:solidFill>
              <a:srgbClr val="000066"/>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4400"/>
              <a:buFont typeface="Comic Sans MS"/>
              <a:buNone/>
            </a:pPr>
            <a:r>
              <a:rPr lang="en-GB">
                <a:solidFill>
                  <a:srgbClr val="FF0066"/>
                </a:solidFill>
                <a:latin typeface="Arial"/>
                <a:ea typeface="Arial"/>
                <a:cs typeface="Arial"/>
                <a:sym typeface="Arial"/>
              </a:rPr>
              <a:t>Why do metals Conduct Heat?</a:t>
            </a:r>
            <a:endParaRPr>
              <a:solidFill>
                <a:srgbClr val="FF0066"/>
              </a:solidFill>
              <a:latin typeface="Arial"/>
              <a:ea typeface="Arial"/>
              <a:cs typeface="Arial"/>
              <a:sym typeface="Arial"/>
            </a:endParaRPr>
          </a:p>
        </p:txBody>
      </p:sp>
      <p:sp>
        <p:nvSpPr>
          <p:cNvPr id="193" name="Google Shape;193;p25"/>
          <p:cNvSpPr txBox="1"/>
          <p:nvPr/>
        </p:nvSpPr>
        <p:spPr>
          <a:xfrm>
            <a:off x="383347" y="1220372"/>
            <a:ext cx="5467500" cy="1385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GB" sz="2800" u="none" cap="none" strike="noStrike">
                <a:solidFill>
                  <a:schemeClr val="lt1"/>
                </a:solidFill>
              </a:rPr>
              <a:t>When you heat a metal strip at one end, the heat travels to the other end.</a:t>
            </a:r>
            <a:endParaRPr/>
          </a:p>
        </p:txBody>
      </p:sp>
      <p:sp>
        <p:nvSpPr>
          <p:cNvPr id="194" name="Google Shape;194;p25"/>
          <p:cNvSpPr txBox="1"/>
          <p:nvPr/>
        </p:nvSpPr>
        <p:spPr>
          <a:xfrm>
            <a:off x="241630" y="2718581"/>
            <a:ext cx="5609400" cy="310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GB" sz="2800" u="none" cap="none" strike="noStrike">
                <a:solidFill>
                  <a:schemeClr val="lt1"/>
                </a:solidFill>
              </a:rPr>
              <a:t>As you heat the metal, the particles vibrate, these vibrations make the adjacent particles vibrate, and so on and so on, the vibrations are passed along the metal and so is the heat. We call this?</a:t>
            </a:r>
            <a:endParaRPr/>
          </a:p>
        </p:txBody>
      </p:sp>
      <p:sp>
        <p:nvSpPr>
          <p:cNvPr id="195" name="Google Shape;195;p25"/>
          <p:cNvSpPr txBox="1"/>
          <p:nvPr/>
        </p:nvSpPr>
        <p:spPr>
          <a:xfrm>
            <a:off x="2117187" y="5827124"/>
            <a:ext cx="2300067" cy="523220"/>
          </a:xfrm>
          <a:prstGeom prst="rect">
            <a:avLst/>
          </a:prstGeom>
          <a:solidFill>
            <a:srgbClr val="00FF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GB" sz="2800" u="none" cap="none" strike="noStrike">
                <a:solidFill>
                  <a:srgbClr val="FF0066"/>
                </a:solidFill>
              </a:rPr>
              <a:t>Conduction</a:t>
            </a:r>
            <a:endParaRPr>
              <a:solidFill>
                <a:srgbClr val="FF0066"/>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6"/>
          <p:cNvSpPr txBox="1"/>
          <p:nvPr>
            <p:ph type="title"/>
          </p:nvPr>
        </p:nvSpPr>
        <p:spPr>
          <a:xfrm>
            <a:off x="661182" y="0"/>
            <a:ext cx="11338559" cy="735926"/>
          </a:xfrm>
          <a:prstGeom prst="rect">
            <a:avLst/>
          </a:prstGeom>
          <a:solidFill>
            <a:srgbClr val="FF00FF"/>
          </a:solidFill>
          <a:ln cap="flat" cmpd="sng" w="9525">
            <a:solidFill>
              <a:srgbClr val="000066"/>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Comic Sans MS"/>
              <a:buNone/>
            </a:pPr>
            <a:r>
              <a:rPr lang="en-GB" sz="4000">
                <a:solidFill>
                  <a:schemeClr val="lt1"/>
                </a:solidFill>
                <a:latin typeface="Comic Sans MS"/>
                <a:ea typeface="Comic Sans MS"/>
                <a:cs typeface="Comic Sans MS"/>
                <a:sym typeface="Comic Sans MS"/>
              </a:rPr>
              <a:t>Why do metals conduct heat and electricity?</a:t>
            </a:r>
            <a:endParaRPr/>
          </a:p>
        </p:txBody>
      </p:sp>
      <p:sp>
        <p:nvSpPr>
          <p:cNvPr id="201" name="Google Shape;201;p26"/>
          <p:cNvSpPr/>
          <p:nvPr/>
        </p:nvSpPr>
        <p:spPr>
          <a:xfrm>
            <a:off x="1524000" y="2286000"/>
            <a:ext cx="5334000" cy="2286000"/>
          </a:xfrm>
          <a:prstGeom prst="rect">
            <a:avLst/>
          </a:prstGeom>
          <a:gradFill>
            <a:gsLst>
              <a:gs pos="0">
                <a:srgbClr val="FFFFFF"/>
              </a:gs>
              <a:gs pos="100000">
                <a:schemeClr val="folHlink"/>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02" name="Google Shape;202;p26"/>
          <p:cNvSpPr/>
          <p:nvPr/>
        </p:nvSpPr>
        <p:spPr>
          <a:xfrm>
            <a:off x="1524000" y="2286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03" name="Google Shape;203;p26"/>
          <p:cNvSpPr/>
          <p:nvPr/>
        </p:nvSpPr>
        <p:spPr>
          <a:xfrm>
            <a:off x="1524000" y="3048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04" name="Google Shape;204;p26"/>
          <p:cNvSpPr/>
          <p:nvPr/>
        </p:nvSpPr>
        <p:spPr>
          <a:xfrm>
            <a:off x="1524000" y="3810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05" name="Google Shape;205;p26"/>
          <p:cNvSpPr/>
          <p:nvPr/>
        </p:nvSpPr>
        <p:spPr>
          <a:xfrm>
            <a:off x="2590800" y="2286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06" name="Google Shape;206;p26"/>
          <p:cNvSpPr/>
          <p:nvPr/>
        </p:nvSpPr>
        <p:spPr>
          <a:xfrm>
            <a:off x="2590800" y="3048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07" name="Google Shape;207;p26"/>
          <p:cNvSpPr/>
          <p:nvPr/>
        </p:nvSpPr>
        <p:spPr>
          <a:xfrm>
            <a:off x="2590800" y="3810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08" name="Google Shape;208;p26"/>
          <p:cNvSpPr/>
          <p:nvPr/>
        </p:nvSpPr>
        <p:spPr>
          <a:xfrm>
            <a:off x="3657600" y="2286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09" name="Google Shape;209;p26"/>
          <p:cNvSpPr/>
          <p:nvPr/>
        </p:nvSpPr>
        <p:spPr>
          <a:xfrm>
            <a:off x="3657600" y="3048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10" name="Google Shape;210;p26"/>
          <p:cNvSpPr/>
          <p:nvPr/>
        </p:nvSpPr>
        <p:spPr>
          <a:xfrm>
            <a:off x="3657600" y="3810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11" name="Google Shape;211;p26"/>
          <p:cNvSpPr/>
          <p:nvPr/>
        </p:nvSpPr>
        <p:spPr>
          <a:xfrm>
            <a:off x="4724400" y="2286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12" name="Google Shape;212;p26"/>
          <p:cNvSpPr/>
          <p:nvPr/>
        </p:nvSpPr>
        <p:spPr>
          <a:xfrm>
            <a:off x="4724400" y="3048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13" name="Google Shape;213;p26"/>
          <p:cNvSpPr/>
          <p:nvPr/>
        </p:nvSpPr>
        <p:spPr>
          <a:xfrm>
            <a:off x="4724400" y="3810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14" name="Google Shape;214;p26"/>
          <p:cNvSpPr/>
          <p:nvPr/>
        </p:nvSpPr>
        <p:spPr>
          <a:xfrm>
            <a:off x="5791200" y="2286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15" name="Google Shape;215;p26"/>
          <p:cNvSpPr/>
          <p:nvPr/>
        </p:nvSpPr>
        <p:spPr>
          <a:xfrm>
            <a:off x="5791200" y="3048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16" name="Google Shape;216;p26"/>
          <p:cNvSpPr/>
          <p:nvPr/>
        </p:nvSpPr>
        <p:spPr>
          <a:xfrm>
            <a:off x="5791200" y="3810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17" name="Google Shape;217;p26"/>
          <p:cNvSpPr/>
          <p:nvPr/>
        </p:nvSpPr>
        <p:spPr>
          <a:xfrm>
            <a:off x="1600200" y="29718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18" name="Google Shape;218;p26"/>
          <p:cNvSpPr/>
          <p:nvPr/>
        </p:nvSpPr>
        <p:spPr>
          <a:xfrm>
            <a:off x="2590800" y="23622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19" name="Google Shape;219;p26"/>
          <p:cNvSpPr/>
          <p:nvPr/>
        </p:nvSpPr>
        <p:spPr>
          <a:xfrm>
            <a:off x="1600200" y="38100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20" name="Google Shape;220;p26"/>
          <p:cNvSpPr/>
          <p:nvPr/>
        </p:nvSpPr>
        <p:spPr>
          <a:xfrm>
            <a:off x="2514600" y="44196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21" name="Google Shape;221;p26"/>
          <p:cNvSpPr/>
          <p:nvPr/>
        </p:nvSpPr>
        <p:spPr>
          <a:xfrm>
            <a:off x="3657600" y="30480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22" name="Google Shape;222;p26"/>
          <p:cNvSpPr/>
          <p:nvPr/>
        </p:nvSpPr>
        <p:spPr>
          <a:xfrm>
            <a:off x="2514600" y="38100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23" name="Google Shape;223;p26"/>
          <p:cNvSpPr/>
          <p:nvPr/>
        </p:nvSpPr>
        <p:spPr>
          <a:xfrm>
            <a:off x="3657600" y="38100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24" name="Google Shape;224;p26"/>
          <p:cNvSpPr/>
          <p:nvPr/>
        </p:nvSpPr>
        <p:spPr>
          <a:xfrm>
            <a:off x="4648200" y="38100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25" name="Google Shape;225;p26"/>
          <p:cNvSpPr/>
          <p:nvPr/>
        </p:nvSpPr>
        <p:spPr>
          <a:xfrm>
            <a:off x="4648200" y="31242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26" name="Google Shape;226;p26"/>
          <p:cNvSpPr/>
          <p:nvPr/>
        </p:nvSpPr>
        <p:spPr>
          <a:xfrm>
            <a:off x="4648200" y="22860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27" name="Google Shape;227;p26"/>
          <p:cNvSpPr/>
          <p:nvPr/>
        </p:nvSpPr>
        <p:spPr>
          <a:xfrm>
            <a:off x="5791200" y="37338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28" name="Google Shape;228;p26"/>
          <p:cNvSpPr/>
          <p:nvPr/>
        </p:nvSpPr>
        <p:spPr>
          <a:xfrm>
            <a:off x="5791200" y="44196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29" name="Google Shape;229;p26"/>
          <p:cNvSpPr/>
          <p:nvPr/>
        </p:nvSpPr>
        <p:spPr>
          <a:xfrm>
            <a:off x="5791200" y="29718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30" name="Google Shape;230;p26"/>
          <p:cNvSpPr/>
          <p:nvPr/>
        </p:nvSpPr>
        <p:spPr>
          <a:xfrm>
            <a:off x="5791200" y="23622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31" name="Google Shape;231;p26"/>
          <p:cNvSpPr/>
          <p:nvPr/>
        </p:nvSpPr>
        <p:spPr>
          <a:xfrm>
            <a:off x="6705600" y="30480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32" name="Google Shape;232;p26"/>
          <p:cNvSpPr/>
          <p:nvPr/>
        </p:nvSpPr>
        <p:spPr>
          <a:xfrm>
            <a:off x="6629400" y="23622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33" name="Google Shape;233;p26"/>
          <p:cNvSpPr/>
          <p:nvPr/>
        </p:nvSpPr>
        <p:spPr>
          <a:xfrm>
            <a:off x="6781800" y="27432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34" name="Google Shape;234;p26"/>
          <p:cNvSpPr/>
          <p:nvPr/>
        </p:nvSpPr>
        <p:spPr>
          <a:xfrm>
            <a:off x="6553200" y="35052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35" name="Google Shape;235;p26"/>
          <p:cNvSpPr/>
          <p:nvPr/>
        </p:nvSpPr>
        <p:spPr>
          <a:xfrm>
            <a:off x="6629400" y="42672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36" name="Google Shape;236;p26"/>
          <p:cNvSpPr txBox="1"/>
          <p:nvPr/>
        </p:nvSpPr>
        <p:spPr>
          <a:xfrm>
            <a:off x="1600200" y="1243906"/>
            <a:ext cx="6015000" cy="156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chemeClr val="lt1"/>
                </a:solidFill>
              </a:rPr>
              <a:t>The outer e_______ for metal atoms drift, and are free to move.</a:t>
            </a:r>
            <a:endParaRPr/>
          </a:p>
          <a:p>
            <a:pPr indent="0" lvl="0" marL="0" marR="0" rtl="0" algn="l">
              <a:spcBef>
                <a:spcPts val="1400"/>
              </a:spcBef>
              <a:spcAft>
                <a:spcPts val="0"/>
              </a:spcAft>
              <a:buNone/>
            </a:pPr>
            <a:r>
              <a:t/>
            </a:r>
            <a:endParaRPr sz="2800">
              <a:solidFill>
                <a:schemeClr val="lt1"/>
              </a:solidFill>
              <a:latin typeface="Comic Sans MS"/>
              <a:ea typeface="Comic Sans MS"/>
              <a:cs typeface="Comic Sans MS"/>
              <a:sym typeface="Comic Sans MS"/>
            </a:endParaRPr>
          </a:p>
        </p:txBody>
      </p:sp>
      <p:sp>
        <p:nvSpPr>
          <p:cNvPr id="237" name="Google Shape;237;p26"/>
          <p:cNvSpPr/>
          <p:nvPr/>
        </p:nvSpPr>
        <p:spPr>
          <a:xfrm>
            <a:off x="6934200" y="2325231"/>
            <a:ext cx="5257800" cy="310854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800">
                <a:solidFill>
                  <a:schemeClr val="lt1"/>
                </a:solidFill>
              </a:rPr>
              <a:t>When the metal is heated or an electric current is passed though it, this </a:t>
            </a:r>
            <a:r>
              <a:rPr b="1" lang="en-GB" sz="2800" u="sng">
                <a:solidFill>
                  <a:schemeClr val="lt1"/>
                </a:solidFill>
              </a:rPr>
              <a:t>‘Sea of electrons</a:t>
            </a:r>
            <a:r>
              <a:rPr lang="en-GB" sz="2800">
                <a:solidFill>
                  <a:schemeClr val="lt1"/>
                </a:solidFill>
              </a:rPr>
              <a:t>’ gain k_____ energy and transfer throughout the metal, taking heat or electricity with them.</a:t>
            </a:r>
            <a:endParaRPr/>
          </a:p>
        </p:txBody>
      </p:sp>
      <p:sp>
        <p:nvSpPr>
          <p:cNvPr id="238" name="Google Shape;238;p26"/>
          <p:cNvSpPr/>
          <p:nvPr/>
        </p:nvSpPr>
        <p:spPr>
          <a:xfrm>
            <a:off x="2955387" y="5379220"/>
            <a:ext cx="9044353" cy="138499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2800">
                <a:solidFill>
                  <a:schemeClr val="lt1"/>
                </a:solidFill>
              </a:rPr>
              <a:t>Insulators</a:t>
            </a:r>
            <a:r>
              <a:rPr lang="en-GB" sz="2800">
                <a:solidFill>
                  <a:schemeClr val="lt1"/>
                </a:solidFill>
              </a:rPr>
              <a:t>, such as w___ and p____, </a:t>
            </a:r>
            <a:r>
              <a:rPr b="1" lang="en-GB" sz="2800">
                <a:solidFill>
                  <a:schemeClr val="lt1"/>
                </a:solidFill>
              </a:rPr>
              <a:t>do not </a:t>
            </a:r>
            <a:r>
              <a:rPr lang="en-GB" sz="2800">
                <a:solidFill>
                  <a:schemeClr val="lt1"/>
                </a:solidFill>
              </a:rPr>
              <a:t>have this ‘Sea of electrons’ which is why they do not conduct heat or electricity like metals.</a:t>
            </a:r>
            <a:endParaRPr/>
          </a:p>
        </p:txBody>
      </p:sp>
      <p:sp>
        <p:nvSpPr>
          <p:cNvPr id="239" name="Google Shape;239;p26"/>
          <p:cNvSpPr/>
          <p:nvPr/>
        </p:nvSpPr>
        <p:spPr>
          <a:xfrm>
            <a:off x="1752600" y="4876800"/>
            <a:ext cx="1371600" cy="1219200"/>
          </a:xfrm>
          <a:prstGeom prst="upArrow">
            <a:avLst>
              <a:gd fmla="val 50000" name="adj1"/>
              <a:gd fmla="val 25000" name="adj2"/>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40" name="Google Shape;240;p26"/>
          <p:cNvSpPr txBox="1"/>
          <p:nvPr/>
        </p:nvSpPr>
        <p:spPr>
          <a:xfrm>
            <a:off x="3581400" y="1219200"/>
            <a:ext cx="1828800" cy="113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C000"/>
                </a:solidFill>
              </a:rPr>
              <a:t>lectrons</a:t>
            </a:r>
            <a:endParaRPr/>
          </a:p>
          <a:p>
            <a:pPr indent="0" lvl="0" marL="0" marR="0" rtl="0" algn="l">
              <a:spcBef>
                <a:spcPts val="1400"/>
              </a:spcBef>
              <a:spcAft>
                <a:spcPts val="0"/>
              </a:spcAft>
              <a:buNone/>
            </a:pPr>
            <a:r>
              <a:t/>
            </a:r>
            <a:endParaRPr sz="2800">
              <a:solidFill>
                <a:srgbClr val="FFC000"/>
              </a:solidFill>
              <a:latin typeface="Comic Sans MS"/>
              <a:ea typeface="Comic Sans MS"/>
              <a:cs typeface="Comic Sans MS"/>
              <a:sym typeface="Comic Sans MS"/>
            </a:endParaRPr>
          </a:p>
        </p:txBody>
      </p:sp>
      <p:sp>
        <p:nvSpPr>
          <p:cNvPr id="241" name="Google Shape;241;p26"/>
          <p:cNvSpPr/>
          <p:nvPr/>
        </p:nvSpPr>
        <p:spPr>
          <a:xfrm>
            <a:off x="9706710" y="3553265"/>
            <a:ext cx="1383322" cy="533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800">
                <a:solidFill>
                  <a:srgbClr val="FFC000"/>
                </a:solidFill>
              </a:rPr>
              <a:t>inetic</a:t>
            </a:r>
            <a:endParaRPr sz="2800">
              <a:solidFill>
                <a:srgbClr val="FFC000"/>
              </a:solidFill>
            </a:endParaRPr>
          </a:p>
        </p:txBody>
      </p:sp>
      <p:sp>
        <p:nvSpPr>
          <p:cNvPr id="242" name="Google Shape;242;p26"/>
          <p:cNvSpPr/>
          <p:nvPr/>
        </p:nvSpPr>
        <p:spPr>
          <a:xfrm>
            <a:off x="6470727" y="5321275"/>
            <a:ext cx="900600" cy="52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800">
                <a:solidFill>
                  <a:srgbClr val="FFC000"/>
                </a:solidFill>
              </a:rPr>
              <a:t>ood</a:t>
            </a:r>
            <a:endParaRPr sz="2800">
              <a:solidFill>
                <a:srgbClr val="FFC000"/>
              </a:solidFill>
            </a:endParaRPr>
          </a:p>
        </p:txBody>
      </p:sp>
      <p:sp>
        <p:nvSpPr>
          <p:cNvPr id="243" name="Google Shape;243;p26"/>
          <p:cNvSpPr/>
          <p:nvPr/>
        </p:nvSpPr>
        <p:spPr>
          <a:xfrm>
            <a:off x="8101502" y="5370514"/>
            <a:ext cx="1096775"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800">
                <a:solidFill>
                  <a:srgbClr val="FFC000"/>
                </a:solidFill>
              </a:rPr>
              <a:t>lastic</a:t>
            </a:r>
            <a:endParaRPr sz="2800">
              <a:solidFill>
                <a:srgbClr val="FFC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7"/>
          <p:cNvSpPr/>
          <p:nvPr/>
        </p:nvSpPr>
        <p:spPr>
          <a:xfrm>
            <a:off x="1701800" y="5584826"/>
            <a:ext cx="7962900" cy="7016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000">
                <a:solidFill>
                  <a:schemeClr val="dk1"/>
                </a:solidFill>
                <a:latin typeface="Comic Sans MS"/>
                <a:ea typeface="Comic Sans MS"/>
                <a:cs typeface="Comic Sans MS"/>
                <a:sym typeface="Comic Sans MS"/>
              </a:rPr>
              <a:t>Resistance is a measure of how much a material tries to stop electricity passing through it.</a:t>
            </a:r>
            <a:endParaRPr/>
          </a:p>
        </p:txBody>
      </p:sp>
      <p:sp>
        <p:nvSpPr>
          <p:cNvPr id="249" name="Google Shape;249;p27"/>
          <p:cNvSpPr txBox="1"/>
          <p:nvPr>
            <p:ph type="title"/>
          </p:nvPr>
        </p:nvSpPr>
        <p:spPr>
          <a:xfrm>
            <a:off x="739726" y="-153946"/>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omic Sans MS"/>
              <a:buNone/>
            </a:pPr>
            <a:r>
              <a:rPr lang="en-GB">
                <a:solidFill>
                  <a:schemeClr val="lt1"/>
                </a:solidFill>
                <a:latin typeface="Arial"/>
                <a:ea typeface="Arial"/>
                <a:cs typeface="Arial"/>
                <a:sym typeface="Arial"/>
              </a:rPr>
              <a:t>Why do metals conduct electricity?</a:t>
            </a:r>
            <a:endParaRPr>
              <a:latin typeface="Arial"/>
              <a:ea typeface="Arial"/>
              <a:cs typeface="Arial"/>
              <a:sym typeface="Arial"/>
            </a:endParaRPr>
          </a:p>
        </p:txBody>
      </p:sp>
      <p:sp>
        <p:nvSpPr>
          <p:cNvPr id="250" name="Google Shape;250;p27"/>
          <p:cNvSpPr txBox="1"/>
          <p:nvPr>
            <p:ph idx="1" type="body"/>
          </p:nvPr>
        </p:nvSpPr>
        <p:spPr>
          <a:xfrm>
            <a:off x="340652" y="1306419"/>
            <a:ext cx="2971605"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C000"/>
              </a:buClr>
              <a:buSzPts val="2800"/>
              <a:buNone/>
            </a:pPr>
            <a:r>
              <a:rPr lang="en-GB">
                <a:solidFill>
                  <a:srgbClr val="00FF00"/>
                </a:solidFill>
                <a:latin typeface="Arial"/>
                <a:ea typeface="Arial"/>
                <a:cs typeface="Arial"/>
                <a:sym typeface="Arial"/>
              </a:rPr>
              <a:t>Because electrons are negatively charged, they are attracted towards the positive terminal of the cell or battery when the power is on.</a:t>
            </a:r>
            <a:endParaRPr>
              <a:solidFill>
                <a:srgbClr val="00FF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8"/>
          <p:cNvSpPr txBox="1"/>
          <p:nvPr>
            <p:ph type="title"/>
          </p:nvPr>
        </p:nvSpPr>
        <p:spPr>
          <a:xfrm>
            <a:off x="874690" y="149068"/>
            <a:ext cx="8229600" cy="11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FF00"/>
              </a:buClr>
              <a:buSzPts val="4400"/>
              <a:buFont typeface="Comic Sans MS"/>
              <a:buNone/>
            </a:pPr>
            <a:r>
              <a:rPr lang="en-GB">
                <a:solidFill>
                  <a:srgbClr val="00FF00"/>
                </a:solidFill>
                <a:latin typeface="Arial"/>
                <a:ea typeface="Arial"/>
                <a:cs typeface="Arial"/>
                <a:sym typeface="Arial"/>
              </a:rPr>
              <a:t>Circuit Symbols</a:t>
            </a:r>
            <a:endParaRPr>
              <a:solidFill>
                <a:srgbClr val="00FF00"/>
              </a:solidFill>
              <a:latin typeface="Arial"/>
              <a:ea typeface="Arial"/>
              <a:cs typeface="Arial"/>
              <a:sym typeface="Arial"/>
            </a:endParaRPr>
          </a:p>
        </p:txBody>
      </p:sp>
      <p:pic>
        <p:nvPicPr>
          <p:cNvPr descr="Image: circuit symbols" id="256" name="Google Shape;256;p28"/>
          <p:cNvPicPr preferRelativeResize="0"/>
          <p:nvPr>
            <p:ph idx="4294967295" type="body"/>
          </p:nvPr>
        </p:nvPicPr>
        <p:blipFill rotWithShape="1">
          <a:blip r:embed="rId3">
            <a:alphaModFix/>
          </a:blip>
          <a:srcRect b="0" l="0" r="0" t="0"/>
          <a:stretch/>
        </p:blipFill>
        <p:spPr>
          <a:xfrm>
            <a:off x="3195748" y="996951"/>
            <a:ext cx="6432417" cy="5732461"/>
          </a:xfrm>
          <a:prstGeom prst="rect">
            <a:avLst/>
          </a:prstGeom>
          <a:noFill/>
          <a:ln>
            <a:noFill/>
          </a:ln>
        </p:spPr>
      </p:pic>
      <p:sp>
        <p:nvSpPr>
          <p:cNvPr id="257" name="Google Shape;257;p28"/>
          <p:cNvSpPr/>
          <p:nvPr/>
        </p:nvSpPr>
        <p:spPr>
          <a:xfrm>
            <a:off x="3195748" y="996951"/>
            <a:ext cx="6432416" cy="3575250"/>
          </a:xfrm>
          <a:prstGeom prst="rect">
            <a:avLst/>
          </a:prstGeom>
          <a:noFill/>
          <a:ln cap="flat" cmpd="sng" w="76200">
            <a:solidFill>
              <a:srgbClr val="FF006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500"/>
                                        <p:tgtEl>
                                          <p:spTgt spid="2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61" name="Shape 261"/>
        <p:cNvGrpSpPr/>
        <p:nvPr/>
      </p:nvGrpSpPr>
      <p:grpSpPr>
        <a:xfrm>
          <a:off x="0" y="0"/>
          <a:ext cx="0" cy="0"/>
          <a:chOff x="0" y="0"/>
          <a:chExt cx="0" cy="0"/>
        </a:xfrm>
      </p:grpSpPr>
      <p:sp>
        <p:nvSpPr>
          <p:cNvPr id="262" name="Google Shape;262;p29"/>
          <p:cNvSpPr txBox="1"/>
          <p:nvPr>
            <p:ph type="title"/>
          </p:nvPr>
        </p:nvSpPr>
        <p:spPr>
          <a:xfrm>
            <a:off x="142741" y="158236"/>
            <a:ext cx="3205766" cy="510638"/>
          </a:xfrm>
          <a:prstGeom prst="rect">
            <a:avLst/>
          </a:prstGeom>
          <a:solidFill>
            <a:srgbClr val="660066"/>
          </a:solid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3600"/>
              <a:buFont typeface="Comic Sans MS"/>
              <a:buNone/>
            </a:pPr>
            <a:r>
              <a:rPr lang="en-GB" sz="3600">
                <a:solidFill>
                  <a:schemeClr val="lt1"/>
                </a:solidFill>
                <a:latin typeface="Arial"/>
                <a:ea typeface="Arial"/>
                <a:cs typeface="Arial"/>
                <a:sym typeface="Arial"/>
              </a:rPr>
              <a:t>Series circuit</a:t>
            </a:r>
            <a:endParaRPr sz="3600">
              <a:solidFill>
                <a:schemeClr val="lt1"/>
              </a:solidFill>
              <a:latin typeface="Arial"/>
              <a:ea typeface="Arial"/>
              <a:cs typeface="Arial"/>
              <a:sym typeface="Arial"/>
            </a:endParaRPr>
          </a:p>
        </p:txBody>
      </p:sp>
      <p:sp>
        <p:nvSpPr>
          <p:cNvPr id="263" name="Google Shape;263;p29"/>
          <p:cNvSpPr txBox="1"/>
          <p:nvPr>
            <p:ph idx="1" type="body"/>
          </p:nvPr>
        </p:nvSpPr>
        <p:spPr>
          <a:xfrm>
            <a:off x="142742" y="1825625"/>
            <a:ext cx="2845158" cy="265622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800"/>
              <a:buNone/>
            </a:pPr>
            <a:r>
              <a:rPr lang="en-GB">
                <a:solidFill>
                  <a:schemeClr val="lt1"/>
                </a:solidFill>
                <a:latin typeface="Arial"/>
                <a:ea typeface="Arial"/>
                <a:cs typeface="Arial"/>
                <a:sym typeface="Arial"/>
              </a:rPr>
              <a:t>Series circuits are ones where components are connected in one continuous loop or ‘circle’.</a:t>
            </a:r>
            <a:endParaRPr>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0"/>
          <p:cNvSpPr txBox="1"/>
          <p:nvPr>
            <p:ph type="title"/>
          </p:nvPr>
        </p:nvSpPr>
        <p:spPr>
          <a:xfrm>
            <a:off x="1524000" y="0"/>
            <a:ext cx="4191000" cy="609600"/>
          </a:xfrm>
          <a:prstGeom prst="rect">
            <a:avLst/>
          </a:prstGeom>
          <a:solidFill>
            <a:srgbClr val="660066"/>
          </a:solid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Comic Sans MS"/>
              <a:buNone/>
            </a:pPr>
            <a:r>
              <a:rPr lang="en-GB" sz="4000">
                <a:solidFill>
                  <a:schemeClr val="lt1"/>
                </a:solidFill>
                <a:latin typeface="Arial"/>
                <a:ea typeface="Arial"/>
                <a:cs typeface="Arial"/>
                <a:sym typeface="Arial"/>
              </a:rPr>
              <a:t>Parallel circuits</a:t>
            </a:r>
            <a:endParaRPr sz="4000">
              <a:solidFill>
                <a:schemeClr val="lt1"/>
              </a:solidFill>
              <a:latin typeface="Arial"/>
              <a:ea typeface="Arial"/>
              <a:cs typeface="Arial"/>
              <a:sym typeface="Arial"/>
            </a:endParaRPr>
          </a:p>
        </p:txBody>
      </p:sp>
      <p:sp>
        <p:nvSpPr>
          <p:cNvPr id="269" name="Google Shape;269;p30"/>
          <p:cNvSpPr txBox="1"/>
          <p:nvPr/>
        </p:nvSpPr>
        <p:spPr>
          <a:xfrm>
            <a:off x="142742" y="1825625"/>
            <a:ext cx="2845158" cy="265622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800"/>
              <a:buFont typeface="Arial"/>
              <a:buNone/>
            </a:pPr>
            <a:r>
              <a:rPr lang="en-GB" sz="2800">
                <a:solidFill>
                  <a:schemeClr val="lt1"/>
                </a:solidFill>
              </a:rPr>
              <a:t>Parallel circuits have </a:t>
            </a:r>
            <a:r>
              <a:rPr b="1" lang="en-GB" sz="2800">
                <a:solidFill>
                  <a:schemeClr val="lt1"/>
                </a:solidFill>
              </a:rPr>
              <a:t>two or more </a:t>
            </a:r>
            <a:r>
              <a:rPr lang="en-GB" sz="2800">
                <a:solidFill>
                  <a:schemeClr val="lt1"/>
                </a:solidFill>
              </a:rPr>
              <a:t>separate loops coming of the same power source.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1"/>
          <p:cNvSpPr txBox="1"/>
          <p:nvPr>
            <p:ph type="title"/>
          </p:nvPr>
        </p:nvSpPr>
        <p:spPr>
          <a:xfrm>
            <a:off x="0" y="-143877"/>
            <a:ext cx="672435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omic Sans MS"/>
              <a:buNone/>
            </a:pPr>
            <a:r>
              <a:rPr lang="en-GB">
                <a:solidFill>
                  <a:schemeClr val="lt1"/>
                </a:solidFill>
                <a:latin typeface="Arial"/>
                <a:ea typeface="Arial"/>
                <a:cs typeface="Arial"/>
                <a:sym typeface="Arial"/>
              </a:rPr>
              <a:t>Your Turn!</a:t>
            </a:r>
            <a:endParaRPr>
              <a:latin typeface="Arial"/>
              <a:ea typeface="Arial"/>
              <a:cs typeface="Arial"/>
              <a:sym typeface="Arial"/>
            </a:endParaRPr>
          </a:p>
        </p:txBody>
      </p:sp>
      <p:sp>
        <p:nvSpPr>
          <p:cNvPr id="275" name="Google Shape;275;p31"/>
          <p:cNvSpPr txBox="1"/>
          <p:nvPr>
            <p:ph idx="1" type="body"/>
          </p:nvPr>
        </p:nvSpPr>
        <p:spPr>
          <a:xfrm>
            <a:off x="126610" y="1181686"/>
            <a:ext cx="6274190" cy="545826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GB">
                <a:solidFill>
                  <a:schemeClr val="lt1"/>
                </a:solidFill>
                <a:latin typeface="Arial"/>
                <a:ea typeface="Arial"/>
                <a:cs typeface="Arial"/>
                <a:sym typeface="Arial"/>
              </a:rPr>
              <a:t>Complete the crossword, using information covered today and your general knowledge.  </a:t>
            </a:r>
            <a:endParaRPr>
              <a:latin typeface="Arial"/>
              <a:ea typeface="Arial"/>
              <a:cs typeface="Arial"/>
              <a:sym typeface="Arial"/>
            </a:endParaRPr>
          </a:p>
          <a:p>
            <a:pPr indent="-50800" lvl="0" marL="228600" rtl="0" algn="l">
              <a:lnSpc>
                <a:spcPct val="90000"/>
              </a:lnSpc>
              <a:spcBef>
                <a:spcPts val="1000"/>
              </a:spcBef>
              <a:spcAft>
                <a:spcPts val="0"/>
              </a:spcAft>
              <a:buClr>
                <a:schemeClr val="dk1"/>
              </a:buClr>
              <a:buSzPts val="2800"/>
              <a:buNone/>
            </a:pPr>
            <a:r>
              <a:t/>
            </a:r>
            <a:endParaRPr>
              <a:solidFill>
                <a:schemeClr val="lt1"/>
              </a:solidFill>
              <a:latin typeface="Arial"/>
              <a:ea typeface="Arial"/>
              <a:cs typeface="Arial"/>
              <a:sym typeface="Arial"/>
            </a:endParaRPr>
          </a:p>
          <a:p>
            <a:pPr indent="-228600" lvl="0" marL="228600" rtl="0" algn="l">
              <a:lnSpc>
                <a:spcPct val="90000"/>
              </a:lnSpc>
              <a:spcBef>
                <a:spcPts val="1000"/>
              </a:spcBef>
              <a:spcAft>
                <a:spcPts val="0"/>
              </a:spcAft>
              <a:buClr>
                <a:schemeClr val="lt1"/>
              </a:buClr>
              <a:buSzPts val="2800"/>
              <a:buChar char="•"/>
            </a:pPr>
            <a:r>
              <a:rPr lang="en-GB">
                <a:solidFill>
                  <a:schemeClr val="lt1"/>
                </a:solidFill>
                <a:latin typeface="Arial"/>
                <a:ea typeface="Arial"/>
                <a:cs typeface="Arial"/>
                <a:sym typeface="Arial"/>
              </a:rPr>
              <a:t>Clues for tricky ones:</a:t>
            </a:r>
            <a:endParaRPr>
              <a:latin typeface="Arial"/>
              <a:ea typeface="Arial"/>
              <a:cs typeface="Arial"/>
              <a:sym typeface="Arial"/>
            </a:endParaRPr>
          </a:p>
          <a:p>
            <a:pPr indent="-228600" lvl="0" marL="228600" rtl="0" algn="l">
              <a:lnSpc>
                <a:spcPct val="90000"/>
              </a:lnSpc>
              <a:spcBef>
                <a:spcPts val="1000"/>
              </a:spcBef>
              <a:spcAft>
                <a:spcPts val="0"/>
              </a:spcAft>
              <a:buClr>
                <a:schemeClr val="lt1"/>
              </a:buClr>
              <a:buSzPts val="2800"/>
              <a:buChar char="•"/>
            </a:pPr>
            <a:r>
              <a:rPr lang="en-GB" u="sng">
                <a:solidFill>
                  <a:schemeClr val="lt1"/>
                </a:solidFill>
                <a:latin typeface="Arial"/>
                <a:ea typeface="Arial"/>
                <a:cs typeface="Arial"/>
                <a:sym typeface="Arial"/>
              </a:rPr>
              <a:t>5 Across:  </a:t>
            </a:r>
            <a:r>
              <a:rPr lang="en-GB">
                <a:solidFill>
                  <a:schemeClr val="lt1"/>
                </a:solidFill>
                <a:latin typeface="Arial"/>
                <a:ea typeface="Arial"/>
                <a:cs typeface="Arial"/>
                <a:sym typeface="Arial"/>
              </a:rPr>
              <a:t>When you have too many electrical devices on and the electricity goes off, mum or dad say “we blew a ______”.</a:t>
            </a:r>
            <a:endParaRPr>
              <a:latin typeface="Arial"/>
              <a:ea typeface="Arial"/>
              <a:cs typeface="Arial"/>
              <a:sym typeface="Arial"/>
            </a:endParaRPr>
          </a:p>
          <a:p>
            <a:pPr indent="-228600" lvl="0" marL="228600" rtl="0" algn="l">
              <a:lnSpc>
                <a:spcPct val="90000"/>
              </a:lnSpc>
              <a:spcBef>
                <a:spcPts val="1000"/>
              </a:spcBef>
              <a:spcAft>
                <a:spcPts val="0"/>
              </a:spcAft>
              <a:buClr>
                <a:schemeClr val="lt1"/>
              </a:buClr>
              <a:buSzPts val="2800"/>
              <a:buChar char="•"/>
            </a:pPr>
            <a:r>
              <a:rPr lang="en-GB" u="sng">
                <a:solidFill>
                  <a:schemeClr val="lt1"/>
                </a:solidFill>
                <a:latin typeface="Arial"/>
                <a:ea typeface="Arial"/>
                <a:cs typeface="Arial"/>
                <a:sym typeface="Arial"/>
              </a:rPr>
              <a:t>7 Across:  </a:t>
            </a:r>
            <a:r>
              <a:rPr lang="en-GB">
                <a:solidFill>
                  <a:schemeClr val="lt1"/>
                </a:solidFill>
                <a:latin typeface="Arial"/>
                <a:ea typeface="Arial"/>
                <a:cs typeface="Arial"/>
                <a:sym typeface="Arial"/>
              </a:rPr>
              <a:t>If you are annoying someone, they might say “You’re getting on my _______!”</a:t>
            </a:r>
            <a:endParaRPr>
              <a:solidFill>
                <a:srgbClr val="FF0066"/>
              </a:solidFill>
              <a:latin typeface="Arial"/>
              <a:ea typeface="Arial"/>
              <a:cs typeface="Arial"/>
              <a:sym typeface="Arial"/>
            </a:endParaRPr>
          </a:p>
        </p:txBody>
      </p:sp>
      <p:pic>
        <p:nvPicPr>
          <p:cNvPr id="276" name="Google Shape;276;p31"/>
          <p:cNvPicPr preferRelativeResize="0"/>
          <p:nvPr/>
        </p:nvPicPr>
        <p:blipFill rotWithShape="1">
          <a:blip r:embed="rId3">
            <a:alphaModFix/>
          </a:blip>
          <a:srcRect b="0" l="0" r="0" t="0"/>
          <a:stretch/>
        </p:blipFill>
        <p:spPr>
          <a:xfrm>
            <a:off x="7328079" y="110022"/>
            <a:ext cx="4654103" cy="669646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2"/>
          <p:cNvSpPr/>
          <p:nvPr/>
        </p:nvSpPr>
        <p:spPr>
          <a:xfrm>
            <a:off x="1524000" y="0"/>
            <a:ext cx="9144000" cy="6921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4400">
                <a:solidFill>
                  <a:srgbClr val="FFFF00"/>
                </a:solidFill>
              </a:rPr>
              <a:t>Drawing Circuits</a:t>
            </a:r>
            <a:endParaRPr sz="4400">
              <a:solidFill>
                <a:srgbClr val="FFFF00"/>
              </a:solidFill>
            </a:endParaRPr>
          </a:p>
        </p:txBody>
      </p:sp>
      <p:sp>
        <p:nvSpPr>
          <p:cNvPr id="282" name="Google Shape;282;p32"/>
          <p:cNvSpPr txBox="1"/>
          <p:nvPr/>
        </p:nvSpPr>
        <p:spPr>
          <a:xfrm>
            <a:off x="4625975" y="1036639"/>
            <a:ext cx="316865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99CCFF"/>
                </a:solidFill>
              </a:rPr>
              <a:t>1)  A cell, a bulb and a switch “in series”</a:t>
            </a:r>
            <a:endParaRPr sz="2400">
              <a:solidFill>
                <a:srgbClr val="99CCFF"/>
              </a:solidFill>
            </a:endParaRPr>
          </a:p>
        </p:txBody>
      </p:sp>
      <p:sp>
        <p:nvSpPr>
          <p:cNvPr id="283" name="Google Shape;283;p32"/>
          <p:cNvSpPr txBox="1"/>
          <p:nvPr/>
        </p:nvSpPr>
        <p:spPr>
          <a:xfrm>
            <a:off x="5181601" y="4559300"/>
            <a:ext cx="2373300" cy="1569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99FFCC"/>
                </a:solidFill>
              </a:rPr>
              <a:t>2)  A battery of cells, a switch and two bulbs in series</a:t>
            </a:r>
            <a:endParaRPr sz="2400">
              <a:solidFill>
                <a:srgbClr val="99FFCC"/>
              </a:solidFill>
            </a:endParaRPr>
          </a:p>
        </p:txBody>
      </p:sp>
      <p:grpSp>
        <p:nvGrpSpPr>
          <p:cNvPr id="284" name="Google Shape;284;p32"/>
          <p:cNvGrpSpPr/>
          <p:nvPr/>
        </p:nvGrpSpPr>
        <p:grpSpPr>
          <a:xfrm>
            <a:off x="7904164" y="936625"/>
            <a:ext cx="2763837" cy="2438400"/>
            <a:chOff x="144" y="720"/>
            <a:chExt cx="1741" cy="1536"/>
          </a:xfrm>
        </p:grpSpPr>
        <p:grpSp>
          <p:nvGrpSpPr>
            <p:cNvPr id="285" name="Google Shape;285;p32"/>
            <p:cNvGrpSpPr/>
            <p:nvPr/>
          </p:nvGrpSpPr>
          <p:grpSpPr>
            <a:xfrm>
              <a:off x="144" y="720"/>
              <a:ext cx="1741" cy="1536"/>
              <a:chOff x="144" y="720"/>
              <a:chExt cx="1741" cy="1536"/>
            </a:xfrm>
          </p:grpSpPr>
          <p:cxnSp>
            <p:nvCxnSpPr>
              <p:cNvPr id="286" name="Google Shape;286;p32"/>
              <p:cNvCxnSpPr/>
              <p:nvPr/>
            </p:nvCxnSpPr>
            <p:spPr>
              <a:xfrm>
                <a:off x="144" y="912"/>
                <a:ext cx="0" cy="1153"/>
              </a:xfrm>
              <a:prstGeom prst="straightConnector1">
                <a:avLst/>
              </a:prstGeom>
              <a:noFill/>
              <a:ln cap="flat" cmpd="sng" w="19050">
                <a:solidFill>
                  <a:schemeClr val="lt1"/>
                </a:solidFill>
                <a:prstDash val="solid"/>
                <a:round/>
                <a:headEnd len="med" w="med" type="none"/>
                <a:tailEnd len="med" w="med" type="none"/>
              </a:ln>
            </p:spPr>
          </p:cxnSp>
          <p:cxnSp>
            <p:nvCxnSpPr>
              <p:cNvPr id="287" name="Google Shape;287;p32"/>
              <p:cNvCxnSpPr/>
              <p:nvPr/>
            </p:nvCxnSpPr>
            <p:spPr>
              <a:xfrm>
                <a:off x="145" y="2064"/>
                <a:ext cx="528" cy="0"/>
              </a:xfrm>
              <a:prstGeom prst="straightConnector1">
                <a:avLst/>
              </a:prstGeom>
              <a:noFill/>
              <a:ln cap="flat" cmpd="sng" w="19050">
                <a:solidFill>
                  <a:schemeClr val="lt1"/>
                </a:solidFill>
                <a:prstDash val="solid"/>
                <a:round/>
                <a:headEnd len="med" w="med" type="none"/>
                <a:tailEnd len="med" w="med" type="none"/>
              </a:ln>
            </p:spPr>
          </p:cxnSp>
          <p:cxnSp>
            <p:nvCxnSpPr>
              <p:cNvPr id="288" name="Google Shape;288;p32"/>
              <p:cNvCxnSpPr/>
              <p:nvPr/>
            </p:nvCxnSpPr>
            <p:spPr>
              <a:xfrm>
                <a:off x="1056" y="2064"/>
                <a:ext cx="721" cy="0"/>
              </a:xfrm>
              <a:prstGeom prst="straightConnector1">
                <a:avLst/>
              </a:prstGeom>
              <a:noFill/>
              <a:ln cap="flat" cmpd="sng" w="19050">
                <a:solidFill>
                  <a:schemeClr val="lt1"/>
                </a:solidFill>
                <a:prstDash val="solid"/>
                <a:round/>
                <a:headEnd len="med" w="med" type="none"/>
                <a:tailEnd len="med" w="med" type="none"/>
              </a:ln>
            </p:spPr>
          </p:cxnSp>
          <p:cxnSp>
            <p:nvCxnSpPr>
              <p:cNvPr id="289" name="Google Shape;289;p32"/>
              <p:cNvCxnSpPr/>
              <p:nvPr/>
            </p:nvCxnSpPr>
            <p:spPr>
              <a:xfrm rot="10800000">
                <a:off x="1776" y="912"/>
                <a:ext cx="0" cy="477"/>
              </a:xfrm>
              <a:prstGeom prst="straightConnector1">
                <a:avLst/>
              </a:prstGeom>
              <a:noFill/>
              <a:ln cap="flat" cmpd="sng" w="19050">
                <a:solidFill>
                  <a:schemeClr val="lt1"/>
                </a:solidFill>
                <a:prstDash val="solid"/>
                <a:round/>
                <a:headEnd len="med" w="med" type="none"/>
                <a:tailEnd len="med" w="med" type="none"/>
              </a:ln>
            </p:spPr>
          </p:cxnSp>
          <p:cxnSp>
            <p:nvCxnSpPr>
              <p:cNvPr id="290" name="Google Shape;290;p32"/>
              <p:cNvCxnSpPr/>
              <p:nvPr/>
            </p:nvCxnSpPr>
            <p:spPr>
              <a:xfrm>
                <a:off x="144" y="912"/>
                <a:ext cx="672" cy="0"/>
              </a:xfrm>
              <a:prstGeom prst="straightConnector1">
                <a:avLst/>
              </a:prstGeom>
              <a:noFill/>
              <a:ln cap="flat" cmpd="sng" w="19050">
                <a:solidFill>
                  <a:schemeClr val="lt1"/>
                </a:solidFill>
                <a:prstDash val="solid"/>
                <a:round/>
                <a:headEnd len="med" w="med" type="none"/>
                <a:tailEnd len="med" w="med" type="none"/>
              </a:ln>
            </p:spPr>
          </p:cxnSp>
          <p:cxnSp>
            <p:nvCxnSpPr>
              <p:cNvPr id="291" name="Google Shape;291;p32"/>
              <p:cNvCxnSpPr/>
              <p:nvPr/>
            </p:nvCxnSpPr>
            <p:spPr>
              <a:xfrm rot="10800000">
                <a:off x="960" y="912"/>
                <a:ext cx="816" cy="0"/>
              </a:xfrm>
              <a:prstGeom prst="straightConnector1">
                <a:avLst/>
              </a:prstGeom>
              <a:noFill/>
              <a:ln cap="flat" cmpd="sng" w="19050">
                <a:solidFill>
                  <a:schemeClr val="lt1"/>
                </a:solidFill>
                <a:prstDash val="solid"/>
                <a:round/>
                <a:headEnd len="med" w="med" type="none"/>
                <a:tailEnd len="med" w="med" type="none"/>
              </a:ln>
            </p:spPr>
          </p:cxnSp>
          <p:cxnSp>
            <p:nvCxnSpPr>
              <p:cNvPr id="292" name="Google Shape;292;p32"/>
              <p:cNvCxnSpPr/>
              <p:nvPr/>
            </p:nvCxnSpPr>
            <p:spPr>
              <a:xfrm>
                <a:off x="816" y="720"/>
                <a:ext cx="0" cy="384"/>
              </a:xfrm>
              <a:prstGeom prst="straightConnector1">
                <a:avLst/>
              </a:prstGeom>
              <a:noFill/>
              <a:ln cap="flat" cmpd="sng" w="19050">
                <a:solidFill>
                  <a:schemeClr val="lt1"/>
                </a:solidFill>
                <a:prstDash val="solid"/>
                <a:round/>
                <a:headEnd len="med" w="med" type="none"/>
                <a:tailEnd len="med" w="med" type="none"/>
              </a:ln>
            </p:spPr>
          </p:cxnSp>
          <p:sp>
            <p:nvSpPr>
              <p:cNvPr id="293" name="Google Shape;293;p32"/>
              <p:cNvSpPr/>
              <p:nvPr/>
            </p:nvSpPr>
            <p:spPr>
              <a:xfrm>
                <a:off x="912" y="816"/>
                <a:ext cx="48" cy="192"/>
              </a:xfrm>
              <a:prstGeom prst="rect">
                <a:avLst/>
              </a:prstGeom>
              <a:solidFill>
                <a:schemeClr val="lt1"/>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 name="Google Shape;294;p32"/>
              <p:cNvSpPr/>
              <p:nvPr/>
            </p:nvSpPr>
            <p:spPr>
              <a:xfrm>
                <a:off x="672" y="1872"/>
                <a:ext cx="384" cy="384"/>
              </a:xfrm>
              <a:prstGeom prst="ellipse">
                <a:avLst/>
              </a:prstGeom>
              <a:noFill/>
              <a:ln cap="flat"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295" name="Google Shape;295;p32"/>
              <p:cNvCxnSpPr/>
              <p:nvPr/>
            </p:nvCxnSpPr>
            <p:spPr>
              <a:xfrm flipH="1" rot="10800000">
                <a:off x="720" y="1920"/>
                <a:ext cx="288" cy="288"/>
              </a:xfrm>
              <a:prstGeom prst="straightConnector1">
                <a:avLst/>
              </a:prstGeom>
              <a:noFill/>
              <a:ln cap="flat" cmpd="sng" w="19050">
                <a:solidFill>
                  <a:schemeClr val="lt1"/>
                </a:solidFill>
                <a:prstDash val="solid"/>
                <a:round/>
                <a:headEnd len="med" w="med" type="none"/>
                <a:tailEnd len="med" w="med" type="none"/>
              </a:ln>
            </p:spPr>
          </p:cxnSp>
          <p:cxnSp>
            <p:nvCxnSpPr>
              <p:cNvPr id="296" name="Google Shape;296;p32"/>
              <p:cNvCxnSpPr/>
              <p:nvPr/>
            </p:nvCxnSpPr>
            <p:spPr>
              <a:xfrm>
                <a:off x="720" y="1920"/>
                <a:ext cx="288" cy="288"/>
              </a:xfrm>
              <a:prstGeom prst="straightConnector1">
                <a:avLst/>
              </a:prstGeom>
              <a:noFill/>
              <a:ln cap="flat" cmpd="sng" w="19050">
                <a:solidFill>
                  <a:schemeClr val="lt1"/>
                </a:solidFill>
                <a:prstDash val="solid"/>
                <a:round/>
                <a:headEnd len="med" w="med" type="none"/>
                <a:tailEnd len="med" w="med" type="none"/>
              </a:ln>
            </p:spPr>
          </p:cxnSp>
          <p:cxnSp>
            <p:nvCxnSpPr>
              <p:cNvPr id="297" name="Google Shape;297;p32"/>
              <p:cNvCxnSpPr/>
              <p:nvPr/>
            </p:nvCxnSpPr>
            <p:spPr>
              <a:xfrm rot="10800000">
                <a:off x="1777" y="1706"/>
                <a:ext cx="0" cy="358"/>
              </a:xfrm>
              <a:prstGeom prst="straightConnector1">
                <a:avLst/>
              </a:prstGeom>
              <a:noFill/>
              <a:ln cap="flat" cmpd="sng" w="19050">
                <a:solidFill>
                  <a:schemeClr val="lt1"/>
                </a:solidFill>
                <a:prstDash val="solid"/>
                <a:round/>
                <a:headEnd len="med" w="med" type="none"/>
                <a:tailEnd len="med" w="med" type="none"/>
              </a:ln>
            </p:spPr>
          </p:cxnSp>
          <p:cxnSp>
            <p:nvCxnSpPr>
              <p:cNvPr id="298" name="Google Shape;298;p32"/>
              <p:cNvCxnSpPr/>
              <p:nvPr/>
            </p:nvCxnSpPr>
            <p:spPr>
              <a:xfrm flipH="1" rot="10800000">
                <a:off x="1777" y="1389"/>
                <a:ext cx="108" cy="317"/>
              </a:xfrm>
              <a:prstGeom prst="straightConnector1">
                <a:avLst/>
              </a:prstGeom>
              <a:noFill/>
              <a:ln cap="flat" cmpd="sng" w="19050">
                <a:solidFill>
                  <a:schemeClr val="lt1"/>
                </a:solidFill>
                <a:prstDash val="solid"/>
                <a:round/>
                <a:headEnd len="med" w="med" type="none"/>
                <a:tailEnd len="med" w="med" type="none"/>
              </a:ln>
            </p:spPr>
          </p:cxnSp>
        </p:grpSp>
        <p:sp>
          <p:nvSpPr>
            <p:cNvPr id="299" name="Google Shape;299;p32"/>
            <p:cNvSpPr/>
            <p:nvPr/>
          </p:nvSpPr>
          <p:spPr>
            <a:xfrm>
              <a:off x="1746" y="1669"/>
              <a:ext cx="66" cy="66"/>
            </a:xfrm>
            <a:prstGeom prst="ellipse">
              <a:avLst/>
            </a:prstGeom>
            <a:solidFill>
              <a:schemeClr val="dk2"/>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32"/>
            <p:cNvSpPr/>
            <p:nvPr/>
          </p:nvSpPr>
          <p:spPr>
            <a:xfrm>
              <a:off x="1743" y="1369"/>
              <a:ext cx="66" cy="66"/>
            </a:xfrm>
            <a:prstGeom prst="ellipse">
              <a:avLst/>
            </a:prstGeom>
            <a:solidFill>
              <a:schemeClr val="dk2"/>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01" name="Google Shape;301;p32"/>
          <p:cNvGrpSpPr/>
          <p:nvPr/>
        </p:nvGrpSpPr>
        <p:grpSpPr>
          <a:xfrm>
            <a:off x="7554913" y="4102100"/>
            <a:ext cx="2832100" cy="2438400"/>
            <a:chOff x="3833" y="2640"/>
            <a:chExt cx="1784" cy="1536"/>
          </a:xfrm>
        </p:grpSpPr>
        <p:grpSp>
          <p:nvGrpSpPr>
            <p:cNvPr id="302" name="Google Shape;302;p32"/>
            <p:cNvGrpSpPr/>
            <p:nvPr/>
          </p:nvGrpSpPr>
          <p:grpSpPr>
            <a:xfrm>
              <a:off x="3833" y="2640"/>
              <a:ext cx="1784" cy="1536"/>
              <a:chOff x="3833" y="2640"/>
              <a:chExt cx="1784" cy="1536"/>
            </a:xfrm>
          </p:grpSpPr>
          <p:cxnSp>
            <p:nvCxnSpPr>
              <p:cNvPr id="303" name="Google Shape;303;p32"/>
              <p:cNvCxnSpPr/>
              <p:nvPr/>
            </p:nvCxnSpPr>
            <p:spPr>
              <a:xfrm>
                <a:off x="3984" y="2832"/>
                <a:ext cx="0" cy="417"/>
              </a:xfrm>
              <a:prstGeom prst="straightConnector1">
                <a:avLst/>
              </a:prstGeom>
              <a:noFill/>
              <a:ln cap="flat" cmpd="sng" w="19050">
                <a:solidFill>
                  <a:schemeClr val="lt1"/>
                </a:solidFill>
                <a:prstDash val="solid"/>
                <a:round/>
                <a:headEnd len="med" w="med" type="none"/>
                <a:tailEnd len="med" w="med" type="none"/>
              </a:ln>
            </p:spPr>
          </p:cxnSp>
          <p:cxnSp>
            <p:nvCxnSpPr>
              <p:cNvPr id="304" name="Google Shape;304;p32"/>
              <p:cNvCxnSpPr/>
              <p:nvPr/>
            </p:nvCxnSpPr>
            <p:spPr>
              <a:xfrm>
                <a:off x="3985" y="3984"/>
                <a:ext cx="287" cy="0"/>
              </a:xfrm>
              <a:prstGeom prst="straightConnector1">
                <a:avLst/>
              </a:prstGeom>
              <a:noFill/>
              <a:ln cap="flat" cmpd="sng" w="19050">
                <a:solidFill>
                  <a:schemeClr val="lt1"/>
                </a:solidFill>
                <a:prstDash val="solid"/>
                <a:round/>
                <a:headEnd len="med" w="med" type="none"/>
                <a:tailEnd len="med" w="med" type="none"/>
              </a:ln>
            </p:spPr>
          </p:cxnSp>
          <p:cxnSp>
            <p:nvCxnSpPr>
              <p:cNvPr id="305" name="Google Shape;305;p32"/>
              <p:cNvCxnSpPr/>
              <p:nvPr/>
            </p:nvCxnSpPr>
            <p:spPr>
              <a:xfrm>
                <a:off x="5376" y="3984"/>
                <a:ext cx="241" cy="0"/>
              </a:xfrm>
              <a:prstGeom prst="straightConnector1">
                <a:avLst/>
              </a:prstGeom>
              <a:noFill/>
              <a:ln cap="flat" cmpd="sng" w="19050">
                <a:solidFill>
                  <a:schemeClr val="lt1"/>
                </a:solidFill>
                <a:prstDash val="solid"/>
                <a:round/>
                <a:headEnd len="med" w="med" type="none"/>
                <a:tailEnd len="med" w="med" type="none"/>
              </a:ln>
            </p:spPr>
          </p:cxnSp>
          <p:cxnSp>
            <p:nvCxnSpPr>
              <p:cNvPr id="306" name="Google Shape;306;p32"/>
              <p:cNvCxnSpPr/>
              <p:nvPr/>
            </p:nvCxnSpPr>
            <p:spPr>
              <a:xfrm rot="10800000">
                <a:off x="5616" y="2832"/>
                <a:ext cx="0" cy="1152"/>
              </a:xfrm>
              <a:prstGeom prst="straightConnector1">
                <a:avLst/>
              </a:prstGeom>
              <a:noFill/>
              <a:ln cap="flat" cmpd="sng" w="19050">
                <a:solidFill>
                  <a:schemeClr val="lt1"/>
                </a:solidFill>
                <a:prstDash val="solid"/>
                <a:round/>
                <a:headEnd len="med" w="med" type="none"/>
                <a:tailEnd len="med" w="med" type="none"/>
              </a:ln>
            </p:spPr>
          </p:cxnSp>
          <p:cxnSp>
            <p:nvCxnSpPr>
              <p:cNvPr id="307" name="Google Shape;307;p32"/>
              <p:cNvCxnSpPr/>
              <p:nvPr/>
            </p:nvCxnSpPr>
            <p:spPr>
              <a:xfrm>
                <a:off x="3984" y="2832"/>
                <a:ext cx="672" cy="0"/>
              </a:xfrm>
              <a:prstGeom prst="straightConnector1">
                <a:avLst/>
              </a:prstGeom>
              <a:noFill/>
              <a:ln cap="flat" cmpd="sng" w="19050">
                <a:solidFill>
                  <a:schemeClr val="lt1"/>
                </a:solidFill>
                <a:prstDash val="solid"/>
                <a:round/>
                <a:headEnd len="med" w="med" type="none"/>
                <a:tailEnd len="med" w="med" type="none"/>
              </a:ln>
            </p:spPr>
          </p:cxnSp>
          <p:cxnSp>
            <p:nvCxnSpPr>
              <p:cNvPr id="308" name="Google Shape;308;p32"/>
              <p:cNvCxnSpPr/>
              <p:nvPr/>
            </p:nvCxnSpPr>
            <p:spPr>
              <a:xfrm rot="10800000">
                <a:off x="4992" y="2832"/>
                <a:ext cx="624" cy="0"/>
              </a:xfrm>
              <a:prstGeom prst="straightConnector1">
                <a:avLst/>
              </a:prstGeom>
              <a:noFill/>
              <a:ln cap="flat" cmpd="sng" w="19050">
                <a:solidFill>
                  <a:schemeClr val="lt1"/>
                </a:solidFill>
                <a:prstDash val="solid"/>
                <a:round/>
                <a:headEnd len="med" w="med" type="none"/>
                <a:tailEnd len="med" w="med" type="none"/>
              </a:ln>
            </p:spPr>
          </p:cxnSp>
          <p:cxnSp>
            <p:nvCxnSpPr>
              <p:cNvPr id="309" name="Google Shape;309;p32"/>
              <p:cNvCxnSpPr/>
              <p:nvPr/>
            </p:nvCxnSpPr>
            <p:spPr>
              <a:xfrm>
                <a:off x="4656" y="2640"/>
                <a:ext cx="0" cy="384"/>
              </a:xfrm>
              <a:prstGeom prst="straightConnector1">
                <a:avLst/>
              </a:prstGeom>
              <a:noFill/>
              <a:ln cap="flat" cmpd="sng" w="19050">
                <a:solidFill>
                  <a:schemeClr val="lt1"/>
                </a:solidFill>
                <a:prstDash val="solid"/>
                <a:round/>
                <a:headEnd len="med" w="med" type="none"/>
                <a:tailEnd len="med" w="med" type="none"/>
              </a:ln>
            </p:spPr>
          </p:cxnSp>
          <p:sp>
            <p:nvSpPr>
              <p:cNvPr id="310" name="Google Shape;310;p32"/>
              <p:cNvSpPr/>
              <p:nvPr/>
            </p:nvSpPr>
            <p:spPr>
              <a:xfrm>
                <a:off x="4752" y="2736"/>
                <a:ext cx="48" cy="192"/>
              </a:xfrm>
              <a:prstGeom prst="rect">
                <a:avLst/>
              </a:prstGeom>
              <a:solidFill>
                <a:schemeClr val="lt1"/>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11" name="Google Shape;311;p32"/>
              <p:cNvGrpSpPr/>
              <p:nvPr/>
            </p:nvGrpSpPr>
            <p:grpSpPr>
              <a:xfrm>
                <a:off x="4272" y="3792"/>
                <a:ext cx="384" cy="384"/>
                <a:chOff x="4512" y="3792"/>
                <a:chExt cx="384" cy="384"/>
              </a:xfrm>
            </p:grpSpPr>
            <p:sp>
              <p:nvSpPr>
                <p:cNvPr id="312" name="Google Shape;312;p32"/>
                <p:cNvSpPr/>
                <p:nvPr/>
              </p:nvSpPr>
              <p:spPr>
                <a:xfrm>
                  <a:off x="4512" y="3792"/>
                  <a:ext cx="384" cy="384"/>
                </a:xfrm>
                <a:prstGeom prst="ellipse">
                  <a:avLst/>
                </a:prstGeom>
                <a:noFill/>
                <a:ln cap="flat"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313" name="Google Shape;313;p32"/>
                <p:cNvCxnSpPr/>
                <p:nvPr/>
              </p:nvCxnSpPr>
              <p:spPr>
                <a:xfrm flipH="1" rot="10800000">
                  <a:off x="4560" y="3840"/>
                  <a:ext cx="288" cy="288"/>
                </a:xfrm>
                <a:prstGeom prst="straightConnector1">
                  <a:avLst/>
                </a:prstGeom>
                <a:noFill/>
                <a:ln cap="flat" cmpd="sng" w="19050">
                  <a:solidFill>
                    <a:schemeClr val="lt1"/>
                  </a:solidFill>
                  <a:prstDash val="solid"/>
                  <a:round/>
                  <a:headEnd len="med" w="med" type="none"/>
                  <a:tailEnd len="med" w="med" type="none"/>
                </a:ln>
              </p:spPr>
            </p:cxnSp>
            <p:cxnSp>
              <p:nvCxnSpPr>
                <p:cNvPr id="314" name="Google Shape;314;p32"/>
                <p:cNvCxnSpPr/>
                <p:nvPr/>
              </p:nvCxnSpPr>
              <p:spPr>
                <a:xfrm>
                  <a:off x="4560" y="3840"/>
                  <a:ext cx="288" cy="288"/>
                </a:xfrm>
                <a:prstGeom prst="straightConnector1">
                  <a:avLst/>
                </a:prstGeom>
                <a:noFill/>
                <a:ln cap="flat" cmpd="sng" w="19050">
                  <a:solidFill>
                    <a:schemeClr val="lt1"/>
                  </a:solidFill>
                  <a:prstDash val="solid"/>
                  <a:round/>
                  <a:headEnd len="med" w="med" type="none"/>
                  <a:tailEnd len="med" w="med" type="none"/>
                </a:ln>
              </p:spPr>
            </p:cxnSp>
          </p:grpSp>
          <p:grpSp>
            <p:nvGrpSpPr>
              <p:cNvPr id="315" name="Google Shape;315;p32"/>
              <p:cNvGrpSpPr/>
              <p:nvPr/>
            </p:nvGrpSpPr>
            <p:grpSpPr>
              <a:xfrm>
                <a:off x="4992" y="3792"/>
                <a:ext cx="384" cy="384"/>
                <a:chOff x="4512" y="3792"/>
                <a:chExt cx="384" cy="384"/>
              </a:xfrm>
            </p:grpSpPr>
            <p:sp>
              <p:nvSpPr>
                <p:cNvPr id="316" name="Google Shape;316;p32"/>
                <p:cNvSpPr/>
                <p:nvPr/>
              </p:nvSpPr>
              <p:spPr>
                <a:xfrm>
                  <a:off x="4512" y="3792"/>
                  <a:ext cx="384" cy="384"/>
                </a:xfrm>
                <a:prstGeom prst="ellipse">
                  <a:avLst/>
                </a:prstGeom>
                <a:noFill/>
                <a:ln cap="flat"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317" name="Google Shape;317;p32"/>
                <p:cNvCxnSpPr/>
                <p:nvPr/>
              </p:nvCxnSpPr>
              <p:spPr>
                <a:xfrm flipH="1" rot="10800000">
                  <a:off x="4560" y="3840"/>
                  <a:ext cx="288" cy="288"/>
                </a:xfrm>
                <a:prstGeom prst="straightConnector1">
                  <a:avLst/>
                </a:prstGeom>
                <a:noFill/>
                <a:ln cap="flat" cmpd="sng" w="19050">
                  <a:solidFill>
                    <a:schemeClr val="lt1"/>
                  </a:solidFill>
                  <a:prstDash val="solid"/>
                  <a:round/>
                  <a:headEnd len="med" w="med" type="none"/>
                  <a:tailEnd len="med" w="med" type="none"/>
                </a:ln>
              </p:spPr>
            </p:cxnSp>
            <p:cxnSp>
              <p:nvCxnSpPr>
                <p:cNvPr id="318" name="Google Shape;318;p32"/>
                <p:cNvCxnSpPr/>
                <p:nvPr/>
              </p:nvCxnSpPr>
              <p:spPr>
                <a:xfrm>
                  <a:off x="4560" y="3840"/>
                  <a:ext cx="288" cy="288"/>
                </a:xfrm>
                <a:prstGeom prst="straightConnector1">
                  <a:avLst/>
                </a:prstGeom>
                <a:noFill/>
                <a:ln cap="flat" cmpd="sng" w="19050">
                  <a:solidFill>
                    <a:schemeClr val="lt1"/>
                  </a:solidFill>
                  <a:prstDash val="solid"/>
                  <a:round/>
                  <a:headEnd len="med" w="med" type="none"/>
                  <a:tailEnd len="med" w="med" type="none"/>
                </a:ln>
              </p:spPr>
            </p:cxnSp>
          </p:grpSp>
          <p:cxnSp>
            <p:nvCxnSpPr>
              <p:cNvPr id="319" name="Google Shape;319;p32"/>
              <p:cNvCxnSpPr/>
              <p:nvPr/>
            </p:nvCxnSpPr>
            <p:spPr>
              <a:xfrm>
                <a:off x="4656" y="3984"/>
                <a:ext cx="336" cy="0"/>
              </a:xfrm>
              <a:prstGeom prst="straightConnector1">
                <a:avLst/>
              </a:prstGeom>
              <a:noFill/>
              <a:ln cap="flat" cmpd="sng" w="19050">
                <a:solidFill>
                  <a:schemeClr val="lt1"/>
                </a:solidFill>
                <a:prstDash val="solid"/>
                <a:round/>
                <a:headEnd len="med" w="med" type="none"/>
                <a:tailEnd len="med" w="med" type="none"/>
              </a:ln>
            </p:spPr>
          </p:cxnSp>
          <p:cxnSp>
            <p:nvCxnSpPr>
              <p:cNvPr id="320" name="Google Shape;320;p32"/>
              <p:cNvCxnSpPr/>
              <p:nvPr/>
            </p:nvCxnSpPr>
            <p:spPr>
              <a:xfrm>
                <a:off x="3985" y="3567"/>
                <a:ext cx="0" cy="417"/>
              </a:xfrm>
              <a:prstGeom prst="straightConnector1">
                <a:avLst/>
              </a:prstGeom>
              <a:noFill/>
              <a:ln cap="flat" cmpd="sng" w="19050">
                <a:solidFill>
                  <a:schemeClr val="lt1"/>
                </a:solidFill>
                <a:prstDash val="solid"/>
                <a:round/>
                <a:headEnd len="med" w="med" type="none"/>
                <a:tailEnd len="med" w="med" type="none"/>
              </a:ln>
            </p:spPr>
          </p:cxnSp>
          <p:cxnSp>
            <p:nvCxnSpPr>
              <p:cNvPr id="321" name="Google Shape;321;p32"/>
              <p:cNvCxnSpPr/>
              <p:nvPr/>
            </p:nvCxnSpPr>
            <p:spPr>
              <a:xfrm>
                <a:off x="3833" y="3249"/>
                <a:ext cx="148" cy="318"/>
              </a:xfrm>
              <a:prstGeom prst="straightConnector1">
                <a:avLst/>
              </a:prstGeom>
              <a:noFill/>
              <a:ln cap="flat" cmpd="sng" w="19050">
                <a:solidFill>
                  <a:schemeClr val="lt1"/>
                </a:solidFill>
                <a:prstDash val="solid"/>
                <a:round/>
                <a:headEnd len="med" w="med" type="none"/>
                <a:tailEnd len="med" w="med" type="none"/>
              </a:ln>
            </p:spPr>
          </p:cxnSp>
          <p:cxnSp>
            <p:nvCxnSpPr>
              <p:cNvPr id="322" name="Google Shape;322;p32"/>
              <p:cNvCxnSpPr/>
              <p:nvPr/>
            </p:nvCxnSpPr>
            <p:spPr>
              <a:xfrm>
                <a:off x="4872" y="2640"/>
                <a:ext cx="0" cy="384"/>
              </a:xfrm>
              <a:prstGeom prst="straightConnector1">
                <a:avLst/>
              </a:prstGeom>
              <a:noFill/>
              <a:ln cap="flat" cmpd="sng" w="19050">
                <a:solidFill>
                  <a:schemeClr val="lt1"/>
                </a:solidFill>
                <a:prstDash val="solid"/>
                <a:round/>
                <a:headEnd len="med" w="med" type="none"/>
                <a:tailEnd len="med" w="med" type="none"/>
              </a:ln>
            </p:spPr>
          </p:cxnSp>
          <p:sp>
            <p:nvSpPr>
              <p:cNvPr id="323" name="Google Shape;323;p32"/>
              <p:cNvSpPr/>
              <p:nvPr/>
            </p:nvSpPr>
            <p:spPr>
              <a:xfrm>
                <a:off x="4968" y="2736"/>
                <a:ext cx="48" cy="192"/>
              </a:xfrm>
              <a:prstGeom prst="rect">
                <a:avLst/>
              </a:prstGeom>
              <a:solidFill>
                <a:schemeClr val="lt1"/>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4" name="Google Shape;324;p32"/>
            <p:cNvSpPr/>
            <p:nvPr/>
          </p:nvSpPr>
          <p:spPr>
            <a:xfrm>
              <a:off x="3950" y="3230"/>
              <a:ext cx="66" cy="66"/>
            </a:xfrm>
            <a:prstGeom prst="ellipse">
              <a:avLst/>
            </a:prstGeom>
            <a:solidFill>
              <a:schemeClr val="dk2"/>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32"/>
            <p:cNvSpPr/>
            <p:nvPr/>
          </p:nvSpPr>
          <p:spPr>
            <a:xfrm>
              <a:off x="3959" y="3523"/>
              <a:ext cx="66" cy="66"/>
            </a:xfrm>
            <a:prstGeom prst="ellipse">
              <a:avLst/>
            </a:prstGeom>
            <a:solidFill>
              <a:schemeClr val="dk2"/>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circuit 1" id="326" name="Google Shape;326;p32"/>
          <p:cNvPicPr preferRelativeResize="0"/>
          <p:nvPr/>
        </p:nvPicPr>
        <p:blipFill rotWithShape="1">
          <a:blip r:embed="rId3">
            <a:alphaModFix/>
          </a:blip>
          <a:srcRect b="0" l="8562" r="18854" t="0"/>
          <a:stretch/>
        </p:blipFill>
        <p:spPr>
          <a:xfrm>
            <a:off x="1873250" y="1036639"/>
            <a:ext cx="2273300" cy="2338387"/>
          </a:xfrm>
          <a:prstGeom prst="rect">
            <a:avLst/>
          </a:prstGeom>
          <a:noFill/>
          <a:ln>
            <a:noFill/>
          </a:ln>
        </p:spPr>
      </p:pic>
      <p:pic>
        <p:nvPicPr>
          <p:cNvPr descr="circuit 5" id="327" name="Google Shape;327;p32"/>
          <p:cNvPicPr preferRelativeResize="0"/>
          <p:nvPr/>
        </p:nvPicPr>
        <p:blipFill rotWithShape="1">
          <a:blip r:embed="rId4">
            <a:alphaModFix/>
          </a:blip>
          <a:srcRect b="0" l="0" r="0" t="0"/>
          <a:stretch/>
        </p:blipFill>
        <p:spPr>
          <a:xfrm>
            <a:off x="1524000" y="4060826"/>
            <a:ext cx="3321050" cy="2479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500"/>
                                        <p:tgtEl>
                                          <p:spTgt spid="2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500"/>
                                        <p:tgtEl>
                                          <p:spTgt spid="3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84"/>
                                        </p:tgtEl>
                                        <p:attrNameLst>
                                          <p:attrName>style.visibility</p:attrName>
                                        </p:attrNameLst>
                                      </p:cBhvr>
                                      <p:to>
                                        <p:strVal val="visible"/>
                                      </p:to>
                                    </p:set>
                                    <p:anim calcmode="lin" valueType="num">
                                      <p:cBhvr additive="base">
                                        <p:cTn dur="500"/>
                                        <p:tgtEl>
                                          <p:spTgt spid="28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500"/>
                                        <p:tgtEl>
                                          <p:spTgt spid="2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500"/>
                                        <p:tgtEl>
                                          <p:spTgt spid="3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01"/>
                                        </p:tgtEl>
                                        <p:attrNameLst>
                                          <p:attrName>style.visibility</p:attrName>
                                        </p:attrNameLst>
                                      </p:cBhvr>
                                      <p:to>
                                        <p:strVal val="visible"/>
                                      </p:to>
                                    </p:set>
                                    <p:anim calcmode="lin" valueType="num">
                                      <p:cBhvr additive="base">
                                        <p:cTn dur="500"/>
                                        <p:tgtEl>
                                          <p:spTgt spid="30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3"/>
          <p:cNvSpPr txBox="1"/>
          <p:nvPr>
            <p:ph type="title"/>
          </p:nvPr>
        </p:nvSpPr>
        <p:spPr>
          <a:xfrm>
            <a:off x="838199" y="204646"/>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omic Sans MS"/>
              <a:buNone/>
            </a:pPr>
            <a:r>
              <a:rPr lang="en-GB">
                <a:solidFill>
                  <a:schemeClr val="lt1"/>
                </a:solidFill>
                <a:latin typeface="Arial"/>
                <a:ea typeface="Arial"/>
                <a:cs typeface="Arial"/>
                <a:sym typeface="Arial"/>
              </a:rPr>
              <a:t>Using the symbols and processes learnt redraw these diagrams.</a:t>
            </a:r>
            <a:endParaRPr>
              <a:latin typeface="Arial"/>
              <a:ea typeface="Arial"/>
              <a:cs typeface="Arial"/>
              <a:sym typeface="Arial"/>
            </a:endParaRPr>
          </a:p>
        </p:txBody>
      </p:sp>
      <p:sp>
        <p:nvSpPr>
          <p:cNvPr id="333" name="Google Shape;333;p3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latin typeface="Comic Sans MS"/>
              <a:ea typeface="Comic Sans MS"/>
              <a:cs typeface="Comic Sans MS"/>
              <a:sym typeface="Comic Sans MS"/>
            </a:endParaRPr>
          </a:p>
        </p:txBody>
      </p:sp>
      <p:sp>
        <p:nvSpPr>
          <p:cNvPr id="334" name="Google Shape;334;p3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latin typeface="Comic Sans MS"/>
              <a:ea typeface="Comic Sans MS"/>
              <a:cs typeface="Comic Sans MS"/>
              <a:sym typeface="Comic Sans MS"/>
            </a:endParaRPr>
          </a:p>
        </p:txBody>
      </p:sp>
      <p:pic>
        <p:nvPicPr>
          <p:cNvPr id="335" name="Google Shape;335;p33"/>
          <p:cNvPicPr preferRelativeResize="0"/>
          <p:nvPr/>
        </p:nvPicPr>
        <p:blipFill rotWithShape="1">
          <a:blip r:embed="rId3">
            <a:alphaModFix/>
          </a:blip>
          <a:srcRect b="0" l="0" r="0" t="0"/>
          <a:stretch/>
        </p:blipFill>
        <p:spPr>
          <a:xfrm>
            <a:off x="158481" y="1690688"/>
            <a:ext cx="11875037" cy="464675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fontScale="92500" lnSpcReduction="10000"/>
          </a:bodyPr>
          <a:lstStyle/>
          <a:p>
            <a:pPr indent="-64135" lvl="0" marL="228600" rtl="0" algn="l">
              <a:lnSpc>
                <a:spcPct val="90000"/>
              </a:lnSpc>
              <a:spcBef>
                <a:spcPts val="0"/>
              </a:spcBef>
              <a:spcAft>
                <a:spcPts val="0"/>
              </a:spcAft>
              <a:buClr>
                <a:schemeClr val="dk1"/>
              </a:buClr>
              <a:buSzPct val="100000"/>
              <a:buNone/>
            </a:pPr>
            <a:r>
              <a:t/>
            </a:r>
            <a:endParaRPr>
              <a:latin typeface="Comic Sans MS"/>
              <a:ea typeface="Comic Sans MS"/>
              <a:cs typeface="Comic Sans MS"/>
              <a:sym typeface="Comic Sans MS"/>
            </a:endParaRPr>
          </a:p>
        </p:txBody>
      </p:sp>
      <p:sp>
        <p:nvSpPr>
          <p:cNvPr id="341" name="Google Shape;341;p34"/>
          <p:cNvSpPr txBox="1"/>
          <p:nvPr>
            <p:ph idx="2" type="body"/>
          </p:nvPr>
        </p:nvSpPr>
        <p:spPr>
          <a:xfrm>
            <a:off x="6976475" y="207850"/>
            <a:ext cx="5063100" cy="641790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Clr>
                <a:schemeClr val="lt1"/>
              </a:buClr>
              <a:buSzPct val="100000"/>
              <a:buNone/>
            </a:pPr>
            <a:r>
              <a:rPr lang="en-GB">
                <a:solidFill>
                  <a:schemeClr val="lt1"/>
                </a:solidFill>
                <a:latin typeface="Arial"/>
                <a:ea typeface="Arial"/>
                <a:cs typeface="Arial"/>
                <a:sym typeface="Arial"/>
              </a:rPr>
              <a:t>Six pupils attempted to draw circuit diagrams in their science lesson. Their drawings are opposite.  </a:t>
            </a:r>
            <a:endParaRPr>
              <a:latin typeface="Arial"/>
              <a:ea typeface="Arial"/>
              <a:cs typeface="Arial"/>
              <a:sym typeface="Arial"/>
            </a:endParaRPr>
          </a:p>
          <a:p>
            <a:pPr indent="-514350" lvl="0" marL="514350" rtl="0" algn="l">
              <a:lnSpc>
                <a:spcPct val="90000"/>
              </a:lnSpc>
              <a:spcBef>
                <a:spcPts val="1000"/>
              </a:spcBef>
              <a:spcAft>
                <a:spcPts val="0"/>
              </a:spcAft>
              <a:buClr>
                <a:schemeClr val="lt1"/>
              </a:buClr>
              <a:buSzPct val="100000"/>
              <a:buAutoNum type="arabicPeriod"/>
            </a:pPr>
            <a:r>
              <a:rPr lang="en-GB">
                <a:solidFill>
                  <a:schemeClr val="lt1"/>
                </a:solidFill>
                <a:latin typeface="Arial"/>
                <a:ea typeface="Arial"/>
                <a:cs typeface="Arial"/>
                <a:sym typeface="Arial"/>
              </a:rPr>
              <a:t>In which circuits will the bulb light up?</a:t>
            </a:r>
            <a:endParaRPr>
              <a:latin typeface="Arial"/>
              <a:ea typeface="Arial"/>
              <a:cs typeface="Arial"/>
              <a:sym typeface="Arial"/>
            </a:endParaRPr>
          </a:p>
          <a:p>
            <a:pPr indent="-514350" lvl="0" marL="514350" rtl="0" algn="l">
              <a:lnSpc>
                <a:spcPct val="90000"/>
              </a:lnSpc>
              <a:spcBef>
                <a:spcPts val="1000"/>
              </a:spcBef>
              <a:spcAft>
                <a:spcPts val="0"/>
              </a:spcAft>
              <a:buClr>
                <a:schemeClr val="lt1"/>
              </a:buClr>
              <a:buSzPct val="100000"/>
              <a:buAutoNum type="arabicPeriod"/>
            </a:pPr>
            <a:r>
              <a:rPr lang="en-GB">
                <a:solidFill>
                  <a:schemeClr val="lt1"/>
                </a:solidFill>
                <a:latin typeface="Arial"/>
                <a:ea typeface="Arial"/>
                <a:cs typeface="Arial"/>
                <a:sym typeface="Arial"/>
              </a:rPr>
              <a:t>For those circuits where the bulb will not light, redraw the circuit  diagrams so that they will.</a:t>
            </a:r>
            <a:endParaRPr>
              <a:latin typeface="Arial"/>
              <a:ea typeface="Arial"/>
              <a:cs typeface="Arial"/>
              <a:sym typeface="Arial"/>
            </a:endParaRPr>
          </a:p>
          <a:p>
            <a:pPr indent="-514350" lvl="0" marL="514350" rtl="0" algn="l">
              <a:lnSpc>
                <a:spcPct val="90000"/>
              </a:lnSpc>
              <a:spcBef>
                <a:spcPts val="1000"/>
              </a:spcBef>
              <a:spcAft>
                <a:spcPts val="0"/>
              </a:spcAft>
              <a:buClr>
                <a:schemeClr val="lt1"/>
              </a:buClr>
              <a:buSzPct val="100000"/>
              <a:buAutoNum type="arabicPeriod"/>
            </a:pPr>
            <a:r>
              <a:rPr lang="en-GB">
                <a:solidFill>
                  <a:schemeClr val="lt1"/>
                </a:solidFill>
                <a:latin typeface="Arial"/>
                <a:ea typeface="Arial"/>
                <a:cs typeface="Arial"/>
                <a:sym typeface="Arial"/>
              </a:rPr>
              <a:t>In which of the circuits that you have drawn for Qu2 will the bulb be brightest?  Explain your reasoning.</a:t>
            </a:r>
            <a:endParaRPr>
              <a:latin typeface="Arial"/>
              <a:ea typeface="Arial"/>
              <a:cs typeface="Arial"/>
              <a:sym typeface="Arial"/>
            </a:endParaRPr>
          </a:p>
          <a:p>
            <a:pPr indent="-514350" lvl="0" marL="514350" rtl="0" algn="l">
              <a:lnSpc>
                <a:spcPct val="90000"/>
              </a:lnSpc>
              <a:spcBef>
                <a:spcPts val="1000"/>
              </a:spcBef>
              <a:spcAft>
                <a:spcPts val="0"/>
              </a:spcAft>
              <a:buClr>
                <a:schemeClr val="lt1"/>
              </a:buClr>
              <a:buSzPct val="100000"/>
              <a:buAutoNum type="arabicPeriod"/>
            </a:pPr>
            <a:r>
              <a:rPr lang="en-GB">
                <a:solidFill>
                  <a:schemeClr val="lt1"/>
                </a:solidFill>
                <a:latin typeface="Arial"/>
                <a:ea typeface="Arial"/>
                <a:cs typeface="Arial"/>
                <a:sym typeface="Arial"/>
              </a:rPr>
              <a:t>Where in a circuit does the switch need to be in order to operate the bulb correctly?</a:t>
            </a:r>
            <a:endParaRPr>
              <a:latin typeface="Arial"/>
              <a:ea typeface="Arial"/>
              <a:cs typeface="Arial"/>
              <a:sym typeface="Arial"/>
            </a:endParaRPr>
          </a:p>
          <a:p>
            <a:pPr indent="0" lvl="0" marL="0" rtl="0" algn="l">
              <a:lnSpc>
                <a:spcPct val="90000"/>
              </a:lnSpc>
              <a:spcBef>
                <a:spcPts val="1000"/>
              </a:spcBef>
              <a:spcAft>
                <a:spcPts val="0"/>
              </a:spcAft>
              <a:buClr>
                <a:schemeClr val="dk1"/>
              </a:buClr>
              <a:buSzPct val="100000"/>
              <a:buNone/>
            </a:pPr>
            <a:r>
              <a:t/>
            </a:r>
            <a:endParaRPr>
              <a:solidFill>
                <a:schemeClr val="lt1"/>
              </a:solidFill>
              <a:latin typeface="Arial"/>
              <a:ea typeface="Arial"/>
              <a:cs typeface="Arial"/>
              <a:sym typeface="Arial"/>
            </a:endParaRPr>
          </a:p>
          <a:p>
            <a:pPr indent="0" lvl="0" marL="0" rtl="0" algn="l">
              <a:lnSpc>
                <a:spcPct val="90000"/>
              </a:lnSpc>
              <a:spcBef>
                <a:spcPts val="1000"/>
              </a:spcBef>
              <a:spcAft>
                <a:spcPts val="0"/>
              </a:spcAft>
              <a:buClr>
                <a:schemeClr val="dk1"/>
              </a:buClr>
              <a:buSzPct val="100000"/>
              <a:buNone/>
            </a:pPr>
            <a:r>
              <a:t/>
            </a:r>
            <a:endParaRPr>
              <a:solidFill>
                <a:schemeClr val="lt1"/>
              </a:solidFill>
              <a:latin typeface="Comic Sans MS"/>
              <a:ea typeface="Comic Sans MS"/>
              <a:cs typeface="Comic Sans MS"/>
              <a:sym typeface="Comic Sans MS"/>
            </a:endParaRPr>
          </a:p>
        </p:txBody>
      </p:sp>
      <p:pic>
        <p:nvPicPr>
          <p:cNvPr id="342" name="Google Shape;342;p34"/>
          <p:cNvPicPr preferRelativeResize="0"/>
          <p:nvPr/>
        </p:nvPicPr>
        <p:blipFill rotWithShape="1">
          <a:blip r:embed="rId3">
            <a:alphaModFix/>
          </a:blip>
          <a:srcRect b="0" l="0" r="0" t="0"/>
          <a:stretch/>
        </p:blipFill>
        <p:spPr>
          <a:xfrm>
            <a:off x="0" y="-699291"/>
            <a:ext cx="6555545" cy="755729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