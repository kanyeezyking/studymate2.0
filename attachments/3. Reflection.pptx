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Corbel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XsaHu9ciEbUCm7mFXjLAZ9iz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slide" Target="slides/slide20.xml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" type="subTitle"/>
          </p:nvPr>
        </p:nvSpPr>
        <p:spPr>
          <a:xfrm>
            <a:off x="352426" y="28956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2"/>
          <p:cNvSpPr/>
          <p:nvPr/>
        </p:nvSpPr>
        <p:spPr>
          <a:xfrm>
            <a:off x="0" y="4743451"/>
            <a:ext cx="9144000" cy="21145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" name="Google Shape;18;p22"/>
          <p:cNvCxnSpPr/>
          <p:nvPr/>
        </p:nvCxnSpPr>
        <p:spPr>
          <a:xfrm>
            <a:off x="0" y="4714875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81000" lvl="2" marL="13716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81000" lvl="3" marL="18288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4pPr>
            <a:lvl5pPr indent="-381000" lvl="4" marL="2286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352426" y="146304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" name="Google Shape;35;p25"/>
          <p:cNvSpPr txBox="1"/>
          <p:nvPr>
            <p:ph idx="1" type="subTitle"/>
          </p:nvPr>
        </p:nvSpPr>
        <p:spPr>
          <a:xfrm>
            <a:off x="352426" y="4003302"/>
            <a:ext cx="4572000" cy="117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0" name="Google Shape;40;p25"/>
          <p:cNvCxnSpPr/>
          <p:nvPr/>
        </p:nvCxnSpPr>
        <p:spPr>
          <a:xfrm>
            <a:off x="-4439" y="182880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5"/>
          <p:cNvSpPr txBox="1"/>
          <p:nvPr>
            <p:ph type="title"/>
          </p:nvPr>
        </p:nvSpPr>
        <p:spPr>
          <a:xfrm>
            <a:off x="354366" y="1990078"/>
            <a:ext cx="8439912" cy="198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4901184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2" type="body"/>
          </p:nvPr>
        </p:nvSpPr>
        <p:spPr>
          <a:xfrm>
            <a:off x="352426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6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352426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27"/>
          <p:cNvSpPr txBox="1"/>
          <p:nvPr>
            <p:ph idx="2" type="body"/>
          </p:nvPr>
        </p:nvSpPr>
        <p:spPr>
          <a:xfrm>
            <a:off x="4900613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" name="Google Shape;54;p27"/>
          <p:cNvSpPr txBox="1"/>
          <p:nvPr>
            <p:ph idx="3" type="body"/>
          </p:nvPr>
        </p:nvSpPr>
        <p:spPr>
          <a:xfrm>
            <a:off x="4900613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4" type="body"/>
          </p:nvPr>
        </p:nvSpPr>
        <p:spPr>
          <a:xfrm>
            <a:off x="352426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29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30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4" name="Google Shape;74;p30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>
            <a:off x="352426" y="1463040"/>
            <a:ext cx="3381375" cy="3967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0" i="1" sz="16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30"/>
          <p:cNvSpPr txBox="1"/>
          <p:nvPr>
            <p:ph idx="2" type="body"/>
          </p:nvPr>
        </p:nvSpPr>
        <p:spPr>
          <a:xfrm>
            <a:off x="4105275" y="1463040"/>
            <a:ext cx="4681538" cy="3968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" name="Google Shape;83;p31"/>
          <p:cNvSpPr/>
          <p:nvPr>
            <p:ph idx="2" type="pic"/>
          </p:nvPr>
        </p:nvSpPr>
        <p:spPr>
          <a:xfrm>
            <a:off x="5229224" y="0"/>
            <a:ext cx="3914775" cy="565785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1"/>
          <p:cNvSpPr txBox="1"/>
          <p:nvPr>
            <p:ph idx="1" type="body"/>
          </p:nvPr>
        </p:nvSpPr>
        <p:spPr>
          <a:xfrm>
            <a:off x="352426" y="1600199"/>
            <a:ext cx="4572000" cy="359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i="1" sz="16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1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6" name="Google Shape;86;p31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1"/>
          <p:cNvSpPr txBox="1"/>
          <p:nvPr>
            <p:ph type="title"/>
          </p:nvPr>
        </p:nvSpPr>
        <p:spPr>
          <a:xfrm>
            <a:off x="352425" y="275208"/>
            <a:ext cx="4572000" cy="132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3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32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" type="body"/>
          </p:nvPr>
        </p:nvSpPr>
        <p:spPr>
          <a:xfrm rot="5400000">
            <a:off x="2021206" y="-205740"/>
            <a:ext cx="4343400" cy="768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" name="Google Shape;100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352426" y="146304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51054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Year 9</a:t>
            </a:r>
            <a:endParaRPr/>
          </a:p>
        </p:txBody>
      </p:sp>
      <p:sp>
        <p:nvSpPr>
          <p:cNvPr id="110" name="Google Shape;110;p1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-US"/>
              <a:t>REFLECTION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u="sng">
                <a:latin typeface="Arial"/>
                <a:ea typeface="Arial"/>
                <a:cs typeface="Arial"/>
                <a:sym typeface="Arial"/>
              </a:rPr>
              <a:t>Learning Objective: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u="sng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be able to use a light box.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investigate the reflection of light.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Understand the Law of Reflection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Understand the difference between diffuse and clear reflection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352426" y="2362200"/>
            <a:ext cx="3533774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Who can catch a ball off the wall that someone else has thrown?</a:t>
            </a:r>
            <a:endParaRPr/>
          </a:p>
        </p:txBody>
      </p:sp>
      <p:sp>
        <p:nvSpPr>
          <p:cNvPr id="121" name="Google Shape;121;p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Starter…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457199"/>
            <a:ext cx="4772025" cy="5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Each group get a box and powerpack.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You have 5 minutes to try and create a single “ray” of light: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POWERPACKS: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DC sockets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Maximum 6V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Ray Boxes</a:t>
            </a:r>
            <a:endParaRPr/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3276599"/>
            <a:ext cx="519112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Everyone get a piece of A4 paper.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Now copy this (PENCIL and RULER):</a:t>
            </a:r>
            <a:endParaRPr/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Backs to seats…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5257800" y="1463040"/>
            <a:ext cx="3733800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closer look…</a:t>
            </a:r>
            <a:endParaRPr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4634102" cy="62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2057400"/>
            <a:ext cx="6343650" cy="433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"/>
            <a:ext cx="2133600" cy="287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4343400" y="1463040"/>
            <a:ext cx="4648200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normal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= a line at 90</a:t>
            </a:r>
            <a:r>
              <a:rPr baseline="30000" lang="en-US"/>
              <a:t>o</a:t>
            </a:r>
            <a:r>
              <a:rPr lang="en-US"/>
              <a:t> to the surface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a plane mirror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(flat – not curved)</a:t>
            </a:r>
            <a:endParaRPr/>
          </a:p>
        </p:txBody>
      </p:sp>
      <p:sp>
        <p:nvSpPr>
          <p:cNvPr id="153" name="Google Shape;153;p8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What does it mean??</a:t>
            </a:r>
            <a:endParaRPr/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447799"/>
            <a:ext cx="3810000" cy="5129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8"/>
          <p:cNvCxnSpPr/>
          <p:nvPr/>
        </p:nvCxnSpPr>
        <p:spPr>
          <a:xfrm flipH="1">
            <a:off x="2209800" y="2362200"/>
            <a:ext cx="2133600" cy="228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" name="Google Shape;156;p8"/>
          <p:cNvCxnSpPr/>
          <p:nvPr/>
        </p:nvCxnSpPr>
        <p:spPr>
          <a:xfrm rot="10800000">
            <a:off x="3352800" y="3581400"/>
            <a:ext cx="838200" cy="53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Place a mirror where the plane mirror is on your paper.</a:t>
            </a:r>
            <a:endParaRPr/>
          </a:p>
          <a:p>
            <a:pPr indent="-514350" lvl="0" marL="514350" rtl="0" algn="l"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Shine the light ray at the point where the normal meets the mirror.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When finished, call me over to check!</a:t>
            </a:r>
            <a:endParaRPr/>
          </a:p>
        </p:txBody>
      </p:sp>
      <p:sp>
        <p:nvSpPr>
          <p:cNvPr id="162" name="Google Shape;162;p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Now…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352426" y="4495800"/>
            <a:ext cx="863917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Mark the start and end of the light ray with an dot…</a:t>
            </a:r>
            <a:endParaRPr/>
          </a:p>
        </p:txBody>
      </p:sp>
      <p:sp>
        <p:nvSpPr>
          <p:cNvPr id="168" name="Google Shape;168;p10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8839200" cy="4151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19200"/>
            <a:ext cx="8382000" cy="43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idx="1" type="body"/>
          </p:nvPr>
        </p:nvSpPr>
        <p:spPr>
          <a:xfrm>
            <a:off x="352426" y="152400"/>
            <a:ext cx="8639174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Now draw in the light rays and arrows to show direction: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71600"/>
            <a:ext cx="7391400" cy="360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You know have your first angles!!</a:t>
            </a:r>
            <a:endParaRPr/>
          </a:p>
        </p:txBody>
      </p:sp>
      <p:pic>
        <p:nvPicPr>
          <p:cNvPr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52600"/>
            <a:ext cx="8305800" cy="407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Now measure these two angles, and write them under your picture: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i = ??</a:t>
            </a:r>
            <a:r>
              <a:rPr baseline="30000" lang="en-US"/>
              <a:t>o</a:t>
            </a:r>
            <a:r>
              <a:rPr lang="en-US"/>
              <a:t>        r = ??</a:t>
            </a:r>
            <a:r>
              <a:rPr baseline="30000" lang="en-US"/>
              <a:t>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do you notice about these angles?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Repeat twice more, drawing the diagrams again, with very different angles for “i”.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1" y="666750"/>
            <a:ext cx="9062779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>
            <p:ph idx="4294967295" type="body"/>
          </p:nvPr>
        </p:nvSpPr>
        <p:spPr>
          <a:xfrm>
            <a:off x="457200" y="981075"/>
            <a:ext cx="4894263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CCFFFF"/>
                </a:solidFill>
              </a:rPr>
              <a:t>Reflection from a mirror: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60325" y="2638425"/>
            <a:ext cx="19494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Incident ray</a:t>
            </a:r>
            <a:endParaRPr/>
          </a:p>
        </p:txBody>
      </p:sp>
      <p:grpSp>
        <p:nvGrpSpPr>
          <p:cNvPr id="199" name="Google Shape;199;p15"/>
          <p:cNvGrpSpPr/>
          <p:nvPr/>
        </p:nvGrpSpPr>
        <p:grpSpPr>
          <a:xfrm>
            <a:off x="838200" y="5461000"/>
            <a:ext cx="7372350" cy="314325"/>
            <a:chOff x="528" y="2976"/>
            <a:chExt cx="4644" cy="198"/>
          </a:xfrm>
        </p:grpSpPr>
        <p:cxnSp>
          <p:nvCxnSpPr>
            <p:cNvPr id="200" name="Google Shape;200;p15"/>
            <p:cNvCxnSpPr/>
            <p:nvPr/>
          </p:nvCxnSpPr>
          <p:spPr>
            <a:xfrm>
              <a:off x="528" y="2976"/>
              <a:ext cx="464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15"/>
            <p:cNvCxnSpPr/>
            <p:nvPr/>
          </p:nvCxnSpPr>
          <p:spPr>
            <a:xfrm flipH="1">
              <a:off x="5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15"/>
            <p:cNvCxnSpPr/>
            <p:nvPr/>
          </p:nvCxnSpPr>
          <p:spPr>
            <a:xfrm flipH="1">
              <a:off x="7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15"/>
            <p:cNvCxnSpPr/>
            <p:nvPr/>
          </p:nvCxnSpPr>
          <p:spPr>
            <a:xfrm flipH="1">
              <a:off x="10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15"/>
            <p:cNvCxnSpPr/>
            <p:nvPr/>
          </p:nvCxnSpPr>
          <p:spPr>
            <a:xfrm flipH="1">
              <a:off x="12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15"/>
            <p:cNvCxnSpPr/>
            <p:nvPr/>
          </p:nvCxnSpPr>
          <p:spPr>
            <a:xfrm flipH="1">
              <a:off x="14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15"/>
            <p:cNvCxnSpPr/>
            <p:nvPr/>
          </p:nvCxnSpPr>
          <p:spPr>
            <a:xfrm flipH="1">
              <a:off x="17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15"/>
            <p:cNvCxnSpPr/>
            <p:nvPr/>
          </p:nvCxnSpPr>
          <p:spPr>
            <a:xfrm flipH="1">
              <a:off x="19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15"/>
            <p:cNvCxnSpPr/>
            <p:nvPr/>
          </p:nvCxnSpPr>
          <p:spPr>
            <a:xfrm flipH="1">
              <a:off x="22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15"/>
            <p:cNvCxnSpPr/>
            <p:nvPr/>
          </p:nvCxnSpPr>
          <p:spPr>
            <a:xfrm flipH="1">
              <a:off x="24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15"/>
            <p:cNvCxnSpPr/>
            <p:nvPr/>
          </p:nvCxnSpPr>
          <p:spPr>
            <a:xfrm flipH="1">
              <a:off x="26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15"/>
            <p:cNvCxnSpPr/>
            <p:nvPr/>
          </p:nvCxnSpPr>
          <p:spPr>
            <a:xfrm flipH="1">
              <a:off x="29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15"/>
            <p:cNvCxnSpPr/>
            <p:nvPr/>
          </p:nvCxnSpPr>
          <p:spPr>
            <a:xfrm flipH="1">
              <a:off x="31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15"/>
            <p:cNvCxnSpPr/>
            <p:nvPr/>
          </p:nvCxnSpPr>
          <p:spPr>
            <a:xfrm flipH="1">
              <a:off x="43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15"/>
            <p:cNvCxnSpPr/>
            <p:nvPr/>
          </p:nvCxnSpPr>
          <p:spPr>
            <a:xfrm flipH="1">
              <a:off x="41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15"/>
            <p:cNvCxnSpPr/>
            <p:nvPr/>
          </p:nvCxnSpPr>
          <p:spPr>
            <a:xfrm flipH="1">
              <a:off x="38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5"/>
            <p:cNvCxnSpPr/>
            <p:nvPr/>
          </p:nvCxnSpPr>
          <p:spPr>
            <a:xfrm flipH="1">
              <a:off x="36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5"/>
            <p:cNvCxnSpPr/>
            <p:nvPr/>
          </p:nvCxnSpPr>
          <p:spPr>
            <a:xfrm flipH="1">
              <a:off x="34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5"/>
            <p:cNvCxnSpPr/>
            <p:nvPr/>
          </p:nvCxnSpPr>
          <p:spPr>
            <a:xfrm flipH="1">
              <a:off x="48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5"/>
            <p:cNvCxnSpPr/>
            <p:nvPr/>
          </p:nvCxnSpPr>
          <p:spPr>
            <a:xfrm flipH="1">
              <a:off x="46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0" name="Google Shape;220;p15"/>
          <p:cNvCxnSpPr/>
          <p:nvPr/>
        </p:nvCxnSpPr>
        <p:spPr>
          <a:xfrm rot="10800000">
            <a:off x="4540250" y="2443163"/>
            <a:ext cx="0" cy="2971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21" name="Google Shape;221;p15"/>
          <p:cNvGrpSpPr/>
          <p:nvPr/>
        </p:nvGrpSpPr>
        <p:grpSpPr>
          <a:xfrm>
            <a:off x="449825" y="3065804"/>
            <a:ext cx="4129550" cy="2428191"/>
            <a:chOff x="283" y="1931"/>
            <a:chExt cx="2601" cy="1530"/>
          </a:xfrm>
        </p:grpSpPr>
        <p:sp>
          <p:nvSpPr>
            <p:cNvPr id="222" name="Google Shape;222;p15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24" name="Google Shape;224;p15"/>
          <p:cNvGrpSpPr/>
          <p:nvPr/>
        </p:nvGrpSpPr>
        <p:grpSpPr>
          <a:xfrm>
            <a:off x="4488425" y="3065806"/>
            <a:ext cx="4129550" cy="2428188"/>
            <a:chOff x="2827" y="1931"/>
            <a:chExt cx="2601" cy="1530"/>
          </a:xfrm>
        </p:grpSpPr>
        <p:sp>
          <p:nvSpPr>
            <p:cNvPr id="225" name="Google Shape;225;p15"/>
            <p:cNvSpPr/>
            <p:nvPr/>
          </p:nvSpPr>
          <p:spPr>
            <a:xfrm flipH="1" rot="-1800000">
              <a:off x="2640" y="2672"/>
              <a:ext cx="2976" cy="48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 rot="-1800000">
              <a:off x="3561" y="2561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3366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27" name="Google Shape;227;p15"/>
          <p:cNvSpPr txBox="1"/>
          <p:nvPr/>
        </p:nvSpPr>
        <p:spPr>
          <a:xfrm>
            <a:off x="3927475" y="1917700"/>
            <a:ext cx="21129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Normal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6988175" y="2593975"/>
            <a:ext cx="19494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99FF"/>
                </a:solidFill>
                <a:latin typeface="Corbel"/>
                <a:ea typeface="Corbel"/>
                <a:cs typeface="Corbel"/>
                <a:sym typeface="Corbel"/>
              </a:rPr>
              <a:t>Reflected ray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2128838" y="3151188"/>
            <a:ext cx="25781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Angle of incidence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4706938" y="3132138"/>
            <a:ext cx="206851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Angle of reflection</a:t>
            </a:r>
            <a:endParaRPr/>
          </a:p>
        </p:txBody>
      </p:sp>
      <p:cxnSp>
        <p:nvCxnSpPr>
          <p:cNvPr id="231" name="Google Shape;231;p15"/>
          <p:cNvCxnSpPr/>
          <p:nvPr/>
        </p:nvCxnSpPr>
        <p:spPr>
          <a:xfrm>
            <a:off x="3597275" y="3913188"/>
            <a:ext cx="644525" cy="989012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5"/>
          <p:cNvCxnSpPr/>
          <p:nvPr/>
        </p:nvCxnSpPr>
        <p:spPr>
          <a:xfrm flipH="1">
            <a:off x="4962525" y="3946525"/>
            <a:ext cx="674688" cy="91440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15"/>
          <p:cNvSpPr/>
          <p:nvPr/>
        </p:nvSpPr>
        <p:spPr>
          <a:xfrm>
            <a:off x="4106863" y="4932363"/>
            <a:ext cx="404812" cy="239712"/>
          </a:xfrm>
          <a:custGeom>
            <a:rect b="b" l="l" r="r" t="t"/>
            <a:pathLst>
              <a:path extrusionOk="0" h="151" w="255">
                <a:moveTo>
                  <a:pt x="0" y="151"/>
                </a:moveTo>
                <a:cubicBezTo>
                  <a:pt x="35" y="102"/>
                  <a:pt x="71" y="53"/>
                  <a:pt x="114" y="28"/>
                </a:cubicBezTo>
                <a:cubicBezTo>
                  <a:pt x="157" y="3"/>
                  <a:pt x="206" y="1"/>
                  <a:pt x="255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4" name="Google Shape;234;p15"/>
          <p:cNvSpPr/>
          <p:nvPr/>
        </p:nvSpPr>
        <p:spPr>
          <a:xfrm flipH="1">
            <a:off x="4529138" y="4814888"/>
            <a:ext cx="525462" cy="330200"/>
          </a:xfrm>
          <a:custGeom>
            <a:rect b="b" l="l" r="r" t="t"/>
            <a:pathLst>
              <a:path extrusionOk="0" h="151" w="255">
                <a:moveTo>
                  <a:pt x="0" y="151"/>
                </a:moveTo>
                <a:cubicBezTo>
                  <a:pt x="35" y="102"/>
                  <a:pt x="71" y="53"/>
                  <a:pt x="114" y="28"/>
                </a:cubicBezTo>
                <a:cubicBezTo>
                  <a:pt x="157" y="3"/>
                  <a:pt x="206" y="1"/>
                  <a:pt x="255" y="0"/>
                </a:cubicBez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3057525" y="5981700"/>
            <a:ext cx="2878138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Mirror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457200" y="211015"/>
            <a:ext cx="775335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Reflection</a:t>
            </a:r>
            <a:endParaRPr sz="4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2890032" y="838200"/>
            <a:ext cx="6025368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Class Practical (30 mins)</a:t>
            </a:r>
            <a:endParaRPr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111662" y="952206"/>
            <a:ext cx="2252418" cy="21101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 careful with the light boxes, they can get VERY hot quite quickly!!</a:t>
            </a:r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7213" y="2198719"/>
            <a:ext cx="6139840" cy="404968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 txBox="1"/>
          <p:nvPr/>
        </p:nvSpPr>
        <p:spPr>
          <a:xfrm>
            <a:off x="248823" y="3315577"/>
            <a:ext cx="2252418" cy="23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en-US" sz="2400" u="sng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Resources: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Protractor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Pencil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 paper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Ruler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Mirror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Light box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With your group, using what you have just discovered…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Try and write a “law” (rule) for angles i and 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i="1" lang="en-US"/>
              <a:t>When light hits a reflective surface, the angle of incidence (i) and the angle of reflection (r) are equal.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i="1" lang="en-US"/>
              <a:t>i = r</a:t>
            </a:r>
            <a:endParaRPr b="1" i="1"/>
          </a:p>
        </p:txBody>
      </p:sp>
      <p:sp>
        <p:nvSpPr>
          <p:cNvPr id="250" name="Google Shape;250;p17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The Law of Reflection of Light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idx="4294967295" type="body"/>
          </p:nvPr>
        </p:nvSpPr>
        <p:spPr>
          <a:xfrm>
            <a:off x="669925" y="407988"/>
            <a:ext cx="7772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3600"/>
              <a:t>The Law of Reflection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04813" y="1558925"/>
            <a:ext cx="8229600" cy="588963"/>
          </a:xfrm>
          <a:prstGeom prst="rect">
            <a:avLst/>
          </a:prstGeom>
          <a:solidFill>
            <a:srgbClr val="993366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Angle of incidence (i) = Angle of reflection (r)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30200" y="2547938"/>
            <a:ext cx="83645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FFFF"/>
                </a:solidFill>
                <a:latin typeface="Corbel"/>
                <a:ea typeface="Corbel"/>
                <a:cs typeface="Corbel"/>
                <a:sym typeface="Corbel"/>
              </a:rPr>
              <a:t>In other words, light gets reflected from a surface at the _____ angle it hits it.</a:t>
            </a:r>
            <a:endParaRPr/>
          </a:p>
        </p:txBody>
      </p:sp>
      <p:grpSp>
        <p:nvGrpSpPr>
          <p:cNvPr id="258" name="Google Shape;258;p18"/>
          <p:cNvGrpSpPr/>
          <p:nvPr/>
        </p:nvGrpSpPr>
        <p:grpSpPr>
          <a:xfrm>
            <a:off x="802537" y="4260850"/>
            <a:ext cx="5037026" cy="2054225"/>
            <a:chOff x="283" y="1539"/>
            <a:chExt cx="5145" cy="2099"/>
          </a:xfrm>
        </p:grpSpPr>
        <p:grpSp>
          <p:nvGrpSpPr>
            <p:cNvPr id="259" name="Google Shape;259;p18"/>
            <p:cNvGrpSpPr/>
            <p:nvPr/>
          </p:nvGrpSpPr>
          <p:grpSpPr>
            <a:xfrm>
              <a:off x="528" y="3440"/>
              <a:ext cx="4644" cy="198"/>
              <a:chOff x="528" y="2976"/>
              <a:chExt cx="4644" cy="198"/>
            </a:xfrm>
          </p:grpSpPr>
          <p:cxnSp>
            <p:nvCxnSpPr>
              <p:cNvPr id="260" name="Google Shape;260;p18"/>
              <p:cNvCxnSpPr/>
              <p:nvPr/>
            </p:nvCxnSpPr>
            <p:spPr>
              <a:xfrm>
                <a:off x="528" y="2976"/>
                <a:ext cx="4644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18"/>
              <p:cNvCxnSpPr/>
              <p:nvPr/>
            </p:nvCxnSpPr>
            <p:spPr>
              <a:xfrm flipH="1">
                <a:off x="52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18"/>
              <p:cNvCxnSpPr/>
              <p:nvPr/>
            </p:nvCxnSpPr>
            <p:spPr>
              <a:xfrm flipH="1">
                <a:off x="76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18"/>
              <p:cNvCxnSpPr/>
              <p:nvPr/>
            </p:nvCxnSpPr>
            <p:spPr>
              <a:xfrm flipH="1">
                <a:off x="100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18"/>
              <p:cNvCxnSpPr/>
              <p:nvPr/>
            </p:nvCxnSpPr>
            <p:spPr>
              <a:xfrm flipH="1">
                <a:off x="124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18"/>
              <p:cNvCxnSpPr/>
              <p:nvPr/>
            </p:nvCxnSpPr>
            <p:spPr>
              <a:xfrm flipH="1">
                <a:off x="148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18"/>
              <p:cNvCxnSpPr/>
              <p:nvPr/>
            </p:nvCxnSpPr>
            <p:spPr>
              <a:xfrm flipH="1">
                <a:off x="172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18"/>
              <p:cNvCxnSpPr/>
              <p:nvPr/>
            </p:nvCxnSpPr>
            <p:spPr>
              <a:xfrm flipH="1">
                <a:off x="196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8"/>
              <p:cNvCxnSpPr/>
              <p:nvPr/>
            </p:nvCxnSpPr>
            <p:spPr>
              <a:xfrm flipH="1">
                <a:off x="220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18"/>
              <p:cNvCxnSpPr/>
              <p:nvPr/>
            </p:nvCxnSpPr>
            <p:spPr>
              <a:xfrm flipH="1">
                <a:off x="244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18"/>
              <p:cNvCxnSpPr/>
              <p:nvPr/>
            </p:nvCxnSpPr>
            <p:spPr>
              <a:xfrm flipH="1">
                <a:off x="268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18"/>
              <p:cNvCxnSpPr/>
              <p:nvPr/>
            </p:nvCxnSpPr>
            <p:spPr>
              <a:xfrm flipH="1">
                <a:off x="292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18"/>
              <p:cNvCxnSpPr/>
              <p:nvPr/>
            </p:nvCxnSpPr>
            <p:spPr>
              <a:xfrm flipH="1">
                <a:off x="316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18"/>
              <p:cNvCxnSpPr/>
              <p:nvPr/>
            </p:nvCxnSpPr>
            <p:spPr>
              <a:xfrm flipH="1">
                <a:off x="436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18"/>
              <p:cNvCxnSpPr/>
              <p:nvPr/>
            </p:nvCxnSpPr>
            <p:spPr>
              <a:xfrm flipH="1">
                <a:off x="412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18"/>
              <p:cNvCxnSpPr/>
              <p:nvPr/>
            </p:nvCxnSpPr>
            <p:spPr>
              <a:xfrm flipH="1">
                <a:off x="388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18"/>
              <p:cNvCxnSpPr/>
              <p:nvPr/>
            </p:nvCxnSpPr>
            <p:spPr>
              <a:xfrm flipH="1">
                <a:off x="364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18"/>
              <p:cNvCxnSpPr/>
              <p:nvPr/>
            </p:nvCxnSpPr>
            <p:spPr>
              <a:xfrm flipH="1">
                <a:off x="340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18"/>
              <p:cNvCxnSpPr/>
              <p:nvPr/>
            </p:nvCxnSpPr>
            <p:spPr>
              <a:xfrm flipH="1">
                <a:off x="484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18"/>
              <p:cNvCxnSpPr/>
              <p:nvPr/>
            </p:nvCxnSpPr>
            <p:spPr>
              <a:xfrm flipH="1">
                <a:off x="4608" y="2976"/>
                <a:ext cx="198" cy="1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80" name="Google Shape;280;p18"/>
            <p:cNvCxnSpPr/>
            <p:nvPr/>
          </p:nvCxnSpPr>
          <p:spPr>
            <a:xfrm rot="10800000">
              <a:off x="2860" y="1539"/>
              <a:ext cx="0" cy="1872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281" name="Google Shape;281;p18"/>
            <p:cNvGrpSpPr/>
            <p:nvPr/>
          </p:nvGrpSpPr>
          <p:grpSpPr>
            <a:xfrm>
              <a:off x="283" y="1931"/>
              <a:ext cx="2601" cy="1530"/>
              <a:chOff x="283" y="1931"/>
              <a:chExt cx="2601" cy="1530"/>
            </a:xfrm>
          </p:grpSpPr>
          <p:sp>
            <p:nvSpPr>
              <p:cNvPr id="282" name="Google Shape;282;p18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284" name="Google Shape;284;p18"/>
            <p:cNvGrpSpPr/>
            <p:nvPr/>
          </p:nvGrpSpPr>
          <p:grpSpPr>
            <a:xfrm>
              <a:off x="2827" y="1931"/>
              <a:ext cx="2601" cy="1530"/>
              <a:chOff x="2827" y="1931"/>
              <a:chExt cx="2601" cy="1530"/>
            </a:xfrm>
          </p:grpSpPr>
          <p:sp>
            <p:nvSpPr>
              <p:cNvPr id="285" name="Google Shape;285;p18"/>
              <p:cNvSpPr/>
              <p:nvPr/>
            </p:nvSpPr>
            <p:spPr>
              <a:xfrm flipH="1" rot="-1800000">
                <a:off x="2640" y="2672"/>
                <a:ext cx="2976" cy="4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 rot="-1800000">
                <a:off x="3561" y="2561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287" name="Google Shape;287;p18"/>
            <p:cNvSpPr/>
            <p:nvPr/>
          </p:nvSpPr>
          <p:spPr>
            <a:xfrm>
              <a:off x="2587" y="3107"/>
              <a:ext cx="255" cy="151"/>
            </a:xfrm>
            <a:custGeom>
              <a:rect b="b" l="l" r="r" t="t"/>
              <a:pathLst>
                <a:path extrusionOk="0" h="151" w="255">
                  <a:moveTo>
                    <a:pt x="0" y="151"/>
                  </a:moveTo>
                  <a:cubicBezTo>
                    <a:pt x="35" y="102"/>
                    <a:pt x="71" y="53"/>
                    <a:pt x="114" y="28"/>
                  </a:cubicBezTo>
                  <a:cubicBezTo>
                    <a:pt x="157" y="3"/>
                    <a:pt x="206" y="1"/>
                    <a:pt x="255" y="0"/>
                  </a:cubicBezTo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 flipH="1">
              <a:off x="2853" y="3033"/>
              <a:ext cx="331" cy="208"/>
            </a:xfrm>
            <a:custGeom>
              <a:rect b="b" l="l" r="r" t="t"/>
              <a:pathLst>
                <a:path extrusionOk="0" h="151" w="255">
                  <a:moveTo>
                    <a:pt x="0" y="151"/>
                  </a:moveTo>
                  <a:cubicBezTo>
                    <a:pt x="35" y="102"/>
                    <a:pt x="71" y="53"/>
                    <a:pt x="114" y="28"/>
                  </a:cubicBezTo>
                  <a:cubicBezTo>
                    <a:pt x="157" y="3"/>
                    <a:pt x="206" y="1"/>
                    <a:pt x="255" y="0"/>
                  </a:cubicBez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89" name="Google Shape;289;p18"/>
          <p:cNvSpPr/>
          <p:nvPr/>
        </p:nvSpPr>
        <p:spPr>
          <a:xfrm>
            <a:off x="2674938" y="3827463"/>
            <a:ext cx="4040187" cy="1808162"/>
          </a:xfrm>
          <a:custGeom>
            <a:rect b="b" l="l" r="r" t="t"/>
            <a:pathLst>
              <a:path extrusionOk="0" h="1168" w="2423">
                <a:moveTo>
                  <a:pt x="2423" y="130"/>
                </a:moveTo>
                <a:cubicBezTo>
                  <a:pt x="1943" y="65"/>
                  <a:pt x="1463" y="0"/>
                  <a:pt x="1082" y="16"/>
                </a:cubicBezTo>
                <a:cubicBezTo>
                  <a:pt x="701" y="32"/>
                  <a:pt x="274" y="32"/>
                  <a:pt x="137" y="224"/>
                </a:cubicBezTo>
                <a:cubicBezTo>
                  <a:pt x="0" y="416"/>
                  <a:pt x="130" y="792"/>
                  <a:pt x="260" y="1168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3613150" y="4217988"/>
            <a:ext cx="3087688" cy="1343025"/>
          </a:xfrm>
          <a:custGeom>
            <a:rect b="b" l="l" r="r" t="t"/>
            <a:pathLst>
              <a:path extrusionOk="0" h="846" w="1945">
                <a:moveTo>
                  <a:pt x="1945" y="72"/>
                </a:moveTo>
                <a:cubicBezTo>
                  <a:pt x="1507" y="36"/>
                  <a:pt x="1070" y="0"/>
                  <a:pt x="746" y="129"/>
                </a:cubicBezTo>
                <a:cubicBezTo>
                  <a:pt x="422" y="258"/>
                  <a:pt x="211" y="552"/>
                  <a:pt x="0" y="84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6805613" y="3763963"/>
            <a:ext cx="1468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same 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A new piece of paper…</a:t>
            </a:r>
            <a:endParaRPr/>
          </a:p>
        </p:txBody>
      </p:sp>
      <p:sp>
        <p:nvSpPr>
          <p:cNvPr id="297" name="Google Shape;297;p1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Now carry out another investigation:</a:t>
            </a:r>
            <a:endParaRPr/>
          </a:p>
        </p:txBody>
      </p:sp>
      <p:pic>
        <p:nvPicPr>
          <p:cNvPr id="298" name="Google Shape;2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66" y="1371600"/>
            <a:ext cx="8991600" cy="537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/>
          <p:nvPr>
            <p:ph type="title"/>
          </p:nvPr>
        </p:nvSpPr>
        <p:spPr>
          <a:xfrm>
            <a:off x="381000" y="123825"/>
            <a:ext cx="8382000" cy="739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rbel"/>
              <a:buNone/>
            </a:pPr>
            <a:r>
              <a:rPr lang="en-US" sz="3600"/>
              <a:t>Clear vs. Diffuse Reflection</a:t>
            </a:r>
            <a:endParaRPr/>
          </a:p>
        </p:txBody>
      </p:sp>
      <p:sp>
        <p:nvSpPr>
          <p:cNvPr id="304" name="Google Shape;304;p20"/>
          <p:cNvSpPr txBox="1"/>
          <p:nvPr>
            <p:ph idx="4294967295" type="body"/>
          </p:nvPr>
        </p:nvSpPr>
        <p:spPr>
          <a:xfrm>
            <a:off x="492125" y="1562100"/>
            <a:ext cx="4594225" cy="1671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339966"/>
                </a:solidFill>
              </a:rPr>
              <a:t>Smooth, shiny surfaces have a </a:t>
            </a:r>
            <a:r>
              <a:rPr i="1" lang="en-US">
                <a:solidFill>
                  <a:srgbClr val="339966"/>
                </a:solidFill>
              </a:rPr>
              <a:t>clear</a:t>
            </a:r>
            <a:r>
              <a:rPr lang="en-US">
                <a:solidFill>
                  <a:srgbClr val="339966"/>
                </a:solidFill>
              </a:rPr>
              <a:t> reflection: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509588" y="3806825"/>
            <a:ext cx="4586287" cy="262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FF33"/>
                </a:solidFill>
                <a:latin typeface="Corbel"/>
                <a:ea typeface="Corbel"/>
                <a:cs typeface="Corbel"/>
                <a:sym typeface="Corbel"/>
              </a:rPr>
              <a:t>Rough, dull surfaces have a </a:t>
            </a:r>
            <a:r>
              <a:rPr i="1" lang="en-US" sz="1800">
                <a:solidFill>
                  <a:srgbClr val="CCFF33"/>
                </a:solidFill>
                <a:latin typeface="Corbel"/>
                <a:ea typeface="Corbel"/>
                <a:cs typeface="Corbel"/>
                <a:sym typeface="Corbel"/>
              </a:rPr>
              <a:t>diffuse </a:t>
            </a:r>
            <a:r>
              <a:rPr lang="en-US" sz="1800">
                <a:solidFill>
                  <a:srgbClr val="CCFF33"/>
                </a:solidFill>
                <a:latin typeface="Corbel"/>
                <a:ea typeface="Corbel"/>
                <a:cs typeface="Corbel"/>
                <a:sym typeface="Corbel"/>
              </a:rPr>
              <a:t> reflection.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CCFF33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CFF33"/>
                </a:solidFill>
                <a:latin typeface="Corbel"/>
                <a:ea typeface="Corbel"/>
                <a:cs typeface="Corbel"/>
                <a:sym typeface="Corbel"/>
              </a:rPr>
              <a:t>Diffuse reflection</a:t>
            </a:r>
            <a:r>
              <a:rPr lang="en-US" sz="1800">
                <a:solidFill>
                  <a:srgbClr val="CCFF33"/>
                </a:solidFill>
                <a:latin typeface="Corbel"/>
                <a:ea typeface="Corbel"/>
                <a:cs typeface="Corbel"/>
                <a:sym typeface="Corbel"/>
              </a:rPr>
              <a:t> is when light is scattered in different directions</a:t>
            </a:r>
            <a:endParaRPr/>
          </a:p>
        </p:txBody>
      </p:sp>
      <p:grpSp>
        <p:nvGrpSpPr>
          <p:cNvPr id="306" name="Google Shape;306;p20"/>
          <p:cNvGrpSpPr/>
          <p:nvPr/>
        </p:nvGrpSpPr>
        <p:grpSpPr>
          <a:xfrm>
            <a:off x="5746750" y="2973388"/>
            <a:ext cx="2703513" cy="193675"/>
            <a:chOff x="528" y="2976"/>
            <a:chExt cx="4644" cy="198"/>
          </a:xfrm>
        </p:grpSpPr>
        <p:cxnSp>
          <p:nvCxnSpPr>
            <p:cNvPr id="307" name="Google Shape;307;p20"/>
            <p:cNvCxnSpPr/>
            <p:nvPr/>
          </p:nvCxnSpPr>
          <p:spPr>
            <a:xfrm>
              <a:off x="528" y="2976"/>
              <a:ext cx="4644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20"/>
            <p:cNvCxnSpPr/>
            <p:nvPr/>
          </p:nvCxnSpPr>
          <p:spPr>
            <a:xfrm flipH="1">
              <a:off x="5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20"/>
            <p:cNvCxnSpPr/>
            <p:nvPr/>
          </p:nvCxnSpPr>
          <p:spPr>
            <a:xfrm flipH="1">
              <a:off x="7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20"/>
            <p:cNvCxnSpPr/>
            <p:nvPr/>
          </p:nvCxnSpPr>
          <p:spPr>
            <a:xfrm flipH="1">
              <a:off x="10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20"/>
            <p:cNvCxnSpPr/>
            <p:nvPr/>
          </p:nvCxnSpPr>
          <p:spPr>
            <a:xfrm flipH="1">
              <a:off x="12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20"/>
            <p:cNvCxnSpPr/>
            <p:nvPr/>
          </p:nvCxnSpPr>
          <p:spPr>
            <a:xfrm flipH="1">
              <a:off x="14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20"/>
            <p:cNvCxnSpPr/>
            <p:nvPr/>
          </p:nvCxnSpPr>
          <p:spPr>
            <a:xfrm flipH="1">
              <a:off x="17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0"/>
            <p:cNvCxnSpPr/>
            <p:nvPr/>
          </p:nvCxnSpPr>
          <p:spPr>
            <a:xfrm flipH="1">
              <a:off x="19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20"/>
            <p:cNvCxnSpPr/>
            <p:nvPr/>
          </p:nvCxnSpPr>
          <p:spPr>
            <a:xfrm flipH="1">
              <a:off x="22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20"/>
            <p:cNvCxnSpPr/>
            <p:nvPr/>
          </p:nvCxnSpPr>
          <p:spPr>
            <a:xfrm flipH="1">
              <a:off x="24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20"/>
            <p:cNvCxnSpPr/>
            <p:nvPr/>
          </p:nvCxnSpPr>
          <p:spPr>
            <a:xfrm flipH="1">
              <a:off x="26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20"/>
            <p:cNvCxnSpPr/>
            <p:nvPr/>
          </p:nvCxnSpPr>
          <p:spPr>
            <a:xfrm flipH="1">
              <a:off x="29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20"/>
            <p:cNvCxnSpPr/>
            <p:nvPr/>
          </p:nvCxnSpPr>
          <p:spPr>
            <a:xfrm flipH="1">
              <a:off x="31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20"/>
            <p:cNvCxnSpPr/>
            <p:nvPr/>
          </p:nvCxnSpPr>
          <p:spPr>
            <a:xfrm flipH="1">
              <a:off x="436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20"/>
            <p:cNvCxnSpPr/>
            <p:nvPr/>
          </p:nvCxnSpPr>
          <p:spPr>
            <a:xfrm flipH="1">
              <a:off x="412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20"/>
            <p:cNvCxnSpPr/>
            <p:nvPr/>
          </p:nvCxnSpPr>
          <p:spPr>
            <a:xfrm flipH="1">
              <a:off x="388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20"/>
            <p:cNvCxnSpPr/>
            <p:nvPr/>
          </p:nvCxnSpPr>
          <p:spPr>
            <a:xfrm flipH="1">
              <a:off x="36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20"/>
            <p:cNvCxnSpPr/>
            <p:nvPr/>
          </p:nvCxnSpPr>
          <p:spPr>
            <a:xfrm flipH="1">
              <a:off x="34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20"/>
            <p:cNvCxnSpPr/>
            <p:nvPr/>
          </p:nvCxnSpPr>
          <p:spPr>
            <a:xfrm flipH="1">
              <a:off x="484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20"/>
            <p:cNvCxnSpPr/>
            <p:nvPr/>
          </p:nvCxnSpPr>
          <p:spPr>
            <a:xfrm flipH="1">
              <a:off x="4608" y="2976"/>
              <a:ext cx="198" cy="19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7" name="Google Shape;327;p20"/>
          <p:cNvGrpSpPr/>
          <p:nvPr/>
        </p:nvGrpSpPr>
        <p:grpSpPr>
          <a:xfrm>
            <a:off x="4728388" y="1194817"/>
            <a:ext cx="3468580" cy="1835521"/>
            <a:chOff x="2979" y="753"/>
            <a:chExt cx="2185" cy="1156"/>
          </a:xfrm>
        </p:grpSpPr>
        <p:grpSp>
          <p:nvGrpSpPr>
            <p:cNvPr id="328" name="Google Shape;328;p20"/>
            <p:cNvGrpSpPr/>
            <p:nvPr/>
          </p:nvGrpSpPr>
          <p:grpSpPr>
            <a:xfrm rot="1800000">
              <a:off x="3081" y="989"/>
              <a:ext cx="1069" cy="698"/>
              <a:chOff x="283" y="1931"/>
              <a:chExt cx="2601" cy="1530"/>
            </a:xfrm>
          </p:grpSpPr>
          <p:sp>
            <p:nvSpPr>
              <p:cNvPr id="329" name="Google Shape;329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331" name="Google Shape;331;p20"/>
            <p:cNvGrpSpPr/>
            <p:nvPr/>
          </p:nvGrpSpPr>
          <p:grpSpPr>
            <a:xfrm rot="1800000">
              <a:off x="3537" y="990"/>
              <a:ext cx="1069" cy="698"/>
              <a:chOff x="283" y="1931"/>
              <a:chExt cx="2601" cy="1530"/>
            </a:xfrm>
          </p:grpSpPr>
          <p:sp>
            <p:nvSpPr>
              <p:cNvPr id="332" name="Google Shape;332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334" name="Google Shape;334;p20"/>
            <p:cNvGrpSpPr/>
            <p:nvPr/>
          </p:nvGrpSpPr>
          <p:grpSpPr>
            <a:xfrm rot="1800000">
              <a:off x="3991" y="973"/>
              <a:ext cx="1069" cy="698"/>
              <a:chOff x="283" y="1931"/>
              <a:chExt cx="2601" cy="1530"/>
            </a:xfrm>
          </p:grpSpPr>
          <p:sp>
            <p:nvSpPr>
              <p:cNvPr id="335" name="Google Shape;335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337" name="Google Shape;337;p20"/>
          <p:cNvGrpSpPr/>
          <p:nvPr/>
        </p:nvGrpSpPr>
        <p:grpSpPr>
          <a:xfrm>
            <a:off x="6187127" y="1243797"/>
            <a:ext cx="2551560" cy="1720869"/>
            <a:chOff x="3897" y="783"/>
            <a:chExt cx="1607" cy="1084"/>
          </a:xfrm>
        </p:grpSpPr>
        <p:grpSp>
          <p:nvGrpSpPr>
            <p:cNvPr id="338" name="Google Shape;338;p20"/>
            <p:cNvGrpSpPr/>
            <p:nvPr/>
          </p:nvGrpSpPr>
          <p:grpSpPr>
            <a:xfrm rot="-5400000">
              <a:off x="3712" y="984"/>
              <a:ext cx="1069" cy="698"/>
              <a:chOff x="283" y="1931"/>
              <a:chExt cx="2601" cy="1530"/>
            </a:xfrm>
          </p:grpSpPr>
          <p:sp>
            <p:nvSpPr>
              <p:cNvPr id="339" name="Google Shape;339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6699FF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6699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341" name="Google Shape;341;p20"/>
            <p:cNvGrpSpPr/>
            <p:nvPr/>
          </p:nvGrpSpPr>
          <p:grpSpPr>
            <a:xfrm rot="-5400000">
              <a:off x="4158" y="977"/>
              <a:ext cx="1069" cy="698"/>
              <a:chOff x="283" y="1931"/>
              <a:chExt cx="2601" cy="1530"/>
            </a:xfrm>
          </p:grpSpPr>
          <p:sp>
            <p:nvSpPr>
              <p:cNvPr id="342" name="Google Shape;342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6699FF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6699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344" name="Google Shape;344;p20"/>
            <p:cNvGrpSpPr/>
            <p:nvPr/>
          </p:nvGrpSpPr>
          <p:grpSpPr>
            <a:xfrm rot="-5400000">
              <a:off x="4621" y="969"/>
              <a:ext cx="1069" cy="698"/>
              <a:chOff x="283" y="1931"/>
              <a:chExt cx="2601" cy="1530"/>
            </a:xfrm>
          </p:grpSpPr>
          <p:sp>
            <p:nvSpPr>
              <p:cNvPr id="345" name="Google Shape;345;p20"/>
              <p:cNvSpPr/>
              <p:nvPr/>
            </p:nvSpPr>
            <p:spPr>
              <a:xfrm rot="1800000">
                <a:off x="96" y="2672"/>
                <a:ext cx="2976" cy="48"/>
              </a:xfrm>
              <a:prstGeom prst="rect">
                <a:avLst/>
              </a:prstGeom>
              <a:solidFill>
                <a:srgbClr val="6699FF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 rot="1800000">
                <a:off x="567" y="2352"/>
                <a:ext cx="1218" cy="217"/>
              </a:xfrm>
              <a:prstGeom prst="rightArrow">
                <a:avLst>
                  <a:gd fmla="val 3593" name="adj1"/>
                  <a:gd fmla="val 140089" name="adj2"/>
                </a:avLst>
              </a:prstGeom>
              <a:solidFill>
                <a:srgbClr val="6699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347" name="Google Shape;347;p20"/>
          <p:cNvSpPr/>
          <p:nvPr/>
        </p:nvSpPr>
        <p:spPr>
          <a:xfrm>
            <a:off x="5695950" y="6010275"/>
            <a:ext cx="2952750" cy="211138"/>
          </a:xfrm>
          <a:custGeom>
            <a:rect b="b" l="l" r="r" t="t"/>
            <a:pathLst>
              <a:path extrusionOk="0" h="133" w="1860">
                <a:moveTo>
                  <a:pt x="0" y="29"/>
                </a:moveTo>
                <a:cubicBezTo>
                  <a:pt x="38" y="19"/>
                  <a:pt x="75" y="8"/>
                  <a:pt x="114" y="0"/>
                </a:cubicBezTo>
                <a:cubicBezTo>
                  <a:pt x="240" y="7"/>
                  <a:pt x="294" y="6"/>
                  <a:pt x="397" y="38"/>
                </a:cubicBezTo>
                <a:cubicBezTo>
                  <a:pt x="475" y="29"/>
                  <a:pt x="497" y="19"/>
                  <a:pt x="576" y="29"/>
                </a:cubicBezTo>
                <a:cubicBezTo>
                  <a:pt x="627" y="104"/>
                  <a:pt x="667" y="48"/>
                  <a:pt x="727" y="19"/>
                </a:cubicBezTo>
                <a:cubicBezTo>
                  <a:pt x="745" y="10"/>
                  <a:pt x="765" y="7"/>
                  <a:pt x="784" y="0"/>
                </a:cubicBezTo>
                <a:cubicBezTo>
                  <a:pt x="845" y="8"/>
                  <a:pt x="899" y="11"/>
                  <a:pt x="954" y="38"/>
                </a:cubicBezTo>
                <a:cubicBezTo>
                  <a:pt x="1082" y="29"/>
                  <a:pt x="1163" y="21"/>
                  <a:pt x="1294" y="29"/>
                </a:cubicBezTo>
                <a:cubicBezTo>
                  <a:pt x="1370" y="53"/>
                  <a:pt x="1363" y="47"/>
                  <a:pt x="1473" y="38"/>
                </a:cubicBezTo>
                <a:cubicBezTo>
                  <a:pt x="1512" y="29"/>
                  <a:pt x="1534" y="19"/>
                  <a:pt x="1577" y="38"/>
                </a:cubicBezTo>
                <a:cubicBezTo>
                  <a:pt x="1588" y="43"/>
                  <a:pt x="1587" y="60"/>
                  <a:pt x="1596" y="67"/>
                </a:cubicBezTo>
                <a:cubicBezTo>
                  <a:pt x="1604" y="73"/>
                  <a:pt x="1615" y="73"/>
                  <a:pt x="1624" y="76"/>
                </a:cubicBezTo>
                <a:cubicBezTo>
                  <a:pt x="1663" y="133"/>
                  <a:pt x="1673" y="123"/>
                  <a:pt x="1747" y="114"/>
                </a:cubicBezTo>
                <a:cubicBezTo>
                  <a:pt x="1791" y="103"/>
                  <a:pt x="1820" y="87"/>
                  <a:pt x="1860" y="67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48" name="Google Shape;348;p20"/>
          <p:cNvGrpSpPr/>
          <p:nvPr/>
        </p:nvGrpSpPr>
        <p:grpSpPr>
          <a:xfrm rot="1800000">
            <a:off x="5522075" y="4629335"/>
            <a:ext cx="1697057" cy="1108522"/>
            <a:chOff x="283" y="1931"/>
            <a:chExt cx="2601" cy="1530"/>
          </a:xfrm>
        </p:grpSpPr>
        <p:sp>
          <p:nvSpPr>
            <p:cNvPr id="349" name="Google Shape;349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51" name="Google Shape;351;p20"/>
          <p:cNvGrpSpPr/>
          <p:nvPr/>
        </p:nvGrpSpPr>
        <p:grpSpPr>
          <a:xfrm rot="1800000">
            <a:off x="6139613" y="4634098"/>
            <a:ext cx="1697056" cy="1108522"/>
            <a:chOff x="283" y="1931"/>
            <a:chExt cx="2601" cy="1530"/>
          </a:xfrm>
        </p:grpSpPr>
        <p:sp>
          <p:nvSpPr>
            <p:cNvPr id="352" name="Google Shape;352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3" name="Google Shape;353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54" name="Google Shape;354;p20"/>
          <p:cNvGrpSpPr/>
          <p:nvPr/>
        </p:nvGrpSpPr>
        <p:grpSpPr>
          <a:xfrm rot="1800000">
            <a:off x="4944225" y="4635685"/>
            <a:ext cx="1697057" cy="1108522"/>
            <a:chOff x="283" y="1931"/>
            <a:chExt cx="2601" cy="1530"/>
          </a:xfrm>
        </p:grpSpPr>
        <p:sp>
          <p:nvSpPr>
            <p:cNvPr id="355" name="Google Shape;355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6" name="Google Shape;356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57" name="Google Shape;357;p20"/>
          <p:cNvGrpSpPr/>
          <p:nvPr/>
        </p:nvGrpSpPr>
        <p:grpSpPr>
          <a:xfrm rot="-8383663">
            <a:off x="5688348" y="4549979"/>
            <a:ext cx="1697056" cy="1108522"/>
            <a:chOff x="283" y="1931"/>
            <a:chExt cx="2601" cy="1530"/>
          </a:xfrm>
        </p:grpSpPr>
        <p:sp>
          <p:nvSpPr>
            <p:cNvPr id="358" name="Google Shape;358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66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9" name="Google Shape;359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66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60" name="Google Shape;360;p20"/>
          <p:cNvGrpSpPr/>
          <p:nvPr/>
        </p:nvGrpSpPr>
        <p:grpSpPr>
          <a:xfrm rot="-5400000">
            <a:off x="7114441" y="4651946"/>
            <a:ext cx="1697057" cy="1108522"/>
            <a:chOff x="283" y="1931"/>
            <a:chExt cx="2601" cy="1530"/>
          </a:xfrm>
        </p:grpSpPr>
        <p:sp>
          <p:nvSpPr>
            <p:cNvPr id="361" name="Google Shape;361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66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66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63" name="Google Shape;363;p20"/>
          <p:cNvGrpSpPr/>
          <p:nvPr/>
        </p:nvGrpSpPr>
        <p:grpSpPr>
          <a:xfrm rot="-4525351">
            <a:off x="6135984" y="4806543"/>
            <a:ext cx="1697056" cy="1108522"/>
            <a:chOff x="283" y="1931"/>
            <a:chExt cx="2601" cy="1530"/>
          </a:xfrm>
        </p:grpSpPr>
        <p:sp>
          <p:nvSpPr>
            <p:cNvPr id="364" name="Google Shape;364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66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66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66" name="Google Shape;366;p20"/>
          <p:cNvGrpSpPr/>
          <p:nvPr/>
        </p:nvGrpSpPr>
        <p:grpSpPr>
          <a:xfrm rot="1800000">
            <a:off x="6715875" y="4651560"/>
            <a:ext cx="1697057" cy="1108522"/>
            <a:chOff x="283" y="1931"/>
            <a:chExt cx="2601" cy="1530"/>
          </a:xfrm>
        </p:grpSpPr>
        <p:sp>
          <p:nvSpPr>
            <p:cNvPr id="367" name="Google Shape;367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69" name="Google Shape;369;p20"/>
          <p:cNvGrpSpPr/>
          <p:nvPr/>
        </p:nvGrpSpPr>
        <p:grpSpPr>
          <a:xfrm rot="-8383663">
            <a:off x="6904373" y="4581729"/>
            <a:ext cx="1697056" cy="1108522"/>
            <a:chOff x="283" y="1931"/>
            <a:chExt cx="2601" cy="1530"/>
          </a:xfrm>
        </p:grpSpPr>
        <p:sp>
          <p:nvSpPr>
            <p:cNvPr id="370" name="Google Shape;370;p20"/>
            <p:cNvSpPr/>
            <p:nvPr/>
          </p:nvSpPr>
          <p:spPr>
            <a:xfrm rot="1800000">
              <a:off x="96" y="2672"/>
              <a:ext cx="2976" cy="48"/>
            </a:xfrm>
            <a:prstGeom prst="rect">
              <a:avLst/>
            </a:prstGeom>
            <a:solidFill>
              <a:srgbClr val="66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20"/>
            <p:cNvSpPr/>
            <p:nvPr/>
          </p:nvSpPr>
          <p:spPr>
            <a:xfrm rot="1800000">
              <a:off x="567" y="2352"/>
              <a:ext cx="1218" cy="217"/>
            </a:xfrm>
            <a:prstGeom prst="rightArrow">
              <a:avLst>
                <a:gd fmla="val 3593" name="adj1"/>
                <a:gd fmla="val 140089" name="adj2"/>
              </a:avLst>
            </a:prstGeom>
            <a:solidFill>
              <a:srgbClr val="669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ylar">
  <a:themeElements>
    <a:clrScheme name="Mylar">
      <a:dk1>
        <a:srgbClr val="000000"/>
      </a:dk1>
      <a:lt1>
        <a:srgbClr val="FFFFFF"/>
      </a:lt1>
      <a:dk2>
        <a:srgbClr val="656162"/>
      </a:dk2>
      <a:lt2>
        <a:srgbClr val="E0DACC"/>
      </a:lt2>
      <a:accent1>
        <a:srgbClr val="4A5A7A"/>
      </a:accent1>
      <a:accent2>
        <a:srgbClr val="F7BD40"/>
      </a:accent2>
      <a:accent3>
        <a:srgbClr val="975C00"/>
      </a:accent3>
      <a:accent4>
        <a:srgbClr val="754D41"/>
      </a:accent4>
      <a:accent5>
        <a:srgbClr val="838995"/>
      </a:accent5>
      <a:accent6>
        <a:srgbClr val="687B66"/>
      </a:accent6>
      <a:hlink>
        <a:srgbClr val="B5740B"/>
      </a:hlink>
      <a:folHlink>
        <a:srgbClr val="7483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