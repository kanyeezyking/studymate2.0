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V6MVw+j3qXTxe/g+Mmbwo8UQs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BD3D15-B887-448B-A6D5-AFEA07D9A2D4}">
  <a:tblStyle styleId="{5FBD3D15-B887-448B-A6D5-AFEA07D9A2D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5" name="Shape 25"/>
        <p:cNvGrpSpPr/>
        <p:nvPr/>
      </p:nvGrpSpPr>
      <p:grpSpPr>
        <a:xfrm>
          <a:off x="0" y="0"/>
          <a:ext cx="0" cy="0"/>
          <a:chOff x="0" y="0"/>
          <a:chExt cx="0" cy="0"/>
        </a:xfrm>
      </p:grpSpPr>
      <p:sp>
        <p:nvSpPr>
          <p:cNvPr id="26" name="Google Shape;26;p22"/>
          <p:cNvSpPr txBox="1"/>
          <p:nvPr>
            <p:ph type="title"/>
          </p:nvPr>
        </p:nvSpPr>
        <p:spPr>
          <a:xfrm>
            <a:off x="838200"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p:nvPr>
            <p:ph idx="2" type="tbl"/>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0" name="Shape 40"/>
        <p:cNvGrpSpPr/>
        <p:nvPr/>
      </p:nvGrpSpPr>
      <p:grpSpPr>
        <a:xfrm>
          <a:off x="0" y="0"/>
          <a:ext cx="0" cy="0"/>
          <a:chOff x="0" y="0"/>
          <a:chExt cx="0" cy="0"/>
        </a:xfrm>
      </p:grpSpPr>
      <p:sp>
        <p:nvSpPr>
          <p:cNvPr id="41" name="Google Shape;41;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 name="Google Shape;43;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p:nvPr>
            <p:ph idx="2" type="pic"/>
          </p:nvPr>
        </p:nvSpPr>
        <p:spPr>
          <a:xfrm>
            <a:off x="5183188" y="987425"/>
            <a:ext cx="6172200" cy="4873625"/>
          </a:xfrm>
          <a:prstGeom prst="rect">
            <a:avLst/>
          </a:prstGeom>
          <a:noFill/>
          <a:ln>
            <a:noFill/>
          </a:ln>
        </p:spPr>
      </p:sp>
      <p:sp>
        <p:nvSpPr>
          <p:cNvPr id="71" name="Google Shape;71;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p:nvPr/>
        </p:nvSpPr>
        <p:spPr>
          <a:xfrm>
            <a:off x="5661843" y="390664"/>
            <a:ext cx="5851732" cy="1466711"/>
          </a:xfrm>
          <a:prstGeom prst="rect">
            <a:avLst/>
          </a:prstGeom>
        </p:spPr>
        <p:txBody>
          <a:bodyPr>
            <a:prstTxWarp prst="textPlain"/>
          </a:bodyPr>
          <a:lstStyle/>
          <a:p>
            <a:pPr lvl="0" algn="l"/>
            <a:r>
              <a:rPr b="0" i="0">
                <a:ln>
                  <a:noFill/>
                </a:ln>
                <a:gradFill>
                  <a:gsLst>
                    <a:gs pos="0">
                      <a:srgbClr val="FFFF00"/>
                    </a:gs>
                    <a:gs pos="100000">
                      <a:srgbClr val="FF9933"/>
                    </a:gs>
                  </a:gsLst>
                  <a:path path="circle">
                    <a:fillToRect b="50%" l="50%" r="50%" t="50%"/>
                  </a:path>
                  <a:tileRect/>
                </a:gradFill>
                <a:latin typeface="Comic Sans MS"/>
              </a:rPr>
              <a:t>Electricity</a:t>
            </a:r>
          </a:p>
        </p:txBody>
      </p:sp>
      <p:sp>
        <p:nvSpPr>
          <p:cNvPr id="92" name="Google Shape;92;p1"/>
          <p:cNvSpPr txBox="1"/>
          <p:nvPr/>
        </p:nvSpPr>
        <p:spPr>
          <a:xfrm>
            <a:off x="863099" y="4043411"/>
            <a:ext cx="10939695" cy="1938992"/>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0" i="0" lang="en-GB" sz="2400" u="sng" cap="none" strike="noStrike">
                <a:solidFill>
                  <a:srgbClr val="FFFF00"/>
                </a:solidFill>
                <a:latin typeface="Comic Sans MS"/>
                <a:ea typeface="Comic Sans MS"/>
                <a:cs typeface="Comic Sans MS"/>
                <a:sym typeface="Comic Sans MS"/>
              </a:rPr>
              <a:t>Learning Objectives:</a:t>
            </a:r>
            <a:endParaRPr/>
          </a:p>
          <a:p>
            <a:pPr indent="-457200" lvl="0" marL="457200" marR="0" rtl="0" algn="l">
              <a:spcBef>
                <a:spcPts val="0"/>
              </a:spcBef>
              <a:spcAft>
                <a:spcPts val="0"/>
              </a:spcAft>
              <a:buNone/>
            </a:pPr>
            <a:r>
              <a:t/>
            </a:r>
            <a:endParaRPr b="0" i="0" sz="2400" u="sng" cap="none" strike="noStrike">
              <a:solidFill>
                <a:srgbClr val="FFFF00"/>
              </a:solidFill>
              <a:latin typeface="Comic Sans MS"/>
              <a:ea typeface="Comic Sans MS"/>
              <a:cs typeface="Comic Sans MS"/>
              <a:sym typeface="Comic Sans MS"/>
            </a:endParaRPr>
          </a:p>
          <a:p>
            <a:pPr indent="-514350" lvl="0" marL="514350" marR="0" rtl="0" algn="l">
              <a:spcBef>
                <a:spcPts val="0"/>
              </a:spcBef>
              <a:spcAft>
                <a:spcPts val="0"/>
              </a:spcAft>
              <a:buClr>
                <a:srgbClr val="FFFF00"/>
              </a:buClr>
              <a:buSzPts val="2400"/>
              <a:buFont typeface="Comic Sans MS"/>
              <a:buAutoNum type="arabicPeriod"/>
            </a:pPr>
            <a:r>
              <a:rPr b="0" i="0" lang="en-GB" sz="2400" u="none" cap="none" strike="noStrike">
                <a:solidFill>
                  <a:srgbClr val="FFFF00"/>
                </a:solidFill>
                <a:latin typeface="Comic Sans MS"/>
                <a:ea typeface="Comic Sans MS"/>
                <a:cs typeface="Comic Sans MS"/>
                <a:sym typeface="Comic Sans MS"/>
              </a:rPr>
              <a:t>To understand the difference between voltage and current.</a:t>
            </a:r>
            <a:endParaRPr b="0" i="0" sz="2400" u="none" cap="none" strike="noStrike">
              <a:solidFill>
                <a:srgbClr val="FFFF00"/>
              </a:solidFill>
              <a:latin typeface="Comic Sans MS"/>
              <a:ea typeface="Comic Sans MS"/>
              <a:cs typeface="Comic Sans MS"/>
              <a:sym typeface="Comic Sans MS"/>
            </a:endParaRPr>
          </a:p>
          <a:p>
            <a:pPr indent="-514350" lvl="0" marL="514350" marR="0" rtl="0" algn="l">
              <a:spcBef>
                <a:spcPts val="0"/>
              </a:spcBef>
              <a:spcAft>
                <a:spcPts val="0"/>
              </a:spcAft>
              <a:buClr>
                <a:srgbClr val="FFFF00"/>
              </a:buClr>
              <a:buSzPts val="2400"/>
              <a:buFont typeface="Comic Sans MS"/>
              <a:buAutoNum type="arabicPeriod"/>
            </a:pPr>
            <a:r>
              <a:rPr b="0" i="0" lang="en-GB" sz="2400" u="none" cap="none" strike="noStrike">
                <a:solidFill>
                  <a:srgbClr val="FFFF00"/>
                </a:solidFill>
                <a:latin typeface="Comic Sans MS"/>
                <a:ea typeface="Comic Sans MS"/>
                <a:cs typeface="Comic Sans MS"/>
                <a:sym typeface="Comic Sans MS"/>
              </a:rPr>
              <a:t>To identify the symbols for electrical components.</a:t>
            </a:r>
            <a:endParaRPr/>
          </a:p>
          <a:p>
            <a:pPr indent="-514350" lvl="0" marL="514350" marR="0" rtl="0" algn="l">
              <a:spcBef>
                <a:spcPts val="0"/>
              </a:spcBef>
              <a:spcAft>
                <a:spcPts val="0"/>
              </a:spcAft>
              <a:buClr>
                <a:srgbClr val="FFFF00"/>
              </a:buClr>
              <a:buSzPts val="2400"/>
              <a:buFont typeface="Comic Sans MS"/>
              <a:buAutoNum type="arabicPeriod"/>
            </a:pPr>
            <a:r>
              <a:rPr b="0" i="0" lang="en-GB" sz="2400" u="none" cap="none" strike="noStrike">
                <a:solidFill>
                  <a:srgbClr val="FFFF00"/>
                </a:solidFill>
                <a:latin typeface="Comic Sans MS"/>
                <a:ea typeface="Comic Sans MS"/>
                <a:cs typeface="Comic Sans MS"/>
                <a:sym typeface="Comic Sans MS"/>
              </a:rPr>
              <a:t>To begin drawing circuit diagrams scientifically. </a:t>
            </a:r>
            <a:endParaRPr b="0" i="0" sz="2400" u="none" cap="none" strike="noStrike">
              <a:solidFill>
                <a:srgbClr val="FFFF00"/>
              </a:solidFill>
              <a:latin typeface="Comic Sans MS"/>
              <a:ea typeface="Comic Sans MS"/>
              <a:cs typeface="Comic Sans MS"/>
              <a:sym typeface="Comic Sans MS"/>
            </a:endParaRPr>
          </a:p>
        </p:txBody>
      </p:sp>
      <p:pic>
        <p:nvPicPr>
          <p:cNvPr id="93" name="Google Shape;93;p1"/>
          <p:cNvPicPr preferRelativeResize="0"/>
          <p:nvPr/>
        </p:nvPicPr>
        <p:blipFill rotWithShape="1">
          <a:blip r:embed="rId3">
            <a:alphaModFix/>
          </a:blip>
          <a:srcRect b="0" l="0" r="0" t="0"/>
          <a:stretch/>
        </p:blipFill>
        <p:spPr>
          <a:xfrm>
            <a:off x="5079682" y="1857375"/>
            <a:ext cx="6042477" cy="1672471"/>
          </a:xfrm>
          <a:prstGeom prst="rect">
            <a:avLst/>
          </a:prstGeom>
          <a:noFill/>
          <a:ln>
            <a:noFill/>
          </a:ln>
        </p:spPr>
      </p:pic>
      <p:pic>
        <p:nvPicPr>
          <p:cNvPr id="94" name="Google Shape;94;p1"/>
          <p:cNvPicPr preferRelativeResize="0"/>
          <p:nvPr/>
        </p:nvPicPr>
        <p:blipFill rotWithShape="1">
          <a:blip r:embed="rId4">
            <a:alphaModFix/>
          </a:blip>
          <a:srcRect b="0" l="0" r="0" t="0"/>
          <a:stretch/>
        </p:blipFill>
        <p:spPr>
          <a:xfrm>
            <a:off x="15313" y="0"/>
            <a:ext cx="4857750" cy="3714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3524865" y="682112"/>
            <a:ext cx="5648632"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Comic Sans MS"/>
                <a:ea typeface="Comic Sans MS"/>
                <a:cs typeface="Comic Sans MS"/>
                <a:sym typeface="Comic Sans MS"/>
              </a:rPr>
              <a:t>What is Electricity?</a:t>
            </a:r>
            <a:endParaRPr>
              <a:solidFill>
                <a:schemeClr val="lt1"/>
              </a:solidFill>
              <a:latin typeface="Comic Sans MS"/>
              <a:ea typeface="Comic Sans MS"/>
              <a:cs typeface="Comic Sans MS"/>
              <a:sym typeface="Comic Sans MS"/>
            </a:endParaRPr>
          </a:p>
        </p:txBody>
      </p:sp>
      <p:sp>
        <p:nvSpPr>
          <p:cNvPr id="100" name="Google Shape;100;p2"/>
          <p:cNvSpPr txBox="1"/>
          <p:nvPr>
            <p:ph idx="1" type="body"/>
          </p:nvPr>
        </p:nvSpPr>
        <p:spPr>
          <a:xfrm>
            <a:off x="596166" y="1842136"/>
            <a:ext cx="11256136" cy="44210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GB">
                <a:solidFill>
                  <a:schemeClr val="lt1"/>
                </a:solidFill>
                <a:latin typeface="Comic Sans MS"/>
                <a:ea typeface="Comic Sans MS"/>
                <a:cs typeface="Comic Sans MS"/>
                <a:sym typeface="Comic Sans MS"/>
              </a:rPr>
              <a:t>The clue is in the name!  </a:t>
            </a:r>
            <a:endParaRPr/>
          </a:p>
          <a:p>
            <a:pPr indent="-228600" lvl="0" marL="228600" rtl="0" algn="l">
              <a:lnSpc>
                <a:spcPct val="90000"/>
              </a:lnSpc>
              <a:spcBef>
                <a:spcPts val="2400"/>
              </a:spcBef>
              <a:spcAft>
                <a:spcPts val="0"/>
              </a:spcAft>
              <a:buClr>
                <a:schemeClr val="lt1"/>
              </a:buClr>
              <a:buSzPts val="2800"/>
              <a:buChar char="•"/>
            </a:pPr>
            <a:r>
              <a:rPr lang="en-GB">
                <a:solidFill>
                  <a:schemeClr val="lt1"/>
                </a:solidFill>
                <a:latin typeface="Comic Sans MS"/>
                <a:ea typeface="Comic Sans MS"/>
                <a:cs typeface="Comic Sans MS"/>
                <a:sym typeface="Comic Sans MS"/>
              </a:rPr>
              <a:t>Electricity is the flow of </a:t>
            </a:r>
            <a:r>
              <a:rPr b="1" lang="en-GB">
                <a:solidFill>
                  <a:srgbClr val="FFFF00"/>
                </a:solidFill>
                <a:latin typeface="Comic Sans MS"/>
                <a:ea typeface="Comic Sans MS"/>
                <a:cs typeface="Comic Sans MS"/>
                <a:sym typeface="Comic Sans MS"/>
              </a:rPr>
              <a:t>electrons </a:t>
            </a:r>
            <a:r>
              <a:rPr lang="en-GB">
                <a:solidFill>
                  <a:schemeClr val="lt1"/>
                </a:solidFill>
                <a:latin typeface="Comic Sans MS"/>
                <a:ea typeface="Comic Sans MS"/>
                <a:cs typeface="Comic Sans MS"/>
                <a:sym typeface="Comic Sans MS"/>
              </a:rPr>
              <a:t>around a circuit (</a:t>
            </a:r>
            <a:r>
              <a:rPr lang="en-GB" u="sng">
                <a:solidFill>
                  <a:schemeClr val="lt1"/>
                </a:solidFill>
                <a:latin typeface="Comic Sans MS"/>
                <a:ea typeface="Comic Sans MS"/>
                <a:cs typeface="Comic Sans MS"/>
                <a:sym typeface="Comic Sans MS"/>
              </a:rPr>
              <a:t>connected conductors</a:t>
            </a:r>
            <a:r>
              <a:rPr lang="en-GB">
                <a:solidFill>
                  <a:schemeClr val="lt1"/>
                </a:solidFill>
                <a:latin typeface="Comic Sans MS"/>
                <a:ea typeface="Comic Sans MS"/>
                <a:cs typeface="Comic Sans MS"/>
                <a:sym typeface="Comic Sans MS"/>
              </a:rPr>
              <a:t>).  </a:t>
            </a:r>
            <a:endParaRPr/>
          </a:p>
          <a:p>
            <a:pPr indent="-228600" lvl="0" marL="228600" rtl="0" algn="l">
              <a:lnSpc>
                <a:spcPct val="90000"/>
              </a:lnSpc>
              <a:spcBef>
                <a:spcPts val="2400"/>
              </a:spcBef>
              <a:spcAft>
                <a:spcPts val="0"/>
              </a:spcAft>
              <a:buClr>
                <a:schemeClr val="lt1"/>
              </a:buClr>
              <a:buSzPts val="2800"/>
              <a:buChar char="•"/>
            </a:pPr>
            <a:r>
              <a:rPr lang="en-GB">
                <a:solidFill>
                  <a:schemeClr val="lt1"/>
                </a:solidFill>
                <a:latin typeface="Comic Sans MS"/>
                <a:ea typeface="Comic Sans MS"/>
                <a:cs typeface="Comic Sans MS"/>
                <a:sym typeface="Comic Sans MS"/>
              </a:rPr>
              <a:t>This flow of electrons is called the electrical </a:t>
            </a:r>
            <a:r>
              <a:rPr b="1" lang="en-GB">
                <a:solidFill>
                  <a:srgbClr val="FFFF00"/>
                </a:solidFill>
                <a:latin typeface="Comic Sans MS"/>
                <a:ea typeface="Comic Sans MS"/>
                <a:cs typeface="Comic Sans MS"/>
                <a:sym typeface="Comic Sans MS"/>
              </a:rPr>
              <a:t>current</a:t>
            </a:r>
            <a:r>
              <a:rPr lang="en-GB">
                <a:solidFill>
                  <a:schemeClr val="lt1"/>
                </a:solidFill>
                <a:latin typeface="Comic Sans MS"/>
                <a:ea typeface="Comic Sans MS"/>
                <a:cs typeface="Comic Sans MS"/>
                <a:sym typeface="Comic Sans MS"/>
              </a:rPr>
              <a:t> (I) and is measured in </a:t>
            </a:r>
            <a:r>
              <a:rPr b="1" lang="en-GB">
                <a:solidFill>
                  <a:srgbClr val="FFFF00"/>
                </a:solidFill>
                <a:latin typeface="Comic Sans MS"/>
                <a:ea typeface="Comic Sans MS"/>
                <a:cs typeface="Comic Sans MS"/>
                <a:sym typeface="Comic Sans MS"/>
              </a:rPr>
              <a:t>amps</a:t>
            </a:r>
            <a:r>
              <a:rPr lang="en-GB">
                <a:solidFill>
                  <a:schemeClr val="lt1"/>
                </a:solidFill>
                <a:latin typeface="Comic Sans MS"/>
                <a:ea typeface="Comic Sans MS"/>
                <a:cs typeface="Comic Sans MS"/>
                <a:sym typeface="Comic Sans MS"/>
              </a:rPr>
              <a:t> (A) using an </a:t>
            </a:r>
            <a:r>
              <a:rPr b="1" lang="en-GB">
                <a:solidFill>
                  <a:srgbClr val="FFFF00"/>
                </a:solidFill>
                <a:latin typeface="Comic Sans MS"/>
                <a:ea typeface="Comic Sans MS"/>
                <a:cs typeface="Comic Sans MS"/>
                <a:sym typeface="Comic Sans MS"/>
              </a:rPr>
              <a:t>ammeter</a:t>
            </a:r>
            <a:r>
              <a:rPr lang="en-GB">
                <a:solidFill>
                  <a:schemeClr val="lt1"/>
                </a:solidFill>
                <a:latin typeface="Comic Sans MS"/>
                <a:ea typeface="Comic Sans MS"/>
                <a:cs typeface="Comic Sans MS"/>
                <a:sym typeface="Comic Sans MS"/>
              </a:rPr>
              <a:t>.  </a:t>
            </a:r>
            <a:endParaRPr/>
          </a:p>
          <a:p>
            <a:pPr indent="-228600" lvl="0" marL="228600" rtl="0" algn="l">
              <a:lnSpc>
                <a:spcPct val="90000"/>
              </a:lnSpc>
              <a:spcBef>
                <a:spcPts val="2400"/>
              </a:spcBef>
              <a:spcAft>
                <a:spcPts val="0"/>
              </a:spcAft>
              <a:buClr>
                <a:schemeClr val="lt1"/>
              </a:buClr>
              <a:buSzPts val="2800"/>
              <a:buChar char="•"/>
            </a:pPr>
            <a:r>
              <a:rPr lang="en-GB">
                <a:solidFill>
                  <a:schemeClr val="lt1"/>
                </a:solidFill>
                <a:latin typeface="Comic Sans MS"/>
                <a:ea typeface="Comic Sans MS"/>
                <a:cs typeface="Comic Sans MS"/>
                <a:sym typeface="Comic Sans MS"/>
              </a:rPr>
              <a:t>The electrons are </a:t>
            </a:r>
            <a:r>
              <a:rPr i="1" lang="en-GB">
                <a:solidFill>
                  <a:schemeClr val="lt1"/>
                </a:solidFill>
                <a:latin typeface="Comic Sans MS"/>
                <a:ea typeface="Comic Sans MS"/>
                <a:cs typeface="Comic Sans MS"/>
                <a:sym typeface="Comic Sans MS"/>
              </a:rPr>
              <a:t>pushed</a:t>
            </a:r>
            <a:r>
              <a:rPr lang="en-GB">
                <a:solidFill>
                  <a:schemeClr val="lt1"/>
                </a:solidFill>
                <a:latin typeface="Comic Sans MS"/>
                <a:ea typeface="Comic Sans MS"/>
                <a:cs typeface="Comic Sans MS"/>
                <a:sym typeface="Comic Sans MS"/>
              </a:rPr>
              <a:t> around the circuit by the </a:t>
            </a:r>
            <a:r>
              <a:rPr b="1" lang="en-GB">
                <a:solidFill>
                  <a:srgbClr val="FFFF00"/>
                </a:solidFill>
                <a:latin typeface="Comic Sans MS"/>
                <a:ea typeface="Comic Sans MS"/>
                <a:cs typeface="Comic Sans MS"/>
                <a:sym typeface="Comic Sans MS"/>
              </a:rPr>
              <a:t>voltage </a:t>
            </a:r>
            <a:r>
              <a:rPr lang="en-GB">
                <a:solidFill>
                  <a:schemeClr val="lt1"/>
                </a:solidFill>
                <a:latin typeface="Comic Sans MS"/>
                <a:ea typeface="Comic Sans MS"/>
                <a:cs typeface="Comic Sans MS"/>
                <a:sym typeface="Comic Sans MS"/>
              </a:rPr>
              <a:t>(V) supplied by the </a:t>
            </a:r>
            <a:r>
              <a:rPr lang="en-GB" u="sng">
                <a:solidFill>
                  <a:schemeClr val="lt1"/>
                </a:solidFill>
                <a:latin typeface="Comic Sans MS"/>
                <a:ea typeface="Comic Sans MS"/>
                <a:cs typeface="Comic Sans MS"/>
                <a:sym typeface="Comic Sans MS"/>
              </a:rPr>
              <a:t>cell/battery</a:t>
            </a:r>
            <a:r>
              <a:rPr lang="en-GB">
                <a:solidFill>
                  <a:schemeClr val="lt1"/>
                </a:solidFill>
                <a:latin typeface="Comic Sans MS"/>
                <a:ea typeface="Comic Sans MS"/>
                <a:cs typeface="Comic Sans MS"/>
                <a:sym typeface="Comic Sans MS"/>
              </a:rPr>
              <a:t>.  Voltage is measured in </a:t>
            </a:r>
            <a:r>
              <a:rPr b="1" lang="en-GB">
                <a:solidFill>
                  <a:srgbClr val="FFFF00"/>
                </a:solidFill>
                <a:latin typeface="Comic Sans MS"/>
                <a:ea typeface="Comic Sans MS"/>
                <a:cs typeface="Comic Sans MS"/>
                <a:sym typeface="Comic Sans MS"/>
              </a:rPr>
              <a:t>volts</a:t>
            </a:r>
            <a:r>
              <a:rPr lang="en-GB">
                <a:solidFill>
                  <a:schemeClr val="lt1"/>
                </a:solidFill>
                <a:latin typeface="Comic Sans MS"/>
                <a:ea typeface="Comic Sans MS"/>
                <a:cs typeface="Comic Sans MS"/>
                <a:sym typeface="Comic Sans MS"/>
              </a:rPr>
              <a:t> (V) using a </a:t>
            </a:r>
            <a:r>
              <a:rPr b="1" lang="en-GB">
                <a:solidFill>
                  <a:srgbClr val="FFFF00"/>
                </a:solidFill>
                <a:latin typeface="Comic Sans MS"/>
                <a:ea typeface="Comic Sans MS"/>
                <a:cs typeface="Comic Sans MS"/>
                <a:sym typeface="Comic Sans MS"/>
              </a:rPr>
              <a:t>voltmeter</a:t>
            </a:r>
            <a:r>
              <a:rPr lang="en-GB">
                <a:solidFill>
                  <a:schemeClr val="lt1"/>
                </a:solidFill>
                <a:latin typeface="Comic Sans MS"/>
                <a:ea typeface="Comic Sans MS"/>
                <a:cs typeface="Comic Sans MS"/>
                <a:sym typeface="Comic Sans MS"/>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487250" y="896424"/>
            <a:ext cx="11217498" cy="11430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Comic Sans MS"/>
              <a:buNone/>
            </a:pPr>
            <a:r>
              <a:rPr lang="en-GB">
                <a:solidFill>
                  <a:schemeClr val="lt1"/>
                </a:solidFill>
                <a:latin typeface="Comic Sans MS"/>
                <a:ea typeface="Comic Sans MS"/>
                <a:cs typeface="Comic Sans MS"/>
                <a:sym typeface="Comic Sans MS"/>
              </a:rPr>
              <a:t>Key Terms Summary – Write this in your book</a:t>
            </a:r>
            <a:endParaRPr>
              <a:solidFill>
                <a:schemeClr val="lt1"/>
              </a:solidFill>
              <a:latin typeface="Comic Sans MS"/>
              <a:ea typeface="Comic Sans MS"/>
              <a:cs typeface="Comic Sans MS"/>
              <a:sym typeface="Comic Sans MS"/>
            </a:endParaRPr>
          </a:p>
        </p:txBody>
      </p:sp>
      <p:graphicFrame>
        <p:nvGraphicFramePr>
          <p:cNvPr id="106" name="Google Shape;106;p3"/>
          <p:cNvGraphicFramePr/>
          <p:nvPr/>
        </p:nvGraphicFramePr>
        <p:xfrm>
          <a:off x="1703387" y="2412745"/>
          <a:ext cx="3000000" cy="3000000"/>
        </p:xfrm>
        <a:graphic>
          <a:graphicData uri="http://schemas.openxmlformats.org/drawingml/2006/table">
            <a:tbl>
              <a:tblPr>
                <a:noFill/>
                <a:tableStyleId>{5FBD3D15-B887-448B-A6D5-AFEA07D9A2D4}</a:tableStyleId>
              </a:tblPr>
              <a:tblGrid>
                <a:gridCol w="2089150"/>
                <a:gridCol w="1439850"/>
                <a:gridCol w="1655775"/>
                <a:gridCol w="1512875"/>
                <a:gridCol w="2087575"/>
              </a:tblGrid>
              <a:tr h="904875">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Quantity</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Symbol</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Unit</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Unit Symbol</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Measured Using</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Current</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I</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Amperes (Amps)</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A</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Ammeter</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6475">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Voltage</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V</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Volts</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V</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Voltmeter</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04875">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Resistance</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R</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Ohms</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0" i="0" lang="en-GB" sz="2800" u="none" cap="none" strike="noStrike">
                          <a:solidFill>
                            <a:schemeClr val="dk1"/>
                          </a:solidFill>
                          <a:latin typeface="Times New Roman"/>
                          <a:ea typeface="Times New Roman"/>
                          <a:cs typeface="Times New Roman"/>
                          <a:sym typeface="Times New Roman"/>
                        </a:rPr>
                        <a:t>Ω</a:t>
                      </a:r>
                      <a:endParaRPr b="0" i="0" sz="2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2800"/>
                        <a:buFont typeface="Comic Sans MS"/>
                        <a:buNone/>
                      </a:pPr>
                      <a:r>
                        <a:rPr b="0" i="0" lang="en-GB" sz="2800" u="none" cap="none" strike="noStrike">
                          <a:solidFill>
                            <a:schemeClr val="dk1"/>
                          </a:solidFill>
                          <a:latin typeface="Comic Sans MS"/>
                          <a:ea typeface="Comic Sans MS"/>
                          <a:cs typeface="Comic Sans MS"/>
                          <a:sym typeface="Comic Sans MS"/>
                        </a:rPr>
                        <a:t>Ohmmeter</a:t>
                      </a:r>
                      <a:endParaRPr b="0" i="0" sz="2800" u="none" cap="none" strike="noStrike">
                        <a:solidFill>
                          <a:schemeClr val="dk1"/>
                        </a:solidFill>
                        <a:latin typeface="Comic Sans MS"/>
                        <a:ea typeface="Comic Sans MS"/>
                        <a:cs typeface="Comic Sans MS"/>
                        <a:sym typeface="Comic Sans MS"/>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1981200" y="274639"/>
            <a:ext cx="8229600" cy="706437"/>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Comic Sans MS"/>
                <a:ea typeface="Comic Sans MS"/>
                <a:cs typeface="Comic Sans MS"/>
                <a:sym typeface="Comic Sans MS"/>
              </a:rPr>
              <a:t>Electrical Energy</a:t>
            </a:r>
            <a:endParaRPr sz="4000">
              <a:solidFill>
                <a:schemeClr val="lt1"/>
              </a:solidFill>
              <a:latin typeface="Comic Sans MS"/>
              <a:ea typeface="Comic Sans MS"/>
              <a:cs typeface="Comic Sans MS"/>
              <a:sym typeface="Comic Sans MS"/>
            </a:endParaRPr>
          </a:p>
        </p:txBody>
      </p:sp>
      <p:sp>
        <p:nvSpPr>
          <p:cNvPr id="112" name="Google Shape;112;p4"/>
          <p:cNvSpPr txBox="1"/>
          <p:nvPr/>
        </p:nvSpPr>
        <p:spPr>
          <a:xfrm>
            <a:off x="540774" y="1131206"/>
            <a:ext cx="437535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400" u="none" cap="none" strike="noStrike">
                <a:solidFill>
                  <a:srgbClr val="99FFCC"/>
                </a:solidFill>
                <a:latin typeface="Comic Sans MS"/>
                <a:ea typeface="Comic Sans MS"/>
                <a:cs typeface="Comic Sans MS"/>
                <a:sym typeface="Comic Sans MS"/>
              </a:rPr>
              <a:t>Consider a simple circuit:</a:t>
            </a:r>
            <a:endParaRPr b="0" i="0" sz="2400" u="none" cap="none" strike="noStrike">
              <a:solidFill>
                <a:srgbClr val="99FFCC"/>
              </a:solidFill>
              <a:latin typeface="Comic Sans MS"/>
              <a:ea typeface="Comic Sans MS"/>
              <a:cs typeface="Comic Sans MS"/>
              <a:sym typeface="Comic Sans MS"/>
            </a:endParaRPr>
          </a:p>
        </p:txBody>
      </p:sp>
      <p:pic>
        <p:nvPicPr>
          <p:cNvPr descr="circuit 1" id="113" name="Google Shape;113;p4"/>
          <p:cNvPicPr preferRelativeResize="0"/>
          <p:nvPr/>
        </p:nvPicPr>
        <p:blipFill rotWithShape="1">
          <a:blip r:embed="rId3">
            <a:alphaModFix/>
          </a:blip>
          <a:srcRect b="0" l="7022" r="8988" t="0"/>
          <a:stretch/>
        </p:blipFill>
        <p:spPr>
          <a:xfrm>
            <a:off x="5699126" y="1484314"/>
            <a:ext cx="4968875" cy="4416425"/>
          </a:xfrm>
          <a:prstGeom prst="rect">
            <a:avLst/>
          </a:prstGeom>
          <a:noFill/>
          <a:ln>
            <a:noFill/>
          </a:ln>
        </p:spPr>
      </p:pic>
      <p:sp>
        <p:nvSpPr>
          <p:cNvPr id="114" name="Google Shape;114;p4"/>
          <p:cNvSpPr txBox="1"/>
          <p:nvPr/>
        </p:nvSpPr>
        <p:spPr>
          <a:xfrm>
            <a:off x="1919288" y="6092826"/>
            <a:ext cx="8424862" cy="461665"/>
          </a:xfrm>
          <a:prstGeom prst="rect">
            <a:avLst/>
          </a:prstGeom>
          <a:noFill/>
          <a:ln cap="flat" cmpd="sng" w="25400">
            <a:solidFill>
              <a:srgbClr val="FF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400" u="none" cap="none" strike="noStrike">
                <a:solidFill>
                  <a:schemeClr val="lt1"/>
                </a:solidFill>
                <a:latin typeface="Comic Sans MS"/>
                <a:ea typeface="Comic Sans MS"/>
                <a:cs typeface="Comic Sans MS"/>
                <a:sym typeface="Comic Sans MS"/>
              </a:rPr>
              <a:t>Words</a:t>
            </a:r>
            <a:r>
              <a:rPr b="0" i="0" lang="en-GB" sz="2400" u="none" cap="none" strike="noStrike">
                <a:solidFill>
                  <a:schemeClr val="lt1"/>
                </a:solidFill>
                <a:latin typeface="Comic Sans MS"/>
                <a:ea typeface="Comic Sans MS"/>
                <a:cs typeface="Comic Sans MS"/>
                <a:sym typeface="Comic Sans MS"/>
              </a:rPr>
              <a:t> – electrical (x2), light, chemical</a:t>
            </a:r>
            <a:endParaRPr b="0" i="0" sz="2400" u="none" cap="none" strike="noStrike">
              <a:solidFill>
                <a:schemeClr val="lt1"/>
              </a:solidFill>
              <a:latin typeface="Comic Sans MS"/>
              <a:ea typeface="Comic Sans MS"/>
              <a:cs typeface="Comic Sans MS"/>
              <a:sym typeface="Comic Sans MS"/>
            </a:endParaRPr>
          </a:p>
        </p:txBody>
      </p:sp>
      <p:grpSp>
        <p:nvGrpSpPr>
          <p:cNvPr id="115" name="Google Shape;115;p4"/>
          <p:cNvGrpSpPr/>
          <p:nvPr/>
        </p:nvGrpSpPr>
        <p:grpSpPr>
          <a:xfrm>
            <a:off x="1524001" y="1789336"/>
            <a:ext cx="6018925" cy="1412428"/>
            <a:chOff x="0" y="1172"/>
            <a:chExt cx="3791" cy="890"/>
          </a:xfrm>
        </p:grpSpPr>
        <p:sp>
          <p:nvSpPr>
            <p:cNvPr id="116" name="Google Shape;116;p4"/>
            <p:cNvSpPr txBox="1"/>
            <p:nvPr/>
          </p:nvSpPr>
          <p:spPr>
            <a:xfrm>
              <a:off x="0" y="1207"/>
              <a:ext cx="2562" cy="756"/>
            </a:xfrm>
            <a:prstGeom prst="rect">
              <a:avLst/>
            </a:prstGeom>
            <a:solidFill>
              <a:srgbClr val="A5002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400" u="none" cap="none" strike="noStrike">
                  <a:solidFill>
                    <a:schemeClr val="lt1"/>
                  </a:solidFill>
                  <a:latin typeface="Comic Sans MS"/>
                  <a:ea typeface="Comic Sans MS"/>
                  <a:cs typeface="Comic Sans MS"/>
                  <a:sym typeface="Comic Sans MS"/>
                </a:rPr>
                <a:t>The job of the battery is to convert ______ energy into _________ energy…</a:t>
              </a:r>
              <a:endParaRPr b="0" i="0" sz="2400" u="none" cap="none" strike="noStrike">
                <a:solidFill>
                  <a:schemeClr val="lt1"/>
                </a:solidFill>
                <a:latin typeface="Comic Sans MS"/>
                <a:ea typeface="Comic Sans MS"/>
                <a:cs typeface="Comic Sans MS"/>
                <a:sym typeface="Comic Sans MS"/>
              </a:endParaRPr>
            </a:p>
          </p:txBody>
        </p:sp>
        <p:sp>
          <p:nvSpPr>
            <p:cNvPr id="117" name="Google Shape;117;p4"/>
            <p:cNvSpPr/>
            <p:nvPr/>
          </p:nvSpPr>
          <p:spPr>
            <a:xfrm rot="908668">
              <a:off x="2468" y="1328"/>
              <a:ext cx="1270" cy="578"/>
            </a:xfrm>
            <a:prstGeom prst="rightArrow">
              <a:avLst>
                <a:gd fmla="val 50000" name="adj1"/>
                <a:gd fmla="val 139868" name="adj2"/>
              </a:avLst>
            </a:prstGeom>
            <a:solidFill>
              <a:srgbClr val="A5002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grpSp>
      <p:grpSp>
        <p:nvGrpSpPr>
          <p:cNvPr id="118" name="Google Shape;118;p4"/>
          <p:cNvGrpSpPr/>
          <p:nvPr/>
        </p:nvGrpSpPr>
        <p:grpSpPr>
          <a:xfrm>
            <a:off x="1524001" y="3584577"/>
            <a:ext cx="4932363" cy="2143126"/>
            <a:chOff x="0" y="2303"/>
            <a:chExt cx="3107" cy="1350"/>
          </a:xfrm>
        </p:grpSpPr>
        <p:sp>
          <p:nvSpPr>
            <p:cNvPr id="119" name="Google Shape;119;p4"/>
            <p:cNvSpPr txBox="1"/>
            <p:nvPr/>
          </p:nvSpPr>
          <p:spPr>
            <a:xfrm>
              <a:off x="0" y="2432"/>
              <a:ext cx="2562" cy="1221"/>
            </a:xfrm>
            <a:prstGeom prst="rect">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400" u="none" cap="none" strike="noStrike">
                  <a:solidFill>
                    <a:schemeClr val="lt1"/>
                  </a:solidFill>
                  <a:latin typeface="Comic Sans MS"/>
                  <a:ea typeface="Comic Sans MS"/>
                  <a:cs typeface="Comic Sans MS"/>
                  <a:sym typeface="Comic Sans MS"/>
                </a:rPr>
                <a:t>The job of the bulb is to convert the _________ energy it receives from the battery into ______ energy.</a:t>
              </a:r>
              <a:endParaRPr b="0" i="0" sz="2400" u="none" cap="none" strike="noStrike">
                <a:solidFill>
                  <a:schemeClr val="lt1"/>
                </a:solidFill>
                <a:latin typeface="Comic Sans MS"/>
                <a:ea typeface="Comic Sans MS"/>
                <a:cs typeface="Comic Sans MS"/>
                <a:sym typeface="Comic Sans MS"/>
              </a:endParaRPr>
            </a:p>
          </p:txBody>
        </p:sp>
        <p:sp>
          <p:nvSpPr>
            <p:cNvPr id="120" name="Google Shape;120;p4"/>
            <p:cNvSpPr/>
            <p:nvPr/>
          </p:nvSpPr>
          <p:spPr>
            <a:xfrm rot="10800000">
              <a:off x="2472" y="2303"/>
              <a:ext cx="635" cy="578"/>
            </a:xfrm>
            <a:prstGeom prst="leftArrow">
              <a:avLst>
                <a:gd fmla="val 50000" name="adj1"/>
                <a:gd fmla="val 69934" name="adj2"/>
              </a:avLst>
            </a:prstGeom>
            <a:solidFill>
              <a:schemeClr val="accent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FF0000"/>
                </a:solidFill>
                <a:latin typeface="Comic Sans MS"/>
                <a:ea typeface="Comic Sans MS"/>
                <a:cs typeface="Comic Sans MS"/>
                <a:sym typeface="Comic Sans MS"/>
              </a:rPr>
              <a:t>Electrical Energy</a:t>
            </a:r>
            <a:endParaRPr b="1">
              <a:solidFill>
                <a:srgbClr val="FF0000"/>
              </a:solidFill>
              <a:latin typeface="Comic Sans MS"/>
              <a:ea typeface="Comic Sans MS"/>
              <a:cs typeface="Comic Sans MS"/>
              <a:sym typeface="Comic Sans MS"/>
            </a:endParaRPr>
          </a:p>
        </p:txBody>
      </p:sp>
      <p:pic>
        <p:nvPicPr>
          <p:cNvPr descr="circuit 1" id="126" name="Google Shape;126;p5"/>
          <p:cNvPicPr preferRelativeResize="0"/>
          <p:nvPr/>
        </p:nvPicPr>
        <p:blipFill rotWithShape="1">
          <a:blip r:embed="rId3">
            <a:alphaModFix/>
          </a:blip>
          <a:srcRect b="0" l="7022" r="8988" t="0"/>
          <a:stretch/>
        </p:blipFill>
        <p:spPr>
          <a:xfrm>
            <a:off x="4769516" y="782043"/>
            <a:ext cx="6769100" cy="6015038"/>
          </a:xfrm>
          <a:prstGeom prst="rect">
            <a:avLst/>
          </a:prstGeom>
          <a:noFill/>
          <a:ln>
            <a:noFill/>
          </a:ln>
        </p:spPr>
      </p:pic>
      <p:grpSp>
        <p:nvGrpSpPr>
          <p:cNvPr id="127" name="Google Shape;127;p5"/>
          <p:cNvGrpSpPr/>
          <p:nvPr/>
        </p:nvGrpSpPr>
        <p:grpSpPr>
          <a:xfrm>
            <a:off x="6257089" y="1382969"/>
            <a:ext cx="1441450" cy="1368425"/>
            <a:chOff x="3424" y="1162"/>
            <a:chExt cx="908" cy="862"/>
          </a:xfrm>
        </p:grpSpPr>
        <p:pic>
          <p:nvPicPr>
            <p:cNvPr descr="Happy bloke" id="128" name="Google Shape;128;p5"/>
            <p:cNvPicPr preferRelativeResize="0"/>
            <p:nvPr/>
          </p:nvPicPr>
          <p:blipFill rotWithShape="1">
            <a:blip r:embed="rId4">
              <a:alphaModFix/>
            </a:blip>
            <a:srcRect b="0" l="0" r="0" t="0"/>
            <a:stretch/>
          </p:blipFill>
          <p:spPr>
            <a:xfrm flipH="1">
              <a:off x="3424" y="1162"/>
              <a:ext cx="479" cy="862"/>
            </a:xfrm>
            <a:prstGeom prst="rect">
              <a:avLst/>
            </a:prstGeom>
            <a:noFill/>
            <a:ln>
              <a:noFill/>
            </a:ln>
          </p:spPr>
        </p:pic>
        <p:grpSp>
          <p:nvGrpSpPr>
            <p:cNvPr id="129" name="Google Shape;129;p5"/>
            <p:cNvGrpSpPr/>
            <p:nvPr/>
          </p:nvGrpSpPr>
          <p:grpSpPr>
            <a:xfrm>
              <a:off x="3742" y="1570"/>
              <a:ext cx="590" cy="318"/>
              <a:chOff x="295" y="3339"/>
              <a:chExt cx="590" cy="318"/>
            </a:xfrm>
          </p:grpSpPr>
          <p:sp>
            <p:nvSpPr>
              <p:cNvPr id="130" name="Google Shape;130;p5"/>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31" name="Google Shape;131;p5"/>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32" name="Google Shape;132;p5"/>
          <p:cNvPicPr preferRelativeResize="0"/>
          <p:nvPr/>
        </p:nvPicPr>
        <p:blipFill rotWithShape="1">
          <a:blip r:embed="rId4">
            <a:alphaModFix/>
          </a:blip>
          <a:srcRect b="0" l="0" r="0" t="0"/>
          <a:stretch/>
        </p:blipFill>
        <p:spPr>
          <a:xfrm flipH="1">
            <a:off x="899464" y="2997201"/>
            <a:ext cx="1211263" cy="2179638"/>
          </a:xfrm>
          <a:prstGeom prst="rect">
            <a:avLst/>
          </a:prstGeom>
          <a:noFill/>
          <a:ln>
            <a:noFill/>
          </a:ln>
        </p:spPr>
      </p:pic>
      <p:sp>
        <p:nvSpPr>
          <p:cNvPr id="133" name="Google Shape;133;p5"/>
          <p:cNvSpPr/>
          <p:nvPr/>
        </p:nvSpPr>
        <p:spPr>
          <a:xfrm>
            <a:off x="1150375" y="541938"/>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2000" u="none" cap="none" strike="noStrike">
                <a:solidFill>
                  <a:schemeClr val="dk1"/>
                </a:solidFill>
                <a:latin typeface="Comic Sans MS"/>
                <a:ea typeface="Comic Sans MS"/>
                <a:cs typeface="Comic Sans MS"/>
                <a:sym typeface="Comic Sans MS"/>
              </a:rPr>
              <a:t>Hi.  I’m Ernie Electron and I’m going to show you how I get energy around a circuit.</a:t>
            </a:r>
            <a:endParaRPr b="0" i="0" sz="2000" u="none" cap="none" strike="noStrike">
              <a:solidFill>
                <a:schemeClr val="dk1"/>
              </a:solidFill>
              <a:latin typeface="Comic Sans MS"/>
              <a:ea typeface="Comic Sans MS"/>
              <a:cs typeface="Comic Sans MS"/>
              <a:sym typeface="Comic Sans MS"/>
            </a:endParaRPr>
          </a:p>
        </p:txBody>
      </p:sp>
      <p:sp>
        <p:nvSpPr>
          <p:cNvPr id="134" name="Google Shape;134;p5"/>
          <p:cNvSpPr/>
          <p:nvPr/>
        </p:nvSpPr>
        <p:spPr>
          <a:xfrm>
            <a:off x="5993114" y="3708701"/>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ppt_w</p:attrName>
                                        </p:attrNameLst>
                                      </p:cBhvr>
                                      <p:tavLst>
                                        <p:tav fmla="" tm="0">
                                          <p:val>
                                            <p:strVal val="0"/>
                                          </p:val>
                                        </p:tav>
                                        <p:tav fmla="" tm="100000">
                                          <p:val>
                                            <p:strVal val="#ppt_w"/>
                                          </p:val>
                                        </p:tav>
                                      </p:tavLst>
                                    </p:anim>
                                    <p:anim calcmode="lin" valueType="num">
                                      <p:cBhvr additive="base">
                                        <p:cTn dur="500"/>
                                        <p:tgtEl>
                                          <p:spTgt spid="13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circuit 1" id="139" name="Google Shape;139;p6"/>
          <p:cNvPicPr preferRelativeResize="0"/>
          <p:nvPr/>
        </p:nvPicPr>
        <p:blipFill rotWithShape="1">
          <a:blip r:embed="rId3">
            <a:alphaModFix/>
          </a:blip>
          <a:srcRect b="0" l="7022" r="8988" t="0"/>
          <a:stretch/>
        </p:blipFill>
        <p:spPr>
          <a:xfrm>
            <a:off x="3898900" y="781050"/>
            <a:ext cx="6769100" cy="6015038"/>
          </a:xfrm>
          <a:prstGeom prst="rect">
            <a:avLst/>
          </a:prstGeom>
          <a:noFill/>
          <a:ln>
            <a:noFill/>
          </a:ln>
        </p:spPr>
      </p:pic>
      <p:grpSp>
        <p:nvGrpSpPr>
          <p:cNvPr id="140" name="Google Shape;140;p6"/>
          <p:cNvGrpSpPr/>
          <p:nvPr/>
        </p:nvGrpSpPr>
        <p:grpSpPr>
          <a:xfrm>
            <a:off x="3866356" y="2150627"/>
            <a:ext cx="1481138" cy="1368425"/>
            <a:chOff x="4150" y="1570"/>
            <a:chExt cx="933" cy="862"/>
          </a:xfrm>
        </p:grpSpPr>
        <p:pic>
          <p:nvPicPr>
            <p:cNvPr descr="Happy bloke" id="141" name="Google Shape;141;p6"/>
            <p:cNvPicPr preferRelativeResize="0"/>
            <p:nvPr/>
          </p:nvPicPr>
          <p:blipFill rotWithShape="1">
            <a:blip r:embed="rId4">
              <a:alphaModFix/>
            </a:blip>
            <a:srcRect b="0" l="0" r="0" t="0"/>
            <a:stretch/>
          </p:blipFill>
          <p:spPr>
            <a:xfrm>
              <a:off x="4604" y="1570"/>
              <a:ext cx="479" cy="862"/>
            </a:xfrm>
            <a:prstGeom prst="rect">
              <a:avLst/>
            </a:prstGeom>
            <a:noFill/>
            <a:ln>
              <a:noFill/>
            </a:ln>
          </p:spPr>
        </p:pic>
        <p:grpSp>
          <p:nvGrpSpPr>
            <p:cNvPr id="142" name="Google Shape;142;p6"/>
            <p:cNvGrpSpPr/>
            <p:nvPr/>
          </p:nvGrpSpPr>
          <p:grpSpPr>
            <a:xfrm>
              <a:off x="4150" y="1979"/>
              <a:ext cx="590" cy="318"/>
              <a:chOff x="295" y="3339"/>
              <a:chExt cx="590" cy="318"/>
            </a:xfrm>
          </p:grpSpPr>
          <p:sp>
            <p:nvSpPr>
              <p:cNvPr id="143" name="Google Shape;143;p6"/>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44" name="Google Shape;144;p6"/>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grpSp>
      <p:pic>
        <p:nvPicPr>
          <p:cNvPr descr="Happy bloke" id="145" name="Google Shape;145;p6"/>
          <p:cNvPicPr preferRelativeResize="0"/>
          <p:nvPr/>
        </p:nvPicPr>
        <p:blipFill rotWithShape="1">
          <a:blip r:embed="rId4">
            <a:alphaModFix/>
          </a:blip>
          <a:srcRect b="0" l="0" r="0" t="0"/>
          <a:stretch/>
        </p:blipFill>
        <p:spPr>
          <a:xfrm flipH="1">
            <a:off x="462117" y="2872940"/>
            <a:ext cx="1211263" cy="2179638"/>
          </a:xfrm>
          <a:prstGeom prst="rect">
            <a:avLst/>
          </a:prstGeom>
          <a:noFill/>
          <a:ln>
            <a:noFill/>
          </a:ln>
        </p:spPr>
      </p:pic>
      <p:sp>
        <p:nvSpPr>
          <p:cNvPr id="146" name="Google Shape;146;p6"/>
          <p:cNvSpPr/>
          <p:nvPr/>
        </p:nvSpPr>
        <p:spPr>
          <a:xfrm>
            <a:off x="914400" y="549773"/>
            <a:ext cx="3348037" cy="1652244"/>
          </a:xfrm>
          <a:prstGeom prst="wedgeRoundRectCallout">
            <a:avLst>
              <a:gd fmla="val -37169" name="adj1"/>
              <a:gd fmla="val 109166"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2000" u="none" cap="none" strike="noStrike">
                <a:solidFill>
                  <a:schemeClr val="dk1"/>
                </a:solidFill>
                <a:latin typeface="Comic Sans MS"/>
                <a:ea typeface="Comic Sans MS"/>
                <a:cs typeface="Comic Sans MS"/>
                <a:sym typeface="Comic Sans MS"/>
              </a:rPr>
              <a:t>I leave from the negative terminal of the battery cell and I am attracted to the positive end.</a:t>
            </a:r>
            <a:endParaRPr b="0" i="0" sz="2000" u="none" cap="none" strike="noStrike">
              <a:solidFill>
                <a:schemeClr val="dk1"/>
              </a:solidFill>
              <a:latin typeface="Comic Sans MS"/>
              <a:ea typeface="Comic Sans MS"/>
              <a:cs typeface="Comic Sans MS"/>
              <a:sym typeface="Comic Sans MS"/>
            </a:endParaRPr>
          </a:p>
        </p:txBody>
      </p:sp>
      <p:sp>
        <p:nvSpPr>
          <p:cNvPr id="147" name="Google Shape;147;p6"/>
          <p:cNvSpPr txBox="1"/>
          <p:nvPr/>
        </p:nvSpPr>
        <p:spPr>
          <a:xfrm>
            <a:off x="4868072" y="97902"/>
            <a:ext cx="5622948" cy="71817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FF0000"/>
              </a:buClr>
              <a:buSzPts val="4400"/>
              <a:buFont typeface="Comic Sans MS"/>
              <a:buNone/>
            </a:pPr>
            <a:r>
              <a:rPr b="1" i="0" lang="en-GB" sz="4400" u="none" cap="none" strike="noStrike">
                <a:solidFill>
                  <a:srgbClr val="FF0000"/>
                </a:solidFill>
                <a:latin typeface="Comic Sans MS"/>
                <a:ea typeface="Comic Sans MS"/>
                <a:cs typeface="Comic Sans MS"/>
                <a:sym typeface="Comic Sans MS"/>
              </a:rPr>
              <a:t>Electrical Energy</a:t>
            </a:r>
            <a:endParaRPr b="1" i="0" sz="4400" u="none" cap="none" strike="noStrike">
              <a:solidFill>
                <a:srgbClr val="FF0000"/>
              </a:solidFill>
              <a:latin typeface="Comic Sans MS"/>
              <a:ea typeface="Comic Sans MS"/>
              <a:cs typeface="Comic Sans MS"/>
              <a:sym typeface="Comic Sans MS"/>
            </a:endParaRPr>
          </a:p>
        </p:txBody>
      </p:sp>
      <p:sp>
        <p:nvSpPr>
          <p:cNvPr id="148" name="Google Shape;148;p6"/>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circuit 1" id="153" name="Google Shape;153;p7"/>
          <p:cNvPicPr preferRelativeResize="0"/>
          <p:nvPr/>
        </p:nvPicPr>
        <p:blipFill rotWithShape="1">
          <a:blip r:embed="rId3">
            <a:alphaModFix/>
          </a:blip>
          <a:srcRect b="0" l="7022" r="8988" t="0"/>
          <a:stretch/>
        </p:blipFill>
        <p:spPr>
          <a:xfrm>
            <a:off x="3898900" y="781050"/>
            <a:ext cx="6769100" cy="6015038"/>
          </a:xfrm>
          <a:prstGeom prst="rect">
            <a:avLst/>
          </a:prstGeom>
          <a:noFill/>
          <a:ln>
            <a:noFill/>
          </a:ln>
        </p:spPr>
      </p:pic>
      <p:pic>
        <p:nvPicPr>
          <p:cNvPr descr="Happy bloke" id="154" name="Google Shape;154;p7"/>
          <p:cNvPicPr preferRelativeResize="0"/>
          <p:nvPr/>
        </p:nvPicPr>
        <p:blipFill rotWithShape="1">
          <a:blip r:embed="rId4">
            <a:alphaModFix/>
          </a:blip>
          <a:srcRect b="0" l="0" r="0" t="0"/>
          <a:stretch/>
        </p:blipFill>
        <p:spPr>
          <a:xfrm flipH="1">
            <a:off x="8986838" y="2565401"/>
            <a:ext cx="760412" cy="1368425"/>
          </a:xfrm>
          <a:prstGeom prst="rect">
            <a:avLst/>
          </a:prstGeom>
          <a:noFill/>
          <a:ln>
            <a:noFill/>
          </a:ln>
        </p:spPr>
      </p:pic>
      <p:pic>
        <p:nvPicPr>
          <p:cNvPr descr="Happy bloke" id="155" name="Google Shape;155;p7"/>
          <p:cNvPicPr preferRelativeResize="0"/>
          <p:nvPr/>
        </p:nvPicPr>
        <p:blipFill rotWithShape="1">
          <a:blip r:embed="rId4">
            <a:alphaModFix/>
          </a:blip>
          <a:srcRect b="0" l="0" r="0" t="0"/>
          <a:stretch/>
        </p:blipFill>
        <p:spPr>
          <a:xfrm flipH="1">
            <a:off x="1524001" y="2349500"/>
            <a:ext cx="1211263" cy="2179638"/>
          </a:xfrm>
          <a:prstGeom prst="rect">
            <a:avLst/>
          </a:prstGeom>
          <a:noFill/>
          <a:ln>
            <a:noFill/>
          </a:ln>
        </p:spPr>
      </p:pic>
      <p:sp>
        <p:nvSpPr>
          <p:cNvPr id="156" name="Google Shape;156;p7"/>
          <p:cNvSpPr/>
          <p:nvPr/>
        </p:nvSpPr>
        <p:spPr>
          <a:xfrm>
            <a:off x="1703388" y="188913"/>
            <a:ext cx="3168650" cy="1439862"/>
          </a:xfrm>
          <a:prstGeom prst="wedgeRoundRectCallout">
            <a:avLst>
              <a:gd fmla="val -31264" name="adj1"/>
              <a:gd fmla="val 128611" name="adj2"/>
              <a:gd fmla="val 16667" name="adj3"/>
            </a:avLst>
          </a:prstGeom>
          <a:solidFill>
            <a:schemeClr val="l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2000" u="none" cap="none" strike="noStrike">
                <a:solidFill>
                  <a:schemeClr val="dk1"/>
                </a:solidFill>
                <a:latin typeface="Comic Sans MS"/>
                <a:ea typeface="Comic Sans MS"/>
                <a:cs typeface="Comic Sans MS"/>
                <a:sym typeface="Comic Sans MS"/>
              </a:rPr>
              <a:t>Notice, the switch is ‘ON’ which means the circuit is closed and I am free to travel</a:t>
            </a:r>
            <a:endParaRPr/>
          </a:p>
        </p:txBody>
      </p:sp>
      <p:grpSp>
        <p:nvGrpSpPr>
          <p:cNvPr id="157" name="Google Shape;157;p7"/>
          <p:cNvGrpSpPr/>
          <p:nvPr/>
        </p:nvGrpSpPr>
        <p:grpSpPr>
          <a:xfrm>
            <a:off x="6888164" y="2492376"/>
            <a:ext cx="936625" cy="504825"/>
            <a:chOff x="295" y="3339"/>
            <a:chExt cx="590" cy="318"/>
          </a:xfrm>
        </p:grpSpPr>
        <p:sp>
          <p:nvSpPr>
            <p:cNvPr id="158" name="Google Shape;158;p7"/>
            <p:cNvSpPr/>
            <p:nvPr/>
          </p:nvSpPr>
          <p:spPr>
            <a:xfrm>
              <a:off x="295" y="3339"/>
              <a:ext cx="590" cy="318"/>
            </a:xfrm>
            <a:prstGeom prst="star32">
              <a:avLst>
                <a:gd fmla="val 37500" name="adj"/>
              </a:avLst>
            </a:prstGeom>
            <a:gradFill>
              <a:gsLst>
                <a:gs pos="0">
                  <a:srgbClr val="FFF200"/>
                </a:gs>
                <a:gs pos="45000">
                  <a:srgbClr val="FF7A00"/>
                </a:gs>
                <a:gs pos="70000">
                  <a:srgbClr val="FF0300"/>
                </a:gs>
                <a:gs pos="100000">
                  <a:srgbClr val="4D0808"/>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
          <p:nvSpPr>
            <p:cNvPr id="159" name="Google Shape;159;p7"/>
            <p:cNvSpPr txBox="1"/>
            <p:nvPr/>
          </p:nvSpPr>
          <p:spPr>
            <a:xfrm>
              <a:off x="340" y="3385"/>
              <a:ext cx="544" cy="2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600" u="none" cap="none" strike="noStrike">
                  <a:solidFill>
                    <a:schemeClr val="lt1"/>
                  </a:solidFill>
                  <a:latin typeface="Comic Sans MS"/>
                  <a:ea typeface="Comic Sans MS"/>
                  <a:cs typeface="Comic Sans MS"/>
                  <a:sym typeface="Comic Sans MS"/>
                </a:rPr>
                <a:t>Energy</a:t>
              </a:r>
              <a:endParaRPr b="0" i="0" sz="1600" u="none" cap="none" strike="noStrike">
                <a:solidFill>
                  <a:schemeClr val="lt1"/>
                </a:solidFill>
                <a:latin typeface="Comic Sans MS"/>
                <a:ea typeface="Comic Sans MS"/>
                <a:cs typeface="Comic Sans MS"/>
                <a:sym typeface="Comic Sans MS"/>
              </a:endParaRPr>
            </a:p>
          </p:txBody>
        </p:sp>
      </p:grpSp>
      <p:sp>
        <p:nvSpPr>
          <p:cNvPr id="160" name="Google Shape;160;p7"/>
          <p:cNvSpPr txBox="1"/>
          <p:nvPr>
            <p:ph type="title"/>
          </p:nvPr>
        </p:nvSpPr>
        <p:spPr>
          <a:xfrm>
            <a:off x="5671915" y="60919"/>
            <a:ext cx="6122987" cy="97770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omic Sans MS"/>
              <a:buNone/>
            </a:pPr>
            <a:r>
              <a:rPr b="1" lang="en-GB">
                <a:solidFill>
                  <a:srgbClr val="FF0000"/>
                </a:solidFill>
                <a:latin typeface="Comic Sans MS"/>
                <a:ea typeface="Comic Sans MS"/>
                <a:cs typeface="Comic Sans MS"/>
                <a:sym typeface="Comic Sans MS"/>
              </a:rPr>
              <a:t>Electrical Energy</a:t>
            </a:r>
            <a:endParaRPr b="1">
              <a:solidFill>
                <a:srgbClr val="FF0000"/>
              </a:solidFill>
              <a:latin typeface="Comic Sans MS"/>
              <a:ea typeface="Comic Sans MS"/>
              <a:cs typeface="Comic Sans MS"/>
              <a:sym typeface="Comic Sans MS"/>
            </a:endParaRPr>
          </a:p>
        </p:txBody>
      </p:sp>
      <p:sp>
        <p:nvSpPr>
          <p:cNvPr id="161" name="Google Shape;161;p7"/>
          <p:cNvSpPr/>
          <p:nvPr/>
        </p:nvSpPr>
        <p:spPr>
          <a:xfrm>
            <a:off x="5375276" y="4005264"/>
            <a:ext cx="576263" cy="504825"/>
          </a:xfrm>
          <a:prstGeom prst="star32">
            <a:avLst>
              <a:gd fmla="val 37500" name="adj"/>
            </a:avLst>
          </a:prstGeom>
          <a:noFill/>
          <a:ln cap="flat" cmpd="sng" w="412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FFFF"/>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4520381" y="854742"/>
            <a:ext cx="267929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Comic Sans MS"/>
                <a:ea typeface="Comic Sans MS"/>
                <a:cs typeface="Comic Sans MS"/>
                <a:sym typeface="Comic Sans MS"/>
              </a:rPr>
              <a:t>Materials</a:t>
            </a:r>
            <a:endParaRPr>
              <a:solidFill>
                <a:schemeClr val="lt1"/>
              </a:solidFill>
              <a:latin typeface="Comic Sans MS"/>
              <a:ea typeface="Comic Sans MS"/>
              <a:cs typeface="Comic Sans MS"/>
              <a:sym typeface="Comic Sans MS"/>
            </a:endParaRPr>
          </a:p>
        </p:txBody>
      </p:sp>
      <p:sp>
        <p:nvSpPr>
          <p:cNvPr id="167" name="Google Shape;167;p8"/>
          <p:cNvSpPr txBox="1"/>
          <p:nvPr>
            <p:ph idx="1" type="body"/>
          </p:nvPr>
        </p:nvSpPr>
        <p:spPr>
          <a:xfrm>
            <a:off x="651699" y="2497393"/>
            <a:ext cx="11127346" cy="42325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GB">
                <a:solidFill>
                  <a:schemeClr val="lt1"/>
                </a:solidFill>
                <a:latin typeface="Comic Sans MS"/>
                <a:ea typeface="Comic Sans MS"/>
                <a:cs typeface="Comic Sans MS"/>
                <a:sym typeface="Comic Sans MS"/>
              </a:rPr>
              <a:t>Materials that allow electricity to pass through them are called </a:t>
            </a:r>
            <a:r>
              <a:rPr lang="en-GB">
                <a:solidFill>
                  <a:srgbClr val="FFFF00"/>
                </a:solidFill>
                <a:latin typeface="Comic Sans MS"/>
                <a:ea typeface="Comic Sans MS"/>
                <a:cs typeface="Comic Sans MS"/>
                <a:sym typeface="Comic Sans MS"/>
              </a:rPr>
              <a:t>CONDUCTORS</a:t>
            </a:r>
            <a:r>
              <a:rPr lang="en-GB">
                <a:solidFill>
                  <a:schemeClr val="lt1"/>
                </a:solidFill>
                <a:latin typeface="Comic Sans MS"/>
                <a:ea typeface="Comic Sans MS"/>
                <a:cs typeface="Comic Sans MS"/>
                <a:sym typeface="Comic Sans MS"/>
              </a:rPr>
              <a:t>.</a:t>
            </a:r>
            <a:endParaRPr/>
          </a:p>
          <a:p>
            <a:pPr indent="-228600" lvl="1" marL="685800" rtl="0" algn="l">
              <a:lnSpc>
                <a:spcPct val="90000"/>
              </a:lnSpc>
              <a:spcBef>
                <a:spcPts val="500"/>
              </a:spcBef>
              <a:spcAft>
                <a:spcPts val="0"/>
              </a:spcAft>
              <a:buClr>
                <a:schemeClr val="lt1"/>
              </a:buClr>
              <a:buSzPts val="2800"/>
              <a:buChar char="•"/>
            </a:pPr>
            <a:r>
              <a:rPr lang="en-GB" sz="2800">
                <a:solidFill>
                  <a:schemeClr val="lt1"/>
                </a:solidFill>
                <a:latin typeface="Comic Sans MS"/>
                <a:ea typeface="Comic Sans MS"/>
                <a:cs typeface="Comic Sans MS"/>
                <a:sym typeface="Comic Sans MS"/>
              </a:rPr>
              <a:t>Give 3 examples</a:t>
            </a:r>
            <a:endParaRPr/>
          </a:p>
          <a:p>
            <a:pPr indent="-50800" lvl="0" marL="228600" rtl="0" algn="l">
              <a:lnSpc>
                <a:spcPct val="90000"/>
              </a:lnSpc>
              <a:spcBef>
                <a:spcPts val="1000"/>
              </a:spcBef>
              <a:spcAft>
                <a:spcPts val="0"/>
              </a:spcAft>
              <a:buClr>
                <a:schemeClr val="dk1"/>
              </a:buClr>
              <a:buSzPts val="2800"/>
              <a:buNone/>
            </a:pPr>
            <a:r>
              <a:t/>
            </a:r>
            <a:endParaRPr>
              <a:solidFill>
                <a:schemeClr val="lt1"/>
              </a:solidFill>
              <a:latin typeface="Comic Sans MS"/>
              <a:ea typeface="Comic Sans MS"/>
              <a:cs typeface="Comic Sans MS"/>
              <a:sym typeface="Comic Sans MS"/>
            </a:endParaRPr>
          </a:p>
          <a:p>
            <a:pPr indent="-228600" lvl="0" marL="228600" rtl="0" algn="l">
              <a:lnSpc>
                <a:spcPct val="90000"/>
              </a:lnSpc>
              <a:spcBef>
                <a:spcPts val="1000"/>
              </a:spcBef>
              <a:spcAft>
                <a:spcPts val="0"/>
              </a:spcAft>
              <a:buClr>
                <a:schemeClr val="lt1"/>
              </a:buClr>
              <a:buSzPts val="2800"/>
              <a:buChar char="•"/>
            </a:pPr>
            <a:r>
              <a:rPr lang="en-GB">
                <a:solidFill>
                  <a:schemeClr val="lt1"/>
                </a:solidFill>
                <a:latin typeface="Comic Sans MS"/>
                <a:ea typeface="Comic Sans MS"/>
                <a:cs typeface="Comic Sans MS"/>
                <a:sym typeface="Comic Sans MS"/>
              </a:rPr>
              <a:t>Materials that electricity does not pass through are called </a:t>
            </a:r>
            <a:r>
              <a:rPr lang="en-GB">
                <a:solidFill>
                  <a:srgbClr val="FFFF00"/>
                </a:solidFill>
                <a:latin typeface="Comic Sans MS"/>
                <a:ea typeface="Comic Sans MS"/>
                <a:cs typeface="Comic Sans MS"/>
                <a:sym typeface="Comic Sans MS"/>
              </a:rPr>
              <a:t>INSULATORS.</a:t>
            </a:r>
            <a:endParaRPr/>
          </a:p>
          <a:p>
            <a:pPr indent="-228600" lvl="1" marL="685800" rtl="0" algn="l">
              <a:lnSpc>
                <a:spcPct val="90000"/>
              </a:lnSpc>
              <a:spcBef>
                <a:spcPts val="500"/>
              </a:spcBef>
              <a:spcAft>
                <a:spcPts val="0"/>
              </a:spcAft>
              <a:buClr>
                <a:schemeClr val="lt1"/>
              </a:buClr>
              <a:buSzPts val="2800"/>
              <a:buChar char="•"/>
            </a:pPr>
            <a:r>
              <a:rPr lang="en-GB" sz="2800">
                <a:solidFill>
                  <a:schemeClr val="lt1"/>
                </a:solidFill>
                <a:latin typeface="Comic Sans MS"/>
                <a:ea typeface="Comic Sans MS"/>
                <a:cs typeface="Comic Sans MS"/>
                <a:sym typeface="Comic Sans MS"/>
              </a:rPr>
              <a:t>Give 3 examples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648177" y="223766"/>
            <a:ext cx="8243668" cy="626666"/>
          </a:xfrm>
          <a:prstGeom prst="rect">
            <a:avLst/>
          </a:prstGeom>
          <a:solidFill>
            <a:srgbClr val="0000FF"/>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Comic Sans MS"/>
                <a:ea typeface="Comic Sans MS"/>
                <a:cs typeface="Comic Sans MS"/>
                <a:sym typeface="Comic Sans MS"/>
              </a:rPr>
              <a:t>Why do metals Conduct Heat?</a:t>
            </a:r>
            <a:endParaRPr/>
          </a:p>
        </p:txBody>
      </p:sp>
      <p:sp>
        <p:nvSpPr>
          <p:cNvPr id="173" name="Google Shape;173;p9"/>
          <p:cNvSpPr txBox="1"/>
          <p:nvPr/>
        </p:nvSpPr>
        <p:spPr>
          <a:xfrm>
            <a:off x="383347" y="1220372"/>
            <a:ext cx="546764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400" u="none" cap="none" strike="noStrike">
                <a:solidFill>
                  <a:schemeClr val="lt1"/>
                </a:solidFill>
                <a:latin typeface="Comic Sans MS"/>
                <a:ea typeface="Comic Sans MS"/>
                <a:cs typeface="Comic Sans MS"/>
                <a:sym typeface="Comic Sans MS"/>
              </a:rPr>
              <a:t>When you heat a metal strip at one end, the heat travels to the other end.</a:t>
            </a:r>
            <a:endParaRPr/>
          </a:p>
        </p:txBody>
      </p:sp>
      <p:sp>
        <p:nvSpPr>
          <p:cNvPr id="174" name="Google Shape;174;p9"/>
          <p:cNvSpPr txBox="1"/>
          <p:nvPr/>
        </p:nvSpPr>
        <p:spPr>
          <a:xfrm>
            <a:off x="241630" y="2718581"/>
            <a:ext cx="5609357" cy="249299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2400" u="none" cap="none" strike="noStrike">
                <a:solidFill>
                  <a:schemeClr val="lt1"/>
                </a:solidFill>
                <a:latin typeface="Comic Sans MS"/>
                <a:ea typeface="Comic Sans MS"/>
                <a:cs typeface="Comic Sans MS"/>
                <a:sym typeface="Comic Sans MS"/>
              </a:rPr>
              <a:t>As you heat the metal, the particles vibrate, these vibrations make the adjacent particles vibrate, and so on and so on, the vibrations are passed along the metal and so is the heat. </a:t>
            </a:r>
            <a:endParaRPr/>
          </a:p>
          <a:p>
            <a:pPr indent="0" lvl="0" marL="0" marR="0" rtl="0" algn="l">
              <a:spcBef>
                <a:spcPts val="1200"/>
              </a:spcBef>
              <a:spcAft>
                <a:spcPts val="0"/>
              </a:spcAft>
              <a:buNone/>
            </a:pPr>
            <a:r>
              <a:rPr b="0" i="0" lang="en-GB" sz="2400" u="none" cap="none" strike="noStrike">
                <a:solidFill>
                  <a:schemeClr val="lt1"/>
                </a:solidFill>
                <a:latin typeface="Comic Sans MS"/>
                <a:ea typeface="Comic Sans MS"/>
                <a:cs typeface="Comic Sans MS"/>
                <a:sym typeface="Comic Sans MS"/>
              </a:rPr>
              <a:t>We call this?</a:t>
            </a:r>
            <a:endParaRPr/>
          </a:p>
        </p:txBody>
      </p:sp>
      <p:sp>
        <p:nvSpPr>
          <p:cNvPr id="175" name="Google Shape;175;p9"/>
          <p:cNvSpPr txBox="1"/>
          <p:nvPr/>
        </p:nvSpPr>
        <p:spPr>
          <a:xfrm>
            <a:off x="2077858" y="5376018"/>
            <a:ext cx="2300067" cy="523220"/>
          </a:xfrm>
          <a:prstGeom prst="rect">
            <a:avLst/>
          </a:prstGeom>
          <a:solidFill>
            <a:srgbClr val="0000FF"/>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2800" u="none" cap="none" strike="noStrike">
                <a:solidFill>
                  <a:schemeClr val="lt1"/>
                </a:solidFill>
                <a:latin typeface="Comic Sans MS"/>
                <a:ea typeface="Comic Sans MS"/>
                <a:cs typeface="Comic Sans MS"/>
                <a:sym typeface="Comic Sans MS"/>
              </a:rPr>
              <a:t>Conduction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582524" y="355818"/>
            <a:ext cx="11338559" cy="735926"/>
          </a:xfrm>
          <a:prstGeom prst="rect">
            <a:avLst/>
          </a:prstGeom>
          <a:solidFill>
            <a:srgbClr val="0000FF"/>
          </a:solidFill>
          <a:ln cap="flat" cmpd="sng" w="9525">
            <a:solidFill>
              <a:srgbClr val="000066"/>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Comic Sans MS"/>
                <a:ea typeface="Comic Sans MS"/>
                <a:cs typeface="Comic Sans MS"/>
                <a:sym typeface="Comic Sans MS"/>
              </a:rPr>
              <a:t>Why do metals conduct heat and electricity?</a:t>
            </a:r>
            <a:endParaRPr/>
          </a:p>
        </p:txBody>
      </p:sp>
      <p:sp>
        <p:nvSpPr>
          <p:cNvPr id="181" name="Google Shape;181;p10"/>
          <p:cNvSpPr/>
          <p:nvPr/>
        </p:nvSpPr>
        <p:spPr>
          <a:xfrm>
            <a:off x="1524000" y="2286000"/>
            <a:ext cx="5334000" cy="2286000"/>
          </a:xfrm>
          <a:prstGeom prst="rect">
            <a:avLst/>
          </a:prstGeom>
          <a:gradFill>
            <a:gsLst>
              <a:gs pos="0">
                <a:srgbClr val="FFFFFF"/>
              </a:gs>
              <a:gs pos="100000">
                <a:schemeClr val="folHlink"/>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2" name="Google Shape;182;p10"/>
          <p:cNvSpPr/>
          <p:nvPr/>
        </p:nvSpPr>
        <p:spPr>
          <a:xfrm>
            <a:off x="15240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3" name="Google Shape;183;p10"/>
          <p:cNvSpPr/>
          <p:nvPr/>
        </p:nvSpPr>
        <p:spPr>
          <a:xfrm>
            <a:off x="15240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4" name="Google Shape;184;p10"/>
          <p:cNvSpPr/>
          <p:nvPr/>
        </p:nvSpPr>
        <p:spPr>
          <a:xfrm>
            <a:off x="15240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5" name="Google Shape;185;p10"/>
          <p:cNvSpPr/>
          <p:nvPr/>
        </p:nvSpPr>
        <p:spPr>
          <a:xfrm>
            <a:off x="25908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6" name="Google Shape;186;p10"/>
          <p:cNvSpPr/>
          <p:nvPr/>
        </p:nvSpPr>
        <p:spPr>
          <a:xfrm>
            <a:off x="25908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7" name="Google Shape;187;p10"/>
          <p:cNvSpPr/>
          <p:nvPr/>
        </p:nvSpPr>
        <p:spPr>
          <a:xfrm>
            <a:off x="25908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8" name="Google Shape;188;p10"/>
          <p:cNvSpPr/>
          <p:nvPr/>
        </p:nvSpPr>
        <p:spPr>
          <a:xfrm>
            <a:off x="36576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89" name="Google Shape;189;p10"/>
          <p:cNvSpPr/>
          <p:nvPr/>
        </p:nvSpPr>
        <p:spPr>
          <a:xfrm>
            <a:off x="36576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0" name="Google Shape;190;p10"/>
          <p:cNvSpPr/>
          <p:nvPr/>
        </p:nvSpPr>
        <p:spPr>
          <a:xfrm>
            <a:off x="36576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1" name="Google Shape;191;p10"/>
          <p:cNvSpPr/>
          <p:nvPr/>
        </p:nvSpPr>
        <p:spPr>
          <a:xfrm>
            <a:off x="47244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2" name="Google Shape;192;p10"/>
          <p:cNvSpPr/>
          <p:nvPr/>
        </p:nvSpPr>
        <p:spPr>
          <a:xfrm>
            <a:off x="47244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3" name="Google Shape;193;p10"/>
          <p:cNvSpPr/>
          <p:nvPr/>
        </p:nvSpPr>
        <p:spPr>
          <a:xfrm>
            <a:off x="47244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4" name="Google Shape;194;p10"/>
          <p:cNvSpPr/>
          <p:nvPr/>
        </p:nvSpPr>
        <p:spPr>
          <a:xfrm>
            <a:off x="5791200" y="2286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5" name="Google Shape;195;p10"/>
          <p:cNvSpPr/>
          <p:nvPr/>
        </p:nvSpPr>
        <p:spPr>
          <a:xfrm>
            <a:off x="5791200" y="3048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6" name="Google Shape;196;p10"/>
          <p:cNvSpPr/>
          <p:nvPr/>
        </p:nvSpPr>
        <p:spPr>
          <a:xfrm>
            <a:off x="5791200" y="3810000"/>
            <a:ext cx="1066800" cy="762000"/>
          </a:xfrm>
          <a:prstGeom prst="ellipse">
            <a:avLst/>
          </a:prstGeom>
          <a:gradFill>
            <a:gsLst>
              <a:gs pos="0">
                <a:srgbClr val="406D96"/>
              </a:gs>
              <a:gs pos="100000">
                <a:schemeClr val="accent1"/>
              </a:gs>
            </a:gsLst>
            <a:path path="circle">
              <a:fillToRect b="50%" l="50%" r="50%" t="50%"/>
            </a:path>
            <a:tileRect/>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7" name="Google Shape;197;p10"/>
          <p:cNvSpPr/>
          <p:nvPr/>
        </p:nvSpPr>
        <p:spPr>
          <a:xfrm>
            <a:off x="1600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8" name="Google Shape;198;p10"/>
          <p:cNvSpPr/>
          <p:nvPr/>
        </p:nvSpPr>
        <p:spPr>
          <a:xfrm>
            <a:off x="25908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199" name="Google Shape;199;p10"/>
          <p:cNvSpPr/>
          <p:nvPr/>
        </p:nvSpPr>
        <p:spPr>
          <a:xfrm>
            <a:off x="1600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0" name="Google Shape;200;p10"/>
          <p:cNvSpPr/>
          <p:nvPr/>
        </p:nvSpPr>
        <p:spPr>
          <a:xfrm>
            <a:off x="25146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1" name="Google Shape;201;p10"/>
          <p:cNvSpPr/>
          <p:nvPr/>
        </p:nvSpPr>
        <p:spPr>
          <a:xfrm>
            <a:off x="3657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2" name="Google Shape;202;p10"/>
          <p:cNvSpPr/>
          <p:nvPr/>
        </p:nvSpPr>
        <p:spPr>
          <a:xfrm>
            <a:off x="2514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3" name="Google Shape;203;p10"/>
          <p:cNvSpPr/>
          <p:nvPr/>
        </p:nvSpPr>
        <p:spPr>
          <a:xfrm>
            <a:off x="36576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4" name="Google Shape;204;p10"/>
          <p:cNvSpPr/>
          <p:nvPr/>
        </p:nvSpPr>
        <p:spPr>
          <a:xfrm>
            <a:off x="4648200" y="3810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5" name="Google Shape;205;p10"/>
          <p:cNvSpPr/>
          <p:nvPr/>
        </p:nvSpPr>
        <p:spPr>
          <a:xfrm>
            <a:off x="4648200" y="3124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6" name="Google Shape;206;p10"/>
          <p:cNvSpPr/>
          <p:nvPr/>
        </p:nvSpPr>
        <p:spPr>
          <a:xfrm>
            <a:off x="4648200" y="2286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7" name="Google Shape;207;p10"/>
          <p:cNvSpPr/>
          <p:nvPr/>
        </p:nvSpPr>
        <p:spPr>
          <a:xfrm>
            <a:off x="5791200" y="3733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8" name="Google Shape;208;p10"/>
          <p:cNvSpPr/>
          <p:nvPr/>
        </p:nvSpPr>
        <p:spPr>
          <a:xfrm>
            <a:off x="5791200" y="44196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09" name="Google Shape;209;p10"/>
          <p:cNvSpPr/>
          <p:nvPr/>
        </p:nvSpPr>
        <p:spPr>
          <a:xfrm>
            <a:off x="5791200" y="29718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0" name="Google Shape;210;p10"/>
          <p:cNvSpPr/>
          <p:nvPr/>
        </p:nvSpPr>
        <p:spPr>
          <a:xfrm>
            <a:off x="57912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1" name="Google Shape;211;p10"/>
          <p:cNvSpPr/>
          <p:nvPr/>
        </p:nvSpPr>
        <p:spPr>
          <a:xfrm>
            <a:off x="6705600" y="30480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2" name="Google Shape;212;p10"/>
          <p:cNvSpPr/>
          <p:nvPr/>
        </p:nvSpPr>
        <p:spPr>
          <a:xfrm>
            <a:off x="6629400" y="2362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3" name="Google Shape;213;p10"/>
          <p:cNvSpPr/>
          <p:nvPr/>
        </p:nvSpPr>
        <p:spPr>
          <a:xfrm>
            <a:off x="6781800" y="2743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4" name="Google Shape;214;p10"/>
          <p:cNvSpPr/>
          <p:nvPr/>
        </p:nvSpPr>
        <p:spPr>
          <a:xfrm>
            <a:off x="6553200" y="3505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5" name="Google Shape;215;p10"/>
          <p:cNvSpPr/>
          <p:nvPr/>
        </p:nvSpPr>
        <p:spPr>
          <a:xfrm>
            <a:off x="6629400" y="4267200"/>
            <a:ext cx="76200" cy="762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16" name="Google Shape;216;p10"/>
          <p:cNvSpPr txBox="1"/>
          <p:nvPr/>
        </p:nvSpPr>
        <p:spPr>
          <a:xfrm>
            <a:off x="1600200" y="1243906"/>
            <a:ext cx="6015111"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lt1"/>
                </a:solidFill>
                <a:latin typeface="Comic Sans MS"/>
                <a:ea typeface="Comic Sans MS"/>
                <a:cs typeface="Comic Sans MS"/>
                <a:sym typeface="Comic Sans MS"/>
              </a:rPr>
              <a:t>The outer e_______ for metal atoms drift, and are free to move.</a:t>
            </a:r>
            <a:endParaRPr/>
          </a:p>
          <a:p>
            <a:pPr indent="0" lvl="0" marL="0" marR="0" rtl="0" algn="l">
              <a:spcBef>
                <a:spcPts val="1400"/>
              </a:spcBef>
              <a:spcAft>
                <a:spcPts val="0"/>
              </a:spcAft>
              <a:buNone/>
            </a:pPr>
            <a:r>
              <a:t/>
            </a:r>
            <a:endParaRPr sz="2800">
              <a:solidFill>
                <a:schemeClr val="lt1"/>
              </a:solidFill>
              <a:latin typeface="Comic Sans MS"/>
              <a:ea typeface="Comic Sans MS"/>
              <a:cs typeface="Comic Sans MS"/>
              <a:sym typeface="Comic Sans MS"/>
            </a:endParaRPr>
          </a:p>
        </p:txBody>
      </p:sp>
      <p:sp>
        <p:nvSpPr>
          <p:cNvPr id="217" name="Google Shape;217;p10"/>
          <p:cNvSpPr/>
          <p:nvPr/>
        </p:nvSpPr>
        <p:spPr>
          <a:xfrm>
            <a:off x="6934200" y="2325231"/>
            <a:ext cx="5257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lt1"/>
                </a:solidFill>
                <a:latin typeface="Comic Sans MS"/>
                <a:ea typeface="Comic Sans MS"/>
                <a:cs typeface="Comic Sans MS"/>
                <a:sym typeface="Comic Sans MS"/>
              </a:rPr>
              <a:t>When the metal is heated or an electric current is passed though it, this </a:t>
            </a:r>
            <a:r>
              <a:rPr b="1" lang="en-GB" sz="2400" u="sng">
                <a:solidFill>
                  <a:schemeClr val="lt1"/>
                </a:solidFill>
                <a:latin typeface="Comic Sans MS"/>
                <a:ea typeface="Comic Sans MS"/>
                <a:cs typeface="Comic Sans MS"/>
                <a:sym typeface="Comic Sans MS"/>
              </a:rPr>
              <a:t>‘Sea of electrons</a:t>
            </a:r>
            <a:r>
              <a:rPr lang="en-GB" sz="2400">
                <a:solidFill>
                  <a:schemeClr val="lt1"/>
                </a:solidFill>
                <a:latin typeface="Comic Sans MS"/>
                <a:ea typeface="Comic Sans MS"/>
                <a:cs typeface="Comic Sans MS"/>
                <a:sym typeface="Comic Sans MS"/>
              </a:rPr>
              <a:t>’ gain k_____ energy and transfer throughout the metal, taking heat or electricity with them.</a:t>
            </a:r>
            <a:endParaRPr/>
          </a:p>
        </p:txBody>
      </p:sp>
      <p:sp>
        <p:nvSpPr>
          <p:cNvPr id="218" name="Google Shape;218;p10"/>
          <p:cNvSpPr/>
          <p:nvPr/>
        </p:nvSpPr>
        <p:spPr>
          <a:xfrm>
            <a:off x="2955387" y="5379220"/>
            <a:ext cx="904435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400">
                <a:solidFill>
                  <a:schemeClr val="lt1"/>
                </a:solidFill>
                <a:latin typeface="Comic Sans MS"/>
                <a:ea typeface="Comic Sans MS"/>
                <a:cs typeface="Comic Sans MS"/>
                <a:sym typeface="Comic Sans MS"/>
              </a:rPr>
              <a:t>Insulators</a:t>
            </a:r>
            <a:r>
              <a:rPr lang="en-GB" sz="2400">
                <a:solidFill>
                  <a:schemeClr val="lt1"/>
                </a:solidFill>
                <a:latin typeface="Comic Sans MS"/>
                <a:ea typeface="Comic Sans MS"/>
                <a:cs typeface="Comic Sans MS"/>
                <a:sym typeface="Comic Sans MS"/>
              </a:rPr>
              <a:t>, such as w___ and p____, </a:t>
            </a:r>
            <a:r>
              <a:rPr b="1" lang="en-GB" sz="2400">
                <a:solidFill>
                  <a:schemeClr val="lt1"/>
                </a:solidFill>
                <a:latin typeface="Comic Sans MS"/>
                <a:ea typeface="Comic Sans MS"/>
                <a:cs typeface="Comic Sans MS"/>
                <a:sym typeface="Comic Sans MS"/>
              </a:rPr>
              <a:t>do not </a:t>
            </a:r>
            <a:r>
              <a:rPr lang="en-GB" sz="2400">
                <a:solidFill>
                  <a:schemeClr val="lt1"/>
                </a:solidFill>
                <a:latin typeface="Comic Sans MS"/>
                <a:ea typeface="Comic Sans MS"/>
                <a:cs typeface="Comic Sans MS"/>
                <a:sym typeface="Comic Sans MS"/>
              </a:rPr>
              <a:t>have this ‘Sea of electrons’ which is why they do not conduct heat or electricity like metals.</a:t>
            </a:r>
            <a:endParaRPr/>
          </a:p>
        </p:txBody>
      </p:sp>
      <p:sp>
        <p:nvSpPr>
          <p:cNvPr id="219" name="Google Shape;219;p10"/>
          <p:cNvSpPr/>
          <p:nvPr/>
        </p:nvSpPr>
        <p:spPr>
          <a:xfrm>
            <a:off x="1752600" y="4876800"/>
            <a:ext cx="1371600" cy="1219200"/>
          </a:xfrm>
          <a:prstGeom prst="upArrow">
            <a:avLst>
              <a:gd fmla="val 50000" name="adj1"/>
              <a:gd fmla="val 25000" name="adj2"/>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Comic Sans MS"/>
              <a:ea typeface="Comic Sans MS"/>
              <a:cs typeface="Comic Sans MS"/>
              <a:sym typeface="Comic Sans MS"/>
            </a:endParaRPr>
          </a:p>
        </p:txBody>
      </p:sp>
      <p:sp>
        <p:nvSpPr>
          <p:cNvPr id="220" name="Google Shape;220;p10"/>
          <p:cNvSpPr txBox="1"/>
          <p:nvPr/>
        </p:nvSpPr>
        <p:spPr>
          <a:xfrm>
            <a:off x="3325767" y="1248696"/>
            <a:ext cx="1828800"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C000"/>
                </a:solidFill>
                <a:latin typeface="Comic Sans MS"/>
                <a:ea typeface="Comic Sans MS"/>
                <a:cs typeface="Comic Sans MS"/>
                <a:sym typeface="Comic Sans MS"/>
              </a:rPr>
              <a:t>lectrons</a:t>
            </a:r>
            <a:endParaRPr sz="2400">
              <a:solidFill>
                <a:srgbClr val="FFC000"/>
              </a:solidFill>
              <a:latin typeface="Comic Sans MS"/>
              <a:ea typeface="Comic Sans MS"/>
              <a:cs typeface="Comic Sans MS"/>
              <a:sym typeface="Comic Sans MS"/>
            </a:endParaRPr>
          </a:p>
          <a:p>
            <a:pPr indent="0" lvl="0" marL="0" marR="0" rtl="0" algn="l">
              <a:spcBef>
                <a:spcPts val="1400"/>
              </a:spcBef>
              <a:spcAft>
                <a:spcPts val="0"/>
              </a:spcAft>
              <a:buNone/>
            </a:pPr>
            <a:r>
              <a:t/>
            </a:r>
            <a:endParaRPr sz="2800">
              <a:solidFill>
                <a:srgbClr val="FFC000"/>
              </a:solidFill>
              <a:latin typeface="Comic Sans MS"/>
              <a:ea typeface="Comic Sans MS"/>
              <a:cs typeface="Comic Sans MS"/>
              <a:sym typeface="Comic Sans MS"/>
            </a:endParaRPr>
          </a:p>
        </p:txBody>
      </p:sp>
      <p:sp>
        <p:nvSpPr>
          <p:cNvPr id="221" name="Google Shape;221;p10"/>
          <p:cNvSpPr/>
          <p:nvPr/>
        </p:nvSpPr>
        <p:spPr>
          <a:xfrm>
            <a:off x="7156939" y="3415784"/>
            <a:ext cx="13833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C000"/>
                </a:solidFill>
                <a:latin typeface="Comic Sans MS"/>
                <a:ea typeface="Comic Sans MS"/>
                <a:cs typeface="Comic Sans MS"/>
                <a:sym typeface="Comic Sans MS"/>
              </a:rPr>
              <a:t>inetic</a:t>
            </a:r>
            <a:endParaRPr sz="2400">
              <a:solidFill>
                <a:srgbClr val="FFC000"/>
              </a:solidFill>
              <a:latin typeface="Comic Sans MS"/>
              <a:ea typeface="Comic Sans MS"/>
              <a:cs typeface="Comic Sans MS"/>
              <a:sym typeface="Comic Sans MS"/>
            </a:endParaRPr>
          </a:p>
        </p:txBody>
      </p:sp>
      <p:sp>
        <p:nvSpPr>
          <p:cNvPr id="222" name="Google Shape;222;p10"/>
          <p:cNvSpPr/>
          <p:nvPr/>
        </p:nvSpPr>
        <p:spPr>
          <a:xfrm>
            <a:off x="5977888" y="5384136"/>
            <a:ext cx="6896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C000"/>
                </a:solidFill>
                <a:latin typeface="Comic Sans MS"/>
                <a:ea typeface="Comic Sans MS"/>
                <a:cs typeface="Comic Sans MS"/>
                <a:sym typeface="Comic Sans MS"/>
              </a:rPr>
              <a:t>ood</a:t>
            </a:r>
            <a:endParaRPr sz="2400">
              <a:solidFill>
                <a:srgbClr val="FFC000"/>
              </a:solidFill>
              <a:latin typeface="Comic Sans MS"/>
              <a:ea typeface="Comic Sans MS"/>
              <a:cs typeface="Comic Sans MS"/>
              <a:sym typeface="Comic Sans MS"/>
            </a:endParaRPr>
          </a:p>
        </p:txBody>
      </p:sp>
      <p:sp>
        <p:nvSpPr>
          <p:cNvPr id="223" name="Google Shape;223;p10"/>
          <p:cNvSpPr/>
          <p:nvPr/>
        </p:nvSpPr>
        <p:spPr>
          <a:xfrm>
            <a:off x="7365935" y="5368409"/>
            <a:ext cx="9653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FFC000"/>
                </a:solidFill>
                <a:latin typeface="Comic Sans MS"/>
                <a:ea typeface="Comic Sans MS"/>
                <a:cs typeface="Comic Sans MS"/>
                <a:sym typeface="Comic Sans MS"/>
              </a:rPr>
              <a:t>lastic</a:t>
            </a:r>
            <a:endParaRPr sz="2400">
              <a:solidFill>
                <a:srgbClr val="FFC000"/>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title"/>
          </p:nvPr>
        </p:nvSpPr>
        <p:spPr>
          <a:xfrm>
            <a:off x="277610" y="-556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Comic Sans MS"/>
                <a:ea typeface="Comic Sans MS"/>
                <a:cs typeface="Comic Sans MS"/>
                <a:sym typeface="Comic Sans MS"/>
              </a:rPr>
              <a:t>Why do metals conduct electricity?</a:t>
            </a:r>
            <a:endParaRPr/>
          </a:p>
        </p:txBody>
      </p:sp>
      <p:sp>
        <p:nvSpPr>
          <p:cNvPr id="229" name="Google Shape;229;p11"/>
          <p:cNvSpPr txBox="1"/>
          <p:nvPr>
            <p:ph idx="1" type="body"/>
          </p:nvPr>
        </p:nvSpPr>
        <p:spPr>
          <a:xfrm>
            <a:off x="330819" y="2247334"/>
            <a:ext cx="2971605" cy="294778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C000"/>
              </a:buClr>
              <a:buSzPts val="2400"/>
              <a:buNone/>
            </a:pPr>
            <a:r>
              <a:rPr lang="en-GB" sz="2400">
                <a:solidFill>
                  <a:srgbClr val="FFC000"/>
                </a:solidFill>
                <a:latin typeface="Comic Sans MS"/>
                <a:ea typeface="Comic Sans MS"/>
                <a:cs typeface="Comic Sans MS"/>
                <a:sym typeface="Comic Sans MS"/>
              </a:rPr>
              <a:t>Because electrons are negatively charged, they are attracted towards the positive terminal of the cell or battery when the power is 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2"/>
          <p:cNvSpPr txBox="1"/>
          <p:nvPr>
            <p:ph type="title"/>
          </p:nvPr>
        </p:nvSpPr>
        <p:spPr>
          <a:xfrm>
            <a:off x="638716" y="819622"/>
            <a:ext cx="8229600" cy="1143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4400"/>
              <a:buFont typeface="Comic Sans MS"/>
              <a:buNone/>
            </a:pPr>
            <a:r>
              <a:rPr lang="en-GB">
                <a:solidFill>
                  <a:srgbClr val="FFFF00"/>
                </a:solidFill>
                <a:latin typeface="Comic Sans MS"/>
                <a:ea typeface="Comic Sans MS"/>
                <a:cs typeface="Comic Sans MS"/>
                <a:sym typeface="Comic Sans MS"/>
              </a:rPr>
              <a:t>Circuit Symbols</a:t>
            </a:r>
            <a:endParaRPr>
              <a:solidFill>
                <a:srgbClr val="FFFF00"/>
              </a:solidFill>
              <a:latin typeface="Comic Sans MS"/>
              <a:ea typeface="Comic Sans MS"/>
              <a:cs typeface="Comic Sans MS"/>
              <a:sym typeface="Comic Sans MS"/>
            </a:endParaRPr>
          </a:p>
        </p:txBody>
      </p:sp>
      <p:pic>
        <p:nvPicPr>
          <p:cNvPr descr="Image: circuit symbols" id="235" name="Google Shape;235;p12"/>
          <p:cNvPicPr preferRelativeResize="0"/>
          <p:nvPr>
            <p:ph idx="4294967295" type="body"/>
          </p:nvPr>
        </p:nvPicPr>
        <p:blipFill rotWithShape="1">
          <a:blip r:embed="rId3">
            <a:alphaModFix/>
          </a:blip>
          <a:srcRect b="35577" l="0" r="0" t="0"/>
          <a:stretch/>
        </p:blipFill>
        <p:spPr>
          <a:xfrm>
            <a:off x="3195748" y="1962622"/>
            <a:ext cx="6432417" cy="3693036"/>
          </a:xfrm>
          <a:prstGeom prst="rect">
            <a:avLst/>
          </a:prstGeom>
          <a:noFill/>
          <a:ln>
            <a:noFill/>
          </a:ln>
        </p:spPr>
      </p:pic>
      <p:sp>
        <p:nvSpPr>
          <p:cNvPr id="236" name="Google Shape;236;p12"/>
          <p:cNvSpPr/>
          <p:nvPr/>
        </p:nvSpPr>
        <p:spPr>
          <a:xfrm>
            <a:off x="3195749" y="1962622"/>
            <a:ext cx="6432416" cy="3693036"/>
          </a:xfrm>
          <a:prstGeom prst="rect">
            <a:avLst/>
          </a:prstGeom>
          <a:noFill/>
          <a:ln cap="flat" cmpd="sng" w="76200">
            <a:solidFill>
              <a:srgbClr val="FF00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3"/>
          <p:cNvSpPr txBox="1"/>
          <p:nvPr>
            <p:ph type="title"/>
          </p:nvPr>
        </p:nvSpPr>
        <p:spPr>
          <a:xfrm>
            <a:off x="142741" y="158236"/>
            <a:ext cx="3205766" cy="510638"/>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omic Sans MS"/>
              <a:buNone/>
            </a:pPr>
            <a:r>
              <a:rPr lang="en-GB" sz="3600">
                <a:solidFill>
                  <a:schemeClr val="lt1"/>
                </a:solidFill>
                <a:latin typeface="Comic Sans MS"/>
                <a:ea typeface="Comic Sans MS"/>
                <a:cs typeface="Comic Sans MS"/>
                <a:sym typeface="Comic Sans MS"/>
              </a:rPr>
              <a:t>Series circuit</a:t>
            </a:r>
            <a:endParaRPr sz="3600">
              <a:solidFill>
                <a:schemeClr val="lt1"/>
              </a:solidFill>
              <a:latin typeface="Comic Sans MS"/>
              <a:ea typeface="Comic Sans MS"/>
              <a:cs typeface="Comic Sans MS"/>
              <a:sym typeface="Comic Sans MS"/>
            </a:endParaRPr>
          </a:p>
        </p:txBody>
      </p:sp>
      <p:sp>
        <p:nvSpPr>
          <p:cNvPr id="242" name="Google Shape;242;p13"/>
          <p:cNvSpPr txBox="1"/>
          <p:nvPr>
            <p:ph idx="1" type="body"/>
          </p:nvPr>
        </p:nvSpPr>
        <p:spPr>
          <a:xfrm>
            <a:off x="142742" y="1825625"/>
            <a:ext cx="2845158" cy="26562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GB">
                <a:solidFill>
                  <a:schemeClr val="lt1"/>
                </a:solidFill>
                <a:latin typeface="Comic Sans MS"/>
                <a:ea typeface="Comic Sans MS"/>
                <a:cs typeface="Comic Sans MS"/>
                <a:sym typeface="Comic Sans MS"/>
              </a:rPr>
              <a:t>Series circuits are ones where components are connected in one continuous loop or ‘circle’.</a:t>
            </a:r>
            <a:endParaRPr/>
          </a:p>
        </p:txBody>
      </p:sp>
      <p:pic>
        <p:nvPicPr>
          <p:cNvPr id="243" name="Google Shape;243;p13"/>
          <p:cNvPicPr preferRelativeResize="0"/>
          <p:nvPr/>
        </p:nvPicPr>
        <p:blipFill>
          <a:blip r:embed="rId3">
            <a:alphaModFix/>
          </a:blip>
          <a:stretch>
            <a:fillRect/>
          </a:stretch>
        </p:blipFill>
        <p:spPr>
          <a:xfrm>
            <a:off x="4720107" y="158225"/>
            <a:ext cx="6000750" cy="6067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142742" y="168498"/>
            <a:ext cx="3642677" cy="609600"/>
          </a:xfrm>
          <a:prstGeom prst="rect">
            <a:avLst/>
          </a:prstGeom>
          <a:solidFill>
            <a:srgbClr val="660066"/>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omic Sans MS"/>
              <a:buNone/>
            </a:pPr>
            <a:r>
              <a:rPr lang="en-GB" sz="4000">
                <a:solidFill>
                  <a:schemeClr val="lt1"/>
                </a:solidFill>
                <a:latin typeface="Comic Sans MS"/>
                <a:ea typeface="Comic Sans MS"/>
                <a:cs typeface="Comic Sans MS"/>
                <a:sym typeface="Comic Sans MS"/>
              </a:rPr>
              <a:t>Parallel circuit</a:t>
            </a:r>
            <a:endParaRPr sz="4000">
              <a:solidFill>
                <a:schemeClr val="lt1"/>
              </a:solidFill>
              <a:latin typeface="Comic Sans MS"/>
              <a:ea typeface="Comic Sans MS"/>
              <a:cs typeface="Comic Sans MS"/>
              <a:sym typeface="Comic Sans MS"/>
            </a:endParaRPr>
          </a:p>
        </p:txBody>
      </p:sp>
      <p:sp>
        <p:nvSpPr>
          <p:cNvPr id="249" name="Google Shape;249;p14"/>
          <p:cNvSpPr txBox="1"/>
          <p:nvPr/>
        </p:nvSpPr>
        <p:spPr>
          <a:xfrm>
            <a:off x="142742" y="1825625"/>
            <a:ext cx="2845158" cy="265622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800"/>
              <a:buFont typeface="Arial"/>
              <a:buNone/>
            </a:pPr>
            <a:r>
              <a:rPr lang="en-GB" sz="2800">
                <a:solidFill>
                  <a:schemeClr val="lt1"/>
                </a:solidFill>
                <a:latin typeface="Comic Sans MS"/>
                <a:ea typeface="Comic Sans MS"/>
                <a:cs typeface="Comic Sans MS"/>
                <a:sym typeface="Comic Sans MS"/>
              </a:rPr>
              <a:t>Parallel circuits have </a:t>
            </a:r>
            <a:r>
              <a:rPr b="1" lang="en-GB" sz="2800">
                <a:solidFill>
                  <a:schemeClr val="lt1"/>
                </a:solidFill>
                <a:latin typeface="Comic Sans MS"/>
                <a:ea typeface="Comic Sans MS"/>
                <a:cs typeface="Comic Sans MS"/>
                <a:sym typeface="Comic Sans MS"/>
              </a:rPr>
              <a:t>two or more </a:t>
            </a:r>
            <a:r>
              <a:rPr lang="en-GB" sz="2800">
                <a:solidFill>
                  <a:schemeClr val="lt1"/>
                </a:solidFill>
                <a:latin typeface="Comic Sans MS"/>
                <a:ea typeface="Comic Sans MS"/>
                <a:cs typeface="Comic Sans MS"/>
                <a:sym typeface="Comic Sans MS"/>
              </a:rPr>
              <a:t>separate loops coming of the same power source. </a:t>
            </a:r>
            <a:endParaRPr/>
          </a:p>
        </p:txBody>
      </p:sp>
      <p:pic>
        <p:nvPicPr>
          <p:cNvPr id="250" name="Google Shape;250;p14"/>
          <p:cNvPicPr preferRelativeResize="0"/>
          <p:nvPr/>
        </p:nvPicPr>
        <p:blipFill>
          <a:blip r:embed="rId3">
            <a:alphaModFix/>
          </a:blip>
          <a:stretch>
            <a:fillRect/>
          </a:stretch>
        </p:blipFill>
        <p:spPr>
          <a:xfrm>
            <a:off x="4335669" y="1028625"/>
            <a:ext cx="7000875" cy="4905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txBox="1"/>
          <p:nvPr>
            <p:ph type="title"/>
          </p:nvPr>
        </p:nvSpPr>
        <p:spPr>
          <a:xfrm>
            <a:off x="2212259" y="110022"/>
            <a:ext cx="325447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omic Sans MS"/>
              <a:buNone/>
            </a:pPr>
            <a:r>
              <a:rPr lang="en-GB">
                <a:solidFill>
                  <a:schemeClr val="lt1"/>
                </a:solidFill>
                <a:latin typeface="Comic Sans MS"/>
                <a:ea typeface="Comic Sans MS"/>
                <a:cs typeface="Comic Sans MS"/>
                <a:sym typeface="Comic Sans MS"/>
              </a:rPr>
              <a:t>Your Turn!</a:t>
            </a:r>
            <a:endParaRPr/>
          </a:p>
        </p:txBody>
      </p:sp>
      <p:sp>
        <p:nvSpPr>
          <p:cNvPr id="256" name="Google Shape;256;p15"/>
          <p:cNvSpPr txBox="1"/>
          <p:nvPr>
            <p:ph idx="1" type="body"/>
          </p:nvPr>
        </p:nvSpPr>
        <p:spPr>
          <a:xfrm>
            <a:off x="451077" y="1594641"/>
            <a:ext cx="6274190" cy="545826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400"/>
              <a:buChar char="•"/>
            </a:pPr>
            <a:r>
              <a:rPr lang="en-GB" sz="2400">
                <a:solidFill>
                  <a:schemeClr val="lt1"/>
                </a:solidFill>
                <a:latin typeface="Comic Sans MS"/>
                <a:ea typeface="Comic Sans MS"/>
                <a:cs typeface="Comic Sans MS"/>
                <a:sym typeface="Comic Sans MS"/>
              </a:rPr>
              <a:t>Complete the crossword, using information covered today and your general knowledge.  </a:t>
            </a:r>
            <a:endParaRPr/>
          </a:p>
          <a:p>
            <a:pPr indent="-76200" lvl="0" marL="228600" rtl="0" algn="l">
              <a:lnSpc>
                <a:spcPct val="90000"/>
              </a:lnSpc>
              <a:spcBef>
                <a:spcPts val="1000"/>
              </a:spcBef>
              <a:spcAft>
                <a:spcPts val="0"/>
              </a:spcAft>
              <a:buClr>
                <a:schemeClr val="dk1"/>
              </a:buClr>
              <a:buSzPts val="2400"/>
              <a:buNone/>
            </a:pPr>
            <a:r>
              <a:t/>
            </a:r>
            <a:endParaRPr sz="2400">
              <a:solidFill>
                <a:schemeClr val="lt1"/>
              </a:solidFill>
              <a:latin typeface="Comic Sans MS"/>
              <a:ea typeface="Comic Sans MS"/>
              <a:cs typeface="Comic Sans MS"/>
              <a:sym typeface="Comic Sans MS"/>
            </a:endParaRPr>
          </a:p>
          <a:p>
            <a:pPr indent="-228600" lvl="0" marL="228600" rtl="0" algn="l">
              <a:lnSpc>
                <a:spcPct val="90000"/>
              </a:lnSpc>
              <a:spcBef>
                <a:spcPts val="1000"/>
              </a:spcBef>
              <a:spcAft>
                <a:spcPts val="0"/>
              </a:spcAft>
              <a:buClr>
                <a:schemeClr val="lt1"/>
              </a:buClr>
              <a:buSzPts val="2400"/>
              <a:buChar char="•"/>
            </a:pPr>
            <a:r>
              <a:rPr lang="en-GB" sz="2400">
                <a:solidFill>
                  <a:schemeClr val="lt1"/>
                </a:solidFill>
                <a:latin typeface="Comic Sans MS"/>
                <a:ea typeface="Comic Sans MS"/>
                <a:cs typeface="Comic Sans MS"/>
                <a:sym typeface="Comic Sans MS"/>
              </a:rPr>
              <a:t>Clues for tricky ones:</a:t>
            </a:r>
            <a:endParaRPr/>
          </a:p>
          <a:p>
            <a:pPr indent="-228600" lvl="0" marL="228600" rtl="0" algn="l">
              <a:lnSpc>
                <a:spcPct val="90000"/>
              </a:lnSpc>
              <a:spcBef>
                <a:spcPts val="1000"/>
              </a:spcBef>
              <a:spcAft>
                <a:spcPts val="0"/>
              </a:spcAft>
              <a:buClr>
                <a:schemeClr val="lt1"/>
              </a:buClr>
              <a:buSzPts val="2400"/>
              <a:buChar char="•"/>
            </a:pPr>
            <a:r>
              <a:rPr lang="en-GB" sz="2400" u="sng">
                <a:solidFill>
                  <a:schemeClr val="lt1"/>
                </a:solidFill>
                <a:latin typeface="Comic Sans MS"/>
                <a:ea typeface="Comic Sans MS"/>
                <a:cs typeface="Comic Sans MS"/>
                <a:sym typeface="Comic Sans MS"/>
              </a:rPr>
              <a:t>5 Across:  </a:t>
            </a:r>
            <a:r>
              <a:rPr lang="en-GB" sz="2400">
                <a:solidFill>
                  <a:schemeClr val="lt1"/>
                </a:solidFill>
                <a:latin typeface="Comic Sans MS"/>
                <a:ea typeface="Comic Sans MS"/>
                <a:cs typeface="Comic Sans MS"/>
                <a:sym typeface="Comic Sans MS"/>
              </a:rPr>
              <a:t>When you have too many electrical devices on and the electricity goes off, mum or dad say “we blew a ______”.</a:t>
            </a:r>
            <a:endParaRPr/>
          </a:p>
          <a:p>
            <a:pPr indent="-228600" lvl="0" marL="228600" rtl="0" algn="l">
              <a:lnSpc>
                <a:spcPct val="90000"/>
              </a:lnSpc>
              <a:spcBef>
                <a:spcPts val="1000"/>
              </a:spcBef>
              <a:spcAft>
                <a:spcPts val="0"/>
              </a:spcAft>
              <a:buClr>
                <a:schemeClr val="lt1"/>
              </a:buClr>
              <a:buSzPts val="2400"/>
              <a:buChar char="•"/>
            </a:pPr>
            <a:r>
              <a:rPr lang="en-GB" sz="2400" u="sng">
                <a:solidFill>
                  <a:schemeClr val="lt1"/>
                </a:solidFill>
                <a:latin typeface="Comic Sans MS"/>
                <a:ea typeface="Comic Sans MS"/>
                <a:cs typeface="Comic Sans MS"/>
                <a:sym typeface="Comic Sans MS"/>
              </a:rPr>
              <a:t>7 Across:  </a:t>
            </a:r>
            <a:r>
              <a:rPr lang="en-GB" sz="2400">
                <a:solidFill>
                  <a:schemeClr val="lt1"/>
                </a:solidFill>
                <a:latin typeface="Comic Sans MS"/>
                <a:ea typeface="Comic Sans MS"/>
                <a:cs typeface="Comic Sans MS"/>
                <a:sym typeface="Comic Sans MS"/>
              </a:rPr>
              <a:t>If you are annoying someone, they might say “You’re getting on my _______!”</a:t>
            </a:r>
            <a:endParaRPr sz="2400">
              <a:solidFill>
                <a:srgbClr val="FF0066"/>
              </a:solidFill>
              <a:latin typeface="Comic Sans MS"/>
              <a:ea typeface="Comic Sans MS"/>
              <a:cs typeface="Comic Sans MS"/>
              <a:sym typeface="Comic Sans MS"/>
            </a:endParaRPr>
          </a:p>
        </p:txBody>
      </p:sp>
      <p:pic>
        <p:nvPicPr>
          <p:cNvPr id="257" name="Google Shape;257;p15"/>
          <p:cNvPicPr preferRelativeResize="0"/>
          <p:nvPr/>
        </p:nvPicPr>
        <p:blipFill rotWithShape="1">
          <a:blip r:embed="rId3">
            <a:alphaModFix/>
          </a:blip>
          <a:srcRect b="0" l="0" r="0" t="0"/>
          <a:stretch/>
        </p:blipFill>
        <p:spPr>
          <a:xfrm>
            <a:off x="7328079" y="110022"/>
            <a:ext cx="4654103" cy="66964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6"/>
          <p:cNvSpPr/>
          <p:nvPr/>
        </p:nvSpPr>
        <p:spPr>
          <a:xfrm>
            <a:off x="273050" y="235744"/>
            <a:ext cx="4692240" cy="6921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4400">
                <a:solidFill>
                  <a:srgbClr val="FFFF00"/>
                </a:solidFill>
                <a:latin typeface="Comic Sans MS"/>
                <a:ea typeface="Comic Sans MS"/>
                <a:cs typeface="Comic Sans MS"/>
                <a:sym typeface="Comic Sans MS"/>
              </a:rPr>
              <a:t>Drawing Circuits</a:t>
            </a:r>
            <a:endParaRPr sz="4400">
              <a:solidFill>
                <a:srgbClr val="FFFF00"/>
              </a:solidFill>
              <a:latin typeface="Comic Sans MS"/>
              <a:ea typeface="Comic Sans MS"/>
              <a:cs typeface="Comic Sans MS"/>
              <a:sym typeface="Comic Sans MS"/>
            </a:endParaRPr>
          </a:p>
        </p:txBody>
      </p:sp>
      <p:sp>
        <p:nvSpPr>
          <p:cNvPr id="263" name="Google Shape;263;p16"/>
          <p:cNvSpPr txBox="1"/>
          <p:nvPr/>
        </p:nvSpPr>
        <p:spPr>
          <a:xfrm>
            <a:off x="4445796" y="1789112"/>
            <a:ext cx="316865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99CCFF"/>
                </a:solidFill>
                <a:latin typeface="Comic Sans MS"/>
                <a:ea typeface="Comic Sans MS"/>
                <a:cs typeface="Comic Sans MS"/>
                <a:sym typeface="Comic Sans MS"/>
              </a:rPr>
              <a:t>1)  A cell, a bulb and a switch “in series”</a:t>
            </a:r>
            <a:endParaRPr sz="2400">
              <a:solidFill>
                <a:srgbClr val="99CCFF"/>
              </a:solidFill>
              <a:latin typeface="Comic Sans MS"/>
              <a:ea typeface="Comic Sans MS"/>
              <a:cs typeface="Comic Sans MS"/>
              <a:sym typeface="Comic Sans MS"/>
            </a:endParaRPr>
          </a:p>
        </p:txBody>
      </p:sp>
      <p:sp>
        <p:nvSpPr>
          <p:cNvPr id="264" name="Google Shape;264;p16"/>
          <p:cNvSpPr txBox="1"/>
          <p:nvPr/>
        </p:nvSpPr>
        <p:spPr>
          <a:xfrm>
            <a:off x="5181601" y="4559300"/>
            <a:ext cx="2373313"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99FFCC"/>
                </a:solidFill>
                <a:latin typeface="Comic Sans MS"/>
                <a:ea typeface="Comic Sans MS"/>
                <a:cs typeface="Comic Sans MS"/>
                <a:sym typeface="Comic Sans MS"/>
              </a:rPr>
              <a:t>2)  A battery of cells, a switch and two bulbs in series</a:t>
            </a:r>
            <a:endParaRPr sz="2400">
              <a:solidFill>
                <a:srgbClr val="99FFCC"/>
              </a:solidFill>
              <a:latin typeface="Comic Sans MS"/>
              <a:ea typeface="Comic Sans MS"/>
              <a:cs typeface="Comic Sans MS"/>
              <a:sym typeface="Comic Sans MS"/>
            </a:endParaRPr>
          </a:p>
        </p:txBody>
      </p:sp>
      <p:grpSp>
        <p:nvGrpSpPr>
          <p:cNvPr id="265" name="Google Shape;265;p16"/>
          <p:cNvGrpSpPr/>
          <p:nvPr/>
        </p:nvGrpSpPr>
        <p:grpSpPr>
          <a:xfrm>
            <a:off x="7904164" y="936625"/>
            <a:ext cx="2763837" cy="2438400"/>
            <a:chOff x="144" y="720"/>
            <a:chExt cx="1741" cy="1536"/>
          </a:xfrm>
        </p:grpSpPr>
        <p:grpSp>
          <p:nvGrpSpPr>
            <p:cNvPr id="266" name="Google Shape;266;p16"/>
            <p:cNvGrpSpPr/>
            <p:nvPr/>
          </p:nvGrpSpPr>
          <p:grpSpPr>
            <a:xfrm>
              <a:off x="144" y="720"/>
              <a:ext cx="1741" cy="1536"/>
              <a:chOff x="144" y="720"/>
              <a:chExt cx="1741" cy="1536"/>
            </a:xfrm>
          </p:grpSpPr>
          <p:cxnSp>
            <p:nvCxnSpPr>
              <p:cNvPr id="267" name="Google Shape;267;p16"/>
              <p:cNvCxnSpPr/>
              <p:nvPr/>
            </p:nvCxnSpPr>
            <p:spPr>
              <a:xfrm>
                <a:off x="144" y="912"/>
                <a:ext cx="0" cy="1153"/>
              </a:xfrm>
              <a:prstGeom prst="straightConnector1">
                <a:avLst/>
              </a:prstGeom>
              <a:noFill/>
              <a:ln cap="flat" cmpd="sng" w="19050">
                <a:solidFill>
                  <a:schemeClr val="lt1"/>
                </a:solidFill>
                <a:prstDash val="solid"/>
                <a:round/>
                <a:headEnd len="med" w="med" type="none"/>
                <a:tailEnd len="med" w="med" type="none"/>
              </a:ln>
            </p:spPr>
          </p:cxnSp>
          <p:cxnSp>
            <p:nvCxnSpPr>
              <p:cNvPr id="268" name="Google Shape;268;p16"/>
              <p:cNvCxnSpPr/>
              <p:nvPr/>
            </p:nvCxnSpPr>
            <p:spPr>
              <a:xfrm>
                <a:off x="145" y="2064"/>
                <a:ext cx="528" cy="0"/>
              </a:xfrm>
              <a:prstGeom prst="straightConnector1">
                <a:avLst/>
              </a:prstGeom>
              <a:noFill/>
              <a:ln cap="flat" cmpd="sng" w="19050">
                <a:solidFill>
                  <a:schemeClr val="lt1"/>
                </a:solidFill>
                <a:prstDash val="solid"/>
                <a:round/>
                <a:headEnd len="med" w="med" type="none"/>
                <a:tailEnd len="med" w="med" type="none"/>
              </a:ln>
            </p:spPr>
          </p:cxnSp>
          <p:cxnSp>
            <p:nvCxnSpPr>
              <p:cNvPr id="269" name="Google Shape;269;p16"/>
              <p:cNvCxnSpPr/>
              <p:nvPr/>
            </p:nvCxnSpPr>
            <p:spPr>
              <a:xfrm>
                <a:off x="1056" y="2064"/>
                <a:ext cx="721" cy="0"/>
              </a:xfrm>
              <a:prstGeom prst="straightConnector1">
                <a:avLst/>
              </a:prstGeom>
              <a:noFill/>
              <a:ln cap="flat" cmpd="sng" w="19050">
                <a:solidFill>
                  <a:schemeClr val="lt1"/>
                </a:solidFill>
                <a:prstDash val="solid"/>
                <a:round/>
                <a:headEnd len="med" w="med" type="none"/>
                <a:tailEnd len="med" w="med" type="none"/>
              </a:ln>
            </p:spPr>
          </p:cxnSp>
          <p:cxnSp>
            <p:nvCxnSpPr>
              <p:cNvPr id="270" name="Google Shape;270;p16"/>
              <p:cNvCxnSpPr/>
              <p:nvPr/>
            </p:nvCxnSpPr>
            <p:spPr>
              <a:xfrm rot="10800000">
                <a:off x="1776" y="912"/>
                <a:ext cx="0" cy="477"/>
              </a:xfrm>
              <a:prstGeom prst="straightConnector1">
                <a:avLst/>
              </a:prstGeom>
              <a:noFill/>
              <a:ln cap="flat" cmpd="sng" w="19050">
                <a:solidFill>
                  <a:schemeClr val="lt1"/>
                </a:solidFill>
                <a:prstDash val="solid"/>
                <a:round/>
                <a:headEnd len="med" w="med" type="none"/>
                <a:tailEnd len="med" w="med" type="none"/>
              </a:ln>
            </p:spPr>
          </p:cxnSp>
          <p:cxnSp>
            <p:nvCxnSpPr>
              <p:cNvPr id="271" name="Google Shape;271;p16"/>
              <p:cNvCxnSpPr/>
              <p:nvPr/>
            </p:nvCxnSpPr>
            <p:spPr>
              <a:xfrm>
                <a:off x="144" y="912"/>
                <a:ext cx="672" cy="0"/>
              </a:xfrm>
              <a:prstGeom prst="straightConnector1">
                <a:avLst/>
              </a:prstGeom>
              <a:noFill/>
              <a:ln cap="flat" cmpd="sng" w="19050">
                <a:solidFill>
                  <a:schemeClr val="lt1"/>
                </a:solidFill>
                <a:prstDash val="solid"/>
                <a:round/>
                <a:headEnd len="med" w="med" type="none"/>
                <a:tailEnd len="med" w="med" type="none"/>
              </a:ln>
            </p:spPr>
          </p:cxnSp>
          <p:cxnSp>
            <p:nvCxnSpPr>
              <p:cNvPr id="272" name="Google Shape;272;p16"/>
              <p:cNvCxnSpPr/>
              <p:nvPr/>
            </p:nvCxnSpPr>
            <p:spPr>
              <a:xfrm rot="10800000">
                <a:off x="960" y="912"/>
                <a:ext cx="816" cy="0"/>
              </a:xfrm>
              <a:prstGeom prst="straightConnector1">
                <a:avLst/>
              </a:prstGeom>
              <a:noFill/>
              <a:ln cap="flat" cmpd="sng" w="19050">
                <a:solidFill>
                  <a:schemeClr val="lt1"/>
                </a:solidFill>
                <a:prstDash val="solid"/>
                <a:round/>
                <a:headEnd len="med" w="med" type="none"/>
                <a:tailEnd len="med" w="med" type="none"/>
              </a:ln>
            </p:spPr>
          </p:cxnSp>
          <p:cxnSp>
            <p:nvCxnSpPr>
              <p:cNvPr id="273" name="Google Shape;273;p16"/>
              <p:cNvCxnSpPr/>
              <p:nvPr/>
            </p:nvCxnSpPr>
            <p:spPr>
              <a:xfrm>
                <a:off x="816" y="720"/>
                <a:ext cx="0" cy="384"/>
              </a:xfrm>
              <a:prstGeom prst="straightConnector1">
                <a:avLst/>
              </a:prstGeom>
              <a:noFill/>
              <a:ln cap="flat" cmpd="sng" w="19050">
                <a:solidFill>
                  <a:schemeClr val="lt1"/>
                </a:solidFill>
                <a:prstDash val="solid"/>
                <a:round/>
                <a:headEnd len="med" w="med" type="none"/>
                <a:tailEnd len="med" w="med" type="none"/>
              </a:ln>
            </p:spPr>
          </p:cxnSp>
          <p:sp>
            <p:nvSpPr>
              <p:cNvPr id="274" name="Google Shape;274;p16"/>
              <p:cNvSpPr/>
              <p:nvPr/>
            </p:nvSpPr>
            <p:spPr>
              <a:xfrm>
                <a:off x="912" y="81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6"/>
              <p:cNvSpPr/>
              <p:nvPr/>
            </p:nvSpPr>
            <p:spPr>
              <a:xfrm>
                <a:off x="672" y="187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76" name="Google Shape;276;p16"/>
              <p:cNvCxnSpPr/>
              <p:nvPr/>
            </p:nvCxnSpPr>
            <p:spPr>
              <a:xfrm flipH="1" rot="10800000">
                <a:off x="720" y="192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77" name="Google Shape;277;p16"/>
              <p:cNvCxnSpPr/>
              <p:nvPr/>
            </p:nvCxnSpPr>
            <p:spPr>
              <a:xfrm>
                <a:off x="720" y="192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78" name="Google Shape;278;p16"/>
              <p:cNvCxnSpPr/>
              <p:nvPr/>
            </p:nvCxnSpPr>
            <p:spPr>
              <a:xfrm rot="10800000">
                <a:off x="1777" y="1706"/>
                <a:ext cx="0" cy="358"/>
              </a:xfrm>
              <a:prstGeom prst="straightConnector1">
                <a:avLst/>
              </a:prstGeom>
              <a:noFill/>
              <a:ln cap="flat" cmpd="sng" w="19050">
                <a:solidFill>
                  <a:schemeClr val="lt1"/>
                </a:solidFill>
                <a:prstDash val="solid"/>
                <a:round/>
                <a:headEnd len="med" w="med" type="none"/>
                <a:tailEnd len="med" w="med" type="none"/>
              </a:ln>
            </p:spPr>
          </p:cxnSp>
          <p:cxnSp>
            <p:nvCxnSpPr>
              <p:cNvPr id="279" name="Google Shape;279;p16"/>
              <p:cNvCxnSpPr/>
              <p:nvPr/>
            </p:nvCxnSpPr>
            <p:spPr>
              <a:xfrm flipH="1" rot="10800000">
                <a:off x="1777" y="1389"/>
                <a:ext cx="108" cy="317"/>
              </a:xfrm>
              <a:prstGeom prst="straightConnector1">
                <a:avLst/>
              </a:prstGeom>
              <a:noFill/>
              <a:ln cap="flat" cmpd="sng" w="19050">
                <a:solidFill>
                  <a:schemeClr val="lt1"/>
                </a:solidFill>
                <a:prstDash val="solid"/>
                <a:round/>
                <a:headEnd len="med" w="med" type="none"/>
                <a:tailEnd len="med" w="med" type="none"/>
              </a:ln>
            </p:spPr>
          </p:cxnSp>
        </p:grpSp>
        <p:sp>
          <p:nvSpPr>
            <p:cNvPr id="280" name="Google Shape;280;p16"/>
            <p:cNvSpPr/>
            <p:nvPr/>
          </p:nvSpPr>
          <p:spPr>
            <a:xfrm>
              <a:off x="1746" y="16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6"/>
            <p:cNvSpPr/>
            <p:nvPr/>
          </p:nvSpPr>
          <p:spPr>
            <a:xfrm>
              <a:off x="1743" y="1369"/>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82" name="Google Shape;282;p16"/>
          <p:cNvGrpSpPr/>
          <p:nvPr/>
        </p:nvGrpSpPr>
        <p:grpSpPr>
          <a:xfrm>
            <a:off x="7554913" y="4102100"/>
            <a:ext cx="2832100" cy="2438400"/>
            <a:chOff x="3833" y="2640"/>
            <a:chExt cx="1784" cy="1536"/>
          </a:xfrm>
        </p:grpSpPr>
        <p:grpSp>
          <p:nvGrpSpPr>
            <p:cNvPr id="283" name="Google Shape;283;p16"/>
            <p:cNvGrpSpPr/>
            <p:nvPr/>
          </p:nvGrpSpPr>
          <p:grpSpPr>
            <a:xfrm>
              <a:off x="3833" y="2640"/>
              <a:ext cx="1784" cy="1536"/>
              <a:chOff x="3833" y="2640"/>
              <a:chExt cx="1784" cy="1536"/>
            </a:xfrm>
          </p:grpSpPr>
          <p:cxnSp>
            <p:nvCxnSpPr>
              <p:cNvPr id="284" name="Google Shape;284;p16"/>
              <p:cNvCxnSpPr/>
              <p:nvPr/>
            </p:nvCxnSpPr>
            <p:spPr>
              <a:xfrm>
                <a:off x="3984" y="2832"/>
                <a:ext cx="0" cy="417"/>
              </a:xfrm>
              <a:prstGeom prst="straightConnector1">
                <a:avLst/>
              </a:prstGeom>
              <a:noFill/>
              <a:ln cap="flat" cmpd="sng" w="19050">
                <a:solidFill>
                  <a:schemeClr val="lt1"/>
                </a:solidFill>
                <a:prstDash val="solid"/>
                <a:round/>
                <a:headEnd len="med" w="med" type="none"/>
                <a:tailEnd len="med" w="med" type="none"/>
              </a:ln>
            </p:spPr>
          </p:cxnSp>
          <p:cxnSp>
            <p:nvCxnSpPr>
              <p:cNvPr id="285" name="Google Shape;285;p16"/>
              <p:cNvCxnSpPr/>
              <p:nvPr/>
            </p:nvCxnSpPr>
            <p:spPr>
              <a:xfrm>
                <a:off x="3985" y="3984"/>
                <a:ext cx="287" cy="0"/>
              </a:xfrm>
              <a:prstGeom prst="straightConnector1">
                <a:avLst/>
              </a:prstGeom>
              <a:noFill/>
              <a:ln cap="flat" cmpd="sng" w="19050">
                <a:solidFill>
                  <a:schemeClr val="lt1"/>
                </a:solidFill>
                <a:prstDash val="solid"/>
                <a:round/>
                <a:headEnd len="med" w="med" type="none"/>
                <a:tailEnd len="med" w="med" type="none"/>
              </a:ln>
            </p:spPr>
          </p:cxnSp>
          <p:cxnSp>
            <p:nvCxnSpPr>
              <p:cNvPr id="286" name="Google Shape;286;p16"/>
              <p:cNvCxnSpPr/>
              <p:nvPr/>
            </p:nvCxnSpPr>
            <p:spPr>
              <a:xfrm>
                <a:off x="5376" y="3984"/>
                <a:ext cx="241" cy="0"/>
              </a:xfrm>
              <a:prstGeom prst="straightConnector1">
                <a:avLst/>
              </a:prstGeom>
              <a:noFill/>
              <a:ln cap="flat" cmpd="sng" w="19050">
                <a:solidFill>
                  <a:schemeClr val="lt1"/>
                </a:solidFill>
                <a:prstDash val="solid"/>
                <a:round/>
                <a:headEnd len="med" w="med" type="none"/>
                <a:tailEnd len="med" w="med" type="none"/>
              </a:ln>
            </p:spPr>
          </p:cxnSp>
          <p:cxnSp>
            <p:nvCxnSpPr>
              <p:cNvPr id="287" name="Google Shape;287;p16"/>
              <p:cNvCxnSpPr/>
              <p:nvPr/>
            </p:nvCxnSpPr>
            <p:spPr>
              <a:xfrm rot="10800000">
                <a:off x="5616" y="2832"/>
                <a:ext cx="0" cy="1152"/>
              </a:xfrm>
              <a:prstGeom prst="straightConnector1">
                <a:avLst/>
              </a:prstGeom>
              <a:noFill/>
              <a:ln cap="flat" cmpd="sng" w="19050">
                <a:solidFill>
                  <a:schemeClr val="lt1"/>
                </a:solidFill>
                <a:prstDash val="solid"/>
                <a:round/>
                <a:headEnd len="med" w="med" type="none"/>
                <a:tailEnd len="med" w="med" type="none"/>
              </a:ln>
            </p:spPr>
          </p:cxnSp>
          <p:cxnSp>
            <p:nvCxnSpPr>
              <p:cNvPr id="288" name="Google Shape;288;p16"/>
              <p:cNvCxnSpPr/>
              <p:nvPr/>
            </p:nvCxnSpPr>
            <p:spPr>
              <a:xfrm>
                <a:off x="3984" y="2832"/>
                <a:ext cx="672" cy="0"/>
              </a:xfrm>
              <a:prstGeom prst="straightConnector1">
                <a:avLst/>
              </a:prstGeom>
              <a:noFill/>
              <a:ln cap="flat" cmpd="sng" w="19050">
                <a:solidFill>
                  <a:schemeClr val="lt1"/>
                </a:solidFill>
                <a:prstDash val="solid"/>
                <a:round/>
                <a:headEnd len="med" w="med" type="none"/>
                <a:tailEnd len="med" w="med" type="none"/>
              </a:ln>
            </p:spPr>
          </p:cxnSp>
          <p:cxnSp>
            <p:nvCxnSpPr>
              <p:cNvPr id="289" name="Google Shape;289;p16"/>
              <p:cNvCxnSpPr/>
              <p:nvPr/>
            </p:nvCxnSpPr>
            <p:spPr>
              <a:xfrm rot="10800000">
                <a:off x="4992" y="2832"/>
                <a:ext cx="624" cy="0"/>
              </a:xfrm>
              <a:prstGeom prst="straightConnector1">
                <a:avLst/>
              </a:prstGeom>
              <a:noFill/>
              <a:ln cap="flat" cmpd="sng" w="19050">
                <a:solidFill>
                  <a:schemeClr val="lt1"/>
                </a:solidFill>
                <a:prstDash val="solid"/>
                <a:round/>
                <a:headEnd len="med" w="med" type="none"/>
                <a:tailEnd len="med" w="med" type="none"/>
              </a:ln>
            </p:spPr>
          </p:cxnSp>
          <p:cxnSp>
            <p:nvCxnSpPr>
              <p:cNvPr id="290" name="Google Shape;290;p16"/>
              <p:cNvCxnSpPr/>
              <p:nvPr/>
            </p:nvCxnSpPr>
            <p:spPr>
              <a:xfrm>
                <a:off x="4656" y="2640"/>
                <a:ext cx="0" cy="384"/>
              </a:xfrm>
              <a:prstGeom prst="straightConnector1">
                <a:avLst/>
              </a:prstGeom>
              <a:noFill/>
              <a:ln cap="flat" cmpd="sng" w="19050">
                <a:solidFill>
                  <a:schemeClr val="lt1"/>
                </a:solidFill>
                <a:prstDash val="solid"/>
                <a:round/>
                <a:headEnd len="med" w="med" type="none"/>
                <a:tailEnd len="med" w="med" type="none"/>
              </a:ln>
            </p:spPr>
          </p:cxnSp>
          <p:sp>
            <p:nvSpPr>
              <p:cNvPr id="291" name="Google Shape;291;p16"/>
              <p:cNvSpPr/>
              <p:nvPr/>
            </p:nvSpPr>
            <p:spPr>
              <a:xfrm>
                <a:off x="4752"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2" name="Google Shape;292;p16"/>
              <p:cNvGrpSpPr/>
              <p:nvPr/>
            </p:nvGrpSpPr>
            <p:grpSpPr>
              <a:xfrm>
                <a:off x="4272" y="3792"/>
                <a:ext cx="384" cy="384"/>
                <a:chOff x="4512" y="3792"/>
                <a:chExt cx="384" cy="384"/>
              </a:xfrm>
            </p:grpSpPr>
            <p:sp>
              <p:nvSpPr>
                <p:cNvPr id="293" name="Google Shape;293;p16"/>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4" name="Google Shape;294;p16"/>
                <p:cNvCxnSpPr/>
                <p:nvPr/>
              </p:nvCxnSpPr>
              <p:spPr>
                <a:xfrm flipH="1" rot="10800000">
                  <a:off x="4560" y="384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95" name="Google Shape;295;p16"/>
                <p:cNvCxnSpPr/>
                <p:nvPr/>
              </p:nvCxnSpPr>
              <p:spPr>
                <a:xfrm>
                  <a:off x="4560" y="3840"/>
                  <a:ext cx="288" cy="288"/>
                </a:xfrm>
                <a:prstGeom prst="straightConnector1">
                  <a:avLst/>
                </a:prstGeom>
                <a:noFill/>
                <a:ln cap="flat" cmpd="sng" w="19050">
                  <a:solidFill>
                    <a:schemeClr val="lt1"/>
                  </a:solidFill>
                  <a:prstDash val="solid"/>
                  <a:round/>
                  <a:headEnd len="med" w="med" type="none"/>
                  <a:tailEnd len="med" w="med" type="none"/>
                </a:ln>
              </p:spPr>
            </p:cxnSp>
          </p:grpSp>
          <p:grpSp>
            <p:nvGrpSpPr>
              <p:cNvPr id="296" name="Google Shape;296;p16"/>
              <p:cNvGrpSpPr/>
              <p:nvPr/>
            </p:nvGrpSpPr>
            <p:grpSpPr>
              <a:xfrm>
                <a:off x="4992" y="3792"/>
                <a:ext cx="384" cy="384"/>
                <a:chOff x="4512" y="3792"/>
                <a:chExt cx="384" cy="384"/>
              </a:xfrm>
            </p:grpSpPr>
            <p:sp>
              <p:nvSpPr>
                <p:cNvPr id="297" name="Google Shape;297;p16"/>
                <p:cNvSpPr/>
                <p:nvPr/>
              </p:nvSpPr>
              <p:spPr>
                <a:xfrm>
                  <a:off x="4512" y="3792"/>
                  <a:ext cx="384" cy="384"/>
                </a:xfrm>
                <a:prstGeom prst="ellipse">
                  <a:avLst/>
                </a:prstGeom>
                <a:noFill/>
                <a:ln cap="flat" cmpd="sng" w="1905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8" name="Google Shape;298;p16"/>
                <p:cNvCxnSpPr/>
                <p:nvPr/>
              </p:nvCxnSpPr>
              <p:spPr>
                <a:xfrm flipH="1" rot="10800000">
                  <a:off x="4560" y="3840"/>
                  <a:ext cx="288" cy="288"/>
                </a:xfrm>
                <a:prstGeom prst="straightConnector1">
                  <a:avLst/>
                </a:prstGeom>
                <a:noFill/>
                <a:ln cap="flat" cmpd="sng" w="19050">
                  <a:solidFill>
                    <a:schemeClr val="lt1"/>
                  </a:solidFill>
                  <a:prstDash val="solid"/>
                  <a:round/>
                  <a:headEnd len="med" w="med" type="none"/>
                  <a:tailEnd len="med" w="med" type="none"/>
                </a:ln>
              </p:spPr>
            </p:cxnSp>
            <p:cxnSp>
              <p:nvCxnSpPr>
                <p:cNvPr id="299" name="Google Shape;299;p16"/>
                <p:cNvCxnSpPr/>
                <p:nvPr/>
              </p:nvCxnSpPr>
              <p:spPr>
                <a:xfrm>
                  <a:off x="4560" y="3840"/>
                  <a:ext cx="288" cy="288"/>
                </a:xfrm>
                <a:prstGeom prst="straightConnector1">
                  <a:avLst/>
                </a:prstGeom>
                <a:noFill/>
                <a:ln cap="flat" cmpd="sng" w="19050">
                  <a:solidFill>
                    <a:schemeClr val="lt1"/>
                  </a:solidFill>
                  <a:prstDash val="solid"/>
                  <a:round/>
                  <a:headEnd len="med" w="med" type="none"/>
                  <a:tailEnd len="med" w="med" type="none"/>
                </a:ln>
              </p:spPr>
            </p:cxnSp>
          </p:grpSp>
          <p:cxnSp>
            <p:nvCxnSpPr>
              <p:cNvPr id="300" name="Google Shape;300;p16"/>
              <p:cNvCxnSpPr/>
              <p:nvPr/>
            </p:nvCxnSpPr>
            <p:spPr>
              <a:xfrm>
                <a:off x="4656" y="3984"/>
                <a:ext cx="336" cy="0"/>
              </a:xfrm>
              <a:prstGeom prst="straightConnector1">
                <a:avLst/>
              </a:prstGeom>
              <a:noFill/>
              <a:ln cap="flat" cmpd="sng" w="19050">
                <a:solidFill>
                  <a:schemeClr val="lt1"/>
                </a:solidFill>
                <a:prstDash val="solid"/>
                <a:round/>
                <a:headEnd len="med" w="med" type="none"/>
                <a:tailEnd len="med" w="med" type="none"/>
              </a:ln>
            </p:spPr>
          </p:cxnSp>
          <p:cxnSp>
            <p:nvCxnSpPr>
              <p:cNvPr id="301" name="Google Shape;301;p16"/>
              <p:cNvCxnSpPr/>
              <p:nvPr/>
            </p:nvCxnSpPr>
            <p:spPr>
              <a:xfrm>
                <a:off x="3985" y="3567"/>
                <a:ext cx="0" cy="417"/>
              </a:xfrm>
              <a:prstGeom prst="straightConnector1">
                <a:avLst/>
              </a:prstGeom>
              <a:noFill/>
              <a:ln cap="flat" cmpd="sng" w="19050">
                <a:solidFill>
                  <a:schemeClr val="lt1"/>
                </a:solidFill>
                <a:prstDash val="solid"/>
                <a:round/>
                <a:headEnd len="med" w="med" type="none"/>
                <a:tailEnd len="med" w="med" type="none"/>
              </a:ln>
            </p:spPr>
          </p:cxnSp>
          <p:cxnSp>
            <p:nvCxnSpPr>
              <p:cNvPr id="302" name="Google Shape;302;p16"/>
              <p:cNvCxnSpPr/>
              <p:nvPr/>
            </p:nvCxnSpPr>
            <p:spPr>
              <a:xfrm>
                <a:off x="3833" y="3249"/>
                <a:ext cx="148" cy="318"/>
              </a:xfrm>
              <a:prstGeom prst="straightConnector1">
                <a:avLst/>
              </a:prstGeom>
              <a:noFill/>
              <a:ln cap="flat" cmpd="sng" w="19050">
                <a:solidFill>
                  <a:schemeClr val="lt1"/>
                </a:solidFill>
                <a:prstDash val="solid"/>
                <a:round/>
                <a:headEnd len="med" w="med" type="none"/>
                <a:tailEnd len="med" w="med" type="none"/>
              </a:ln>
            </p:spPr>
          </p:cxnSp>
          <p:cxnSp>
            <p:nvCxnSpPr>
              <p:cNvPr id="303" name="Google Shape;303;p16"/>
              <p:cNvCxnSpPr/>
              <p:nvPr/>
            </p:nvCxnSpPr>
            <p:spPr>
              <a:xfrm>
                <a:off x="4872" y="2640"/>
                <a:ext cx="0" cy="384"/>
              </a:xfrm>
              <a:prstGeom prst="straightConnector1">
                <a:avLst/>
              </a:prstGeom>
              <a:noFill/>
              <a:ln cap="flat" cmpd="sng" w="19050">
                <a:solidFill>
                  <a:schemeClr val="lt1"/>
                </a:solidFill>
                <a:prstDash val="solid"/>
                <a:round/>
                <a:headEnd len="med" w="med" type="none"/>
                <a:tailEnd len="med" w="med" type="none"/>
              </a:ln>
            </p:spPr>
          </p:cxnSp>
          <p:sp>
            <p:nvSpPr>
              <p:cNvPr id="304" name="Google Shape;304;p16"/>
              <p:cNvSpPr/>
              <p:nvPr/>
            </p:nvSpPr>
            <p:spPr>
              <a:xfrm>
                <a:off x="4968" y="2736"/>
                <a:ext cx="48" cy="192"/>
              </a:xfrm>
              <a:prstGeom prst="rect">
                <a:avLst/>
              </a:prstGeom>
              <a:solidFill>
                <a:schemeClr val="lt1"/>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5" name="Google Shape;305;p16"/>
            <p:cNvSpPr/>
            <p:nvPr/>
          </p:nvSpPr>
          <p:spPr>
            <a:xfrm>
              <a:off x="3950" y="3230"/>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6"/>
            <p:cNvSpPr/>
            <p:nvPr/>
          </p:nvSpPr>
          <p:spPr>
            <a:xfrm>
              <a:off x="3959" y="3523"/>
              <a:ext cx="66" cy="66"/>
            </a:xfrm>
            <a:prstGeom prst="ellipse">
              <a:avLst/>
            </a:prstGeom>
            <a:solidFill>
              <a:schemeClr val="dk2"/>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circuit 1" id="307" name="Google Shape;307;p16"/>
          <p:cNvPicPr preferRelativeResize="0"/>
          <p:nvPr/>
        </p:nvPicPr>
        <p:blipFill rotWithShape="1">
          <a:blip r:embed="rId3">
            <a:alphaModFix/>
          </a:blip>
          <a:srcRect b="0" l="8562" r="18853" t="0"/>
          <a:stretch/>
        </p:blipFill>
        <p:spPr>
          <a:xfrm>
            <a:off x="1639886" y="1332706"/>
            <a:ext cx="2273300" cy="2338387"/>
          </a:xfrm>
          <a:prstGeom prst="rect">
            <a:avLst/>
          </a:prstGeom>
          <a:noFill/>
          <a:ln>
            <a:noFill/>
          </a:ln>
        </p:spPr>
      </p:pic>
      <p:pic>
        <p:nvPicPr>
          <p:cNvPr descr="circuit 5" id="308" name="Google Shape;308;p16"/>
          <p:cNvPicPr preferRelativeResize="0"/>
          <p:nvPr/>
        </p:nvPicPr>
        <p:blipFill rotWithShape="1">
          <a:blip r:embed="rId4">
            <a:alphaModFix/>
          </a:blip>
          <a:srcRect b="0" l="0" r="0" t="0"/>
          <a:stretch/>
        </p:blipFill>
        <p:spPr>
          <a:xfrm>
            <a:off x="1524000" y="4060826"/>
            <a:ext cx="3321050" cy="247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65"/>
                                        </p:tgtEl>
                                        <p:attrNameLst>
                                          <p:attrName>style.visibility</p:attrName>
                                        </p:attrNameLst>
                                      </p:cBhvr>
                                      <p:to>
                                        <p:strVal val="visible"/>
                                      </p:to>
                                    </p:set>
                                    <p:anim calcmode="lin" valueType="num">
                                      <p:cBhvr additive="base">
                                        <p:cTn dur="500"/>
                                        <p:tgtEl>
                                          <p:spTgt spid="26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7"/>
          <p:cNvSpPr txBox="1"/>
          <p:nvPr>
            <p:ph type="title"/>
          </p:nvPr>
        </p:nvSpPr>
        <p:spPr>
          <a:xfrm>
            <a:off x="838199" y="20464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omic Sans MS"/>
              <a:buNone/>
            </a:pPr>
            <a:r>
              <a:rPr lang="en-GB" sz="3600">
                <a:solidFill>
                  <a:schemeClr val="lt1"/>
                </a:solidFill>
                <a:latin typeface="Comic Sans MS"/>
                <a:ea typeface="Comic Sans MS"/>
                <a:cs typeface="Comic Sans MS"/>
                <a:sym typeface="Comic Sans MS"/>
              </a:rPr>
              <a:t>Using the symbols and processes learnt redraw these diagrams.</a:t>
            </a:r>
            <a:endParaRPr/>
          </a:p>
        </p:txBody>
      </p:sp>
      <p:sp>
        <p:nvSpPr>
          <p:cNvPr id="314" name="Google Shape;314;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sp>
        <p:nvSpPr>
          <p:cNvPr id="315" name="Google Shape;315;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pic>
        <p:nvPicPr>
          <p:cNvPr id="316" name="Google Shape;316;p17"/>
          <p:cNvPicPr preferRelativeResize="0"/>
          <p:nvPr/>
        </p:nvPicPr>
        <p:blipFill rotWithShape="1">
          <a:blip r:embed="rId3">
            <a:alphaModFix/>
          </a:blip>
          <a:srcRect b="0" l="0" r="0" t="0"/>
          <a:stretch/>
        </p:blipFill>
        <p:spPr>
          <a:xfrm>
            <a:off x="158481" y="1690688"/>
            <a:ext cx="11875037" cy="464675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latin typeface="Comic Sans MS"/>
              <a:ea typeface="Comic Sans MS"/>
              <a:cs typeface="Comic Sans MS"/>
              <a:sym typeface="Comic Sans MS"/>
            </a:endParaRPr>
          </a:p>
        </p:txBody>
      </p:sp>
      <p:sp>
        <p:nvSpPr>
          <p:cNvPr id="322" name="Google Shape;322;p18"/>
          <p:cNvSpPr txBox="1"/>
          <p:nvPr>
            <p:ph idx="2" type="body"/>
          </p:nvPr>
        </p:nvSpPr>
        <p:spPr>
          <a:xfrm>
            <a:off x="6858000" y="294967"/>
            <a:ext cx="5181600" cy="63309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None/>
            </a:pPr>
            <a:r>
              <a:rPr lang="en-GB" sz="2400">
                <a:solidFill>
                  <a:schemeClr val="lt1"/>
                </a:solidFill>
                <a:latin typeface="Comic Sans MS"/>
                <a:ea typeface="Comic Sans MS"/>
                <a:cs typeface="Comic Sans MS"/>
                <a:sym typeface="Comic Sans MS"/>
              </a:rPr>
              <a:t>Six pupils attempted to draw circuit diagrams in their science lesson. Their drawings are opposite.  </a:t>
            </a:r>
            <a:endParaRPr/>
          </a:p>
          <a:p>
            <a:pPr indent="-514350" lvl="0" marL="514350" rtl="0" algn="l">
              <a:lnSpc>
                <a:spcPct val="90000"/>
              </a:lnSpc>
              <a:spcBef>
                <a:spcPts val="1000"/>
              </a:spcBef>
              <a:spcAft>
                <a:spcPts val="0"/>
              </a:spcAft>
              <a:buClr>
                <a:schemeClr val="lt1"/>
              </a:buClr>
              <a:buSzPts val="2400"/>
              <a:buAutoNum type="arabicPeriod"/>
            </a:pPr>
            <a:r>
              <a:rPr lang="en-GB" sz="2400">
                <a:solidFill>
                  <a:schemeClr val="lt1"/>
                </a:solidFill>
                <a:latin typeface="Comic Sans MS"/>
                <a:ea typeface="Comic Sans MS"/>
                <a:cs typeface="Comic Sans MS"/>
                <a:sym typeface="Comic Sans MS"/>
              </a:rPr>
              <a:t>In which circuits will the bulb light up?</a:t>
            </a:r>
            <a:endParaRPr/>
          </a:p>
          <a:p>
            <a:pPr indent="-514350" lvl="0" marL="514350" rtl="0" algn="l">
              <a:lnSpc>
                <a:spcPct val="90000"/>
              </a:lnSpc>
              <a:spcBef>
                <a:spcPts val="1000"/>
              </a:spcBef>
              <a:spcAft>
                <a:spcPts val="0"/>
              </a:spcAft>
              <a:buClr>
                <a:schemeClr val="lt1"/>
              </a:buClr>
              <a:buSzPts val="2400"/>
              <a:buAutoNum type="arabicPeriod"/>
            </a:pPr>
            <a:r>
              <a:rPr lang="en-GB" sz="2400">
                <a:solidFill>
                  <a:schemeClr val="lt1"/>
                </a:solidFill>
                <a:latin typeface="Comic Sans MS"/>
                <a:ea typeface="Comic Sans MS"/>
                <a:cs typeface="Comic Sans MS"/>
                <a:sym typeface="Comic Sans MS"/>
              </a:rPr>
              <a:t>For those circuits where the bulb will not light, redraw the circuit  diagrams so that they will.</a:t>
            </a:r>
            <a:endParaRPr/>
          </a:p>
          <a:p>
            <a:pPr indent="-514350" lvl="0" marL="514350" rtl="0" algn="l">
              <a:lnSpc>
                <a:spcPct val="90000"/>
              </a:lnSpc>
              <a:spcBef>
                <a:spcPts val="1000"/>
              </a:spcBef>
              <a:spcAft>
                <a:spcPts val="0"/>
              </a:spcAft>
              <a:buClr>
                <a:schemeClr val="lt1"/>
              </a:buClr>
              <a:buSzPts val="2400"/>
              <a:buAutoNum type="arabicPeriod"/>
            </a:pPr>
            <a:r>
              <a:rPr lang="en-GB" sz="2400">
                <a:solidFill>
                  <a:schemeClr val="lt1"/>
                </a:solidFill>
                <a:latin typeface="Comic Sans MS"/>
                <a:ea typeface="Comic Sans MS"/>
                <a:cs typeface="Comic Sans MS"/>
                <a:sym typeface="Comic Sans MS"/>
              </a:rPr>
              <a:t>In which of the circuits that you have drawn for Qu2 will the bulb be brightest?  Explain your reasoning.</a:t>
            </a:r>
            <a:endParaRPr/>
          </a:p>
          <a:p>
            <a:pPr indent="-514350" lvl="0" marL="514350" rtl="0" algn="l">
              <a:lnSpc>
                <a:spcPct val="90000"/>
              </a:lnSpc>
              <a:spcBef>
                <a:spcPts val="1000"/>
              </a:spcBef>
              <a:spcAft>
                <a:spcPts val="0"/>
              </a:spcAft>
              <a:buClr>
                <a:schemeClr val="lt1"/>
              </a:buClr>
              <a:buSzPts val="2400"/>
              <a:buAutoNum type="arabicPeriod"/>
            </a:pPr>
            <a:r>
              <a:rPr lang="en-GB" sz="2400">
                <a:solidFill>
                  <a:schemeClr val="lt1"/>
                </a:solidFill>
                <a:latin typeface="Comic Sans MS"/>
                <a:ea typeface="Comic Sans MS"/>
                <a:cs typeface="Comic Sans MS"/>
                <a:sym typeface="Comic Sans MS"/>
              </a:rPr>
              <a:t>Where in a circuit does the switch need to be in order to operate the bulb correctly?</a:t>
            </a:r>
            <a:endParaRPr/>
          </a:p>
          <a:p>
            <a:pPr indent="0" lvl="0" marL="0" rtl="0" algn="l">
              <a:lnSpc>
                <a:spcPct val="90000"/>
              </a:lnSpc>
              <a:spcBef>
                <a:spcPts val="1000"/>
              </a:spcBef>
              <a:spcAft>
                <a:spcPts val="0"/>
              </a:spcAft>
              <a:buClr>
                <a:schemeClr val="dk1"/>
              </a:buClr>
              <a:buSzPts val="2800"/>
              <a:buNone/>
            </a:pPr>
            <a:r>
              <a:t/>
            </a:r>
            <a:endParaRPr>
              <a:solidFill>
                <a:schemeClr val="lt1"/>
              </a:solidFill>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800"/>
              <a:buNone/>
            </a:pPr>
            <a:r>
              <a:t/>
            </a:r>
            <a:endParaRPr>
              <a:solidFill>
                <a:schemeClr val="lt1"/>
              </a:solidFill>
              <a:latin typeface="Comic Sans MS"/>
              <a:ea typeface="Comic Sans MS"/>
              <a:cs typeface="Comic Sans MS"/>
              <a:sym typeface="Comic Sans MS"/>
            </a:endParaRPr>
          </a:p>
        </p:txBody>
      </p:sp>
      <p:pic>
        <p:nvPicPr>
          <p:cNvPr id="323" name="Google Shape;323;p18"/>
          <p:cNvPicPr preferRelativeResize="0"/>
          <p:nvPr/>
        </p:nvPicPr>
        <p:blipFill rotWithShape="1">
          <a:blip r:embed="rId3">
            <a:alphaModFix/>
          </a:blip>
          <a:srcRect b="0" l="0" r="0" t="0"/>
          <a:stretch/>
        </p:blipFill>
        <p:spPr>
          <a:xfrm>
            <a:off x="0" y="-699291"/>
            <a:ext cx="6555545" cy="75572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2015-04-15T02:21:23Z</dcterms:created>
  <dc:creator>Summers, Simone D</dc:creator>
</cp:coreProperties>
</file>