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embeddedFontLst>
    <p:embeddedFont>
      <p:font typeface="Corbel"/>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orbel-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rbel-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orbel-boldItalic.fntdata"/><Relationship Id="rId30" Type="http://schemas.openxmlformats.org/officeDocument/2006/relationships/font" Target="fonts/Corbel-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74" name="Google Shape;174;p13: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GB" sz="1200" u="none" cap="none" strike="noStrike">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b="0" i="0" lang="en-GB" sz="1200" u="none" cap="none" strike="noStrike">
                <a:solidFill>
                  <a:schemeClr val="dk1"/>
                </a:solidFill>
                <a:latin typeface="Arial"/>
                <a:ea typeface="Arial"/>
                <a:cs typeface="Arial"/>
                <a:sym typeface="Arial"/>
              </a:rPr>
              <a:t>Infrared and Visible Waves</a:t>
            </a:r>
            <a:endParaRPr/>
          </a:p>
        </p:txBody>
      </p:sp>
      <p:sp>
        <p:nvSpPr>
          <p:cNvPr id="175" name="Google Shape;175;p13: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184" name="Google Shape;184;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5" name="Google Shape;18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a:t>
            </a:r>
            <a:r>
              <a:rPr lang="en-GB"/>
              <a:t> © 2008 Jupiterimages Corporation</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98" name="Google Shape;198;p17: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sz="1200">
                <a:solidFill>
                  <a:schemeClr val="dk1"/>
                </a:solidFill>
                <a:latin typeface="Arial"/>
                <a:ea typeface="Arial"/>
                <a:cs typeface="Arial"/>
                <a:sym typeface="Arial"/>
              </a:rPr>
              <a:t>Boardworks GCSE Science: Physics </a:t>
            </a:r>
            <a:endParaRPr/>
          </a:p>
          <a:p>
            <a:pPr indent="0" lvl="0" marL="0" rtl="0" algn="l">
              <a:spcBef>
                <a:spcPts val="0"/>
              </a:spcBef>
              <a:spcAft>
                <a:spcPts val="0"/>
              </a:spcAft>
              <a:buNone/>
            </a:pPr>
            <a:r>
              <a:rPr lang="en-GB" sz="1200">
                <a:solidFill>
                  <a:schemeClr val="dk1"/>
                </a:solidFill>
                <a:latin typeface="Arial"/>
                <a:ea typeface="Arial"/>
                <a:cs typeface="Arial"/>
                <a:sym typeface="Arial"/>
              </a:rPr>
              <a:t>Infrared and Visible Waves</a:t>
            </a:r>
            <a:endParaRPr/>
          </a:p>
        </p:txBody>
      </p:sp>
      <p:sp>
        <p:nvSpPr>
          <p:cNvPr id="199" name="Google Shape;199;p17: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a:t>Photo credit (top right): </a:t>
            </a:r>
            <a:r>
              <a:rPr lang="en-GB"/>
              <a:t>Tom Denham</a:t>
            </a:r>
            <a:endParaRPr/>
          </a:p>
          <a:p>
            <a:pPr indent="0" lvl="0" marL="0" rtl="0" algn="l">
              <a:spcBef>
                <a:spcPts val="0"/>
              </a:spcBef>
              <a:spcAft>
                <a:spcPts val="0"/>
              </a:spcAft>
              <a:buNone/>
            </a:pPr>
            <a:r>
              <a:rPr lang="en-GB"/>
              <a:t>A digital SLR camera.</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Photo credit (bottom left): </a:t>
            </a:r>
            <a:r>
              <a:rPr lang="en-GB"/>
              <a:t>© 2006 Jupiterimages corporation</a:t>
            </a:r>
            <a:endParaRPr/>
          </a:p>
          <a:p>
            <a:pPr indent="0" lvl="0" marL="0" rtl="0" algn="l">
              <a:spcBef>
                <a:spcPts val="0"/>
              </a:spcBef>
              <a:spcAft>
                <a:spcPts val="0"/>
              </a:spcAft>
              <a:buNone/>
            </a:pPr>
            <a:r>
              <a:rPr lang="en-GB"/>
              <a:t>Evening view of Coast Guard Nobska Lighthouse at Cape Cod, Massachusetts, USA.</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38b4d7ea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11" name="Google Shape;211;g3738b4d7eac_0_0: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sz="1200">
                <a:solidFill>
                  <a:schemeClr val="dk1"/>
                </a:solidFill>
                <a:latin typeface="Arial"/>
                <a:ea typeface="Arial"/>
                <a:cs typeface="Arial"/>
                <a:sym typeface="Arial"/>
              </a:rPr>
              <a:t>Boardworks GCSE Science: Physics </a:t>
            </a:r>
            <a:endParaRPr/>
          </a:p>
          <a:p>
            <a:pPr indent="0" lvl="0" marL="0" rtl="0" algn="l">
              <a:lnSpc>
                <a:spcPct val="100000"/>
              </a:lnSpc>
              <a:spcBef>
                <a:spcPts val="0"/>
              </a:spcBef>
              <a:spcAft>
                <a:spcPts val="0"/>
              </a:spcAft>
              <a:buSzPts val="1400"/>
              <a:buNone/>
            </a:pPr>
            <a:r>
              <a:rPr lang="en-GB" sz="1200">
                <a:solidFill>
                  <a:schemeClr val="dk1"/>
                </a:solidFill>
                <a:latin typeface="Arial"/>
                <a:ea typeface="Arial"/>
                <a:cs typeface="Arial"/>
                <a:sym typeface="Arial"/>
              </a:rPr>
              <a:t>Infrared and Visible Waves</a:t>
            </a:r>
            <a:endParaRPr/>
          </a:p>
        </p:txBody>
      </p:sp>
      <p:sp>
        <p:nvSpPr>
          <p:cNvPr id="212" name="Google Shape;212;g3738b4d7eac_0_0: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g3738b4d7ea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GB"/>
              <a:t>Photo credit (top right): </a:t>
            </a:r>
            <a:r>
              <a:rPr lang="en-GB"/>
              <a:t>Szekér Ottó</a:t>
            </a:r>
            <a:endParaRPr/>
          </a:p>
          <a:p>
            <a:pPr indent="0" lvl="0" marL="0" rtl="0" algn="l">
              <a:lnSpc>
                <a:spcPct val="100000"/>
              </a:lnSpc>
              <a:spcBef>
                <a:spcPts val="0"/>
              </a:spcBef>
              <a:spcAft>
                <a:spcPts val="0"/>
              </a:spcAft>
              <a:buSzPts val="1400"/>
              <a:buNone/>
            </a:pPr>
            <a:r>
              <a:rPr lang="en-GB"/>
              <a:t>Filament light bulb.</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738b4d7eac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25" name="Google Shape;225;g3738b4d7eac_0_13: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sz="1200">
                <a:solidFill>
                  <a:schemeClr val="dk1"/>
                </a:solidFill>
                <a:latin typeface="Arial"/>
                <a:ea typeface="Arial"/>
                <a:cs typeface="Arial"/>
                <a:sym typeface="Arial"/>
              </a:rPr>
              <a:t>Boardworks GCSE Science: Physics </a:t>
            </a:r>
            <a:endParaRPr/>
          </a:p>
          <a:p>
            <a:pPr indent="0" lvl="0" marL="0" rtl="0" algn="l">
              <a:lnSpc>
                <a:spcPct val="100000"/>
              </a:lnSpc>
              <a:spcBef>
                <a:spcPts val="0"/>
              </a:spcBef>
              <a:spcAft>
                <a:spcPts val="0"/>
              </a:spcAft>
              <a:buSzPts val="1400"/>
              <a:buNone/>
            </a:pPr>
            <a:r>
              <a:rPr lang="en-GB" sz="1200">
                <a:solidFill>
                  <a:schemeClr val="dk1"/>
                </a:solidFill>
                <a:latin typeface="Arial"/>
                <a:ea typeface="Arial"/>
                <a:cs typeface="Arial"/>
                <a:sym typeface="Arial"/>
              </a:rPr>
              <a:t>Infrared and Visible Waves</a:t>
            </a:r>
            <a:endParaRPr/>
          </a:p>
        </p:txBody>
      </p:sp>
      <p:sp>
        <p:nvSpPr>
          <p:cNvPr id="226" name="Google Shape;226;g3738b4d7eac_0_13:notes"/>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g3738b4d7eac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sz="1200">
                <a:latin typeface="Comic Sans MS"/>
                <a:ea typeface="Comic Sans MS"/>
                <a:cs typeface="Comic Sans MS"/>
                <a:sym typeface="Comic Sans MS"/>
              </a:rPr>
              <a:t>Fluorescent tubes contains mercury vapour, which generates ultraviolet radiation an electrical current is passed through it.</a:t>
            </a:r>
            <a:endParaRPr/>
          </a:p>
          <a:p>
            <a:pPr indent="0" lvl="0" marL="0" rtl="0" algn="l">
              <a:lnSpc>
                <a:spcPct val="100000"/>
              </a:lnSpc>
              <a:spcBef>
                <a:spcPts val="0"/>
              </a:spcBef>
              <a:spcAft>
                <a:spcPts val="0"/>
              </a:spcAft>
              <a:buSzPts val="1400"/>
              <a:buNone/>
            </a:pPr>
            <a:r>
              <a:rPr lang="en-GB" sz="1200">
                <a:latin typeface="Comic Sans MS"/>
                <a:ea typeface="Comic Sans MS"/>
                <a:cs typeface="Comic Sans MS"/>
                <a:sym typeface="Comic Sans MS"/>
              </a:rPr>
              <a:t>This UV radiation hits the fluorescent coating on the inside of the tube and creates visible light . </a:t>
            </a:r>
            <a:endParaRPr sz="1200">
              <a:latin typeface="Comic Sans MS"/>
              <a:ea typeface="Comic Sans MS"/>
              <a:cs typeface="Comic Sans MS"/>
              <a:sym typeface="Comic Sans MS"/>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738b4d7eac_0_1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738b4d7eac_0_1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738b4d7eac_0_1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38b4d7eac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g3738b4d7eac_0_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38b4d7eac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3738b4d7eac_0_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738b4d7eac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g3738b4d7eac_0_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738b4d7eac_0_1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738b4d7eac_0_1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738b4d7eac_0_1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 name="Shape 15"/>
        <p:cNvGrpSpPr/>
        <p:nvPr/>
      </p:nvGrpSpPr>
      <p:grpSpPr>
        <a:xfrm>
          <a:off x="0" y="0"/>
          <a:ext cx="0" cy="0"/>
          <a:chOff x="0" y="0"/>
          <a:chExt cx="0" cy="0"/>
        </a:xfrm>
      </p:grpSpPr>
      <p:sp>
        <p:nvSpPr>
          <p:cNvPr id="16" name="Google Shape;16;p2"/>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17" name="Google Shape;17;p2"/>
          <p:cNvSpPr txBox="1"/>
          <p:nvPr>
            <p:ph idx="1" type="body"/>
          </p:nvPr>
        </p:nvSpPr>
        <p:spPr>
          <a:xfrm>
            <a:off x="4901184" y="1463040"/>
            <a:ext cx="3886200" cy="4288536"/>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1600"/>
              <a:buNone/>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18" name="Google Shape;18;p2"/>
          <p:cNvSpPr txBox="1"/>
          <p:nvPr>
            <p:ph idx="2" type="body"/>
          </p:nvPr>
        </p:nvSpPr>
        <p:spPr>
          <a:xfrm>
            <a:off x="352426" y="1463040"/>
            <a:ext cx="3886200" cy="4288536"/>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1600"/>
              <a:buNone/>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19" name="Google Shape;19;p2"/>
          <p:cNvSpPr txBox="1"/>
          <p:nvPr>
            <p:ph type="title"/>
          </p:nvPr>
        </p:nvSpPr>
        <p:spPr>
          <a:xfrm>
            <a:off x="352426" y="228600"/>
            <a:ext cx="7680960" cy="1066800"/>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2" name="Google Shape;22;p2"/>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3"/>
          <p:cNvSpPr txBox="1"/>
          <p:nvPr>
            <p:ph idx="1" type="subTitle"/>
          </p:nvPr>
        </p:nvSpPr>
        <p:spPr>
          <a:xfrm>
            <a:off x="352426" y="2895600"/>
            <a:ext cx="4572000" cy="1368798"/>
          </a:xfrm>
          <a:prstGeom prst="rect">
            <a:avLst/>
          </a:prstGeom>
          <a:noFill/>
          <a:ln>
            <a:noFill/>
          </a:ln>
        </p:spPr>
        <p:txBody>
          <a:bodyPr anchorCtr="0" anchor="t" bIns="45700" lIns="91425" spcFirstLastPara="1" rIns="91425" wrap="square" tIns="45700">
            <a:normAutofit/>
          </a:bodyPr>
          <a:lstStyle>
            <a:lvl1pPr lvl="0" algn="l">
              <a:spcBef>
                <a:spcPts val="1200"/>
              </a:spcBef>
              <a:spcAft>
                <a:spcPts val="0"/>
              </a:spcAft>
              <a:buSzPts val="2000"/>
              <a:buNone/>
              <a:defRPr b="0" i="1" sz="2000" cap="none">
                <a:solidFill>
                  <a:schemeClr val="lt1"/>
                </a:solidFill>
              </a:defRPr>
            </a:lvl1pPr>
            <a:lvl2pPr lvl="1" algn="ctr">
              <a:spcBef>
                <a:spcPts val="600"/>
              </a:spcBef>
              <a:spcAft>
                <a:spcPts val="0"/>
              </a:spcAft>
              <a:buSzPts val="1600"/>
              <a:buNone/>
              <a:defRPr>
                <a:solidFill>
                  <a:schemeClr val="lt1"/>
                </a:solidFill>
              </a:defRPr>
            </a:lvl2pPr>
            <a:lvl3pPr lvl="2" algn="ctr">
              <a:spcBef>
                <a:spcPts val="600"/>
              </a:spcBef>
              <a:spcAft>
                <a:spcPts val="0"/>
              </a:spcAft>
              <a:buSzPts val="1600"/>
              <a:buNone/>
              <a:defRPr>
                <a:solidFill>
                  <a:schemeClr val="lt1"/>
                </a:solidFill>
              </a:defRPr>
            </a:lvl3pPr>
            <a:lvl4pPr lvl="3" algn="ctr">
              <a:spcBef>
                <a:spcPts val="600"/>
              </a:spcBef>
              <a:spcAft>
                <a:spcPts val="0"/>
              </a:spcAft>
              <a:buSzPts val="1600"/>
              <a:buNone/>
              <a:defRPr>
                <a:solidFill>
                  <a:schemeClr val="lt1"/>
                </a:solidFill>
              </a:defRPr>
            </a:lvl4pPr>
            <a:lvl5pPr lvl="4" algn="ctr">
              <a:spcBef>
                <a:spcPts val="600"/>
              </a:spcBef>
              <a:spcAft>
                <a:spcPts val="0"/>
              </a:spcAft>
              <a:buSzPts val="1600"/>
              <a:buNone/>
              <a:defRPr>
                <a:solidFill>
                  <a:schemeClr val="lt1"/>
                </a:solidFill>
              </a:defRPr>
            </a:lvl5pPr>
            <a:lvl6pPr lvl="5" algn="ctr">
              <a:spcBef>
                <a:spcPts val="600"/>
              </a:spcBef>
              <a:spcAft>
                <a:spcPts val="0"/>
              </a:spcAft>
              <a:buSzPts val="1600"/>
              <a:buNone/>
              <a:defRPr>
                <a:solidFill>
                  <a:schemeClr val="lt1"/>
                </a:solidFill>
              </a:defRPr>
            </a:lvl6pPr>
            <a:lvl7pPr lvl="6" algn="ctr">
              <a:spcBef>
                <a:spcPts val="600"/>
              </a:spcBef>
              <a:spcAft>
                <a:spcPts val="0"/>
              </a:spcAft>
              <a:buSzPts val="1600"/>
              <a:buNone/>
              <a:defRPr>
                <a:solidFill>
                  <a:schemeClr val="lt1"/>
                </a:solidFill>
              </a:defRPr>
            </a:lvl7pPr>
            <a:lvl8pPr lvl="7" algn="ctr">
              <a:spcBef>
                <a:spcPts val="600"/>
              </a:spcBef>
              <a:spcAft>
                <a:spcPts val="0"/>
              </a:spcAft>
              <a:buSzPts val="1600"/>
              <a:buNone/>
              <a:defRPr>
                <a:solidFill>
                  <a:schemeClr val="lt1"/>
                </a:solidFill>
              </a:defRPr>
            </a:lvl8pPr>
            <a:lvl9pPr lvl="8" algn="ctr">
              <a:spcBef>
                <a:spcPts val="600"/>
              </a:spcBef>
              <a:spcAft>
                <a:spcPts val="0"/>
              </a:spcAft>
              <a:buSzPts val="1600"/>
              <a:buNone/>
              <a:defRPr>
                <a:solidFill>
                  <a:schemeClr val="lt1"/>
                </a:solidFill>
              </a:defRPr>
            </a:lvl9pPr>
          </a:lstStyle>
          <a:p/>
        </p:txBody>
      </p:sp>
      <p:sp>
        <p:nvSpPr>
          <p:cNvPr id="25" name="Google Shape;25;p3"/>
          <p:cNvSpPr/>
          <p:nvPr/>
        </p:nvSpPr>
        <p:spPr>
          <a:xfrm>
            <a:off x="0" y="4743451"/>
            <a:ext cx="9144000" cy="2114550"/>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cxnSp>
        <p:nvCxnSpPr>
          <p:cNvPr id="26" name="Google Shape;26;p3"/>
          <p:cNvCxnSpPr/>
          <p:nvPr/>
        </p:nvCxnSpPr>
        <p:spPr>
          <a:xfrm>
            <a:off x="0" y="4714875"/>
            <a:ext cx="9144000" cy="1588"/>
          </a:xfrm>
          <a:prstGeom prst="straightConnector1">
            <a:avLst/>
          </a:prstGeom>
          <a:noFill/>
          <a:ln cap="flat" cmpd="sng" w="76200">
            <a:solidFill>
              <a:schemeClr val="lt1"/>
            </a:solidFill>
            <a:prstDash val="solid"/>
            <a:round/>
            <a:headEnd len="sm" w="sm" type="none"/>
            <a:tailEnd len="sm" w="sm" type="none"/>
          </a:ln>
        </p:spPr>
      </p:cxnSp>
      <p:sp>
        <p:nvSpPr>
          <p:cNvPr id="27" name="Google Shape;27;p3"/>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9" name="Google Shape;29;p3"/>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type="title"/>
          </p:nvPr>
        </p:nvSpPr>
        <p:spPr>
          <a:xfrm>
            <a:off x="352426" y="457200"/>
            <a:ext cx="7680960" cy="243839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6000"/>
              <a:buFont typeface="Corbel"/>
              <a:buNone/>
              <a:defRPr b="1" i="0" sz="6000" u="none" cap="none" strike="noStrik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33" name="Google Shape;33;p4"/>
          <p:cNvSpPr txBox="1"/>
          <p:nvPr>
            <p:ph idx="1" type="subTitle"/>
          </p:nvPr>
        </p:nvSpPr>
        <p:spPr>
          <a:xfrm>
            <a:off x="352426" y="4003302"/>
            <a:ext cx="4572000" cy="1178298"/>
          </a:xfrm>
          <a:prstGeom prst="rect">
            <a:avLst/>
          </a:prstGeom>
          <a:noFill/>
          <a:ln>
            <a:noFill/>
          </a:ln>
        </p:spPr>
        <p:txBody>
          <a:bodyPr anchorCtr="0" anchor="t" bIns="45700" lIns="91425" spcFirstLastPara="1" rIns="91425" wrap="square" tIns="45700">
            <a:normAutofit/>
          </a:bodyPr>
          <a:lstStyle>
            <a:lvl1pPr lvl="0" algn="l">
              <a:spcBef>
                <a:spcPts val="1200"/>
              </a:spcBef>
              <a:spcAft>
                <a:spcPts val="0"/>
              </a:spcAft>
              <a:buSzPts val="2000"/>
              <a:buNone/>
              <a:defRPr b="0" i="1" sz="2000" cap="none">
                <a:solidFill>
                  <a:schemeClr val="lt1"/>
                </a:solidFill>
              </a:defRPr>
            </a:lvl1pPr>
            <a:lvl2pPr lvl="1" algn="ctr">
              <a:spcBef>
                <a:spcPts val="600"/>
              </a:spcBef>
              <a:spcAft>
                <a:spcPts val="0"/>
              </a:spcAft>
              <a:buSzPts val="1600"/>
              <a:buNone/>
              <a:defRPr>
                <a:solidFill>
                  <a:schemeClr val="lt1"/>
                </a:solidFill>
              </a:defRPr>
            </a:lvl2pPr>
            <a:lvl3pPr lvl="2" algn="ctr">
              <a:spcBef>
                <a:spcPts val="600"/>
              </a:spcBef>
              <a:spcAft>
                <a:spcPts val="0"/>
              </a:spcAft>
              <a:buSzPts val="1600"/>
              <a:buNone/>
              <a:defRPr>
                <a:solidFill>
                  <a:schemeClr val="lt1"/>
                </a:solidFill>
              </a:defRPr>
            </a:lvl3pPr>
            <a:lvl4pPr lvl="3" algn="ctr">
              <a:spcBef>
                <a:spcPts val="600"/>
              </a:spcBef>
              <a:spcAft>
                <a:spcPts val="0"/>
              </a:spcAft>
              <a:buSzPts val="1600"/>
              <a:buNone/>
              <a:defRPr>
                <a:solidFill>
                  <a:schemeClr val="lt1"/>
                </a:solidFill>
              </a:defRPr>
            </a:lvl4pPr>
            <a:lvl5pPr lvl="4" algn="ctr">
              <a:spcBef>
                <a:spcPts val="600"/>
              </a:spcBef>
              <a:spcAft>
                <a:spcPts val="0"/>
              </a:spcAft>
              <a:buSzPts val="1600"/>
              <a:buNone/>
              <a:defRPr>
                <a:solidFill>
                  <a:schemeClr val="lt1"/>
                </a:solidFill>
              </a:defRPr>
            </a:lvl5pPr>
            <a:lvl6pPr lvl="5" algn="ctr">
              <a:spcBef>
                <a:spcPts val="600"/>
              </a:spcBef>
              <a:spcAft>
                <a:spcPts val="0"/>
              </a:spcAft>
              <a:buSzPts val="1600"/>
              <a:buNone/>
              <a:defRPr>
                <a:solidFill>
                  <a:schemeClr val="lt1"/>
                </a:solidFill>
              </a:defRPr>
            </a:lvl6pPr>
            <a:lvl7pPr lvl="6" algn="ctr">
              <a:spcBef>
                <a:spcPts val="600"/>
              </a:spcBef>
              <a:spcAft>
                <a:spcPts val="0"/>
              </a:spcAft>
              <a:buSzPts val="1600"/>
              <a:buNone/>
              <a:defRPr>
                <a:solidFill>
                  <a:schemeClr val="lt1"/>
                </a:solidFill>
              </a:defRPr>
            </a:lvl7pPr>
            <a:lvl8pPr lvl="7" algn="ctr">
              <a:spcBef>
                <a:spcPts val="600"/>
              </a:spcBef>
              <a:spcAft>
                <a:spcPts val="0"/>
              </a:spcAft>
              <a:buSzPts val="1600"/>
              <a:buNone/>
              <a:defRPr>
                <a:solidFill>
                  <a:schemeClr val="lt1"/>
                </a:solidFill>
              </a:defRPr>
            </a:lvl8pPr>
            <a:lvl9pPr lvl="8" algn="ctr">
              <a:spcBef>
                <a:spcPts val="600"/>
              </a:spcBef>
              <a:spcAft>
                <a:spcPts val="0"/>
              </a:spcAft>
              <a:buSzPts val="1600"/>
              <a:buNone/>
              <a:defRPr>
                <a:solidFill>
                  <a:schemeClr val="lt1"/>
                </a:solidFill>
              </a:defRPr>
            </a:lvl9pPr>
          </a:lstStyle>
          <a:p/>
        </p:txBody>
      </p:sp>
      <p:sp>
        <p:nvSpPr>
          <p:cNvPr id="34" name="Google Shape;34;p4"/>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36" name="Google Shape;36;p4"/>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p:nvPr/>
        </p:nvSpPr>
        <p:spPr>
          <a:xfrm>
            <a:off x="0" y="0"/>
            <a:ext cx="9144000" cy="1828800"/>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cxnSp>
        <p:nvCxnSpPr>
          <p:cNvPr id="38" name="Google Shape;38;p4"/>
          <p:cNvCxnSpPr/>
          <p:nvPr/>
        </p:nvCxnSpPr>
        <p:spPr>
          <a:xfrm>
            <a:off x="-4439" y="1828800"/>
            <a:ext cx="9144000" cy="1588"/>
          </a:xfrm>
          <a:prstGeom prst="straightConnector1">
            <a:avLst/>
          </a:prstGeom>
          <a:noFill/>
          <a:ln cap="flat" cmpd="sng" w="76200">
            <a:solidFill>
              <a:schemeClr val="lt1"/>
            </a:solidFill>
            <a:prstDash val="solid"/>
            <a:round/>
            <a:headEnd len="sm" w="sm" type="none"/>
            <a:tailEnd len="sm" w="sm" type="none"/>
          </a:ln>
        </p:spPr>
      </p:cxnSp>
      <p:sp>
        <p:nvSpPr>
          <p:cNvPr id="39" name="Google Shape;39;p4"/>
          <p:cNvSpPr txBox="1"/>
          <p:nvPr>
            <p:ph type="title"/>
          </p:nvPr>
        </p:nvSpPr>
        <p:spPr>
          <a:xfrm>
            <a:off x="354366" y="1990078"/>
            <a:ext cx="8439912" cy="1984248"/>
          </a:xfrm>
          <a:prstGeom prst="rect">
            <a:avLst/>
          </a:prstGeom>
          <a:noFill/>
          <a:ln>
            <a:noFill/>
          </a:ln>
        </p:spPr>
        <p:txBody>
          <a:bodyPr anchorCtr="0" anchor="b" bIns="45700" lIns="91425" spcFirstLastPara="1" rIns="91425" wrap="square" tIns="45700">
            <a:noAutofit/>
          </a:bodyPr>
          <a:lstStyle>
            <a:lvl1pPr lvl="0" algn="l">
              <a:spcBef>
                <a:spcPts val="400"/>
              </a:spcBef>
              <a:spcAft>
                <a:spcPts val="0"/>
              </a:spcAft>
              <a:buClr>
                <a:schemeClr val="lt1"/>
              </a:buClr>
              <a:buSzPts val="6000"/>
              <a:buFont typeface="Corbel"/>
              <a:buNone/>
              <a:defRPr b="1" i="0" sz="6000" u="none" cap="none" strike="noStrik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5"/>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42" name="Google Shape;42;p5"/>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2800"/>
              <a:buNone/>
              <a:defRPr sz="2800"/>
            </a:lvl1pPr>
            <a:lvl2pPr indent="-381000" lvl="1" marL="914400" algn="l">
              <a:spcBef>
                <a:spcPts val="600"/>
              </a:spcBef>
              <a:spcAft>
                <a:spcPts val="0"/>
              </a:spcAft>
              <a:buSzPts val="2400"/>
              <a:buChar char="•"/>
              <a:defRPr sz="2400"/>
            </a:lvl2pPr>
            <a:lvl3pPr indent="-381000" lvl="2" marL="1371600" algn="l">
              <a:spcBef>
                <a:spcPts val="600"/>
              </a:spcBef>
              <a:spcAft>
                <a:spcPts val="0"/>
              </a:spcAft>
              <a:buSzPts val="2400"/>
              <a:buChar char="•"/>
              <a:defRPr sz="2400"/>
            </a:lvl3pPr>
            <a:lvl4pPr indent="-381000" lvl="3" marL="1828800" algn="l">
              <a:spcBef>
                <a:spcPts val="600"/>
              </a:spcBef>
              <a:spcAft>
                <a:spcPts val="0"/>
              </a:spcAft>
              <a:buSzPts val="2400"/>
              <a:buChar char="•"/>
              <a:defRPr sz="2400"/>
            </a:lvl4pPr>
            <a:lvl5pPr indent="-381000" lvl="4" marL="2286000" algn="l">
              <a:spcBef>
                <a:spcPts val="600"/>
              </a:spcBef>
              <a:spcAft>
                <a:spcPts val="0"/>
              </a:spcAft>
              <a:buSzPts val="2400"/>
              <a:buChar char="•"/>
              <a:defRPr sz="2400"/>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43" name="Google Shape;43;p5"/>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46" name="Google Shape;46;p6"/>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type="title"/>
          </p:nvPr>
        </p:nvSpPr>
        <p:spPr>
          <a:xfrm>
            <a:off x="352426" y="228600"/>
            <a:ext cx="7680960" cy="1066800"/>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7"/>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orbel"/>
              <a:ea typeface="Corbel"/>
              <a:cs typeface="Corbel"/>
              <a:sym typeface="Corbel"/>
            </a:endParaRPr>
          </a:p>
        </p:txBody>
      </p:sp>
      <p:sp>
        <p:nvSpPr>
          <p:cNvPr id="52" name="Google Shape;52;p7"/>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54" name="Google Shape;54;p7"/>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8"/>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57" name="Google Shape;57;p8"/>
          <p:cNvSpPr txBox="1"/>
          <p:nvPr>
            <p:ph idx="1" type="body"/>
          </p:nvPr>
        </p:nvSpPr>
        <p:spPr>
          <a:xfrm>
            <a:off x="352426" y="1463040"/>
            <a:ext cx="3886200" cy="509587"/>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2000"/>
              <a:buNone/>
              <a:defRPr b="0" i="1" sz="2000">
                <a:solidFill>
                  <a:schemeClr val="lt1"/>
                </a:solidFill>
                <a:latin typeface="Corbel"/>
                <a:ea typeface="Corbel"/>
                <a:cs typeface="Corbel"/>
                <a:sym typeface="Corbel"/>
              </a:defRPr>
            </a:lvl1pPr>
            <a:lvl2pPr indent="-228600" lvl="1" marL="914400" algn="l">
              <a:spcBef>
                <a:spcPts val="600"/>
              </a:spcBef>
              <a:spcAft>
                <a:spcPts val="0"/>
              </a:spcAft>
              <a:buSzPts val="1200"/>
              <a:buNone/>
              <a:defRPr sz="1200"/>
            </a:lvl2pPr>
            <a:lvl3pPr indent="-228600" lvl="2" marL="1371600" algn="l">
              <a:spcBef>
                <a:spcPts val="600"/>
              </a:spcBef>
              <a:spcAft>
                <a:spcPts val="0"/>
              </a:spcAft>
              <a:buSzPts val="1000"/>
              <a:buNone/>
              <a:defRPr sz="1000"/>
            </a:lvl3pPr>
            <a:lvl4pPr indent="-228600" lvl="3" marL="1828800" algn="l">
              <a:spcBef>
                <a:spcPts val="600"/>
              </a:spcBef>
              <a:spcAft>
                <a:spcPts val="0"/>
              </a:spcAft>
              <a:buSzPts val="900"/>
              <a:buNone/>
              <a:defRPr sz="900"/>
            </a:lvl4pPr>
            <a:lvl5pPr indent="-228600" lvl="4" marL="2286000" algn="l">
              <a:spcBef>
                <a:spcPts val="600"/>
              </a:spcBef>
              <a:spcAft>
                <a:spcPts val="0"/>
              </a:spcAft>
              <a:buSzPts val="900"/>
              <a:buNone/>
              <a:defRPr sz="900"/>
            </a:lvl5pPr>
            <a:lvl6pPr indent="-228600" lvl="5" marL="2743200" algn="l">
              <a:spcBef>
                <a:spcPts val="600"/>
              </a:spcBef>
              <a:spcAft>
                <a:spcPts val="0"/>
              </a:spcAft>
              <a:buSzPts val="900"/>
              <a:buNone/>
              <a:defRPr sz="900"/>
            </a:lvl6pPr>
            <a:lvl7pPr indent="-228600" lvl="6" marL="3200400" algn="l">
              <a:spcBef>
                <a:spcPts val="600"/>
              </a:spcBef>
              <a:spcAft>
                <a:spcPts val="0"/>
              </a:spcAft>
              <a:buSzPts val="900"/>
              <a:buNone/>
              <a:defRPr sz="900"/>
            </a:lvl7pPr>
            <a:lvl8pPr indent="-228600" lvl="7" marL="3657600" algn="l">
              <a:spcBef>
                <a:spcPts val="600"/>
              </a:spcBef>
              <a:spcAft>
                <a:spcPts val="0"/>
              </a:spcAft>
              <a:buSzPts val="900"/>
              <a:buNone/>
              <a:defRPr sz="900"/>
            </a:lvl8pPr>
            <a:lvl9pPr indent="-228600" lvl="8" marL="4114800" algn="l">
              <a:spcBef>
                <a:spcPts val="600"/>
              </a:spcBef>
              <a:spcAft>
                <a:spcPts val="0"/>
              </a:spcAft>
              <a:buSzPts val="900"/>
              <a:buNone/>
              <a:defRPr sz="900"/>
            </a:lvl9pPr>
          </a:lstStyle>
          <a:p/>
        </p:txBody>
      </p:sp>
      <p:sp>
        <p:nvSpPr>
          <p:cNvPr id="58" name="Google Shape;58;p8"/>
          <p:cNvSpPr txBox="1"/>
          <p:nvPr>
            <p:ph idx="2" type="body"/>
          </p:nvPr>
        </p:nvSpPr>
        <p:spPr>
          <a:xfrm>
            <a:off x="4900613" y="1463040"/>
            <a:ext cx="3886200" cy="509587"/>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2000"/>
              <a:buNone/>
              <a:defRPr b="0" i="1" sz="2000">
                <a:solidFill>
                  <a:schemeClr val="lt1"/>
                </a:solidFill>
                <a:latin typeface="Corbel"/>
                <a:ea typeface="Corbel"/>
                <a:cs typeface="Corbel"/>
                <a:sym typeface="Corbel"/>
              </a:defRPr>
            </a:lvl1pPr>
            <a:lvl2pPr indent="-228600" lvl="1" marL="914400" algn="l">
              <a:spcBef>
                <a:spcPts val="600"/>
              </a:spcBef>
              <a:spcAft>
                <a:spcPts val="0"/>
              </a:spcAft>
              <a:buSzPts val="1200"/>
              <a:buNone/>
              <a:defRPr sz="1200"/>
            </a:lvl2pPr>
            <a:lvl3pPr indent="-228600" lvl="2" marL="1371600" algn="l">
              <a:spcBef>
                <a:spcPts val="600"/>
              </a:spcBef>
              <a:spcAft>
                <a:spcPts val="0"/>
              </a:spcAft>
              <a:buSzPts val="1000"/>
              <a:buNone/>
              <a:defRPr sz="1000"/>
            </a:lvl3pPr>
            <a:lvl4pPr indent="-228600" lvl="3" marL="1828800" algn="l">
              <a:spcBef>
                <a:spcPts val="600"/>
              </a:spcBef>
              <a:spcAft>
                <a:spcPts val="0"/>
              </a:spcAft>
              <a:buSzPts val="900"/>
              <a:buNone/>
              <a:defRPr sz="900"/>
            </a:lvl4pPr>
            <a:lvl5pPr indent="-228600" lvl="4" marL="2286000" algn="l">
              <a:spcBef>
                <a:spcPts val="600"/>
              </a:spcBef>
              <a:spcAft>
                <a:spcPts val="0"/>
              </a:spcAft>
              <a:buSzPts val="900"/>
              <a:buNone/>
              <a:defRPr sz="900"/>
            </a:lvl5pPr>
            <a:lvl6pPr indent="-228600" lvl="5" marL="2743200" algn="l">
              <a:spcBef>
                <a:spcPts val="600"/>
              </a:spcBef>
              <a:spcAft>
                <a:spcPts val="0"/>
              </a:spcAft>
              <a:buSzPts val="900"/>
              <a:buNone/>
              <a:defRPr sz="900"/>
            </a:lvl6pPr>
            <a:lvl7pPr indent="-228600" lvl="6" marL="3200400" algn="l">
              <a:spcBef>
                <a:spcPts val="600"/>
              </a:spcBef>
              <a:spcAft>
                <a:spcPts val="0"/>
              </a:spcAft>
              <a:buSzPts val="900"/>
              <a:buNone/>
              <a:defRPr sz="900"/>
            </a:lvl7pPr>
            <a:lvl8pPr indent="-228600" lvl="7" marL="3657600" algn="l">
              <a:spcBef>
                <a:spcPts val="600"/>
              </a:spcBef>
              <a:spcAft>
                <a:spcPts val="0"/>
              </a:spcAft>
              <a:buSzPts val="900"/>
              <a:buNone/>
              <a:defRPr sz="900"/>
            </a:lvl8pPr>
            <a:lvl9pPr indent="-228600" lvl="8" marL="4114800" algn="l">
              <a:spcBef>
                <a:spcPts val="600"/>
              </a:spcBef>
              <a:spcAft>
                <a:spcPts val="0"/>
              </a:spcAft>
              <a:buSzPts val="900"/>
              <a:buNone/>
              <a:defRPr sz="900"/>
            </a:lvl9pPr>
          </a:lstStyle>
          <a:p/>
        </p:txBody>
      </p:sp>
      <p:sp>
        <p:nvSpPr>
          <p:cNvPr id="59" name="Google Shape;59;p8"/>
          <p:cNvSpPr txBox="1"/>
          <p:nvPr>
            <p:ph idx="3" type="body"/>
          </p:nvPr>
        </p:nvSpPr>
        <p:spPr>
          <a:xfrm>
            <a:off x="4900613" y="2011680"/>
            <a:ext cx="3886200" cy="3736848"/>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1600"/>
              <a:buNone/>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60" name="Google Shape;60;p8"/>
          <p:cNvSpPr txBox="1"/>
          <p:nvPr>
            <p:ph idx="4" type="body"/>
          </p:nvPr>
        </p:nvSpPr>
        <p:spPr>
          <a:xfrm>
            <a:off x="352426" y="2011680"/>
            <a:ext cx="3886200" cy="3736848"/>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1600"/>
              <a:buNone/>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61" name="Google Shape;61;p8"/>
          <p:cNvSpPr txBox="1"/>
          <p:nvPr>
            <p:ph type="title"/>
          </p:nvPr>
        </p:nvSpPr>
        <p:spPr>
          <a:xfrm>
            <a:off x="352426" y="228600"/>
            <a:ext cx="7680960" cy="1066800"/>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8"/>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64" name="Google Shape;64;p8"/>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67" name="Google Shape;67;p9"/>
          <p:cNvSpPr/>
          <p:nvPr/>
        </p:nvSpPr>
        <p:spPr>
          <a:xfrm>
            <a:off x="0" y="5734050"/>
            <a:ext cx="9144000" cy="1123950"/>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cxnSp>
        <p:nvCxnSpPr>
          <p:cNvPr id="68" name="Google Shape;68;p9"/>
          <p:cNvCxnSpPr/>
          <p:nvPr/>
        </p:nvCxnSpPr>
        <p:spPr>
          <a:xfrm>
            <a:off x="0" y="5695950"/>
            <a:ext cx="9144000" cy="1588"/>
          </a:xfrm>
          <a:prstGeom prst="straightConnector1">
            <a:avLst/>
          </a:prstGeom>
          <a:noFill/>
          <a:ln cap="flat" cmpd="sng" w="76200">
            <a:solidFill>
              <a:schemeClr val="lt1"/>
            </a:solidFill>
            <a:prstDash val="solid"/>
            <a:round/>
            <a:headEnd len="sm" w="sm" type="none"/>
            <a:tailEnd len="sm" w="sm" type="none"/>
          </a:ln>
        </p:spPr>
      </p:cxnSp>
      <p:sp>
        <p:nvSpPr>
          <p:cNvPr id="69" name="Google Shape;69;p9"/>
          <p:cNvSpPr txBox="1"/>
          <p:nvPr>
            <p:ph type="title"/>
          </p:nvPr>
        </p:nvSpPr>
        <p:spPr>
          <a:xfrm>
            <a:off x="352426" y="228600"/>
            <a:ext cx="7680960" cy="1066800"/>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
          <p:cNvSpPr txBox="1"/>
          <p:nvPr>
            <p:ph idx="1" type="body"/>
          </p:nvPr>
        </p:nvSpPr>
        <p:spPr>
          <a:xfrm>
            <a:off x="352426" y="1463040"/>
            <a:ext cx="3381375" cy="3967162"/>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200"/>
              </a:spcBef>
              <a:spcAft>
                <a:spcPts val="0"/>
              </a:spcAft>
              <a:buSzPts val="1600"/>
              <a:buNone/>
              <a:defRPr b="0" i="1" sz="1600">
                <a:solidFill>
                  <a:schemeClr val="lt2"/>
                </a:solidFill>
                <a:latin typeface="Corbel"/>
                <a:ea typeface="Corbel"/>
                <a:cs typeface="Corbel"/>
                <a:sym typeface="Corbel"/>
              </a:defRPr>
            </a:lvl1pPr>
            <a:lvl2pPr indent="-228600" lvl="1" marL="914400" algn="l">
              <a:spcBef>
                <a:spcPts val="600"/>
              </a:spcBef>
              <a:spcAft>
                <a:spcPts val="0"/>
              </a:spcAft>
              <a:buSzPts val="1200"/>
              <a:buNone/>
              <a:defRPr sz="1200"/>
            </a:lvl2pPr>
            <a:lvl3pPr indent="-228600" lvl="2" marL="1371600" algn="l">
              <a:spcBef>
                <a:spcPts val="600"/>
              </a:spcBef>
              <a:spcAft>
                <a:spcPts val="0"/>
              </a:spcAft>
              <a:buSzPts val="1000"/>
              <a:buNone/>
              <a:defRPr sz="1000"/>
            </a:lvl3pPr>
            <a:lvl4pPr indent="-228600" lvl="3" marL="1828800" algn="l">
              <a:spcBef>
                <a:spcPts val="600"/>
              </a:spcBef>
              <a:spcAft>
                <a:spcPts val="0"/>
              </a:spcAft>
              <a:buSzPts val="900"/>
              <a:buNone/>
              <a:defRPr sz="900"/>
            </a:lvl4pPr>
            <a:lvl5pPr indent="-228600" lvl="4" marL="2286000" algn="l">
              <a:spcBef>
                <a:spcPts val="600"/>
              </a:spcBef>
              <a:spcAft>
                <a:spcPts val="0"/>
              </a:spcAft>
              <a:buSzPts val="900"/>
              <a:buNone/>
              <a:defRPr sz="900"/>
            </a:lvl5pPr>
            <a:lvl6pPr indent="-228600" lvl="5" marL="2743200" algn="l">
              <a:spcBef>
                <a:spcPts val="600"/>
              </a:spcBef>
              <a:spcAft>
                <a:spcPts val="0"/>
              </a:spcAft>
              <a:buSzPts val="900"/>
              <a:buNone/>
              <a:defRPr sz="900"/>
            </a:lvl6pPr>
            <a:lvl7pPr indent="-228600" lvl="6" marL="3200400" algn="l">
              <a:spcBef>
                <a:spcPts val="600"/>
              </a:spcBef>
              <a:spcAft>
                <a:spcPts val="0"/>
              </a:spcAft>
              <a:buSzPts val="900"/>
              <a:buNone/>
              <a:defRPr sz="900"/>
            </a:lvl7pPr>
            <a:lvl8pPr indent="-228600" lvl="7" marL="3657600" algn="l">
              <a:spcBef>
                <a:spcPts val="600"/>
              </a:spcBef>
              <a:spcAft>
                <a:spcPts val="0"/>
              </a:spcAft>
              <a:buSzPts val="900"/>
              <a:buNone/>
              <a:defRPr sz="900"/>
            </a:lvl8pPr>
            <a:lvl9pPr indent="-228600" lvl="8" marL="4114800" algn="l">
              <a:spcBef>
                <a:spcPts val="600"/>
              </a:spcBef>
              <a:spcAft>
                <a:spcPts val="0"/>
              </a:spcAft>
              <a:buSzPts val="900"/>
              <a:buNone/>
              <a:defRPr sz="900"/>
            </a:lvl9pPr>
          </a:lstStyle>
          <a:p/>
        </p:txBody>
      </p:sp>
      <p:sp>
        <p:nvSpPr>
          <p:cNvPr id="71" name="Google Shape;71;p9"/>
          <p:cNvSpPr txBox="1"/>
          <p:nvPr>
            <p:ph idx="2" type="body"/>
          </p:nvPr>
        </p:nvSpPr>
        <p:spPr>
          <a:xfrm>
            <a:off x="4105275" y="1463040"/>
            <a:ext cx="4681538" cy="3968496"/>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1600"/>
              <a:buNone/>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72" name="Google Shape;72;p9"/>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9"/>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10"/>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77" name="Google Shape;77;p10"/>
          <p:cNvSpPr/>
          <p:nvPr>
            <p:ph idx="2" type="pic"/>
          </p:nvPr>
        </p:nvSpPr>
        <p:spPr>
          <a:xfrm>
            <a:off x="5229224" y="0"/>
            <a:ext cx="3914775" cy="5657850"/>
          </a:xfrm>
          <a:prstGeom prst="rect">
            <a:avLst/>
          </a:prstGeom>
          <a:noFill/>
          <a:ln>
            <a:noFill/>
          </a:ln>
        </p:spPr>
      </p:sp>
      <p:sp>
        <p:nvSpPr>
          <p:cNvPr id="78" name="Google Shape;78;p10"/>
          <p:cNvSpPr txBox="1"/>
          <p:nvPr>
            <p:ph idx="1" type="body"/>
          </p:nvPr>
        </p:nvSpPr>
        <p:spPr>
          <a:xfrm>
            <a:off x="352426" y="1600199"/>
            <a:ext cx="4572000" cy="3593237"/>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0"/>
              </a:spcBef>
              <a:spcAft>
                <a:spcPts val="0"/>
              </a:spcAft>
              <a:buSzPts val="1600"/>
              <a:buNone/>
              <a:defRPr i="1" sz="1600">
                <a:solidFill>
                  <a:schemeClr val="lt1"/>
                </a:solidFill>
              </a:defRPr>
            </a:lvl1pPr>
            <a:lvl2pPr indent="-228600" lvl="1" marL="914400" algn="l">
              <a:spcBef>
                <a:spcPts val="600"/>
              </a:spcBef>
              <a:spcAft>
                <a:spcPts val="0"/>
              </a:spcAft>
              <a:buSzPts val="1600"/>
              <a:buNone/>
              <a:defRPr>
                <a:solidFill>
                  <a:schemeClr val="dk2"/>
                </a:solidFill>
              </a:defRPr>
            </a:lvl2pPr>
            <a:lvl3pPr indent="-228600" lvl="2" marL="1371600" algn="l">
              <a:spcBef>
                <a:spcPts val="600"/>
              </a:spcBef>
              <a:spcAft>
                <a:spcPts val="0"/>
              </a:spcAft>
              <a:buSzPts val="1600"/>
              <a:buNone/>
              <a:defRPr>
                <a:solidFill>
                  <a:schemeClr val="dk2"/>
                </a:solidFill>
              </a:defRPr>
            </a:lvl3pPr>
            <a:lvl4pPr indent="-228600" lvl="3" marL="1828800" algn="l">
              <a:spcBef>
                <a:spcPts val="600"/>
              </a:spcBef>
              <a:spcAft>
                <a:spcPts val="0"/>
              </a:spcAft>
              <a:buSzPts val="1600"/>
              <a:buNone/>
              <a:defRPr>
                <a:solidFill>
                  <a:schemeClr val="dk2"/>
                </a:solidFill>
              </a:defRPr>
            </a:lvl4pPr>
            <a:lvl5pPr indent="-228600" lvl="4" marL="2286000" algn="l">
              <a:spcBef>
                <a:spcPts val="600"/>
              </a:spcBef>
              <a:spcAft>
                <a:spcPts val="0"/>
              </a:spcAft>
              <a:buSzPts val="1600"/>
              <a:buNone/>
              <a:defRPr>
                <a:solidFill>
                  <a:schemeClr val="dk2"/>
                </a:solidFill>
              </a:defRPr>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79" name="Google Shape;79;p10"/>
          <p:cNvSpPr/>
          <p:nvPr/>
        </p:nvSpPr>
        <p:spPr>
          <a:xfrm>
            <a:off x="0" y="5734050"/>
            <a:ext cx="9144000" cy="1123950"/>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cxnSp>
        <p:nvCxnSpPr>
          <p:cNvPr id="80" name="Google Shape;80;p10"/>
          <p:cNvCxnSpPr/>
          <p:nvPr/>
        </p:nvCxnSpPr>
        <p:spPr>
          <a:xfrm>
            <a:off x="0" y="5695950"/>
            <a:ext cx="9144000" cy="1588"/>
          </a:xfrm>
          <a:prstGeom prst="straightConnector1">
            <a:avLst/>
          </a:prstGeom>
          <a:noFill/>
          <a:ln cap="flat" cmpd="sng" w="76200">
            <a:solidFill>
              <a:schemeClr val="lt1"/>
            </a:solidFill>
            <a:prstDash val="solid"/>
            <a:round/>
            <a:headEnd len="sm" w="sm" type="none"/>
            <a:tailEnd len="sm" w="sm" type="none"/>
          </a:ln>
        </p:spPr>
      </p:cxnSp>
      <p:sp>
        <p:nvSpPr>
          <p:cNvPr id="81" name="Google Shape;81;p10"/>
          <p:cNvSpPr txBox="1"/>
          <p:nvPr>
            <p:ph type="title"/>
          </p:nvPr>
        </p:nvSpPr>
        <p:spPr>
          <a:xfrm>
            <a:off x="352425" y="275208"/>
            <a:ext cx="4572000" cy="1324992"/>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0"/>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84" name="Google Shape;84;p10"/>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11"/>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87" name="Google Shape;87;p11"/>
          <p:cNvSpPr txBox="1"/>
          <p:nvPr>
            <p:ph type="title"/>
          </p:nvPr>
        </p:nvSpPr>
        <p:spPr>
          <a:xfrm>
            <a:off x="352426" y="228600"/>
            <a:ext cx="7680960" cy="1066800"/>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1"/>
          <p:cNvSpPr txBox="1"/>
          <p:nvPr>
            <p:ph idx="1" type="body"/>
          </p:nvPr>
        </p:nvSpPr>
        <p:spPr>
          <a:xfrm rot="5400000">
            <a:off x="2021206" y="-205740"/>
            <a:ext cx="4343400" cy="7680960"/>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1800"/>
              <a:buNone/>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89" name="Google Shape;89;p11"/>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12"/>
          <p:cNvSpPr/>
          <p:nvPr/>
        </p:nvSpPr>
        <p:spPr>
          <a:xfrm>
            <a:off x="0" y="0"/>
            <a:ext cx="9144000" cy="6858000"/>
          </a:xfrm>
          <a:prstGeom prst="rect">
            <a:avLst/>
          </a:prstGeom>
          <a:solidFill>
            <a:schemeClr val="dk1">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94" name="Google Shape;94;p12"/>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40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228600" lvl="0" marL="457200" algn="l">
              <a:spcBef>
                <a:spcPts val="1200"/>
              </a:spcBef>
              <a:spcAft>
                <a:spcPts val="0"/>
              </a:spcAft>
              <a:buSzPts val="1800"/>
              <a:buNone/>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600"/>
              </a:spcBef>
              <a:spcAft>
                <a:spcPts val="0"/>
              </a:spcAft>
              <a:buSzPts val="1800"/>
              <a:buChar char="•"/>
              <a:defRPr/>
            </a:lvl7pPr>
            <a:lvl8pPr indent="-342900" lvl="7" marL="3657600" algn="l">
              <a:spcBef>
                <a:spcPts val="600"/>
              </a:spcBef>
              <a:spcAft>
                <a:spcPts val="0"/>
              </a:spcAft>
              <a:buSzPts val="1800"/>
              <a:buChar char="•"/>
              <a:defRPr/>
            </a:lvl8pPr>
            <a:lvl9pPr indent="-342900" lvl="8" marL="4114800" algn="l">
              <a:spcBef>
                <a:spcPts val="600"/>
              </a:spcBef>
              <a:spcAft>
                <a:spcPts val="0"/>
              </a:spcAft>
              <a:buSzPts val="1800"/>
              <a:buChar char="•"/>
              <a:defRPr/>
            </a:lvl9pPr>
          </a:lstStyle>
          <a:p/>
        </p:txBody>
      </p:sp>
      <p:sp>
        <p:nvSpPr>
          <p:cNvPr id="96" name="Google Shape;96;p12"/>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2"/>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52426" y="228600"/>
            <a:ext cx="7680960" cy="1066800"/>
          </a:xfrm>
          <a:prstGeom prst="rect">
            <a:avLst/>
          </a:prstGeom>
          <a:noFill/>
          <a:ln>
            <a:noFill/>
          </a:ln>
        </p:spPr>
        <p:txBody>
          <a:bodyPr anchorCtr="0" anchor="b" bIns="45700" lIns="91425" spcFirstLastPara="1" rIns="91425" wrap="square" tIns="45700">
            <a:normAutofit/>
          </a:bodyPr>
          <a:lstStyle>
            <a:lvl1pPr lvl="0" marR="0" rtl="0" algn="l">
              <a:spcBef>
                <a:spcPts val="400"/>
              </a:spcBef>
              <a:spcAft>
                <a:spcPts val="0"/>
              </a:spcAft>
              <a:buClr>
                <a:schemeClr val="lt1"/>
              </a:buClr>
              <a:buSzPts val="4000"/>
              <a:buFont typeface="Corbel"/>
              <a:buNone/>
              <a:defRPr b="0" i="0" sz="40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352426" y="1463040"/>
            <a:ext cx="7680960" cy="43434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200"/>
              </a:spcBef>
              <a:spcAft>
                <a:spcPts val="0"/>
              </a:spcAft>
              <a:buClr>
                <a:schemeClr val="accent5"/>
              </a:buClr>
              <a:buSzPts val="1800"/>
              <a:buFont typeface="Arial"/>
              <a:buNone/>
              <a:defRPr b="0" i="0" sz="1800" u="none" cap="none" strike="noStrike">
                <a:solidFill>
                  <a:schemeClr val="lt1"/>
                </a:solidFill>
                <a:latin typeface="Corbel"/>
                <a:ea typeface="Corbel"/>
                <a:cs typeface="Corbel"/>
                <a:sym typeface="Corbel"/>
              </a:defRPr>
            </a:lvl1pPr>
            <a:lvl2pPr indent="-330200" lvl="1" marL="9144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2pPr>
            <a:lvl3pPr indent="-330200" lvl="2" marL="13716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3pPr>
            <a:lvl4pPr indent="-330200" lvl="3" marL="18288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4pPr>
            <a:lvl5pPr indent="-330200" lvl="4" marL="22860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5pPr>
            <a:lvl6pPr indent="-330200" lvl="5" marL="27432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6pPr>
            <a:lvl7pPr indent="-330200" lvl="6" marL="32004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7pPr>
            <a:lvl8pPr indent="-330200" lvl="7" marL="36576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8pPr>
            <a:lvl9pPr indent="-330200" lvl="8" marL="4114800" marR="0" rtl="0" algn="l">
              <a:spcBef>
                <a:spcPts val="600"/>
              </a:spcBef>
              <a:spcAft>
                <a:spcPts val="0"/>
              </a:spcAft>
              <a:buClr>
                <a:schemeClr val="accent1"/>
              </a:buClr>
              <a:buSzPts val="1600"/>
              <a:buFont typeface="Arial"/>
              <a:buChar char="•"/>
              <a:defRPr b="0" i="0" sz="1600" u="none" cap="none" strike="noStrike">
                <a:solidFill>
                  <a:schemeClr val="lt1"/>
                </a:solidFill>
                <a:latin typeface="Corbel"/>
                <a:ea typeface="Corbel"/>
                <a:cs typeface="Corbel"/>
                <a:sym typeface="Corbel"/>
              </a:defRPr>
            </a:lvl9pPr>
          </a:lstStyle>
          <a:p/>
        </p:txBody>
      </p:sp>
      <p:sp>
        <p:nvSpPr>
          <p:cNvPr id="12" name="Google Shape;12;p1"/>
          <p:cNvSpPr txBox="1"/>
          <p:nvPr>
            <p:ph idx="10" type="dt"/>
          </p:nvPr>
        </p:nvSpPr>
        <p:spPr>
          <a:xfrm>
            <a:off x="352426" y="6543676"/>
            <a:ext cx="1466850" cy="2476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1" i="0" sz="1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3" name="Google Shape;13;p1"/>
          <p:cNvSpPr txBox="1"/>
          <p:nvPr>
            <p:ph idx="11" type="ftr"/>
          </p:nvPr>
        </p:nvSpPr>
        <p:spPr>
          <a:xfrm>
            <a:off x="1809749" y="6543676"/>
            <a:ext cx="4086225" cy="2476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1" i="1" sz="1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 name="Google Shape;14;p1"/>
          <p:cNvSpPr txBox="1"/>
          <p:nvPr>
            <p:ph idx="12" type="sldNum"/>
          </p:nvPr>
        </p:nvSpPr>
        <p:spPr>
          <a:xfrm>
            <a:off x="7886700" y="6543676"/>
            <a:ext cx="876300" cy="247650"/>
          </a:xfrm>
          <a:prstGeom prst="rect">
            <a:avLst/>
          </a:prstGeom>
          <a:noFill/>
          <a:ln>
            <a:noFill/>
          </a:ln>
        </p:spPr>
        <p:txBody>
          <a:bodyPr anchorCtr="0" anchor="ctr" bIns="45700" lIns="91425" spcFirstLastPara="1" rIns="91425" wrap="square" tIns="45700">
            <a:normAutofit/>
          </a:bodyPr>
          <a:lstStyle>
            <a:lvl1pPr indent="0" lvl="0" marL="0" marR="0" rtl="0" algn="r">
              <a:spcBef>
                <a:spcPts val="0"/>
              </a:spcBef>
              <a:buNone/>
              <a:defRPr b="1" i="0" sz="1000" u="none" cap="none" strike="noStrike">
                <a:solidFill>
                  <a:schemeClr val="lt1"/>
                </a:solidFill>
                <a:latin typeface="Corbel"/>
                <a:ea typeface="Corbel"/>
                <a:cs typeface="Corbel"/>
                <a:sym typeface="Corbel"/>
              </a:defRPr>
            </a:lvl1pPr>
            <a:lvl2pPr indent="0" lvl="1" marL="0" marR="0" rtl="0" algn="r">
              <a:spcBef>
                <a:spcPts val="0"/>
              </a:spcBef>
              <a:buNone/>
              <a:defRPr b="1" i="0" sz="1000" u="none" cap="none" strike="noStrike">
                <a:solidFill>
                  <a:schemeClr val="lt1"/>
                </a:solidFill>
                <a:latin typeface="Corbel"/>
                <a:ea typeface="Corbel"/>
                <a:cs typeface="Corbel"/>
                <a:sym typeface="Corbel"/>
              </a:defRPr>
            </a:lvl2pPr>
            <a:lvl3pPr indent="0" lvl="2" marL="0" marR="0" rtl="0" algn="r">
              <a:spcBef>
                <a:spcPts val="0"/>
              </a:spcBef>
              <a:buNone/>
              <a:defRPr b="1" i="0" sz="1000" u="none" cap="none" strike="noStrike">
                <a:solidFill>
                  <a:schemeClr val="lt1"/>
                </a:solidFill>
                <a:latin typeface="Corbel"/>
                <a:ea typeface="Corbel"/>
                <a:cs typeface="Corbel"/>
                <a:sym typeface="Corbel"/>
              </a:defRPr>
            </a:lvl3pPr>
            <a:lvl4pPr indent="0" lvl="3" marL="0" marR="0" rtl="0" algn="r">
              <a:spcBef>
                <a:spcPts val="0"/>
              </a:spcBef>
              <a:buNone/>
              <a:defRPr b="1" i="0" sz="1000" u="none" cap="none" strike="noStrike">
                <a:solidFill>
                  <a:schemeClr val="lt1"/>
                </a:solidFill>
                <a:latin typeface="Corbel"/>
                <a:ea typeface="Corbel"/>
                <a:cs typeface="Corbel"/>
                <a:sym typeface="Corbel"/>
              </a:defRPr>
            </a:lvl4pPr>
            <a:lvl5pPr indent="0" lvl="4" marL="0" marR="0" rtl="0" algn="r">
              <a:spcBef>
                <a:spcPts val="0"/>
              </a:spcBef>
              <a:buNone/>
              <a:defRPr b="1" i="0" sz="1000" u="none" cap="none" strike="noStrike">
                <a:solidFill>
                  <a:schemeClr val="lt1"/>
                </a:solidFill>
                <a:latin typeface="Corbel"/>
                <a:ea typeface="Corbel"/>
                <a:cs typeface="Corbel"/>
                <a:sym typeface="Corbel"/>
              </a:defRPr>
            </a:lvl5pPr>
            <a:lvl6pPr indent="0" lvl="5" marL="0" marR="0" rtl="0" algn="r">
              <a:spcBef>
                <a:spcPts val="0"/>
              </a:spcBef>
              <a:buNone/>
              <a:defRPr b="1" i="0" sz="1000" u="none" cap="none" strike="noStrike">
                <a:solidFill>
                  <a:schemeClr val="lt1"/>
                </a:solidFill>
                <a:latin typeface="Corbel"/>
                <a:ea typeface="Corbel"/>
                <a:cs typeface="Corbel"/>
                <a:sym typeface="Corbel"/>
              </a:defRPr>
            </a:lvl6pPr>
            <a:lvl7pPr indent="0" lvl="6" marL="0" marR="0" rtl="0" algn="r">
              <a:spcBef>
                <a:spcPts val="0"/>
              </a:spcBef>
              <a:buNone/>
              <a:defRPr b="1" i="0" sz="1000" u="none" cap="none" strike="noStrike">
                <a:solidFill>
                  <a:schemeClr val="lt1"/>
                </a:solidFill>
                <a:latin typeface="Corbel"/>
                <a:ea typeface="Corbel"/>
                <a:cs typeface="Corbel"/>
                <a:sym typeface="Corbel"/>
              </a:defRPr>
            </a:lvl7pPr>
            <a:lvl8pPr indent="0" lvl="7" marL="0" marR="0" rtl="0" algn="r">
              <a:spcBef>
                <a:spcPts val="0"/>
              </a:spcBef>
              <a:buNone/>
              <a:defRPr b="1" i="0" sz="1000" u="none" cap="none" strike="noStrike">
                <a:solidFill>
                  <a:schemeClr val="lt1"/>
                </a:solidFill>
                <a:latin typeface="Corbel"/>
                <a:ea typeface="Corbel"/>
                <a:cs typeface="Corbel"/>
                <a:sym typeface="Corbel"/>
              </a:defRPr>
            </a:lvl8pPr>
            <a:lvl9pPr indent="0" lvl="8" marL="0" marR="0" rtl="0" algn="r">
              <a:spcBef>
                <a:spcPts val="0"/>
              </a:spcBef>
              <a:buNone/>
              <a:defRPr b="1" i="0" sz="1000" u="none" cap="none" strike="noStrik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2.jpg"/><Relationship Id="rId5"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1.jpg"/><Relationship Id="rId4" Type="http://schemas.openxmlformats.org/officeDocument/2006/relationships/image" Target="../media/image16.jp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s://www.youtube.com/watch?v=QI9ta7qkazU" TargetMode="Externa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descr="EM_Spectrum-Graphic_new_550" id="103" name="Google Shape;103;p13"/>
          <p:cNvPicPr preferRelativeResize="0"/>
          <p:nvPr/>
        </p:nvPicPr>
        <p:blipFill rotWithShape="1">
          <a:blip r:embed="rId3">
            <a:alphaModFix/>
          </a:blip>
          <a:srcRect b="0" l="0" r="0" t="0"/>
          <a:stretch/>
        </p:blipFill>
        <p:spPr>
          <a:xfrm>
            <a:off x="4289425" y="3134800"/>
            <a:ext cx="4744950" cy="3558725"/>
          </a:xfrm>
          <a:prstGeom prst="rect">
            <a:avLst/>
          </a:prstGeom>
          <a:noFill/>
          <a:ln>
            <a:noFill/>
          </a:ln>
        </p:spPr>
      </p:pic>
      <p:sp>
        <p:nvSpPr>
          <p:cNvPr id="104" name="Google Shape;104;p13"/>
          <p:cNvSpPr txBox="1"/>
          <p:nvPr>
            <p:ph idx="2" type="body"/>
          </p:nvPr>
        </p:nvSpPr>
        <p:spPr>
          <a:xfrm>
            <a:off x="1695525" y="1153450"/>
            <a:ext cx="6642900" cy="21351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2000"/>
              <a:buFont typeface="Corbel"/>
              <a:buChar char="●"/>
            </a:pPr>
            <a:r>
              <a:rPr lang="en-GB" sz="2000"/>
              <a:t>They transfer energy from one place to another.</a:t>
            </a:r>
            <a:endParaRPr sz="2000"/>
          </a:p>
          <a:p>
            <a:pPr indent="-342900" lvl="0" marL="342900" rtl="0" algn="l">
              <a:lnSpc>
                <a:spcPct val="90000"/>
              </a:lnSpc>
              <a:spcBef>
                <a:spcPts val="1200"/>
              </a:spcBef>
              <a:spcAft>
                <a:spcPts val="0"/>
              </a:spcAft>
              <a:buSzPts val="2000"/>
              <a:buFont typeface="Corbel"/>
              <a:buChar char="●"/>
            </a:pPr>
            <a:r>
              <a:rPr lang="en-GB" sz="2000"/>
              <a:t>They are all transverse waves.</a:t>
            </a:r>
            <a:endParaRPr sz="2000"/>
          </a:p>
          <a:p>
            <a:pPr indent="-342900" lvl="0" marL="342900" rtl="0" algn="l">
              <a:lnSpc>
                <a:spcPct val="90000"/>
              </a:lnSpc>
              <a:spcBef>
                <a:spcPts val="1200"/>
              </a:spcBef>
              <a:spcAft>
                <a:spcPts val="0"/>
              </a:spcAft>
              <a:buSzPts val="2000"/>
              <a:buFont typeface="Corbel"/>
              <a:buChar char="●"/>
            </a:pPr>
            <a:r>
              <a:rPr lang="en-GB" sz="2000"/>
              <a:t>They can all travel in a straight line and can be reflected.</a:t>
            </a:r>
            <a:endParaRPr sz="2000"/>
          </a:p>
          <a:p>
            <a:pPr indent="-342900" lvl="0" marL="342900" rtl="0" algn="l">
              <a:lnSpc>
                <a:spcPct val="90000"/>
              </a:lnSpc>
              <a:spcBef>
                <a:spcPts val="1200"/>
              </a:spcBef>
              <a:spcAft>
                <a:spcPts val="0"/>
              </a:spcAft>
              <a:buSzPts val="2000"/>
              <a:buFont typeface="Corbel"/>
              <a:buChar char="●"/>
            </a:pPr>
            <a:r>
              <a:rPr lang="en-GB" sz="2000"/>
              <a:t>They can all travel through a vacuum.</a:t>
            </a:r>
            <a:endParaRPr sz="2000"/>
          </a:p>
          <a:p>
            <a:pPr indent="0" lvl="0" marL="0" rtl="0" algn="l">
              <a:lnSpc>
                <a:spcPct val="90000"/>
              </a:lnSpc>
              <a:spcBef>
                <a:spcPts val="1200"/>
              </a:spcBef>
              <a:spcAft>
                <a:spcPts val="0"/>
              </a:spcAft>
              <a:buSzPts val="1600"/>
              <a:buNone/>
            </a:pPr>
            <a:r>
              <a:t/>
            </a:r>
            <a:endParaRPr/>
          </a:p>
        </p:txBody>
      </p:sp>
      <p:sp>
        <p:nvSpPr>
          <p:cNvPr id="105" name="Google Shape;105;p13"/>
          <p:cNvSpPr txBox="1"/>
          <p:nvPr>
            <p:ph type="title"/>
          </p:nvPr>
        </p:nvSpPr>
        <p:spPr>
          <a:xfrm>
            <a:off x="352425" y="228600"/>
            <a:ext cx="8631300" cy="7203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Font typeface="Corbel"/>
              <a:buNone/>
            </a:pPr>
            <a:r>
              <a:rPr lang="en-GB" sz="3600"/>
              <a:t>All EM waves share the following properties:</a:t>
            </a:r>
            <a:endParaRPr sz="3600"/>
          </a:p>
        </p:txBody>
      </p:sp>
      <p:sp>
        <p:nvSpPr>
          <p:cNvPr id="106" name="Google Shape;106;p13"/>
          <p:cNvSpPr txBox="1"/>
          <p:nvPr/>
        </p:nvSpPr>
        <p:spPr>
          <a:xfrm>
            <a:off x="174450" y="3429000"/>
            <a:ext cx="3925200" cy="2679300"/>
          </a:xfrm>
          <a:prstGeom prst="rect">
            <a:avLst/>
          </a:prstGeom>
          <a:noFill/>
          <a:ln>
            <a:noFill/>
          </a:ln>
        </p:spPr>
        <p:txBody>
          <a:bodyPr anchorCtr="0" anchor="t" bIns="91425" lIns="91425" spcFirstLastPara="1" rIns="91425" wrap="square" tIns="91425">
            <a:noAutofit/>
          </a:bodyPr>
          <a:lstStyle/>
          <a:p>
            <a:pPr indent="-342900" lvl="0" marL="342900" rtl="0" algn="l">
              <a:lnSpc>
                <a:spcPct val="90000"/>
              </a:lnSpc>
              <a:spcBef>
                <a:spcPts val="1200"/>
              </a:spcBef>
              <a:spcAft>
                <a:spcPts val="0"/>
              </a:spcAft>
              <a:buClr>
                <a:schemeClr val="accent5"/>
              </a:buClr>
              <a:buSzPts val="2000"/>
              <a:buFont typeface="Corbel"/>
              <a:buChar char="●"/>
            </a:pPr>
            <a:r>
              <a:rPr lang="en-GB" sz="2000">
                <a:solidFill>
                  <a:schemeClr val="lt1"/>
                </a:solidFill>
                <a:latin typeface="Corbel"/>
                <a:ea typeface="Corbel"/>
                <a:cs typeface="Corbel"/>
                <a:sym typeface="Corbel"/>
              </a:rPr>
              <a:t>They all travel at the speed of light in vacuum.  (300 000 000 ms</a:t>
            </a:r>
            <a:r>
              <a:rPr baseline="30000" lang="en-GB" sz="2000">
                <a:solidFill>
                  <a:schemeClr val="lt1"/>
                </a:solidFill>
                <a:latin typeface="Corbel"/>
                <a:ea typeface="Corbel"/>
                <a:cs typeface="Corbel"/>
                <a:sym typeface="Corbel"/>
              </a:rPr>
              <a:t>-1</a:t>
            </a:r>
            <a:r>
              <a:rPr lang="en-GB" sz="2000">
                <a:solidFill>
                  <a:schemeClr val="lt1"/>
                </a:solidFill>
                <a:latin typeface="Corbel"/>
                <a:ea typeface="Corbel"/>
                <a:cs typeface="Corbel"/>
                <a:sym typeface="Corbel"/>
              </a:rPr>
              <a:t> ) (NOTE Speed of sound = 340m/s.</a:t>
            </a:r>
            <a:endParaRPr sz="2000">
              <a:solidFill>
                <a:schemeClr val="lt1"/>
              </a:solidFill>
              <a:latin typeface="Corbel"/>
              <a:ea typeface="Corbel"/>
              <a:cs typeface="Corbel"/>
              <a:sym typeface="Corbel"/>
            </a:endParaRPr>
          </a:p>
          <a:p>
            <a:pPr indent="-342900" lvl="0" marL="342900" rtl="0" algn="l">
              <a:lnSpc>
                <a:spcPct val="90000"/>
              </a:lnSpc>
              <a:spcBef>
                <a:spcPts val="1200"/>
              </a:spcBef>
              <a:spcAft>
                <a:spcPts val="0"/>
              </a:spcAft>
              <a:buClr>
                <a:schemeClr val="accent5"/>
              </a:buClr>
              <a:buSzPts val="2000"/>
              <a:buFont typeface="Corbel"/>
              <a:buChar char="●"/>
            </a:pPr>
            <a:r>
              <a:rPr lang="en-GB" sz="2000">
                <a:solidFill>
                  <a:schemeClr val="lt1"/>
                </a:solidFill>
                <a:latin typeface="Corbel"/>
                <a:ea typeface="Corbel"/>
                <a:cs typeface="Corbel"/>
                <a:sym typeface="Corbel"/>
              </a:rPr>
              <a:t>They all obey the wave equation (v = f × λ).</a:t>
            </a:r>
            <a:endParaRPr sz="2000">
              <a:solidFill>
                <a:schemeClr val="lt1"/>
              </a:solidFill>
              <a:latin typeface="Corbel"/>
              <a:ea typeface="Corbel"/>
              <a:cs typeface="Corbel"/>
              <a:sym typeface="Corbel"/>
            </a:endParaRPr>
          </a:p>
          <a:p>
            <a:pPr indent="-342900" lvl="0" marL="342900" rtl="0" algn="l">
              <a:lnSpc>
                <a:spcPct val="90000"/>
              </a:lnSpc>
              <a:spcBef>
                <a:spcPts val="1200"/>
              </a:spcBef>
              <a:spcAft>
                <a:spcPts val="0"/>
              </a:spcAft>
              <a:buClr>
                <a:schemeClr val="accent5"/>
              </a:buClr>
              <a:buSzPts val="2000"/>
              <a:buFont typeface="Corbel"/>
              <a:buChar char="●"/>
            </a:pPr>
            <a:r>
              <a:rPr lang="en-GB" sz="2000">
                <a:solidFill>
                  <a:schemeClr val="lt1"/>
                </a:solidFill>
                <a:latin typeface="Corbel"/>
                <a:ea typeface="Corbel"/>
                <a:cs typeface="Corbel"/>
                <a:sym typeface="Corbel"/>
              </a:rPr>
              <a:t>The shorter the wavelength, the more dangerous they are.</a:t>
            </a:r>
            <a:endParaRPr sz="2000">
              <a:solidFill>
                <a:schemeClr val="lt1"/>
              </a:solidFill>
              <a:latin typeface="Corbel"/>
              <a:ea typeface="Corbel"/>
              <a:cs typeface="Corbel"/>
              <a:sym typeface="Corbel"/>
            </a:endParaRPr>
          </a:p>
          <a:p>
            <a:pPr indent="0" lvl="0" marL="0" rtl="0" algn="l">
              <a:lnSpc>
                <a:spcPct val="90000"/>
              </a:lnSpc>
              <a:spcBef>
                <a:spcPts val="1200"/>
              </a:spcBef>
              <a:spcAft>
                <a:spcPts val="0"/>
              </a:spcAft>
              <a:buClr>
                <a:schemeClr val="dk1"/>
              </a:buClr>
              <a:buSzPts val="1600"/>
              <a:buFont typeface="Arial"/>
              <a:buNone/>
            </a:pPr>
            <a:r>
              <a:t/>
            </a:r>
            <a:endParaRPr sz="1600">
              <a:solidFill>
                <a:schemeClr val="lt1"/>
              </a:solidFill>
              <a:latin typeface="Corbel"/>
              <a:ea typeface="Corbel"/>
              <a:cs typeface="Corbel"/>
              <a:sym typeface="Corbel"/>
            </a:endParaRPr>
          </a:p>
          <a:p>
            <a:pPr indent="0" lvl="0" marL="0" rtl="0" algn="l">
              <a:spcBef>
                <a:spcPts val="0"/>
              </a:spcBef>
              <a:spcAft>
                <a:spcPts val="0"/>
              </a:spcAft>
              <a:buNone/>
            </a:pPr>
            <a:r>
              <a:t/>
            </a:r>
            <a:endParaRPr sz="1800">
              <a:solidFill>
                <a:schemeClr val="lt1"/>
              </a:solidFill>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4"/>
          <p:cNvSpPr txBox="1"/>
          <p:nvPr>
            <p:ph idx="1" type="subTitle"/>
          </p:nvPr>
        </p:nvSpPr>
        <p:spPr>
          <a:xfrm>
            <a:off x="457200" y="5105400"/>
            <a:ext cx="4572000" cy="136879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00"/>
              <a:buNone/>
            </a:pPr>
            <a:r>
              <a:rPr lang="en-GB"/>
              <a:t>Year 9</a:t>
            </a:r>
            <a:endParaRPr/>
          </a:p>
        </p:txBody>
      </p:sp>
      <p:sp>
        <p:nvSpPr>
          <p:cNvPr id="112" name="Google Shape;112;p14"/>
          <p:cNvSpPr txBox="1"/>
          <p:nvPr>
            <p:ph type="title"/>
          </p:nvPr>
        </p:nvSpPr>
        <p:spPr>
          <a:xfrm>
            <a:off x="352426" y="457200"/>
            <a:ext cx="7680960" cy="2438399"/>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6000"/>
              <a:buFont typeface="Corbel"/>
              <a:buNone/>
            </a:pPr>
            <a:r>
              <a:rPr lang="en-GB"/>
              <a:t>VISIBLE LIGHT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idx="1" type="subTitle"/>
          </p:nvPr>
        </p:nvSpPr>
        <p:spPr>
          <a:xfrm>
            <a:off x="352426" y="4003302"/>
            <a:ext cx="4572000" cy="117829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00"/>
              <a:buNone/>
            </a:pPr>
            <a:r>
              <a:rPr lang="en-GB"/>
              <a:t>Decide whether the following statements are true (stand up) or false (sit down).</a:t>
            </a:r>
            <a:endParaRPr/>
          </a:p>
          <a:p>
            <a:pPr indent="0" lvl="0" marL="0" rtl="0" algn="l">
              <a:spcBef>
                <a:spcPts val="1200"/>
              </a:spcBef>
              <a:spcAft>
                <a:spcPts val="0"/>
              </a:spcAft>
              <a:buSzPts val="2000"/>
              <a:buNone/>
            </a:pPr>
            <a:r>
              <a:t/>
            </a:r>
            <a:endParaRPr/>
          </a:p>
          <a:p>
            <a:pPr indent="0" lvl="0" marL="0" rtl="0" algn="l">
              <a:spcBef>
                <a:spcPts val="1200"/>
              </a:spcBef>
              <a:spcAft>
                <a:spcPts val="0"/>
              </a:spcAft>
              <a:buSzPts val="2000"/>
              <a:buNone/>
            </a:pPr>
            <a:r>
              <a:t/>
            </a:r>
            <a:endParaRPr/>
          </a:p>
        </p:txBody>
      </p:sp>
      <p:sp>
        <p:nvSpPr>
          <p:cNvPr id="118" name="Google Shape;118;p15"/>
          <p:cNvSpPr txBox="1"/>
          <p:nvPr>
            <p:ph type="title"/>
          </p:nvPr>
        </p:nvSpPr>
        <p:spPr>
          <a:xfrm>
            <a:off x="354366" y="1990078"/>
            <a:ext cx="8439912" cy="198424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6000"/>
              <a:buFont typeface="Corbel"/>
              <a:buNone/>
            </a:pPr>
            <a:r>
              <a:rPr lang="en-GB"/>
              <a:t>What do you already know?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lang="en-GB"/>
              <a:t>Light from the Sun can travel further than light from a candle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FF0000"/>
                </a:solidFill>
              </a:rPr>
              <a:t>False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Light always keeps travelling until it hits something else. Light from a candle can travel just as far as light from the Sun.</a:t>
            </a:r>
            <a:endParaRPr>
              <a:solidFill>
                <a:srgbClr val="92D050"/>
              </a:solidFill>
            </a:endParaRPr>
          </a:p>
        </p:txBody>
      </p:sp>
      <p:sp>
        <p:nvSpPr>
          <p:cNvPr id="124" name="Google Shape;124;p16"/>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29032"/>
              <a:buFont typeface="Corbel"/>
              <a:buNone/>
            </a:pPr>
            <a:r>
              <a:rPr lang="en-GB"/>
              <a:t>True or False </a:t>
            </a:r>
            <a:br>
              <a:rPr lang="en-GB"/>
            </a:br>
            <a:r>
              <a:rPr lang="en-GB" sz="3100">
                <a:solidFill>
                  <a:srgbClr val="FFFF00"/>
                </a:solidFill>
              </a:rPr>
              <a:t>(stand up for ‘True’ and sit down for ‘False’)</a:t>
            </a:r>
            <a:endParaRPr sz="3100">
              <a:solidFill>
                <a:srgbClr val="FFFF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Effect filter="fade" transition="in">
                                      <p:cBhvr>
                                        <p:cTn dur="500"/>
                                        <p:tgtEl>
                                          <p:spTgt spid="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animEffect filter="fade" transition="in">
                                      <p:cBhvr>
                                        <p:cTn dur="500"/>
                                        <p:tgtEl>
                                          <p:spTgt spid="1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animEffect filter="fade" transition="in">
                                      <p:cBhvr>
                                        <p:cTn dur="500"/>
                                        <p:tgtEl>
                                          <p:spTgt spid="1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animEffect filter="fade" transition="in">
                                      <p:cBhvr>
                                        <p:cTn dur="500"/>
                                        <p:tgtEl>
                                          <p:spTgt spid="1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animEffect filter="fade" transition="in">
                                      <p:cBhvr>
                                        <p:cTn dur="500"/>
                                        <p:tgtEl>
                                          <p:spTgt spid="1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t/>
            </a:r>
            <a:endParaRPr/>
          </a:p>
          <a:p>
            <a:pPr indent="0" lvl="0" marL="0" rtl="0" algn="l">
              <a:spcBef>
                <a:spcPts val="1200"/>
              </a:spcBef>
              <a:spcAft>
                <a:spcPts val="0"/>
              </a:spcAft>
              <a:buSzPts val="2800"/>
              <a:buNone/>
            </a:pPr>
            <a:r>
              <a:rPr b="1" lang="en-GB">
                <a:solidFill>
                  <a:srgbClr val="00B0F0"/>
                </a:solidFill>
              </a:rPr>
              <a:t>True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People, cats and most other animals can only see things that are producing light or that have light reflecting off them.</a:t>
            </a:r>
            <a:endParaRPr>
              <a:solidFill>
                <a:srgbClr val="92D050"/>
              </a:solidFill>
            </a:endParaRPr>
          </a:p>
        </p:txBody>
      </p:sp>
      <p:sp>
        <p:nvSpPr>
          <p:cNvPr id="130" name="Google Shape;130;p17"/>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orbel"/>
              <a:buNone/>
            </a:pPr>
            <a:r>
              <a:rPr lang="en-GB"/>
              <a:t>Cats can’t see anything at all in a totally darkened room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t/>
            </a:r>
            <a:endParaRPr/>
          </a:p>
          <a:p>
            <a:pPr indent="0" lvl="0" marL="0" rtl="0" algn="l">
              <a:spcBef>
                <a:spcPts val="1200"/>
              </a:spcBef>
              <a:spcAft>
                <a:spcPts val="0"/>
              </a:spcAft>
              <a:buSzPts val="2800"/>
              <a:buNone/>
            </a:pPr>
            <a:r>
              <a:rPr b="1" lang="en-GB">
                <a:solidFill>
                  <a:srgbClr val="FF0000"/>
                </a:solidFill>
              </a:rPr>
              <a:t>False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We see objects because light travels from the object towards our eyes. It enters our eyes and forms an image on the retina at the back of our eyes.</a:t>
            </a:r>
            <a:endParaRPr>
              <a:solidFill>
                <a:srgbClr val="92D050"/>
              </a:solidFill>
            </a:endParaRPr>
          </a:p>
        </p:txBody>
      </p:sp>
      <p:sp>
        <p:nvSpPr>
          <p:cNvPr id="136" name="Google Shape;136;p18"/>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orbel"/>
              <a:buNone/>
            </a:pPr>
            <a:r>
              <a:rPr lang="en-GB"/>
              <a:t>We see things because light travels from our eyes to the object we are looking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t/>
            </a:r>
            <a:endParaRPr/>
          </a:p>
          <a:p>
            <a:pPr indent="0" lvl="0" marL="0" rtl="0" algn="l">
              <a:spcBef>
                <a:spcPts val="1200"/>
              </a:spcBef>
              <a:spcAft>
                <a:spcPts val="0"/>
              </a:spcAft>
              <a:buSzPts val="2800"/>
              <a:buNone/>
            </a:pPr>
            <a:r>
              <a:rPr b="1" lang="en-GB">
                <a:solidFill>
                  <a:srgbClr val="00B0F0"/>
                </a:solidFill>
              </a:rPr>
              <a:t>True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As light passes through a lens, it changes direction. This is called refraction and is the reason that lenses help to form images.</a:t>
            </a:r>
            <a:endParaRPr>
              <a:solidFill>
                <a:srgbClr val="92D050"/>
              </a:solidFill>
            </a:endParaRPr>
          </a:p>
        </p:txBody>
      </p:sp>
      <p:sp>
        <p:nvSpPr>
          <p:cNvPr id="142" name="Google Shape;142;p19"/>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orbel"/>
              <a:buNone/>
            </a:pPr>
            <a:r>
              <a:rPr lang="en-GB"/>
              <a:t>A lens helps to form images because it bends light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t/>
            </a:r>
            <a:endParaRPr/>
          </a:p>
          <a:p>
            <a:pPr indent="0" lvl="0" marL="0" rtl="0" algn="l">
              <a:spcBef>
                <a:spcPts val="1200"/>
              </a:spcBef>
              <a:spcAft>
                <a:spcPts val="0"/>
              </a:spcAft>
              <a:buSzPts val="2800"/>
              <a:buNone/>
            </a:pPr>
            <a:r>
              <a:rPr b="1" lang="en-GB">
                <a:solidFill>
                  <a:srgbClr val="FF0000"/>
                </a:solidFill>
              </a:rPr>
              <a:t>False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Light travels the same distance whether it is daytime or night-time. It is just that we cannot see the effects of this light as clearly during the daytime because there is so much other light around.</a:t>
            </a:r>
            <a:endParaRPr>
              <a:solidFill>
                <a:srgbClr val="92D050"/>
              </a:solidFill>
            </a:endParaRPr>
          </a:p>
        </p:txBody>
      </p:sp>
      <p:sp>
        <p:nvSpPr>
          <p:cNvPr id="148" name="Google Shape;148;p20"/>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orbel"/>
              <a:buNone/>
            </a:pPr>
            <a:r>
              <a:rPr lang="en-GB"/>
              <a:t>Light from a candle does not travel as far during the daytime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t/>
            </a:r>
            <a:endParaRPr/>
          </a:p>
          <a:p>
            <a:pPr indent="0" lvl="0" marL="0" rtl="0" algn="l">
              <a:spcBef>
                <a:spcPts val="1200"/>
              </a:spcBef>
              <a:spcAft>
                <a:spcPts val="0"/>
              </a:spcAft>
              <a:buSzPts val="2800"/>
              <a:buNone/>
            </a:pPr>
            <a:r>
              <a:rPr b="1" lang="en-GB">
                <a:solidFill>
                  <a:srgbClr val="00B0F0"/>
                </a:solidFill>
              </a:rPr>
              <a:t>True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Coloured objects appear to be a certain colour because they absorb all colours apart from the colour we see. White objects reflect all colours equally. Black objects absorb all colours of light so there is very little light reflected for us to see.</a:t>
            </a:r>
            <a:endParaRPr>
              <a:solidFill>
                <a:srgbClr val="92D050"/>
              </a:solidFill>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t/>
            </a:r>
            <a:endParaRPr/>
          </a:p>
        </p:txBody>
      </p:sp>
      <p:sp>
        <p:nvSpPr>
          <p:cNvPr id="154" name="Google Shape;154;p21"/>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orbel"/>
              <a:buNone/>
            </a:pPr>
            <a:r>
              <a:rPr lang="en-GB"/>
              <a:t>A red object looks red because it only reflects red light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t/>
            </a:r>
            <a:endParaRPr/>
          </a:p>
          <a:p>
            <a:pPr indent="0" lvl="0" marL="0" rtl="0" algn="l">
              <a:spcBef>
                <a:spcPts val="1200"/>
              </a:spcBef>
              <a:spcAft>
                <a:spcPts val="0"/>
              </a:spcAft>
              <a:buSzPts val="2800"/>
              <a:buNone/>
            </a:pPr>
            <a:r>
              <a:rPr b="1" lang="en-GB">
                <a:solidFill>
                  <a:srgbClr val="FF0000"/>
                </a:solidFill>
              </a:rPr>
              <a:t>False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We can also see things that are light reflectors. Light from another source, such as the Sun, reflects off objects and travels to our eyes.</a:t>
            </a:r>
            <a:endParaRPr>
              <a:solidFill>
                <a:srgbClr val="92D050"/>
              </a:solidFill>
            </a:endParaRPr>
          </a:p>
        </p:txBody>
      </p:sp>
      <p:sp>
        <p:nvSpPr>
          <p:cNvPr id="160" name="Google Shape;160;p22"/>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orbel"/>
              <a:buNone/>
            </a:pPr>
            <a:r>
              <a:rPr lang="en-GB"/>
              <a:t>We can only see things that are making light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idx="1" type="body"/>
          </p:nvPr>
        </p:nvSpPr>
        <p:spPr>
          <a:xfrm>
            <a:off x="352426" y="1463040"/>
            <a:ext cx="8639174" cy="50901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t/>
            </a:r>
            <a:endParaRPr/>
          </a:p>
          <a:p>
            <a:pPr indent="0" lvl="0" marL="0" rtl="0" algn="l">
              <a:spcBef>
                <a:spcPts val="1200"/>
              </a:spcBef>
              <a:spcAft>
                <a:spcPts val="0"/>
              </a:spcAft>
              <a:buSzPts val="2800"/>
              <a:buNone/>
            </a:pPr>
            <a:r>
              <a:rPr b="1" lang="en-GB">
                <a:solidFill>
                  <a:srgbClr val="00B0F0"/>
                </a:solidFill>
              </a:rPr>
              <a:t>True</a:t>
            </a:r>
            <a:endParaRPr/>
          </a:p>
          <a:p>
            <a:pPr indent="0" lvl="0" marL="0" rtl="0" algn="l">
              <a:spcBef>
                <a:spcPts val="1200"/>
              </a:spcBef>
              <a:spcAft>
                <a:spcPts val="0"/>
              </a:spcAft>
              <a:buSzPts val="2800"/>
              <a:buNone/>
            </a:pPr>
            <a:r>
              <a:t/>
            </a:r>
            <a:endParaRPr/>
          </a:p>
          <a:p>
            <a:pPr indent="0" lvl="0" marL="0" rtl="0" algn="l">
              <a:spcBef>
                <a:spcPts val="1200"/>
              </a:spcBef>
              <a:spcAft>
                <a:spcPts val="0"/>
              </a:spcAft>
              <a:buSzPts val="2800"/>
              <a:buNone/>
            </a:pPr>
            <a:r>
              <a:rPr lang="en-GB">
                <a:solidFill>
                  <a:srgbClr val="92D050"/>
                </a:solidFill>
              </a:rPr>
              <a:t>Light always keeps travelling until it hits something else. It can then be absorbed, reflected or change direction as it passes through that object.</a:t>
            </a:r>
            <a:endParaRPr>
              <a:solidFill>
                <a:srgbClr val="92D050"/>
              </a:solidFill>
            </a:endParaRPr>
          </a:p>
        </p:txBody>
      </p:sp>
      <p:sp>
        <p:nvSpPr>
          <p:cNvPr id="166" name="Google Shape;166;p23"/>
          <p:cNvSpPr txBox="1"/>
          <p:nvPr>
            <p:ph type="title"/>
          </p:nvPr>
        </p:nvSpPr>
        <p:spPr>
          <a:xfrm>
            <a:off x="352426" y="228600"/>
            <a:ext cx="8639174" cy="1066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orbel"/>
              <a:buNone/>
            </a:pPr>
            <a:r>
              <a:rPr lang="en-GB"/>
              <a:t>Light keeps travelling until it hits something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idx="1" type="body"/>
          </p:nvPr>
        </p:nvSpPr>
        <p:spPr>
          <a:xfrm>
            <a:off x="623250" y="847775"/>
            <a:ext cx="7897500" cy="5692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GB" u="sng"/>
              <a:t>Today’s Learning Objective:</a:t>
            </a:r>
            <a:endParaRPr/>
          </a:p>
          <a:p>
            <a:pPr indent="0" lvl="0" marL="0" rtl="0" algn="l">
              <a:spcBef>
                <a:spcPts val="1200"/>
              </a:spcBef>
              <a:spcAft>
                <a:spcPts val="0"/>
              </a:spcAft>
              <a:buSzPts val="2800"/>
              <a:buNone/>
            </a:pPr>
            <a:r>
              <a:t/>
            </a:r>
            <a:endParaRPr b="1" u="sng"/>
          </a:p>
          <a:p>
            <a:pPr indent="-457200" lvl="0" marL="457200" rtl="0" algn="l">
              <a:spcBef>
                <a:spcPts val="1200"/>
              </a:spcBef>
              <a:spcAft>
                <a:spcPts val="0"/>
              </a:spcAft>
              <a:buSzPts val="2800"/>
              <a:buFont typeface="Corbel"/>
              <a:buAutoNum type="arabicPeriod"/>
            </a:pPr>
            <a:r>
              <a:rPr lang="en-GB"/>
              <a:t>Learn and use scientific vocabulary relating to light. </a:t>
            </a:r>
            <a:endParaRPr/>
          </a:p>
          <a:p>
            <a:pPr indent="-457200" lvl="0" marL="457200" rtl="0" algn="l">
              <a:spcBef>
                <a:spcPts val="1200"/>
              </a:spcBef>
              <a:spcAft>
                <a:spcPts val="0"/>
              </a:spcAft>
              <a:buSzPts val="2800"/>
              <a:buFont typeface="Corbel"/>
              <a:buAutoNum type="arabicPeriod"/>
            </a:pPr>
            <a:r>
              <a:rPr lang="en-GB"/>
              <a:t>To be able to use a light box.</a:t>
            </a:r>
            <a:endParaRPr/>
          </a:p>
          <a:p>
            <a:pPr indent="-457200" lvl="0" marL="457200" rtl="0" algn="l">
              <a:spcBef>
                <a:spcPts val="1200"/>
              </a:spcBef>
              <a:spcAft>
                <a:spcPts val="0"/>
              </a:spcAft>
              <a:buSzPts val="2800"/>
              <a:buFont typeface="Corbel"/>
              <a:buAutoNum type="arabicPeriod"/>
            </a:pPr>
            <a:r>
              <a:rPr lang="en-GB"/>
              <a:t>Understand the Law of Reflection</a:t>
            </a:r>
            <a:endParaRPr/>
          </a:p>
          <a:p>
            <a:pPr indent="-457200" lvl="0" marL="457200" rtl="0" algn="l">
              <a:spcBef>
                <a:spcPts val="1200"/>
              </a:spcBef>
              <a:spcAft>
                <a:spcPts val="0"/>
              </a:spcAft>
              <a:buSzPts val="2800"/>
              <a:buFont typeface="Corbel"/>
              <a:buAutoNum type="arabicPeriod"/>
            </a:pPr>
            <a:r>
              <a:rPr lang="en-GB"/>
              <a:t>Understand bending light = refraction</a:t>
            </a:r>
            <a:endParaRPr/>
          </a:p>
          <a:p>
            <a:pPr indent="0" lvl="0" marL="0" rtl="0" algn="l">
              <a:spcBef>
                <a:spcPts val="1200"/>
              </a:spcBef>
              <a:spcAft>
                <a:spcPts val="0"/>
              </a:spcAft>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516844" y="397029"/>
            <a:ext cx="7886700" cy="99417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000"/>
              <a:buFont typeface="Comic Sans MS"/>
              <a:buNone/>
            </a:pPr>
            <a:r>
              <a:rPr lang="en-GB"/>
              <a:t>What is Visible Light?</a:t>
            </a:r>
            <a:endParaRPr/>
          </a:p>
        </p:txBody>
      </p:sp>
      <p:sp>
        <p:nvSpPr>
          <p:cNvPr id="179" name="Google Shape;179;p25"/>
          <p:cNvSpPr txBox="1"/>
          <p:nvPr/>
        </p:nvSpPr>
        <p:spPr>
          <a:xfrm>
            <a:off x="304800" y="3182599"/>
            <a:ext cx="3455100" cy="294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2000" u="none" cap="none" strike="noStrike">
                <a:solidFill>
                  <a:schemeClr val="lt1"/>
                </a:solidFill>
                <a:latin typeface="Corbel"/>
                <a:ea typeface="Corbel"/>
                <a:cs typeface="Corbel"/>
                <a:sym typeface="Corbel"/>
              </a:rPr>
              <a:t>* Light waves have wavelengths between 390 - 780 nm. </a:t>
            </a:r>
            <a:endParaRPr>
              <a:latin typeface="Corbel"/>
              <a:ea typeface="Corbel"/>
              <a:cs typeface="Corbel"/>
              <a:sym typeface="Corbel"/>
            </a:endParaRPr>
          </a:p>
          <a:p>
            <a:pPr indent="0" lvl="0" marL="0" marR="0" rtl="0" algn="l">
              <a:spcBef>
                <a:spcPts val="900"/>
              </a:spcBef>
              <a:spcAft>
                <a:spcPts val="0"/>
              </a:spcAft>
              <a:buNone/>
            </a:pPr>
            <a:r>
              <a:t/>
            </a:r>
            <a:endParaRPr i="0" sz="1800" u="none" cap="none" strike="noStrike">
              <a:solidFill>
                <a:schemeClr val="lt1"/>
              </a:solidFill>
              <a:latin typeface="Corbel"/>
              <a:ea typeface="Corbel"/>
              <a:cs typeface="Corbel"/>
              <a:sym typeface="Corbel"/>
            </a:endParaRPr>
          </a:p>
          <a:p>
            <a:pPr indent="0" lvl="0" marL="0" marR="0" rtl="0" algn="l">
              <a:spcBef>
                <a:spcPts val="1200"/>
              </a:spcBef>
              <a:spcAft>
                <a:spcPts val="0"/>
              </a:spcAft>
              <a:buNone/>
            </a:pPr>
            <a:r>
              <a:rPr i="0" lang="en-GB" sz="2000" u="none" cap="none" strike="noStrike">
                <a:solidFill>
                  <a:schemeClr val="lt1"/>
                </a:solidFill>
                <a:latin typeface="Corbel"/>
                <a:ea typeface="Corbel"/>
                <a:cs typeface="Corbel"/>
                <a:sym typeface="Corbel"/>
              </a:rPr>
              <a:t>* T</a:t>
            </a:r>
            <a:r>
              <a:rPr i="0" lang="en-GB" sz="2400" u="none" cap="none" strike="noStrike">
                <a:solidFill>
                  <a:schemeClr val="lt1"/>
                </a:solidFill>
                <a:latin typeface="Corbel"/>
                <a:ea typeface="Corbel"/>
                <a:cs typeface="Corbel"/>
                <a:sym typeface="Corbel"/>
              </a:rPr>
              <a:t>he </a:t>
            </a:r>
            <a:r>
              <a:rPr i="0" lang="en-GB" sz="2000" u="none" cap="none" strike="noStrike">
                <a:solidFill>
                  <a:schemeClr val="lt1"/>
                </a:solidFill>
                <a:latin typeface="Corbel"/>
                <a:ea typeface="Corbel"/>
                <a:cs typeface="Corbel"/>
                <a:sym typeface="Corbel"/>
              </a:rPr>
              <a:t>different wavelengths of light are seen as the different colours of the spectrum. </a:t>
            </a:r>
            <a:endParaRPr>
              <a:latin typeface="Corbel"/>
              <a:ea typeface="Corbel"/>
              <a:cs typeface="Corbel"/>
              <a:sym typeface="Corbel"/>
            </a:endParaRPr>
          </a:p>
          <a:p>
            <a:pPr indent="0" lvl="0" marL="0" marR="0" rtl="0" algn="l">
              <a:spcBef>
                <a:spcPts val="900"/>
              </a:spcBef>
              <a:spcAft>
                <a:spcPts val="0"/>
              </a:spcAft>
              <a:buNone/>
            </a:pPr>
            <a:r>
              <a:t/>
            </a:r>
            <a:endParaRPr i="0" sz="1800" u="none" cap="none" strike="noStrike">
              <a:solidFill>
                <a:srgbClr val="000066"/>
              </a:solidFill>
              <a:latin typeface="Corbel"/>
              <a:ea typeface="Corbel"/>
              <a:cs typeface="Corbel"/>
              <a:sym typeface="Corbel"/>
            </a:endParaRPr>
          </a:p>
        </p:txBody>
      </p:sp>
      <p:sp>
        <p:nvSpPr>
          <p:cNvPr id="180" name="Google Shape;180;p25"/>
          <p:cNvSpPr/>
          <p:nvPr/>
        </p:nvSpPr>
        <p:spPr>
          <a:xfrm>
            <a:off x="381000" y="1798285"/>
            <a:ext cx="8306873"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0" lang="en-GB" sz="2000" u="none" cap="none" strike="noStrike">
                <a:solidFill>
                  <a:schemeClr val="lt1"/>
                </a:solidFill>
                <a:latin typeface="Corbel"/>
                <a:ea typeface="Corbel"/>
                <a:cs typeface="Corbel"/>
                <a:sym typeface="Corbel"/>
              </a:rPr>
              <a:t>* Light is the only type of electromagnetic radiation that is visible to the human eye. </a:t>
            </a:r>
            <a:endParaRPr>
              <a:latin typeface="Corbel"/>
              <a:ea typeface="Corbel"/>
              <a:cs typeface="Corbel"/>
              <a:sym typeface="Corbel"/>
            </a:endParaRPr>
          </a:p>
        </p:txBody>
      </p:sp>
      <p:pic>
        <p:nvPicPr>
          <p:cNvPr id="181" name="Google Shape;181;p25"/>
          <p:cNvPicPr preferRelativeResize="0"/>
          <p:nvPr/>
        </p:nvPicPr>
        <p:blipFill rotWithShape="1">
          <a:blip r:embed="rId3">
            <a:alphaModFix/>
          </a:blip>
          <a:srcRect b="0" l="0" r="0" t="0"/>
          <a:stretch/>
        </p:blipFill>
        <p:spPr>
          <a:xfrm>
            <a:off x="3810000" y="3182599"/>
            <a:ext cx="5093494" cy="26217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nvSpPr>
        <p:spPr>
          <a:xfrm>
            <a:off x="243350" y="1556789"/>
            <a:ext cx="509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Noto Sans Symbols"/>
              <a:buNone/>
            </a:pPr>
            <a:r>
              <a:rPr i="0" lang="en-GB" sz="1800" u="none" cap="none" strike="noStrike">
                <a:solidFill>
                  <a:schemeClr val="lt1"/>
                </a:solidFill>
                <a:latin typeface="Corbel"/>
                <a:ea typeface="Corbel"/>
                <a:cs typeface="Corbel"/>
                <a:sym typeface="Corbel"/>
              </a:rPr>
              <a:t>* Light carries energy and travels as a wave.</a:t>
            </a:r>
            <a:endParaRPr>
              <a:latin typeface="Corbel"/>
              <a:ea typeface="Corbel"/>
              <a:cs typeface="Corbel"/>
              <a:sym typeface="Corbel"/>
            </a:endParaRPr>
          </a:p>
        </p:txBody>
      </p:sp>
      <p:sp>
        <p:nvSpPr>
          <p:cNvPr id="188" name="Google Shape;188;p26"/>
          <p:cNvSpPr txBox="1"/>
          <p:nvPr>
            <p:ph idx="4294967295" type="title"/>
          </p:nvPr>
        </p:nvSpPr>
        <p:spPr>
          <a:xfrm>
            <a:off x="331367" y="162509"/>
            <a:ext cx="7886700" cy="994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000"/>
              <a:buFont typeface="Comic Sans MS"/>
              <a:buNone/>
            </a:pPr>
            <a:r>
              <a:rPr lang="en-GB"/>
              <a:t>What is Visible Light?</a:t>
            </a:r>
            <a:endParaRPr/>
          </a:p>
        </p:txBody>
      </p:sp>
      <p:sp>
        <p:nvSpPr>
          <p:cNvPr id="189" name="Google Shape;189;p26"/>
          <p:cNvSpPr txBox="1"/>
          <p:nvPr/>
        </p:nvSpPr>
        <p:spPr>
          <a:xfrm>
            <a:off x="243350" y="2899150"/>
            <a:ext cx="6384900" cy="140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1800" u="none" cap="none" strike="noStrike">
                <a:solidFill>
                  <a:schemeClr val="lt1"/>
                </a:solidFill>
                <a:latin typeface="Corbel"/>
                <a:ea typeface="Corbel"/>
                <a:cs typeface="Corbel"/>
                <a:sym typeface="Corbel"/>
              </a:rPr>
              <a:t>* Objects that give out light are called </a:t>
            </a:r>
            <a:r>
              <a:rPr b="1" i="0" lang="en-GB" sz="1800" u="sng" cap="none" strike="noStrike">
                <a:solidFill>
                  <a:schemeClr val="lt1"/>
                </a:solidFill>
                <a:latin typeface="Corbel"/>
                <a:ea typeface="Corbel"/>
                <a:cs typeface="Corbel"/>
                <a:sym typeface="Corbel"/>
              </a:rPr>
              <a:t>luminous</a:t>
            </a:r>
            <a:r>
              <a:rPr i="0" lang="en-GB" sz="1800" u="none" cap="none" strike="noStrike">
                <a:solidFill>
                  <a:schemeClr val="lt1"/>
                </a:solidFill>
                <a:latin typeface="Corbel"/>
                <a:ea typeface="Corbel"/>
                <a:cs typeface="Corbel"/>
                <a:sym typeface="Corbel"/>
              </a:rPr>
              <a:t>.  </a:t>
            </a:r>
            <a:endParaRPr>
              <a:latin typeface="Corbel"/>
              <a:ea typeface="Corbel"/>
              <a:cs typeface="Corbel"/>
              <a:sym typeface="Corbel"/>
            </a:endParaRPr>
          </a:p>
          <a:p>
            <a:pPr indent="0" lvl="0" marL="0" marR="0" rtl="0" algn="l">
              <a:spcBef>
                <a:spcPts val="540"/>
              </a:spcBef>
              <a:spcAft>
                <a:spcPts val="0"/>
              </a:spcAft>
              <a:buNone/>
            </a:pPr>
            <a:r>
              <a:rPr i="0" lang="en-GB" sz="1800" u="none" cap="none" strike="noStrike">
                <a:solidFill>
                  <a:schemeClr val="lt1"/>
                </a:solidFill>
                <a:latin typeface="Corbel"/>
                <a:ea typeface="Corbel"/>
                <a:cs typeface="Corbel"/>
                <a:sym typeface="Corbel"/>
              </a:rPr>
              <a:t>Eg: the sun and light globes</a:t>
            </a:r>
            <a:endParaRPr>
              <a:latin typeface="Corbel"/>
              <a:ea typeface="Corbel"/>
              <a:cs typeface="Corbel"/>
              <a:sym typeface="Corbel"/>
            </a:endParaRPr>
          </a:p>
          <a:p>
            <a:pPr indent="0" lvl="0" marL="0" marR="0" rtl="0" algn="l">
              <a:spcBef>
                <a:spcPts val="540"/>
              </a:spcBef>
              <a:spcAft>
                <a:spcPts val="0"/>
              </a:spcAft>
              <a:buNone/>
            </a:pPr>
            <a:r>
              <a:t/>
            </a:r>
            <a:endParaRPr i="0" sz="1800" u="none" cap="none" strike="noStrike">
              <a:solidFill>
                <a:schemeClr val="lt1"/>
              </a:solidFill>
              <a:latin typeface="Corbel"/>
              <a:ea typeface="Corbel"/>
              <a:cs typeface="Corbel"/>
              <a:sym typeface="Corbel"/>
            </a:endParaRPr>
          </a:p>
          <a:p>
            <a:pPr indent="0" lvl="0" marL="0" marR="0" rtl="0" algn="l">
              <a:spcBef>
                <a:spcPts val="540"/>
              </a:spcBef>
              <a:spcAft>
                <a:spcPts val="0"/>
              </a:spcAft>
              <a:buNone/>
            </a:pPr>
            <a:r>
              <a:rPr lang="en-GB" sz="1800">
                <a:solidFill>
                  <a:schemeClr val="lt1"/>
                </a:solidFill>
                <a:latin typeface="Corbel"/>
                <a:ea typeface="Corbel"/>
                <a:cs typeface="Corbel"/>
                <a:sym typeface="Corbel"/>
              </a:rPr>
              <a:t>* </a:t>
            </a:r>
            <a:r>
              <a:rPr i="0" lang="en-GB" sz="1800" u="none" cap="none" strike="noStrike">
                <a:solidFill>
                  <a:schemeClr val="lt1"/>
                </a:solidFill>
                <a:latin typeface="Corbel"/>
                <a:ea typeface="Corbel"/>
                <a:cs typeface="Corbel"/>
                <a:sym typeface="Corbel"/>
              </a:rPr>
              <a:t>All other objects are </a:t>
            </a:r>
            <a:r>
              <a:rPr i="0" lang="en-GB" sz="1800" u="sng" cap="none" strike="noStrike">
                <a:solidFill>
                  <a:schemeClr val="lt1"/>
                </a:solidFill>
                <a:latin typeface="Corbel"/>
                <a:ea typeface="Corbel"/>
                <a:cs typeface="Corbel"/>
                <a:sym typeface="Corbel"/>
              </a:rPr>
              <a:t>non-luminous</a:t>
            </a:r>
            <a:r>
              <a:rPr i="0" lang="en-GB" sz="1800" u="none" cap="none" strike="noStrike">
                <a:solidFill>
                  <a:schemeClr val="lt1"/>
                </a:solidFill>
                <a:latin typeface="Corbel"/>
                <a:ea typeface="Corbel"/>
                <a:cs typeface="Corbel"/>
                <a:sym typeface="Corbel"/>
              </a:rPr>
              <a:t>.  Eg: the</a:t>
            </a:r>
            <a:r>
              <a:rPr lang="en-GB" sz="1800">
                <a:solidFill>
                  <a:schemeClr val="lt1"/>
                </a:solidFill>
                <a:latin typeface="Corbel"/>
                <a:ea typeface="Corbel"/>
                <a:cs typeface="Corbel"/>
                <a:sym typeface="Corbel"/>
              </a:rPr>
              <a:t> </a:t>
            </a:r>
            <a:r>
              <a:rPr i="0" lang="en-GB" sz="1800" u="none" cap="none" strike="noStrike">
                <a:solidFill>
                  <a:schemeClr val="lt1"/>
                </a:solidFill>
                <a:latin typeface="Corbel"/>
                <a:ea typeface="Corbel"/>
                <a:cs typeface="Corbel"/>
                <a:sym typeface="Corbel"/>
              </a:rPr>
              <a:t>moon </a:t>
            </a:r>
            <a:endParaRPr>
              <a:latin typeface="Corbel"/>
              <a:ea typeface="Corbel"/>
              <a:cs typeface="Corbel"/>
              <a:sym typeface="Corbel"/>
            </a:endParaRPr>
          </a:p>
        </p:txBody>
      </p:sp>
      <p:pic>
        <p:nvPicPr>
          <p:cNvPr descr="36842199_credit" id="190" name="Google Shape;190;p26"/>
          <p:cNvPicPr preferRelativeResize="0"/>
          <p:nvPr/>
        </p:nvPicPr>
        <p:blipFill rotWithShape="1">
          <a:blip r:embed="rId3">
            <a:alphaModFix/>
          </a:blip>
          <a:srcRect b="0" l="0" r="0" t="0"/>
          <a:stretch/>
        </p:blipFill>
        <p:spPr>
          <a:xfrm>
            <a:off x="5902650" y="236925"/>
            <a:ext cx="3127200" cy="4650449"/>
          </a:xfrm>
          <a:prstGeom prst="rect">
            <a:avLst/>
          </a:prstGeom>
          <a:noFill/>
          <a:ln>
            <a:noFill/>
          </a:ln>
        </p:spPr>
      </p:pic>
      <p:sp>
        <p:nvSpPr>
          <p:cNvPr id="191" name="Google Shape;191;p26"/>
          <p:cNvSpPr/>
          <p:nvPr/>
        </p:nvSpPr>
        <p:spPr>
          <a:xfrm>
            <a:off x="243350" y="2034625"/>
            <a:ext cx="5450700" cy="75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0" lang="en-GB" sz="1800" u="none" cap="none" strike="noStrike">
                <a:solidFill>
                  <a:schemeClr val="lt1"/>
                </a:solidFill>
                <a:latin typeface="Corbel"/>
                <a:ea typeface="Corbel"/>
                <a:cs typeface="Corbel"/>
                <a:sym typeface="Corbel"/>
              </a:rPr>
              <a:t>* Light is a form of energy and can be changed from one form into another.</a:t>
            </a:r>
            <a:endParaRPr>
              <a:latin typeface="Corbel"/>
              <a:ea typeface="Corbel"/>
              <a:cs typeface="Corbel"/>
              <a:sym typeface="Corbel"/>
            </a:endParaRPr>
          </a:p>
        </p:txBody>
      </p:sp>
      <p:pic>
        <p:nvPicPr>
          <p:cNvPr descr="08871" id="192" name="Google Shape;192;p26"/>
          <p:cNvPicPr preferRelativeResize="0"/>
          <p:nvPr/>
        </p:nvPicPr>
        <p:blipFill rotWithShape="1">
          <a:blip r:embed="rId4">
            <a:alphaModFix/>
          </a:blip>
          <a:srcRect b="0" l="0" r="0" t="0"/>
          <a:stretch/>
        </p:blipFill>
        <p:spPr>
          <a:xfrm>
            <a:off x="885050" y="4759132"/>
            <a:ext cx="2915840" cy="1945481"/>
          </a:xfrm>
          <a:prstGeom prst="rect">
            <a:avLst/>
          </a:prstGeom>
          <a:noFill/>
          <a:ln>
            <a:noFill/>
          </a:ln>
        </p:spPr>
      </p:pic>
      <p:pic>
        <p:nvPicPr>
          <p:cNvPr descr="PHOTO_leaves1_cropped" id="193" name="Google Shape;193;p26"/>
          <p:cNvPicPr preferRelativeResize="0"/>
          <p:nvPr/>
        </p:nvPicPr>
        <p:blipFill rotWithShape="1">
          <a:blip r:embed="rId5">
            <a:alphaModFix/>
          </a:blip>
          <a:srcRect b="0" l="0" r="39969" t="0"/>
          <a:stretch/>
        </p:blipFill>
        <p:spPr>
          <a:xfrm>
            <a:off x="4888850" y="4568582"/>
            <a:ext cx="1281199" cy="1730519"/>
          </a:xfrm>
          <a:prstGeom prst="rect">
            <a:avLst/>
          </a:prstGeom>
          <a:noFill/>
          <a:ln>
            <a:noFill/>
          </a:ln>
        </p:spPr>
      </p:pic>
      <p:sp>
        <p:nvSpPr>
          <p:cNvPr id="194" name="Google Shape;194;p26"/>
          <p:cNvSpPr/>
          <p:nvPr/>
        </p:nvSpPr>
        <p:spPr>
          <a:xfrm>
            <a:off x="868913" y="4783834"/>
            <a:ext cx="2948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1800" u="none" cap="none" strike="noStrike">
                <a:solidFill>
                  <a:schemeClr val="dk1"/>
                </a:solidFill>
                <a:latin typeface="Comic Sans MS"/>
                <a:ea typeface="Comic Sans MS"/>
                <a:cs typeface="Comic Sans MS"/>
                <a:sym typeface="Comic Sans MS"/>
              </a:rPr>
              <a:t>Light</a:t>
            </a:r>
            <a:r>
              <a:rPr b="0" i="0" lang="en-GB" sz="1800" u="none" cap="none" strike="noStrike">
                <a:solidFill>
                  <a:schemeClr val="dk1"/>
                </a:solidFill>
                <a:latin typeface="Comic Sans MS"/>
                <a:ea typeface="Comic Sans MS"/>
                <a:cs typeface="Comic Sans MS"/>
                <a:sym typeface="Comic Sans MS"/>
              </a:rPr>
              <a:t> </a:t>
            </a:r>
            <a:r>
              <a:rPr lang="en-GB" sz="1800">
                <a:solidFill>
                  <a:schemeClr val="dk1"/>
                </a:solidFill>
                <a:latin typeface="Comic Sans MS"/>
                <a:ea typeface="Comic Sans MS"/>
                <a:cs typeface="Comic Sans MS"/>
                <a:sym typeface="Comic Sans MS"/>
              </a:rPr>
              <a:t>-&gt;</a:t>
            </a:r>
            <a:r>
              <a:rPr b="0" i="0" lang="en-GB" sz="1800" u="none" cap="none" strike="noStrike">
                <a:solidFill>
                  <a:schemeClr val="dk1"/>
                </a:solidFill>
                <a:latin typeface="Comic Sans MS"/>
                <a:ea typeface="Comic Sans MS"/>
                <a:cs typeface="Comic Sans MS"/>
                <a:sym typeface="Comic Sans MS"/>
              </a:rPr>
              <a:t> electrical energy</a:t>
            </a:r>
            <a:endParaRPr b="0" i="0" sz="1800" u="none" cap="none" strike="noStrike">
              <a:solidFill>
                <a:schemeClr val="dk1"/>
              </a:solidFill>
              <a:latin typeface="Comic Sans MS"/>
              <a:ea typeface="Comic Sans MS"/>
              <a:cs typeface="Comic Sans MS"/>
              <a:sym typeface="Comic Sans MS"/>
            </a:endParaRPr>
          </a:p>
        </p:txBody>
      </p:sp>
      <p:sp>
        <p:nvSpPr>
          <p:cNvPr id="195" name="Google Shape;195;p26"/>
          <p:cNvSpPr txBox="1"/>
          <p:nvPr/>
        </p:nvSpPr>
        <p:spPr>
          <a:xfrm>
            <a:off x="4214725" y="6354895"/>
            <a:ext cx="2797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1800" u="none" cap="none" strike="noStrike">
                <a:solidFill>
                  <a:schemeClr val="lt1"/>
                </a:solidFill>
                <a:latin typeface="Corbel"/>
                <a:ea typeface="Corbel"/>
                <a:cs typeface="Corbel"/>
                <a:sym typeface="Corbel"/>
              </a:rPr>
              <a:t>Light </a:t>
            </a:r>
            <a:r>
              <a:rPr lang="en-GB" sz="1800">
                <a:solidFill>
                  <a:schemeClr val="lt1"/>
                </a:solidFill>
                <a:latin typeface="Corbel"/>
                <a:ea typeface="Corbel"/>
                <a:cs typeface="Corbel"/>
                <a:sym typeface="Corbel"/>
              </a:rPr>
              <a:t>-&gt;</a:t>
            </a:r>
            <a:r>
              <a:rPr i="0" lang="en-GB" sz="1800" u="none" cap="none" strike="noStrike">
                <a:solidFill>
                  <a:schemeClr val="lt1"/>
                </a:solidFill>
                <a:latin typeface="Corbel"/>
                <a:ea typeface="Corbel"/>
                <a:cs typeface="Corbel"/>
                <a:sym typeface="Corbel"/>
              </a:rPr>
              <a:t> chemical energy</a:t>
            </a:r>
            <a:endParaRPr sz="1800">
              <a:solidFill>
                <a:schemeClr val="lt1"/>
              </a:solidFill>
              <a:latin typeface="Corbel"/>
              <a:ea typeface="Corbel"/>
              <a:cs typeface="Corbel"/>
              <a:sym typeface="Corbe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7"/>
          <p:cNvPicPr preferRelativeResize="0"/>
          <p:nvPr/>
        </p:nvPicPr>
        <p:blipFill rotWithShape="1">
          <a:blip r:embed="rId3">
            <a:alphaModFix/>
          </a:blip>
          <a:srcRect b="0" l="0" r="0" t="0"/>
          <a:stretch/>
        </p:blipFill>
        <p:spPr>
          <a:xfrm>
            <a:off x="157765" y="2346561"/>
            <a:ext cx="2656268" cy="4119674"/>
          </a:xfrm>
          <a:prstGeom prst="rect">
            <a:avLst/>
          </a:prstGeom>
          <a:noFill/>
          <a:ln>
            <a:noFill/>
          </a:ln>
        </p:spPr>
      </p:pic>
      <p:sp>
        <p:nvSpPr>
          <p:cNvPr id="203" name="Google Shape;203;p27"/>
          <p:cNvSpPr txBox="1"/>
          <p:nvPr>
            <p:ph type="title"/>
          </p:nvPr>
        </p:nvSpPr>
        <p:spPr>
          <a:xfrm>
            <a:off x="240400" y="506100"/>
            <a:ext cx="2960700" cy="8091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4000"/>
              <a:buFont typeface="Comic Sans MS"/>
              <a:buNone/>
            </a:pPr>
            <a:r>
              <a:rPr lang="en-GB"/>
              <a:t>Vocabulary</a:t>
            </a:r>
            <a:endParaRPr/>
          </a:p>
        </p:txBody>
      </p:sp>
      <p:sp>
        <p:nvSpPr>
          <p:cNvPr id="204" name="Google Shape;204;p27"/>
          <p:cNvSpPr txBox="1"/>
          <p:nvPr/>
        </p:nvSpPr>
        <p:spPr>
          <a:xfrm>
            <a:off x="3150901" y="450300"/>
            <a:ext cx="5951100" cy="877200"/>
          </a:xfrm>
          <a:prstGeom prst="rect">
            <a:avLst/>
          </a:prstGeom>
          <a:noFill/>
          <a:ln>
            <a:noFill/>
          </a:ln>
        </p:spPr>
        <p:txBody>
          <a:bodyPr anchorCtr="0" anchor="t" bIns="0" lIns="91425" spcFirstLastPara="1" rIns="0" wrap="square" tIns="45700">
            <a:spAutoFit/>
          </a:bodyPr>
          <a:lstStyle/>
          <a:p>
            <a:pPr indent="-363538" lvl="0" marL="363538" marR="0" rtl="0" algn="l">
              <a:spcBef>
                <a:spcPts val="0"/>
              </a:spcBef>
              <a:spcAft>
                <a:spcPts val="0"/>
              </a:spcAft>
              <a:buClr>
                <a:srgbClr val="CC00CC"/>
              </a:buClr>
              <a:buSzPts val="1800"/>
              <a:buFont typeface="Corbel"/>
              <a:buChar char="●"/>
            </a:pPr>
            <a:r>
              <a:rPr b="1" lang="en-GB" sz="1800">
                <a:solidFill>
                  <a:srgbClr val="CC00CC"/>
                </a:solidFill>
                <a:latin typeface="Corbel"/>
                <a:ea typeface="Corbel"/>
                <a:cs typeface="Corbel"/>
                <a:sym typeface="Corbel"/>
              </a:rPr>
              <a:t>Transparent</a:t>
            </a:r>
            <a:endParaRPr>
              <a:latin typeface="Corbel"/>
              <a:ea typeface="Corbel"/>
              <a:cs typeface="Corbel"/>
              <a:sym typeface="Corbel"/>
            </a:endParaRPr>
          </a:p>
          <a:p>
            <a:pPr indent="-363538" lvl="0" marL="363538" marR="0" rtl="0" algn="l">
              <a:spcBef>
                <a:spcPts val="0"/>
              </a:spcBef>
              <a:spcAft>
                <a:spcPts val="0"/>
              </a:spcAft>
              <a:buClr>
                <a:srgbClr val="000066"/>
              </a:buClr>
              <a:buSzPts val="1800"/>
              <a:buFont typeface="Noto Sans Symbols"/>
              <a:buNone/>
            </a:pPr>
            <a:r>
              <a:rPr lang="en-GB" sz="1800">
                <a:solidFill>
                  <a:srgbClr val="000066"/>
                </a:solidFill>
                <a:latin typeface="Corbel"/>
                <a:ea typeface="Corbel"/>
                <a:cs typeface="Corbel"/>
                <a:sym typeface="Corbel"/>
              </a:rPr>
              <a:t>	</a:t>
            </a:r>
            <a:r>
              <a:rPr b="1" lang="en-GB" sz="1800">
                <a:solidFill>
                  <a:schemeClr val="lt1"/>
                </a:solidFill>
                <a:latin typeface="Corbel"/>
                <a:ea typeface="Corbel"/>
                <a:cs typeface="Corbel"/>
                <a:sym typeface="Corbel"/>
              </a:rPr>
              <a:t>Transmits</a:t>
            </a:r>
            <a:r>
              <a:rPr lang="en-GB" sz="1800">
                <a:solidFill>
                  <a:schemeClr val="lt1"/>
                </a:solidFill>
                <a:latin typeface="Corbel"/>
                <a:ea typeface="Corbel"/>
                <a:cs typeface="Corbel"/>
                <a:sym typeface="Corbel"/>
              </a:rPr>
              <a:t> light so that details behind the object can be clearly seen. E.g. glass windows.</a:t>
            </a:r>
            <a:endParaRPr>
              <a:latin typeface="Corbel"/>
              <a:ea typeface="Corbel"/>
              <a:cs typeface="Corbel"/>
              <a:sym typeface="Corbel"/>
            </a:endParaRPr>
          </a:p>
        </p:txBody>
      </p:sp>
      <p:sp>
        <p:nvSpPr>
          <p:cNvPr id="205" name="Google Shape;205;p27"/>
          <p:cNvSpPr/>
          <p:nvPr/>
        </p:nvSpPr>
        <p:spPr>
          <a:xfrm>
            <a:off x="3150901" y="1415970"/>
            <a:ext cx="5983500" cy="923400"/>
          </a:xfrm>
          <a:prstGeom prst="rect">
            <a:avLst/>
          </a:prstGeom>
          <a:noFill/>
          <a:ln>
            <a:noFill/>
          </a:ln>
        </p:spPr>
        <p:txBody>
          <a:bodyPr anchorCtr="0" anchor="t" bIns="45700" lIns="91425" spcFirstLastPara="1" rIns="91425" wrap="square" tIns="45700">
            <a:noAutofit/>
          </a:bodyPr>
          <a:lstStyle/>
          <a:p>
            <a:pPr indent="-361950" lvl="0" marL="361950" marR="0" rtl="0" algn="l">
              <a:spcBef>
                <a:spcPts val="0"/>
              </a:spcBef>
              <a:spcAft>
                <a:spcPts val="0"/>
              </a:spcAft>
              <a:buClr>
                <a:srgbClr val="CC00CC"/>
              </a:buClr>
              <a:buSzPts val="1800"/>
              <a:buFont typeface="Corbel"/>
              <a:buChar char="●"/>
            </a:pPr>
            <a:r>
              <a:rPr b="1" lang="en-GB" sz="1800">
                <a:solidFill>
                  <a:srgbClr val="CC00CC"/>
                </a:solidFill>
                <a:latin typeface="Corbel"/>
                <a:ea typeface="Corbel"/>
                <a:cs typeface="Corbel"/>
                <a:sym typeface="Corbel"/>
              </a:rPr>
              <a:t>Translucent</a:t>
            </a:r>
            <a:endParaRPr>
              <a:latin typeface="Corbel"/>
              <a:ea typeface="Corbel"/>
              <a:cs typeface="Corbel"/>
              <a:sym typeface="Corbel"/>
            </a:endParaRPr>
          </a:p>
          <a:p>
            <a:pPr indent="-361950" lvl="0" marL="361950" marR="0" rtl="0" algn="l">
              <a:spcBef>
                <a:spcPts val="0"/>
              </a:spcBef>
              <a:spcAft>
                <a:spcPts val="0"/>
              </a:spcAft>
              <a:buClr>
                <a:srgbClr val="000066"/>
              </a:buClr>
              <a:buSzPts val="1800"/>
              <a:buFont typeface="Noto Sans Symbols"/>
              <a:buNone/>
            </a:pPr>
            <a:r>
              <a:rPr lang="en-GB" sz="1800">
                <a:solidFill>
                  <a:srgbClr val="000066"/>
                </a:solidFill>
                <a:latin typeface="Corbel"/>
                <a:ea typeface="Corbel"/>
                <a:cs typeface="Corbel"/>
                <a:sym typeface="Corbel"/>
              </a:rPr>
              <a:t>	</a:t>
            </a:r>
            <a:r>
              <a:rPr lang="en-GB" sz="1800">
                <a:solidFill>
                  <a:schemeClr val="lt1"/>
                </a:solidFill>
                <a:latin typeface="Corbel"/>
                <a:ea typeface="Corbel"/>
                <a:cs typeface="Corbel"/>
                <a:sym typeface="Corbel"/>
              </a:rPr>
              <a:t>Transmits some light so that details cannot be seen clearly.  E.g. tracing paper/frosted glass</a:t>
            </a:r>
            <a:endParaRPr>
              <a:latin typeface="Corbel"/>
              <a:ea typeface="Corbel"/>
              <a:cs typeface="Corbel"/>
              <a:sym typeface="Corbel"/>
            </a:endParaRPr>
          </a:p>
        </p:txBody>
      </p:sp>
      <p:sp>
        <p:nvSpPr>
          <p:cNvPr id="206" name="Google Shape;206;p27"/>
          <p:cNvSpPr/>
          <p:nvPr/>
        </p:nvSpPr>
        <p:spPr>
          <a:xfrm>
            <a:off x="3150900" y="2416266"/>
            <a:ext cx="5983500" cy="923400"/>
          </a:xfrm>
          <a:prstGeom prst="rect">
            <a:avLst/>
          </a:prstGeom>
          <a:noFill/>
          <a:ln>
            <a:noFill/>
          </a:ln>
        </p:spPr>
        <p:txBody>
          <a:bodyPr anchorCtr="0" anchor="t" bIns="45700" lIns="91425" spcFirstLastPara="1" rIns="91425" wrap="square" tIns="45700">
            <a:noAutofit/>
          </a:bodyPr>
          <a:lstStyle/>
          <a:p>
            <a:pPr indent="-361950" lvl="0" marL="361950" marR="0" rtl="0" algn="l">
              <a:spcBef>
                <a:spcPts val="0"/>
              </a:spcBef>
              <a:spcAft>
                <a:spcPts val="0"/>
              </a:spcAft>
              <a:buClr>
                <a:srgbClr val="CC00CC"/>
              </a:buClr>
              <a:buSzPts val="1800"/>
              <a:buFont typeface="Corbel"/>
              <a:buChar char="●"/>
            </a:pPr>
            <a:r>
              <a:rPr b="1" lang="en-GB" sz="1800">
                <a:solidFill>
                  <a:srgbClr val="CC00CC"/>
                </a:solidFill>
                <a:latin typeface="Corbel"/>
                <a:ea typeface="Corbel"/>
                <a:cs typeface="Corbel"/>
                <a:sym typeface="Corbel"/>
              </a:rPr>
              <a:t>Opaque</a:t>
            </a:r>
            <a:endParaRPr>
              <a:latin typeface="Corbel"/>
              <a:ea typeface="Corbel"/>
              <a:cs typeface="Corbel"/>
              <a:sym typeface="Corbel"/>
            </a:endParaRPr>
          </a:p>
          <a:p>
            <a:pPr indent="-361950" lvl="0" marL="361950" marR="0" rtl="0" algn="l">
              <a:spcBef>
                <a:spcPts val="0"/>
              </a:spcBef>
              <a:spcAft>
                <a:spcPts val="0"/>
              </a:spcAft>
              <a:buClr>
                <a:srgbClr val="000066"/>
              </a:buClr>
              <a:buSzPts val="1800"/>
              <a:buFont typeface="Noto Sans Symbols"/>
              <a:buNone/>
            </a:pPr>
            <a:r>
              <a:rPr lang="en-GB" sz="1800">
                <a:solidFill>
                  <a:srgbClr val="000066"/>
                </a:solidFill>
                <a:latin typeface="Corbel"/>
                <a:ea typeface="Corbel"/>
                <a:cs typeface="Corbel"/>
                <a:sym typeface="Corbel"/>
              </a:rPr>
              <a:t>	</a:t>
            </a:r>
            <a:r>
              <a:rPr lang="en-GB" sz="1800">
                <a:solidFill>
                  <a:schemeClr val="lt1"/>
                </a:solidFill>
                <a:latin typeface="Corbel"/>
                <a:ea typeface="Corbel"/>
                <a:cs typeface="Corbel"/>
                <a:sym typeface="Corbel"/>
              </a:rPr>
              <a:t>Does not let light transmit.  All light is </a:t>
            </a:r>
            <a:r>
              <a:rPr b="1" lang="en-GB" sz="1800">
                <a:solidFill>
                  <a:schemeClr val="lt1"/>
                </a:solidFill>
                <a:latin typeface="Corbel"/>
                <a:ea typeface="Corbel"/>
                <a:cs typeface="Corbel"/>
                <a:sym typeface="Corbel"/>
              </a:rPr>
              <a:t>absorbed</a:t>
            </a:r>
            <a:r>
              <a:rPr lang="en-GB" sz="1800">
                <a:solidFill>
                  <a:schemeClr val="lt1"/>
                </a:solidFill>
                <a:latin typeface="Corbel"/>
                <a:ea typeface="Corbel"/>
                <a:cs typeface="Corbel"/>
                <a:sym typeface="Corbel"/>
              </a:rPr>
              <a:t> or </a:t>
            </a:r>
            <a:r>
              <a:rPr b="1" lang="en-GB" sz="1800">
                <a:solidFill>
                  <a:schemeClr val="lt1"/>
                </a:solidFill>
                <a:latin typeface="Corbel"/>
                <a:ea typeface="Corbel"/>
                <a:cs typeface="Corbel"/>
                <a:sym typeface="Corbel"/>
              </a:rPr>
              <a:t>reflected</a:t>
            </a:r>
            <a:r>
              <a:rPr lang="en-GB" sz="1800">
                <a:solidFill>
                  <a:schemeClr val="lt1"/>
                </a:solidFill>
                <a:latin typeface="Corbel"/>
                <a:ea typeface="Corbel"/>
                <a:cs typeface="Corbel"/>
                <a:sym typeface="Corbel"/>
              </a:rPr>
              <a:t>.  E.g. wood</a:t>
            </a:r>
            <a:endParaRPr>
              <a:latin typeface="Corbel"/>
              <a:ea typeface="Corbel"/>
              <a:cs typeface="Corbel"/>
              <a:sym typeface="Corbel"/>
            </a:endParaRPr>
          </a:p>
        </p:txBody>
      </p:sp>
      <p:pic>
        <p:nvPicPr>
          <p:cNvPr id="207" name="Google Shape;207;p27"/>
          <p:cNvPicPr preferRelativeResize="0"/>
          <p:nvPr/>
        </p:nvPicPr>
        <p:blipFill rotWithShape="1">
          <a:blip r:embed="rId4">
            <a:alphaModFix/>
          </a:blip>
          <a:srcRect b="0" l="0" r="0" t="0"/>
          <a:stretch/>
        </p:blipFill>
        <p:spPr>
          <a:xfrm>
            <a:off x="3733800" y="3962400"/>
            <a:ext cx="2200275" cy="1785938"/>
          </a:xfrm>
          <a:prstGeom prst="rect">
            <a:avLst/>
          </a:prstGeom>
          <a:noFill/>
          <a:ln>
            <a:noFill/>
          </a:ln>
        </p:spPr>
      </p:pic>
      <p:pic>
        <p:nvPicPr>
          <p:cNvPr id="208" name="Google Shape;208;p27"/>
          <p:cNvPicPr preferRelativeResize="0"/>
          <p:nvPr/>
        </p:nvPicPr>
        <p:blipFill rotWithShape="1">
          <a:blip r:embed="rId5">
            <a:alphaModFix/>
          </a:blip>
          <a:srcRect b="0" l="0" r="0" t="0"/>
          <a:stretch/>
        </p:blipFill>
        <p:spPr>
          <a:xfrm>
            <a:off x="6583681" y="3962400"/>
            <a:ext cx="2414789" cy="2641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type="title"/>
          </p:nvPr>
        </p:nvSpPr>
        <p:spPr>
          <a:xfrm>
            <a:off x="381000" y="278867"/>
            <a:ext cx="7886700" cy="994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4000"/>
              <a:buFont typeface="Comic Sans MS"/>
              <a:buNone/>
            </a:pPr>
            <a:r>
              <a:rPr lang="en-GB"/>
              <a:t>How is light produced?</a:t>
            </a:r>
            <a:endParaRPr/>
          </a:p>
        </p:txBody>
      </p:sp>
      <p:sp>
        <p:nvSpPr>
          <p:cNvPr id="216" name="Google Shape;216;p28"/>
          <p:cNvSpPr txBox="1"/>
          <p:nvPr/>
        </p:nvSpPr>
        <p:spPr>
          <a:xfrm>
            <a:off x="194621" y="1496961"/>
            <a:ext cx="73173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i="0" lang="en-GB" sz="2000" u="none" cap="none" strike="noStrike">
                <a:solidFill>
                  <a:srgbClr val="FFFF00"/>
                </a:solidFill>
                <a:latin typeface="Corbel"/>
                <a:ea typeface="Corbel"/>
                <a:cs typeface="Corbel"/>
                <a:sym typeface="Corbel"/>
              </a:rPr>
              <a:t>Visible light is </a:t>
            </a:r>
            <a:r>
              <a:rPr b="1" i="0" lang="en-GB" sz="2000" u="sng" cap="none" strike="noStrike">
                <a:solidFill>
                  <a:srgbClr val="FFFF00"/>
                </a:solidFill>
                <a:latin typeface="Corbel"/>
                <a:ea typeface="Corbel"/>
                <a:cs typeface="Corbel"/>
                <a:sym typeface="Corbel"/>
              </a:rPr>
              <a:t>emitted</a:t>
            </a:r>
            <a:r>
              <a:rPr i="0" lang="en-GB" sz="2000" u="none" cap="none" strike="noStrike">
                <a:solidFill>
                  <a:srgbClr val="FFFF00"/>
                </a:solidFill>
                <a:latin typeface="Corbel"/>
                <a:ea typeface="Corbel"/>
                <a:cs typeface="Corbel"/>
                <a:sym typeface="Corbel"/>
              </a:rPr>
              <a:t> by very hot objects.</a:t>
            </a:r>
            <a:endParaRPr i="0" sz="1400" u="none" cap="none" strike="noStrike">
              <a:solidFill>
                <a:srgbClr val="000000"/>
              </a:solidFill>
              <a:latin typeface="Corbel"/>
              <a:ea typeface="Corbel"/>
              <a:cs typeface="Corbel"/>
              <a:sym typeface="Corbel"/>
            </a:endParaRPr>
          </a:p>
        </p:txBody>
      </p:sp>
      <p:pic>
        <p:nvPicPr>
          <p:cNvPr descr="neon" id="217" name="Google Shape;217;p28"/>
          <p:cNvPicPr preferRelativeResize="0"/>
          <p:nvPr/>
        </p:nvPicPr>
        <p:blipFill rotWithShape="1">
          <a:blip r:embed="rId3">
            <a:alphaModFix/>
          </a:blip>
          <a:srcRect b="17785" l="0" r="0" t="10674"/>
          <a:stretch/>
        </p:blipFill>
        <p:spPr>
          <a:xfrm>
            <a:off x="304800" y="4343400"/>
            <a:ext cx="2868215" cy="1596628"/>
          </a:xfrm>
          <a:prstGeom prst="rect">
            <a:avLst/>
          </a:prstGeom>
          <a:noFill/>
          <a:ln>
            <a:noFill/>
          </a:ln>
        </p:spPr>
      </p:pic>
      <p:pic>
        <p:nvPicPr>
          <p:cNvPr descr="23_5069" id="218" name="Google Shape;218;p28"/>
          <p:cNvPicPr preferRelativeResize="0"/>
          <p:nvPr/>
        </p:nvPicPr>
        <p:blipFill rotWithShape="1">
          <a:blip r:embed="rId4">
            <a:alphaModFix/>
          </a:blip>
          <a:srcRect b="0" l="0" r="0" t="0"/>
          <a:stretch/>
        </p:blipFill>
        <p:spPr>
          <a:xfrm>
            <a:off x="6705601" y="582591"/>
            <a:ext cx="1562100" cy="1997439"/>
          </a:xfrm>
          <a:prstGeom prst="rect">
            <a:avLst/>
          </a:prstGeom>
          <a:noFill/>
          <a:ln>
            <a:noFill/>
          </a:ln>
        </p:spPr>
      </p:pic>
      <p:sp>
        <p:nvSpPr>
          <p:cNvPr id="219" name="Google Shape;219;p28"/>
          <p:cNvSpPr txBox="1"/>
          <p:nvPr/>
        </p:nvSpPr>
        <p:spPr>
          <a:xfrm>
            <a:off x="3429000" y="4680049"/>
            <a:ext cx="52647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i="0" lang="en-GB" sz="1800" u="none" cap="none" strike="noStrike">
                <a:solidFill>
                  <a:schemeClr val="lt1"/>
                </a:solidFill>
                <a:latin typeface="Corbel"/>
                <a:ea typeface="Corbel"/>
                <a:cs typeface="Corbel"/>
                <a:sym typeface="Corbel"/>
              </a:rPr>
              <a:t>Neon lights contain gases that emit visible light when an electrical current is passed through them. </a:t>
            </a:r>
            <a:endParaRPr i="0" sz="1800" u="none" cap="none" strike="noStrike">
              <a:solidFill>
                <a:schemeClr val="lt1"/>
              </a:solidFill>
              <a:latin typeface="Corbel"/>
              <a:ea typeface="Corbel"/>
              <a:cs typeface="Corbel"/>
              <a:sym typeface="Corbel"/>
            </a:endParaRPr>
          </a:p>
        </p:txBody>
      </p:sp>
      <p:sp>
        <p:nvSpPr>
          <p:cNvPr id="220" name="Google Shape;220;p28"/>
          <p:cNvSpPr/>
          <p:nvPr/>
        </p:nvSpPr>
        <p:spPr>
          <a:xfrm>
            <a:off x="175023" y="1983860"/>
            <a:ext cx="70416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GB" sz="1800" u="none" cap="none" strike="noStrike">
                <a:solidFill>
                  <a:schemeClr val="lt1"/>
                </a:solidFill>
                <a:latin typeface="Corbel"/>
                <a:ea typeface="Corbel"/>
                <a:cs typeface="Corbel"/>
                <a:sym typeface="Corbel"/>
              </a:rPr>
              <a:t>The filament of this light bulb reaches a temperature of 2500°C and glows ‘white hot’.</a:t>
            </a:r>
            <a:endParaRPr i="0" sz="1400" u="none" cap="none" strike="noStrike">
              <a:solidFill>
                <a:srgbClr val="000000"/>
              </a:solidFill>
              <a:latin typeface="Corbel"/>
              <a:ea typeface="Corbel"/>
              <a:cs typeface="Corbel"/>
              <a:sym typeface="Corbel"/>
            </a:endParaRPr>
          </a:p>
        </p:txBody>
      </p:sp>
      <p:sp>
        <p:nvSpPr>
          <p:cNvPr id="221" name="Google Shape;221;p28"/>
          <p:cNvSpPr/>
          <p:nvPr/>
        </p:nvSpPr>
        <p:spPr>
          <a:xfrm>
            <a:off x="194621" y="2877315"/>
            <a:ext cx="4758300" cy="92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GB" sz="1800" u="none" cap="none" strike="noStrike">
                <a:solidFill>
                  <a:schemeClr val="lt1"/>
                </a:solidFill>
                <a:latin typeface="Corbel"/>
                <a:ea typeface="Corbel"/>
                <a:cs typeface="Corbel"/>
                <a:sym typeface="Corbel"/>
              </a:rPr>
              <a:t>The Sun, produces light energy by the </a:t>
            </a:r>
            <a:r>
              <a:rPr i="0" lang="en-GB" sz="1800" u="sng" cap="none" strike="noStrike">
                <a:solidFill>
                  <a:schemeClr val="lt1"/>
                </a:solidFill>
                <a:latin typeface="Corbel"/>
                <a:ea typeface="Corbel"/>
                <a:cs typeface="Corbel"/>
                <a:sym typeface="Corbel"/>
              </a:rPr>
              <a:t>nuclear fusion </a:t>
            </a:r>
            <a:r>
              <a:rPr i="0" lang="en-GB" sz="1800" u="none" cap="none" strike="noStrike">
                <a:solidFill>
                  <a:schemeClr val="lt1"/>
                </a:solidFill>
                <a:latin typeface="Corbel"/>
                <a:ea typeface="Corbel"/>
                <a:cs typeface="Corbel"/>
                <a:sym typeface="Corbel"/>
              </a:rPr>
              <a:t>reactions that take place in the Sun.</a:t>
            </a:r>
            <a:endParaRPr i="0" sz="1400" u="none" cap="none" strike="noStrike">
              <a:solidFill>
                <a:srgbClr val="000000"/>
              </a:solidFill>
              <a:latin typeface="Corbel"/>
              <a:ea typeface="Corbel"/>
              <a:cs typeface="Corbel"/>
              <a:sym typeface="Corbel"/>
            </a:endParaRPr>
          </a:p>
        </p:txBody>
      </p:sp>
      <p:pic>
        <p:nvPicPr>
          <p:cNvPr id="222" name="Google Shape;222;p28"/>
          <p:cNvPicPr preferRelativeResize="0"/>
          <p:nvPr/>
        </p:nvPicPr>
        <p:blipFill rotWithShape="1">
          <a:blip r:embed="rId5">
            <a:alphaModFix/>
          </a:blip>
          <a:srcRect b="0" l="0" r="0" t="0"/>
          <a:stretch/>
        </p:blipFill>
        <p:spPr>
          <a:xfrm>
            <a:off x="5073995" y="2776475"/>
            <a:ext cx="1974850" cy="17869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500"/>
                                        <p:tgtEl>
                                          <p:spTgt spid="218"/>
                                        </p:tgtEl>
                                        <p:attrNameLst>
                                          <p:attrName>ppt_w</p:attrName>
                                        </p:attrNameLst>
                                      </p:cBhvr>
                                      <p:tavLst>
                                        <p:tav fmla="" tm="0">
                                          <p:val>
                                            <p:strVal val="0"/>
                                          </p:val>
                                        </p:tav>
                                        <p:tav fmla="" tm="100000">
                                          <p:val>
                                            <p:strVal val="#ppt_w"/>
                                          </p:val>
                                        </p:tav>
                                      </p:tavLst>
                                    </p:anim>
                                    <p:anim calcmode="lin" valueType="num">
                                      <p:cBhvr additive="base">
                                        <p:cTn dur="500"/>
                                        <p:tgtEl>
                                          <p:spTgt spid="2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500"/>
                                        <p:tgtEl>
                                          <p:spTgt spid="217"/>
                                        </p:tgtEl>
                                        <p:attrNameLst>
                                          <p:attrName>ppt_w</p:attrName>
                                        </p:attrNameLst>
                                      </p:cBhvr>
                                      <p:tavLst>
                                        <p:tav fmla="" tm="0">
                                          <p:val>
                                            <p:strVal val="0"/>
                                          </p:val>
                                        </p:tav>
                                        <p:tav fmla="" tm="100000">
                                          <p:val>
                                            <p:strVal val="#ppt_w"/>
                                          </p:val>
                                        </p:tav>
                                      </p:tavLst>
                                    </p:anim>
                                    <p:anim calcmode="lin" valueType="num">
                                      <p:cBhvr additive="base">
                                        <p:cTn dur="500"/>
                                        <p:tgtEl>
                                          <p:spTgt spid="21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381000" y="465876"/>
            <a:ext cx="7886700" cy="994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4000"/>
              <a:buFont typeface="Comic Sans MS"/>
              <a:buNone/>
            </a:pPr>
            <a:r>
              <a:rPr lang="en-GB"/>
              <a:t>How else can light be produced?</a:t>
            </a:r>
            <a:endParaRPr/>
          </a:p>
        </p:txBody>
      </p:sp>
      <p:sp>
        <p:nvSpPr>
          <p:cNvPr id="230" name="Google Shape;230;p29"/>
          <p:cNvSpPr txBox="1"/>
          <p:nvPr/>
        </p:nvSpPr>
        <p:spPr>
          <a:xfrm>
            <a:off x="3200400" y="3387526"/>
            <a:ext cx="5496000" cy="1816200"/>
          </a:xfrm>
          <a:prstGeom prst="rect">
            <a:avLst/>
          </a:prstGeom>
          <a:noFill/>
          <a:ln>
            <a:noFill/>
          </a:ln>
        </p:spPr>
        <p:txBody>
          <a:bodyPr anchorCtr="0" anchor="t" bIns="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i="0" lang="en-GB" sz="2000" u="none" cap="none" strike="noStrike">
                <a:solidFill>
                  <a:schemeClr val="lt1"/>
                </a:solidFill>
                <a:latin typeface="Corbel"/>
                <a:ea typeface="Corbel"/>
                <a:cs typeface="Corbel"/>
                <a:sym typeface="Corbel"/>
              </a:rPr>
              <a:t>Chemical reactions can also emit energy as visible light. This is called </a:t>
            </a:r>
            <a:r>
              <a:rPr b="1" i="0" lang="en-GB" sz="2000" u="none" cap="none" strike="noStrike">
                <a:solidFill>
                  <a:srgbClr val="CC00CC"/>
                </a:solidFill>
                <a:latin typeface="Corbel"/>
                <a:ea typeface="Corbel"/>
                <a:cs typeface="Corbel"/>
                <a:sym typeface="Corbel"/>
              </a:rPr>
              <a:t>chemiluminescence</a:t>
            </a:r>
            <a:r>
              <a:rPr i="0" lang="en-GB" sz="2000" u="none" cap="none" strike="noStrike">
                <a:solidFill>
                  <a:srgbClr val="010066"/>
                </a:solidFill>
                <a:latin typeface="Corbel"/>
                <a:ea typeface="Corbel"/>
                <a:cs typeface="Corbel"/>
                <a:sym typeface="Corbel"/>
              </a:rPr>
              <a:t>.</a:t>
            </a:r>
            <a:endParaRPr i="0" sz="1600" u="none" cap="none" strike="noStrike">
              <a:solidFill>
                <a:srgbClr val="000000"/>
              </a:solidFill>
              <a:latin typeface="Corbel"/>
              <a:ea typeface="Corbel"/>
              <a:cs typeface="Corbel"/>
              <a:sym typeface="Corbel"/>
            </a:endParaRPr>
          </a:p>
          <a:p>
            <a:pPr indent="0" lvl="0" marL="0" marR="0" rtl="0" algn="l">
              <a:lnSpc>
                <a:spcPct val="100000"/>
              </a:lnSpc>
              <a:spcBef>
                <a:spcPts val="900"/>
              </a:spcBef>
              <a:spcAft>
                <a:spcPts val="0"/>
              </a:spcAft>
              <a:buClr>
                <a:srgbClr val="000000"/>
              </a:buClr>
              <a:buSzPts val="1800"/>
              <a:buFont typeface="Arial"/>
              <a:buNone/>
            </a:pPr>
            <a:r>
              <a:t/>
            </a:r>
            <a:endParaRPr sz="2000">
              <a:solidFill>
                <a:srgbClr val="010066"/>
              </a:solidFill>
              <a:latin typeface="Corbel"/>
              <a:ea typeface="Corbel"/>
              <a:cs typeface="Corbel"/>
              <a:sym typeface="Corbel"/>
            </a:endParaRPr>
          </a:p>
          <a:p>
            <a:pPr indent="0" lvl="0" marL="0" marR="0" rtl="0" algn="l">
              <a:lnSpc>
                <a:spcPct val="100000"/>
              </a:lnSpc>
              <a:spcBef>
                <a:spcPts val="900"/>
              </a:spcBef>
              <a:spcAft>
                <a:spcPts val="0"/>
              </a:spcAft>
              <a:buClr>
                <a:srgbClr val="000000"/>
              </a:buClr>
              <a:buSzPts val="1800"/>
              <a:buFont typeface="Arial"/>
              <a:buNone/>
            </a:pPr>
            <a:r>
              <a:rPr i="0" lang="en-GB" sz="2000" u="none" cap="none" strike="noStrike">
                <a:solidFill>
                  <a:schemeClr val="lt1"/>
                </a:solidFill>
                <a:latin typeface="Corbel"/>
                <a:ea typeface="Corbel"/>
                <a:cs typeface="Corbel"/>
                <a:sym typeface="Corbel"/>
              </a:rPr>
              <a:t>Some biological organisms have the ability to produce light. This is </a:t>
            </a:r>
            <a:r>
              <a:rPr b="1" i="0" lang="en-GB" sz="2000" u="none" cap="none" strike="noStrike">
                <a:solidFill>
                  <a:srgbClr val="CC00CC"/>
                </a:solidFill>
                <a:latin typeface="Corbel"/>
                <a:ea typeface="Corbel"/>
                <a:cs typeface="Corbel"/>
                <a:sym typeface="Corbel"/>
              </a:rPr>
              <a:t>bioluminescence</a:t>
            </a:r>
            <a:r>
              <a:rPr i="0" lang="en-GB" sz="2000" u="none" cap="none" strike="noStrike">
                <a:solidFill>
                  <a:srgbClr val="010066"/>
                </a:solidFill>
                <a:latin typeface="Corbel"/>
                <a:ea typeface="Corbel"/>
                <a:cs typeface="Corbel"/>
                <a:sym typeface="Corbel"/>
              </a:rPr>
              <a:t>.</a:t>
            </a:r>
            <a:endParaRPr i="0" sz="2000" u="none" cap="none" strike="noStrike">
              <a:solidFill>
                <a:srgbClr val="000066"/>
              </a:solidFill>
              <a:latin typeface="Corbel"/>
              <a:ea typeface="Corbel"/>
              <a:cs typeface="Corbel"/>
              <a:sym typeface="Corbel"/>
            </a:endParaRPr>
          </a:p>
        </p:txBody>
      </p:sp>
      <p:sp>
        <p:nvSpPr>
          <p:cNvPr id="231" name="Google Shape;231;p29"/>
          <p:cNvSpPr txBox="1"/>
          <p:nvPr/>
        </p:nvSpPr>
        <p:spPr>
          <a:xfrm>
            <a:off x="47297" y="1902152"/>
            <a:ext cx="62253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i="0" lang="en-GB" sz="2000" u="none" cap="none" strike="noStrike">
                <a:solidFill>
                  <a:schemeClr val="lt1"/>
                </a:solidFill>
                <a:latin typeface="Corbel"/>
                <a:ea typeface="Corbel"/>
                <a:cs typeface="Corbel"/>
                <a:sym typeface="Corbel"/>
              </a:rPr>
              <a:t>Certain chemicals can emit visible light when struck by ultraviolet radiation. This process is called </a:t>
            </a:r>
            <a:r>
              <a:rPr b="1" i="0" lang="en-GB" sz="2000" u="none" cap="none" strike="noStrike">
                <a:solidFill>
                  <a:srgbClr val="CC00CC"/>
                </a:solidFill>
                <a:latin typeface="Corbel"/>
                <a:ea typeface="Corbel"/>
                <a:cs typeface="Corbel"/>
                <a:sym typeface="Corbel"/>
              </a:rPr>
              <a:t>fluorescence</a:t>
            </a:r>
            <a:r>
              <a:rPr i="0" lang="en-GB" sz="2000" u="none" cap="none" strike="noStrike">
                <a:solidFill>
                  <a:srgbClr val="010066"/>
                </a:solidFill>
                <a:latin typeface="Corbel"/>
                <a:ea typeface="Corbel"/>
                <a:cs typeface="Corbel"/>
                <a:sym typeface="Corbel"/>
              </a:rPr>
              <a:t>. </a:t>
            </a:r>
            <a:endParaRPr i="0" sz="1600" u="none" cap="none" strike="noStrike">
              <a:solidFill>
                <a:srgbClr val="000000"/>
              </a:solidFill>
              <a:latin typeface="Corbel"/>
              <a:ea typeface="Corbel"/>
              <a:cs typeface="Corbel"/>
              <a:sym typeface="Corbel"/>
            </a:endParaRPr>
          </a:p>
        </p:txBody>
      </p:sp>
      <p:pic>
        <p:nvPicPr>
          <p:cNvPr descr="fluorescent light" id="232" name="Google Shape;232;p29"/>
          <p:cNvPicPr preferRelativeResize="0"/>
          <p:nvPr/>
        </p:nvPicPr>
        <p:blipFill rotWithShape="1">
          <a:blip r:embed="rId3">
            <a:alphaModFix/>
          </a:blip>
          <a:srcRect b="12758" l="0" r="0" t="10935"/>
          <a:stretch/>
        </p:blipFill>
        <p:spPr>
          <a:xfrm>
            <a:off x="6530240" y="1737547"/>
            <a:ext cx="2465783" cy="1031081"/>
          </a:xfrm>
          <a:prstGeom prst="rect">
            <a:avLst/>
          </a:prstGeom>
          <a:noFill/>
          <a:ln>
            <a:noFill/>
          </a:ln>
        </p:spPr>
      </p:pic>
      <p:pic>
        <p:nvPicPr>
          <p:cNvPr descr="JM_map" id="233" name="Google Shape;233;p29"/>
          <p:cNvPicPr preferRelativeResize="0"/>
          <p:nvPr/>
        </p:nvPicPr>
        <p:blipFill rotWithShape="1">
          <a:blip r:embed="rId4">
            <a:alphaModFix/>
          </a:blip>
          <a:srcRect b="11583" l="0" r="0" t="0"/>
          <a:stretch/>
        </p:blipFill>
        <p:spPr>
          <a:xfrm>
            <a:off x="130331" y="3200400"/>
            <a:ext cx="2726530" cy="15942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352426" y="228600"/>
            <a:ext cx="7680900" cy="1066800"/>
          </a:xfrm>
          <a:prstGeom prst="rect">
            <a:avLst/>
          </a:prstGeom>
        </p:spPr>
        <p:txBody>
          <a:bodyPr anchorCtr="0" anchor="b" bIns="45700" lIns="91425" spcFirstLastPara="1" rIns="91425" wrap="square" tIns="45700">
            <a:normAutofit/>
          </a:bodyPr>
          <a:lstStyle/>
          <a:p>
            <a:pPr indent="0" lvl="0" marL="0" rtl="0" algn="l">
              <a:spcBef>
                <a:spcPts val="400"/>
              </a:spcBef>
              <a:spcAft>
                <a:spcPts val="0"/>
              </a:spcAft>
              <a:buNone/>
            </a:pPr>
            <a:r>
              <a:rPr lang="en-GB"/>
              <a:t>Bioluminescence (Hobart)</a:t>
            </a:r>
            <a:r>
              <a:rPr lang="en-GB"/>
              <a:t> </a:t>
            </a:r>
            <a:endParaRPr/>
          </a:p>
        </p:txBody>
      </p:sp>
      <p:pic>
        <p:nvPicPr>
          <p:cNvPr id="240" name="Google Shape;240;p30"/>
          <p:cNvPicPr preferRelativeResize="0"/>
          <p:nvPr/>
        </p:nvPicPr>
        <p:blipFill>
          <a:blip r:embed="rId3">
            <a:alphaModFix/>
          </a:blip>
          <a:stretch>
            <a:fillRect/>
          </a:stretch>
        </p:blipFill>
        <p:spPr>
          <a:xfrm>
            <a:off x="642938" y="1295400"/>
            <a:ext cx="7858125" cy="5257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352426" y="228600"/>
            <a:ext cx="8639100" cy="1066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Corbel"/>
              <a:buNone/>
            </a:pPr>
            <a:r>
              <a:rPr lang="en-GB"/>
              <a:t>The Earth’s Rotation: Watch a few rotations</a:t>
            </a:r>
            <a:endParaRPr/>
          </a:p>
        </p:txBody>
      </p:sp>
      <p:pic>
        <p:nvPicPr>
          <p:cNvPr id="246" name="Google Shape;246;p31">
            <a:hlinkClick r:id="rId3"/>
          </p:cNvPr>
          <p:cNvPicPr preferRelativeResize="0"/>
          <p:nvPr/>
        </p:nvPicPr>
        <p:blipFill rotWithShape="1">
          <a:blip r:embed="rId4">
            <a:alphaModFix/>
          </a:blip>
          <a:srcRect b="0" l="0" r="0" t="0"/>
          <a:stretch/>
        </p:blipFill>
        <p:spPr>
          <a:xfrm>
            <a:off x="1600199" y="1676400"/>
            <a:ext cx="6696075" cy="447826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idx="1" type="body"/>
          </p:nvPr>
        </p:nvSpPr>
        <p:spPr>
          <a:xfrm>
            <a:off x="352426" y="1463040"/>
            <a:ext cx="8639100" cy="5090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GB"/>
              <a:t>(3 minutes)</a:t>
            </a:r>
            <a:endParaRPr/>
          </a:p>
          <a:p>
            <a:pPr indent="0" lvl="0" marL="0" rtl="0" algn="l">
              <a:lnSpc>
                <a:spcPct val="100000"/>
              </a:lnSpc>
              <a:spcBef>
                <a:spcPts val="1200"/>
              </a:spcBef>
              <a:spcAft>
                <a:spcPts val="0"/>
              </a:spcAft>
              <a:buSzPts val="2800"/>
              <a:buNone/>
            </a:pPr>
            <a:r>
              <a:t/>
            </a:r>
            <a:endParaRPr/>
          </a:p>
          <a:p>
            <a:pPr indent="0" lvl="0" marL="0" rtl="0" algn="l">
              <a:lnSpc>
                <a:spcPct val="100000"/>
              </a:lnSpc>
              <a:spcBef>
                <a:spcPts val="1200"/>
              </a:spcBef>
              <a:spcAft>
                <a:spcPts val="0"/>
              </a:spcAft>
              <a:buSzPts val="2800"/>
              <a:buNone/>
            </a:pPr>
            <a:r>
              <a:rPr lang="en-GB"/>
              <a:t>Write a summary sentence to explain why we experience day and night.</a:t>
            </a:r>
            <a:endParaRPr/>
          </a:p>
          <a:p>
            <a:pPr indent="0" lvl="0" marL="0" rtl="0" algn="l">
              <a:lnSpc>
                <a:spcPct val="100000"/>
              </a:lnSpc>
              <a:spcBef>
                <a:spcPts val="1200"/>
              </a:spcBef>
              <a:spcAft>
                <a:spcPts val="0"/>
              </a:spcAft>
              <a:buSzPts val="2800"/>
              <a:buNone/>
            </a:pPr>
            <a:r>
              <a:rPr lang="en-GB"/>
              <a:t>You must use the following words:</a:t>
            </a:r>
            <a:endParaRPr/>
          </a:p>
          <a:p>
            <a:pPr indent="0" lvl="0" marL="0" rtl="0" algn="l">
              <a:lnSpc>
                <a:spcPct val="100000"/>
              </a:lnSpc>
              <a:spcBef>
                <a:spcPts val="1200"/>
              </a:spcBef>
              <a:spcAft>
                <a:spcPts val="0"/>
              </a:spcAft>
              <a:buSzPts val="2800"/>
              <a:buNone/>
            </a:pPr>
            <a:r>
              <a:t/>
            </a:r>
            <a:endParaRPr/>
          </a:p>
          <a:p>
            <a:pPr indent="0" lvl="0" marL="0" rtl="0" algn="l">
              <a:lnSpc>
                <a:spcPct val="100000"/>
              </a:lnSpc>
              <a:spcBef>
                <a:spcPts val="1200"/>
              </a:spcBef>
              <a:spcAft>
                <a:spcPts val="0"/>
              </a:spcAft>
              <a:buSzPts val="2800"/>
              <a:buNone/>
            </a:pPr>
            <a:r>
              <a:rPr lang="en-GB"/>
              <a:t>LIGHT		EARTH		ROTATE		OPAQUE			SHADOW	</a:t>
            </a:r>
            <a:endParaRPr/>
          </a:p>
          <a:p>
            <a:pPr indent="0" lvl="0" marL="0" rtl="0" algn="l">
              <a:lnSpc>
                <a:spcPct val="100000"/>
              </a:lnSpc>
              <a:spcBef>
                <a:spcPts val="1200"/>
              </a:spcBef>
              <a:spcAft>
                <a:spcPts val="0"/>
              </a:spcAft>
              <a:buSzPts val="2800"/>
              <a:buNone/>
            </a:pPr>
            <a:r>
              <a:rPr lang="en-GB"/>
              <a:t>STRAIGHT LINE</a:t>
            </a:r>
            <a:endParaRPr/>
          </a:p>
        </p:txBody>
      </p:sp>
      <p:sp>
        <p:nvSpPr>
          <p:cNvPr id="252" name="Google Shape;252;p32"/>
          <p:cNvSpPr txBox="1"/>
          <p:nvPr>
            <p:ph type="title"/>
          </p:nvPr>
        </p:nvSpPr>
        <p:spPr>
          <a:xfrm>
            <a:off x="352426" y="228600"/>
            <a:ext cx="8639100" cy="1066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4000"/>
              <a:buFont typeface="Corbel"/>
              <a:buNone/>
            </a:pPr>
            <a:r>
              <a:rPr lang="en-GB"/>
              <a:t>Summary Sentence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3"/>
          <p:cNvSpPr txBox="1"/>
          <p:nvPr>
            <p:ph idx="1" type="body"/>
          </p:nvPr>
        </p:nvSpPr>
        <p:spPr>
          <a:xfrm>
            <a:off x="352426" y="1463040"/>
            <a:ext cx="8639100" cy="5090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GB"/>
              <a:t>As the </a:t>
            </a:r>
            <a:r>
              <a:rPr lang="en-GB">
                <a:solidFill>
                  <a:srgbClr val="FFFF00"/>
                </a:solidFill>
              </a:rPr>
              <a:t>Earth</a:t>
            </a:r>
            <a:r>
              <a:rPr lang="en-GB"/>
              <a:t> </a:t>
            </a:r>
            <a:r>
              <a:rPr lang="en-GB">
                <a:solidFill>
                  <a:srgbClr val="FFFF00"/>
                </a:solidFill>
              </a:rPr>
              <a:t>rotates</a:t>
            </a:r>
            <a:r>
              <a:rPr lang="en-GB"/>
              <a:t>, </a:t>
            </a:r>
            <a:r>
              <a:rPr lang="en-GB">
                <a:solidFill>
                  <a:srgbClr val="FFFF00"/>
                </a:solidFill>
              </a:rPr>
              <a:t>light</a:t>
            </a:r>
            <a:r>
              <a:rPr lang="en-GB"/>
              <a:t> falls on the area facing the </a:t>
            </a:r>
            <a:endParaRPr/>
          </a:p>
          <a:p>
            <a:pPr indent="0" lvl="0" marL="0" rtl="0" algn="l">
              <a:lnSpc>
                <a:spcPct val="100000"/>
              </a:lnSpc>
              <a:spcBef>
                <a:spcPts val="1200"/>
              </a:spcBef>
              <a:spcAft>
                <a:spcPts val="0"/>
              </a:spcAft>
              <a:buSzPts val="2800"/>
              <a:buNone/>
            </a:pPr>
            <a:r>
              <a:rPr lang="en-GB"/>
              <a:t>sun causing daytime; because </a:t>
            </a:r>
            <a:r>
              <a:rPr lang="en-GB">
                <a:solidFill>
                  <a:srgbClr val="FFFF00"/>
                </a:solidFill>
              </a:rPr>
              <a:t>light</a:t>
            </a:r>
            <a:r>
              <a:rPr lang="en-GB"/>
              <a:t> travels in a </a:t>
            </a:r>
            <a:r>
              <a:rPr lang="en-GB">
                <a:solidFill>
                  <a:srgbClr val="FFFF00"/>
                </a:solidFill>
              </a:rPr>
              <a:t>straight </a:t>
            </a:r>
            <a:endParaRPr/>
          </a:p>
          <a:p>
            <a:pPr indent="0" lvl="0" marL="0" rtl="0" algn="l">
              <a:lnSpc>
                <a:spcPct val="100000"/>
              </a:lnSpc>
              <a:spcBef>
                <a:spcPts val="1200"/>
              </a:spcBef>
              <a:spcAft>
                <a:spcPts val="0"/>
              </a:spcAft>
              <a:buSzPts val="2800"/>
              <a:buNone/>
            </a:pPr>
            <a:r>
              <a:rPr lang="en-GB">
                <a:solidFill>
                  <a:srgbClr val="FFFF00"/>
                </a:solidFill>
              </a:rPr>
              <a:t>line</a:t>
            </a:r>
            <a:r>
              <a:rPr lang="en-GB"/>
              <a:t> and </a:t>
            </a:r>
            <a:r>
              <a:rPr lang="en-GB">
                <a:solidFill>
                  <a:srgbClr val="FFFF00"/>
                </a:solidFill>
              </a:rPr>
              <a:t>Earth</a:t>
            </a:r>
            <a:r>
              <a:rPr lang="en-GB"/>
              <a:t> is </a:t>
            </a:r>
            <a:r>
              <a:rPr lang="en-GB">
                <a:solidFill>
                  <a:srgbClr val="FFFF00"/>
                </a:solidFill>
              </a:rPr>
              <a:t>opaque</a:t>
            </a:r>
            <a:r>
              <a:rPr lang="en-GB"/>
              <a:t>, the other side is in </a:t>
            </a:r>
            <a:r>
              <a:rPr lang="en-GB">
                <a:solidFill>
                  <a:srgbClr val="FFFF00"/>
                </a:solidFill>
              </a:rPr>
              <a:t>shadow</a:t>
            </a:r>
            <a:r>
              <a:rPr lang="en-GB"/>
              <a:t>, </a:t>
            </a:r>
            <a:endParaRPr/>
          </a:p>
          <a:p>
            <a:pPr indent="0" lvl="0" marL="0" rtl="0" algn="l">
              <a:lnSpc>
                <a:spcPct val="100000"/>
              </a:lnSpc>
              <a:spcBef>
                <a:spcPts val="1200"/>
              </a:spcBef>
              <a:spcAft>
                <a:spcPts val="0"/>
              </a:spcAft>
              <a:buSzPts val="2800"/>
              <a:buNone/>
            </a:pPr>
            <a:r>
              <a:rPr lang="en-GB"/>
              <a:t>causing night time.  </a:t>
            </a:r>
            <a:endParaRPr/>
          </a:p>
          <a:p>
            <a:pPr indent="0" lvl="0" marL="0" rtl="0" algn="l">
              <a:lnSpc>
                <a:spcPct val="100000"/>
              </a:lnSpc>
              <a:spcBef>
                <a:spcPts val="1200"/>
              </a:spcBef>
              <a:spcAft>
                <a:spcPts val="0"/>
              </a:spcAft>
              <a:buSzPts val="2800"/>
              <a:buNone/>
            </a:pPr>
            <a:r>
              <a:t/>
            </a:r>
            <a:endParaRPr/>
          </a:p>
          <a:p>
            <a:pPr indent="0" lvl="0" marL="0" rtl="0" algn="l">
              <a:lnSpc>
                <a:spcPct val="100000"/>
              </a:lnSpc>
              <a:spcBef>
                <a:spcPts val="1200"/>
              </a:spcBef>
              <a:spcAft>
                <a:spcPts val="0"/>
              </a:spcAft>
              <a:buSzPts val="2800"/>
              <a:buNone/>
            </a:pPr>
            <a:r>
              <a:t/>
            </a:r>
            <a:endParaRPr/>
          </a:p>
        </p:txBody>
      </p:sp>
      <p:sp>
        <p:nvSpPr>
          <p:cNvPr id="258" name="Google Shape;258;p33"/>
          <p:cNvSpPr txBox="1"/>
          <p:nvPr>
            <p:ph type="title"/>
          </p:nvPr>
        </p:nvSpPr>
        <p:spPr>
          <a:xfrm>
            <a:off x="352426" y="228600"/>
            <a:ext cx="8639100" cy="10668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4000"/>
              <a:buFont typeface="Corbel"/>
              <a:buNone/>
            </a:pPr>
            <a:r>
              <a:rPr lang="en-GB"/>
              <a:t>Day and Night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idx="1" type="body"/>
          </p:nvPr>
        </p:nvSpPr>
        <p:spPr>
          <a:xfrm>
            <a:off x="352426" y="1463040"/>
            <a:ext cx="8639100" cy="5090100"/>
          </a:xfrm>
          <a:prstGeom prst="rect">
            <a:avLst/>
          </a:prstGeom>
        </p:spPr>
        <p:txBody>
          <a:bodyPr anchorCtr="0" anchor="t" bIns="45700" lIns="91425" spcFirstLastPara="1" rIns="91425" wrap="square" tIns="45700">
            <a:normAutofit/>
          </a:bodyPr>
          <a:lstStyle/>
          <a:p>
            <a:pPr indent="0" lvl="0" marL="0" rtl="0" algn="l">
              <a:spcBef>
                <a:spcPts val="1200"/>
              </a:spcBef>
              <a:spcAft>
                <a:spcPts val="0"/>
              </a:spcAft>
              <a:buNone/>
            </a:pPr>
            <a:r>
              <a:rPr lang="en-GB"/>
              <a:t>Light Box and Refraction</a:t>
            </a:r>
            <a:endParaRPr/>
          </a:p>
          <a:p>
            <a:pPr indent="0" lvl="0" marL="0" rtl="0" algn="l">
              <a:spcBef>
                <a:spcPts val="1200"/>
              </a:spcBef>
              <a:spcAft>
                <a:spcPts val="0"/>
              </a:spcAft>
              <a:buNone/>
            </a:pPr>
            <a:r>
              <a:t/>
            </a:r>
            <a:endParaRPr/>
          </a:p>
        </p:txBody>
      </p:sp>
      <p:sp>
        <p:nvSpPr>
          <p:cNvPr id="265" name="Google Shape;265;p34"/>
          <p:cNvSpPr txBox="1"/>
          <p:nvPr>
            <p:ph type="title"/>
          </p:nvPr>
        </p:nvSpPr>
        <p:spPr>
          <a:xfrm>
            <a:off x="352426" y="228600"/>
            <a:ext cx="8639100" cy="1066800"/>
          </a:xfrm>
          <a:prstGeom prst="rect">
            <a:avLst/>
          </a:prstGeom>
        </p:spPr>
        <p:txBody>
          <a:bodyPr anchorCtr="0" anchor="b" bIns="45700" lIns="91425" spcFirstLastPara="1" rIns="91425" wrap="square" tIns="45700">
            <a:normAutofit/>
          </a:bodyPr>
          <a:lstStyle/>
          <a:p>
            <a:pPr indent="0" lvl="0" marL="0" rtl="0" algn="l">
              <a:spcBef>
                <a:spcPts val="400"/>
              </a:spcBef>
              <a:spcAft>
                <a:spcPts val="0"/>
              </a:spcAft>
              <a:buNone/>
            </a:pPr>
            <a:r>
              <a:rPr lang="en-GB"/>
              <a:t>Practical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ylar">
  <a:themeElements>
    <a:clrScheme name="Mylar">
      <a:dk1>
        <a:srgbClr val="000000"/>
      </a:dk1>
      <a:lt1>
        <a:srgbClr val="FFFFFF"/>
      </a:lt1>
      <a:dk2>
        <a:srgbClr val="656162"/>
      </a:dk2>
      <a:lt2>
        <a:srgbClr val="E0DACC"/>
      </a:lt2>
      <a:accent1>
        <a:srgbClr val="4A5A7A"/>
      </a:accent1>
      <a:accent2>
        <a:srgbClr val="F7BD40"/>
      </a:accent2>
      <a:accent3>
        <a:srgbClr val="975C00"/>
      </a:accent3>
      <a:accent4>
        <a:srgbClr val="754D41"/>
      </a:accent4>
      <a:accent5>
        <a:srgbClr val="838995"/>
      </a:accent5>
      <a:accent6>
        <a:srgbClr val="687B66"/>
      </a:accent6>
      <a:hlink>
        <a:srgbClr val="B5740B"/>
      </a:hlink>
      <a:folHlink>
        <a:srgbClr val="7483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