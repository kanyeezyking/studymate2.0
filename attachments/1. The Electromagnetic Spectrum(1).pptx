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1"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20" Type="http://schemas.openxmlformats.org/officeDocument/2006/relationships/slide" Target="slides/slide16.xml"/><Relationship Id="rId42" Type="http://schemas.openxmlformats.org/officeDocument/2006/relationships/slide" Target="slides/slide38.xml"/><Relationship Id="rId41" Type="http://schemas.openxmlformats.org/officeDocument/2006/relationships/slide" Target="slides/slide37.xml"/><Relationship Id="rId22" Type="http://schemas.openxmlformats.org/officeDocument/2006/relationships/slide" Target="slides/slide18.xml"/><Relationship Id="rId44" Type="http://schemas.openxmlformats.org/officeDocument/2006/relationships/slide" Target="slides/slide40.xml"/><Relationship Id="rId21" Type="http://schemas.openxmlformats.org/officeDocument/2006/relationships/slide" Target="slides/slide17.xml"/><Relationship Id="rId43" Type="http://schemas.openxmlformats.org/officeDocument/2006/relationships/slide" Target="slides/slide39.xml"/><Relationship Id="rId24" Type="http://schemas.openxmlformats.org/officeDocument/2006/relationships/slide" Target="slides/slide20.xml"/><Relationship Id="rId46" Type="http://schemas.openxmlformats.org/officeDocument/2006/relationships/slide" Target="slides/slide42.xml"/><Relationship Id="rId23" Type="http://schemas.openxmlformats.org/officeDocument/2006/relationships/slide" Target="slides/slide19.xml"/><Relationship Id="rId45" Type="http://schemas.openxmlformats.org/officeDocument/2006/relationships/slide" Target="slides/slide41.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slide" Target="slides/slide31.xml"/><Relationship Id="rId12" Type="http://schemas.openxmlformats.org/officeDocument/2006/relationships/slide" Target="slides/slide8.xml"/><Relationship Id="rId34" Type="http://schemas.openxmlformats.org/officeDocument/2006/relationships/slide" Target="slides/slide30.xml"/><Relationship Id="rId15" Type="http://schemas.openxmlformats.org/officeDocument/2006/relationships/slide" Target="slides/slide11.xml"/><Relationship Id="rId37" Type="http://schemas.openxmlformats.org/officeDocument/2006/relationships/slide" Target="slides/slide33.xml"/><Relationship Id="rId14" Type="http://schemas.openxmlformats.org/officeDocument/2006/relationships/slide" Target="slides/slide10.xml"/><Relationship Id="rId36" Type="http://schemas.openxmlformats.org/officeDocument/2006/relationships/slide" Target="slides/slide32.xml"/><Relationship Id="rId17" Type="http://schemas.openxmlformats.org/officeDocument/2006/relationships/slide" Target="slides/slide13.xml"/><Relationship Id="rId39" Type="http://schemas.openxmlformats.org/officeDocument/2006/relationships/slide" Target="slides/slide35.xml"/><Relationship Id="rId16" Type="http://schemas.openxmlformats.org/officeDocument/2006/relationships/slide" Target="slides/slide12.xml"/><Relationship Id="rId38" Type="http://schemas.openxmlformats.org/officeDocument/2006/relationships/slide" Target="slides/slide34.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GB"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 name="Google Shape;100;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GB"/>
              <a:t>Show its amplitude?</a:t>
            </a:r>
            <a:endParaRPr/>
          </a:p>
          <a:p>
            <a:pPr indent="0" lvl="0" marL="0" rtl="0" algn="l">
              <a:spcBef>
                <a:spcPts val="0"/>
              </a:spcBef>
              <a:spcAft>
                <a:spcPts val="0"/>
              </a:spcAft>
              <a:buNone/>
            </a:pPr>
            <a:r>
              <a:rPr lang="en-GB"/>
              <a:t>The height of a wave from the normal/baseline</a:t>
            </a:r>
            <a:endParaRPr/>
          </a:p>
          <a:p>
            <a:pPr indent="0" lvl="0" marL="0" rtl="0" algn="l">
              <a:spcBef>
                <a:spcPts val="0"/>
              </a:spcBef>
              <a:spcAft>
                <a:spcPts val="0"/>
              </a:spcAft>
              <a:buNone/>
            </a:pPr>
            <a:r>
              <a:rPr lang="en-GB"/>
              <a:t>What is its frequency (f)?</a:t>
            </a:r>
            <a:endParaRPr/>
          </a:p>
          <a:p>
            <a:pPr indent="0" lvl="0" marL="0" rtl="0" algn="l">
              <a:spcBef>
                <a:spcPts val="0"/>
              </a:spcBef>
              <a:spcAft>
                <a:spcPts val="0"/>
              </a:spcAft>
              <a:buNone/>
            </a:pPr>
            <a:r>
              <a:rPr lang="en-GB"/>
              <a:t>The number of complete wavelength passing a point each second. </a:t>
            </a:r>
            <a:endParaRPr/>
          </a:p>
          <a:p>
            <a:pPr indent="0" lvl="0" marL="0" rtl="0" algn="l">
              <a:spcBef>
                <a:spcPts val="0"/>
              </a:spcBef>
              <a:spcAft>
                <a:spcPts val="0"/>
              </a:spcAft>
              <a:buNone/>
            </a:pPr>
            <a:r>
              <a:rPr lang="en-GB"/>
              <a:t>Measured in Hertz (Hz).</a:t>
            </a:r>
            <a:endParaRPr/>
          </a:p>
          <a:p>
            <a:pPr indent="0" lvl="0" marL="0" rtl="0" algn="l">
              <a:spcBef>
                <a:spcPts val="0"/>
              </a:spcBef>
              <a:spcAft>
                <a:spcPts val="0"/>
              </a:spcAft>
              <a:buNone/>
            </a:pPr>
            <a:r>
              <a:t/>
            </a:r>
            <a:endParaRPr/>
          </a:p>
        </p:txBody>
      </p:sp>
      <p:sp>
        <p:nvSpPr>
          <p:cNvPr id="108" name="Google Shape;108;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7389bbb6b8_1_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7389bbb6b8_1_1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7" name="Google Shape;117;g37389bbb6b8_1_1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3" name="Google Shape;123;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152" name="Google Shape;152;p4:notes"/>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sz="1200">
                <a:solidFill>
                  <a:schemeClr val="dk1"/>
                </a:solidFill>
                <a:latin typeface="Arial"/>
                <a:ea typeface="Arial"/>
                <a:cs typeface="Arial"/>
                <a:sym typeface="Arial"/>
              </a:rPr>
              <a:t>Boardworks GCSE Science: Physics</a:t>
            </a:r>
            <a:endParaRPr/>
          </a:p>
          <a:p>
            <a:pPr indent="0" lvl="0" marL="0" rtl="0" algn="l">
              <a:spcBef>
                <a:spcPts val="0"/>
              </a:spcBef>
              <a:spcAft>
                <a:spcPts val="0"/>
              </a:spcAft>
              <a:buNone/>
            </a:pPr>
            <a:r>
              <a:rPr lang="en-GB" sz="1200">
                <a:solidFill>
                  <a:schemeClr val="dk1"/>
                </a:solidFill>
                <a:latin typeface="Arial"/>
                <a:ea typeface="Arial"/>
                <a:cs typeface="Arial"/>
                <a:sym typeface="Arial"/>
              </a:rPr>
              <a:t>Electromagnetic Waves</a:t>
            </a:r>
            <a:endParaRPr/>
          </a:p>
        </p:txBody>
      </p:sp>
      <p:sp>
        <p:nvSpPr>
          <p:cNvPr id="153" name="Google Shape;153;p4:notes"/>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4" name="Google Shape;154;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188" name="Google Shape;188;p5:notes"/>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sz="1200">
                <a:solidFill>
                  <a:schemeClr val="dk1"/>
                </a:solidFill>
                <a:latin typeface="Arial"/>
                <a:ea typeface="Arial"/>
                <a:cs typeface="Arial"/>
                <a:sym typeface="Arial"/>
              </a:rPr>
              <a:t>Boardworks GCSE Science: Physics</a:t>
            </a:r>
            <a:endParaRPr/>
          </a:p>
          <a:p>
            <a:pPr indent="0" lvl="0" marL="0" rtl="0" algn="l">
              <a:spcBef>
                <a:spcPts val="0"/>
              </a:spcBef>
              <a:spcAft>
                <a:spcPts val="0"/>
              </a:spcAft>
              <a:buNone/>
            </a:pPr>
            <a:r>
              <a:rPr lang="en-GB" sz="1200">
                <a:solidFill>
                  <a:schemeClr val="dk1"/>
                </a:solidFill>
                <a:latin typeface="Arial"/>
                <a:ea typeface="Arial"/>
                <a:cs typeface="Arial"/>
                <a:sym typeface="Arial"/>
              </a:rPr>
              <a:t>Electromagnetic Waves</a:t>
            </a:r>
            <a:endParaRPr/>
          </a:p>
        </p:txBody>
      </p:sp>
      <p:sp>
        <p:nvSpPr>
          <p:cNvPr id="189" name="Google Shape;189;p5:notes"/>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0" name="Google Shape;190;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GB"/>
              <a:t>Photo credit: </a:t>
            </a:r>
            <a:r>
              <a:rPr lang="en-GB"/>
              <a:t>© 2006 Jupiterimages Corporation</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2" name="Google Shape;202;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7" name="Google Shape;207;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214" name="Google Shape;214;p8:notes"/>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sz="1200">
                <a:solidFill>
                  <a:schemeClr val="dk1"/>
                </a:solidFill>
                <a:latin typeface="Arial"/>
                <a:ea typeface="Arial"/>
                <a:cs typeface="Arial"/>
                <a:sym typeface="Arial"/>
              </a:rPr>
              <a:t>Boardworks GCSE Science: Physics</a:t>
            </a:r>
            <a:endParaRPr/>
          </a:p>
          <a:p>
            <a:pPr indent="0" lvl="0" marL="0" rtl="0" algn="l">
              <a:spcBef>
                <a:spcPts val="0"/>
              </a:spcBef>
              <a:spcAft>
                <a:spcPts val="0"/>
              </a:spcAft>
              <a:buNone/>
            </a:pPr>
            <a:r>
              <a:rPr lang="en-GB" sz="1200">
                <a:solidFill>
                  <a:schemeClr val="dk1"/>
                </a:solidFill>
                <a:latin typeface="Arial"/>
                <a:ea typeface="Arial"/>
                <a:cs typeface="Arial"/>
                <a:sym typeface="Arial"/>
              </a:rPr>
              <a:t>Electromagnetic Waves</a:t>
            </a:r>
            <a:endParaRPr/>
          </a:p>
        </p:txBody>
      </p:sp>
      <p:sp>
        <p:nvSpPr>
          <p:cNvPr id="215" name="Google Shape;215;p8:notes"/>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6" name="Google Shape;216;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GB"/>
              <a:t>Photo credit: </a:t>
            </a:r>
            <a:r>
              <a:rPr lang="en-GB"/>
              <a:t>© 2006 Jupiterimages Corporation</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6" name="Google Shape;226;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1" name="Google Shape;231;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9" name="Google Shape;239;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4" name="Google Shape;244;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2" name="Google Shape;252;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273" name="Google Shape;273;p16:notes"/>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sz="1200">
                <a:solidFill>
                  <a:schemeClr val="dk1"/>
                </a:solidFill>
                <a:latin typeface="Arial"/>
                <a:ea typeface="Arial"/>
                <a:cs typeface="Arial"/>
                <a:sym typeface="Arial"/>
              </a:rPr>
              <a:t>Boardworks GCSE Science: Physics </a:t>
            </a:r>
            <a:endParaRPr/>
          </a:p>
          <a:p>
            <a:pPr indent="0" lvl="0" marL="0" rtl="0" algn="l">
              <a:spcBef>
                <a:spcPts val="0"/>
              </a:spcBef>
              <a:spcAft>
                <a:spcPts val="0"/>
              </a:spcAft>
              <a:buNone/>
            </a:pPr>
            <a:r>
              <a:rPr lang="en-GB" sz="1200">
                <a:solidFill>
                  <a:schemeClr val="dk1"/>
                </a:solidFill>
                <a:latin typeface="Arial"/>
                <a:ea typeface="Arial"/>
                <a:cs typeface="Arial"/>
                <a:sym typeface="Arial"/>
              </a:rPr>
              <a:t>Infrared and Visible Waves</a:t>
            </a:r>
            <a:endParaRPr/>
          </a:p>
        </p:txBody>
      </p:sp>
      <p:sp>
        <p:nvSpPr>
          <p:cNvPr id="274" name="Google Shape;274;p16:notes"/>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5" name="Google Shape;275;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296" name="Google Shape;296;p17:notes"/>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sz="1200">
                <a:solidFill>
                  <a:schemeClr val="dk1"/>
                </a:solidFill>
                <a:latin typeface="Arial"/>
                <a:ea typeface="Arial"/>
                <a:cs typeface="Arial"/>
                <a:sym typeface="Arial"/>
              </a:rPr>
              <a:t>Boardworks GCSE Science: Physics </a:t>
            </a:r>
            <a:endParaRPr/>
          </a:p>
          <a:p>
            <a:pPr indent="0" lvl="0" marL="0" rtl="0" algn="l">
              <a:spcBef>
                <a:spcPts val="0"/>
              </a:spcBef>
              <a:spcAft>
                <a:spcPts val="0"/>
              </a:spcAft>
              <a:buNone/>
            </a:pPr>
            <a:r>
              <a:rPr lang="en-GB" sz="1200">
                <a:solidFill>
                  <a:schemeClr val="dk1"/>
                </a:solidFill>
                <a:latin typeface="Arial"/>
                <a:ea typeface="Arial"/>
                <a:cs typeface="Arial"/>
                <a:sym typeface="Arial"/>
              </a:rPr>
              <a:t>Infrared and Visible Waves</a:t>
            </a:r>
            <a:endParaRPr/>
          </a:p>
        </p:txBody>
      </p:sp>
      <p:sp>
        <p:nvSpPr>
          <p:cNvPr id="297" name="Google Shape;297;p17:notes"/>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8" name="Google Shape;298;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GB"/>
              <a:t>Photo credit (top right): </a:t>
            </a:r>
            <a:r>
              <a:rPr lang="en-GB"/>
              <a:t>© 2006 Jupiterimages corporation</a:t>
            </a:r>
            <a:endParaRPr/>
          </a:p>
          <a:p>
            <a:pPr indent="0" lvl="0" marL="0" rtl="0" algn="l">
              <a:spcBef>
                <a:spcPts val="0"/>
              </a:spcBef>
              <a:spcAft>
                <a:spcPts val="0"/>
              </a:spcAft>
              <a:buNone/>
            </a:pPr>
            <a:r>
              <a:rPr lang="en-GB"/>
              <a:t>Glowing coil on electric cooker.</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GB"/>
              <a:t>Photo credit (bottom left): </a:t>
            </a:r>
            <a:r>
              <a:rPr lang="en-GB"/>
              <a:t>Ted Kinsam/Science Photo Library</a:t>
            </a:r>
            <a:endParaRPr/>
          </a:p>
          <a:p>
            <a:pPr indent="0" lvl="0" marL="0" rtl="0" algn="l">
              <a:spcBef>
                <a:spcPts val="0"/>
              </a:spcBef>
              <a:spcAft>
                <a:spcPts val="0"/>
              </a:spcAft>
              <a:buNone/>
            </a:pPr>
            <a:r>
              <a:rPr lang="en-GB"/>
              <a:t>A thermogram of a woman drinking a glass of cool water. The temperature range goes from hot (white) to cold (blue). Thermography is a technique for visualizing the temperature of surfaces by recording the emission of long-wavelength infrared radiation.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307" name="Google Shape;307;p20:notes"/>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sz="1200">
                <a:solidFill>
                  <a:schemeClr val="dk1"/>
                </a:solidFill>
                <a:latin typeface="Arial"/>
                <a:ea typeface="Arial"/>
                <a:cs typeface="Arial"/>
                <a:sym typeface="Arial"/>
              </a:rPr>
              <a:t>Boardworks GCSE Science: Physics </a:t>
            </a:r>
            <a:endParaRPr/>
          </a:p>
          <a:p>
            <a:pPr indent="0" lvl="0" marL="0" rtl="0" algn="l">
              <a:spcBef>
                <a:spcPts val="0"/>
              </a:spcBef>
              <a:spcAft>
                <a:spcPts val="0"/>
              </a:spcAft>
              <a:buNone/>
            </a:pPr>
            <a:r>
              <a:rPr lang="en-GB" sz="1200">
                <a:solidFill>
                  <a:schemeClr val="dk1"/>
                </a:solidFill>
                <a:latin typeface="Arial"/>
                <a:ea typeface="Arial"/>
                <a:cs typeface="Arial"/>
                <a:sym typeface="Arial"/>
              </a:rPr>
              <a:t>Infrared and Visible Waves</a:t>
            </a:r>
            <a:endParaRPr/>
          </a:p>
        </p:txBody>
      </p:sp>
      <p:sp>
        <p:nvSpPr>
          <p:cNvPr id="308" name="Google Shape;308;p20:notes"/>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9" name="Google Shape;309;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GB"/>
              <a:t>Photo credit: </a:t>
            </a:r>
            <a:r>
              <a:rPr lang="en-GB"/>
              <a:t>ijansempoi ronen</a:t>
            </a:r>
            <a:endParaRPr/>
          </a:p>
          <a:p>
            <a:pPr indent="0" lvl="0" marL="0" rtl="0" algn="l">
              <a:spcBef>
                <a:spcPts val="0"/>
              </a:spcBef>
              <a:spcAft>
                <a:spcPts val="0"/>
              </a:spcAft>
              <a:buNone/>
            </a:pPr>
            <a:r>
              <a:rPr lang="en-GB"/>
              <a:t>Remote control being used to operate television on the other side of a room.</a:t>
            </a:r>
            <a:endParaRPr/>
          </a:p>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3798d58f992_1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20" name="Google Shape;320;g3798d58f992_1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1" name="Google Shape;321;g3798d58f992_1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6" name="Google Shape;326;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331" name="Google Shape;331;p25:notes"/>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sz="1200">
                <a:solidFill>
                  <a:schemeClr val="dk1"/>
                </a:solidFill>
                <a:latin typeface="Arial"/>
                <a:ea typeface="Arial"/>
                <a:cs typeface="Arial"/>
                <a:sym typeface="Arial"/>
              </a:rPr>
              <a:t>Boardworks GCSE Science: Physics</a:t>
            </a:r>
            <a:endParaRPr/>
          </a:p>
          <a:p>
            <a:pPr indent="0" lvl="0" marL="0" rtl="0" algn="l">
              <a:spcBef>
                <a:spcPts val="0"/>
              </a:spcBef>
              <a:spcAft>
                <a:spcPts val="0"/>
              </a:spcAft>
              <a:buNone/>
            </a:pPr>
            <a:r>
              <a:rPr lang="en-GB" sz="1200">
                <a:solidFill>
                  <a:schemeClr val="dk1"/>
                </a:solidFill>
                <a:latin typeface="Arial"/>
                <a:ea typeface="Arial"/>
                <a:cs typeface="Arial"/>
                <a:sym typeface="Arial"/>
              </a:rPr>
              <a:t>Electromagnetic Waves</a:t>
            </a:r>
            <a:endParaRPr/>
          </a:p>
        </p:txBody>
      </p:sp>
      <p:sp>
        <p:nvSpPr>
          <p:cNvPr id="332" name="Google Shape;332;p25:notes"/>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3" name="Google Shape;333;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GB"/>
              <a:t>Photo credit: </a:t>
            </a:r>
            <a:r>
              <a:rPr lang="en-GB"/>
              <a:t>Martin Simonis</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Where do we normally go to shoot lasers at each other?</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3" name="Google Shape;343;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3798d58f992_1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48" name="Google Shape;348;g3798d58f992_1_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9" name="Google Shape;349;g3798d58f992_1_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
        <p:nvSpPr>
          <p:cNvPr id="355" name="Google Shape;355;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6" name="Google Shape;356;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
        <p:nvSpPr>
          <p:cNvPr id="379" name="Google Shape;379;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0" name="Google Shape;380;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GB"/>
              <a:t>Photo credit (top right): </a:t>
            </a:r>
            <a:r>
              <a:rPr lang="en-GB"/>
              <a:t>© 2006 Jupiterimages corporation</a:t>
            </a:r>
            <a:endParaRPr/>
          </a:p>
          <a:p>
            <a:pPr indent="0" lvl="0" marL="0" rtl="0" algn="l">
              <a:spcBef>
                <a:spcPts val="0"/>
              </a:spcBef>
              <a:spcAft>
                <a:spcPts val="0"/>
              </a:spcAft>
              <a:buNone/>
            </a:pPr>
            <a:r>
              <a:rPr lang="en-GB"/>
              <a:t>Sparks from arc welding.</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GB"/>
              <a:t>Photo credit (bottom left): </a:t>
            </a:r>
            <a:r>
              <a:rPr lang="en-GB"/>
              <a:t>Curro Jimenez</a:t>
            </a:r>
            <a:endParaRPr/>
          </a:p>
          <a:p>
            <a:pPr indent="0" lvl="0" marL="0" rtl="0" algn="l">
              <a:spcBef>
                <a:spcPts val="0"/>
              </a:spcBef>
              <a:spcAft>
                <a:spcPts val="0"/>
              </a:spcAft>
              <a:buNone/>
            </a:pPr>
            <a:r>
              <a:rPr lang="en-GB"/>
              <a:t>A sunbed made up of fluorescent tubes, which emit ultraviolet radiation.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
        <p:nvSpPr>
          <p:cNvPr id="391" name="Google Shape;391;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2" name="Google Shape;392;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GB"/>
              <a:t>Photo credit:</a:t>
            </a:r>
            <a:r>
              <a:rPr lang="en-GB"/>
              <a:t> Cristina Cascais </a:t>
            </a:r>
            <a:endParaRPr/>
          </a:p>
          <a:p>
            <a:pPr indent="0" lvl="0" marL="0" rtl="0" algn="l">
              <a:spcBef>
                <a:spcPts val="0"/>
              </a:spcBef>
              <a:spcAft>
                <a:spcPts val="0"/>
              </a:spcAft>
              <a:buNone/>
            </a:pPr>
            <a:r>
              <a:rPr lang="en-GB"/>
              <a:t>A lollipop lady wearing a fluorescent high-visibility jacket, whilst patrolling a school crossing.</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
        <p:nvSpPr>
          <p:cNvPr id="401" name="Google Shape;401;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2" name="Google Shape;402;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GB"/>
              <a:t>Photo credit (top right): </a:t>
            </a:r>
            <a:r>
              <a:rPr lang="en-GB"/>
              <a:t>doctor-a</a:t>
            </a:r>
            <a:endParaRPr/>
          </a:p>
          <a:p>
            <a:pPr indent="0" lvl="0" marL="0" rtl="0" algn="l">
              <a:spcBef>
                <a:spcPts val="0"/>
              </a:spcBef>
              <a:spcAft>
                <a:spcPts val="0"/>
              </a:spcAft>
              <a:buNone/>
            </a:pPr>
            <a:r>
              <a:rPr lang="en-GB"/>
              <a:t>A sample of a highly fluorescent liquid.</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GB"/>
              <a:t>Photo credit (bottom left): </a:t>
            </a:r>
            <a:r>
              <a:rPr lang="en-GB"/>
              <a:t>Mauro Fermariello </a:t>
            </a:r>
            <a:r>
              <a:rPr b="1" lang="en-GB"/>
              <a:t>/</a:t>
            </a:r>
            <a:r>
              <a:rPr lang="en-GB"/>
              <a:t>Science Photo Library</a:t>
            </a:r>
            <a:endParaRPr/>
          </a:p>
          <a:p>
            <a:pPr indent="0" lvl="0" marL="0" rtl="0" algn="l">
              <a:spcBef>
                <a:spcPts val="0"/>
              </a:spcBef>
              <a:spcAft>
                <a:spcPts val="0"/>
              </a:spcAft>
              <a:buNone/>
            </a:pPr>
            <a:r>
              <a:rPr lang="en-GB"/>
              <a:t>Euro banknote in ultraviolet light. This highlights security features intended to prevent fraud. Fluorescent ink and strips glow bright blue and red under ultraviolet light, and show that this is a genuine banknote.</a:t>
            </a:r>
            <a:br>
              <a:rPr lang="en-GB"/>
            </a:b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
        <p:nvSpPr>
          <p:cNvPr id="412" name="Google Shape;412;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3" name="Google Shape;413;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GB"/>
              <a:t>Photo credit: </a:t>
            </a:r>
            <a:r>
              <a:rPr lang="en-GB"/>
              <a:t>zulema011</a:t>
            </a:r>
            <a:endParaRPr/>
          </a:p>
          <a:p>
            <a:pPr indent="0" lvl="0" marL="0" rtl="0" algn="l">
              <a:spcBef>
                <a:spcPts val="0"/>
              </a:spcBef>
              <a:spcAft>
                <a:spcPts val="0"/>
              </a:spcAft>
              <a:buNone/>
            </a:pPr>
            <a:r>
              <a:rPr lang="en-GB"/>
              <a:t>The sunburnt skin on the neck, which has been overexposed to ultraviolet radiation in sunlight, appears in sharp contrast to the normal skin on the back, which has been covered by a T-shirt.</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
        <p:nvSpPr>
          <p:cNvPr id="425" name="Google Shape;425;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6" name="Google Shape;426;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GB"/>
              <a:t>Photo credit:</a:t>
            </a:r>
            <a:r>
              <a:rPr lang="en-GB"/>
              <a:t> Matthew Maaskant </a:t>
            </a:r>
            <a:endParaRPr/>
          </a:p>
          <a:p>
            <a:pPr indent="0" lvl="0" marL="0" rtl="0" algn="l">
              <a:spcBef>
                <a:spcPts val="0"/>
              </a:spcBef>
              <a:spcAft>
                <a:spcPts val="0"/>
              </a:spcAft>
              <a:buNone/>
            </a:pPr>
            <a:r>
              <a:rPr lang="en-GB"/>
              <a:t>A man, with heavily tanned skin, sunbathing on a beach. The paler, natural colour of the man’s skin is visible on his legs at the bottom of his shorts.</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p3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4" name="Google Shape;434;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p3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9" name="Google Shape;439;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3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
        <p:nvSpPr>
          <p:cNvPr id="446" name="Google Shape;446;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7" name="Google Shape;447;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p3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
        <p:nvSpPr>
          <p:cNvPr id="468" name="Google Shape;468;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9" name="Google Shape;469;p3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p3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
        <p:nvSpPr>
          <p:cNvPr id="488" name="Google Shape;488;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9" name="Google Shape;489;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GB"/>
              <a:t>Photo credit (top right): </a:t>
            </a:r>
            <a:r>
              <a:rPr lang="en-GB"/>
              <a:t>Adam Ciesielski</a:t>
            </a:r>
            <a:endParaRPr/>
          </a:p>
          <a:p>
            <a:pPr indent="0" lvl="0" marL="0" rtl="0" algn="l">
              <a:spcBef>
                <a:spcPts val="0"/>
              </a:spcBef>
              <a:spcAft>
                <a:spcPts val="0"/>
              </a:spcAft>
              <a:buNone/>
            </a:pPr>
            <a:r>
              <a:rPr lang="en-GB"/>
              <a:t>X-ray of hands.</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GB"/>
              <a:t>Photo credit (bottom left): </a:t>
            </a:r>
            <a:r>
              <a:rPr lang="en-GB"/>
              <a:t>Dr John Mileham/Dr Claire Carmalt (UCL)</a:t>
            </a:r>
            <a:endParaRPr/>
          </a:p>
          <a:p>
            <a:pPr indent="0" lvl="0" marL="0" rtl="0" algn="l">
              <a:spcBef>
                <a:spcPts val="0"/>
              </a:spcBef>
              <a:spcAft>
                <a:spcPts val="0"/>
              </a:spcAft>
              <a:buNone/>
            </a:pPr>
            <a:r>
              <a:rPr lang="en-GB"/>
              <a:t>Crystal structure of [Cl</a:t>
            </a:r>
            <a:r>
              <a:rPr baseline="-25000" lang="en-GB"/>
              <a:t>2</a:t>
            </a:r>
            <a:r>
              <a:rPr lang="en-GB"/>
              <a:t>GaNH(SiMe</a:t>
            </a:r>
            <a:r>
              <a:rPr baseline="-25000" lang="en-GB"/>
              <a:t>2</a:t>
            </a:r>
            <a:r>
              <a:rPr lang="en-GB"/>
              <a:t>Ph)]</a:t>
            </a:r>
            <a:r>
              <a:rPr baseline="-25000" lang="en-GB"/>
              <a:t>2</a:t>
            </a:r>
            <a:r>
              <a:rPr lang="en-GB"/>
              <a:t>.</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p4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9" name="Google Shape;499;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p4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
        <p:nvSpPr>
          <p:cNvPr id="510" name="Google Shape;510;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1" name="Google Shape;511;p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GB"/>
              <a:t>Photo credit (top right): </a:t>
            </a:r>
            <a:r>
              <a:rPr lang="en-GB"/>
              <a:t>Adam Ciesielski</a:t>
            </a:r>
            <a:endParaRPr/>
          </a:p>
          <a:p>
            <a:pPr indent="0" lvl="0" marL="0" rtl="0" algn="l">
              <a:spcBef>
                <a:spcPts val="0"/>
              </a:spcBef>
              <a:spcAft>
                <a:spcPts val="0"/>
              </a:spcAft>
              <a:buNone/>
            </a:pPr>
            <a:r>
              <a:rPr lang="en-GB"/>
              <a:t>X-ray of the chest cavity in which the heart and ribs are visible.</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GB"/>
              <a:t>Photo credit (bottom left): </a:t>
            </a:r>
            <a:r>
              <a:rPr lang="en-GB"/>
              <a:t>Pascal Goetgheluck/Science Photo Library</a:t>
            </a:r>
            <a:endParaRPr/>
          </a:p>
          <a:p>
            <a:pPr indent="0" lvl="0" marL="0" rtl="0" algn="l">
              <a:spcBef>
                <a:spcPts val="0"/>
              </a:spcBef>
              <a:spcAft>
                <a:spcPts val="0"/>
              </a:spcAft>
              <a:buNone/>
            </a:pPr>
            <a:r>
              <a:rPr lang="en-GB"/>
              <a:t>Monitor view of a scanning X- ray of a lorry made during a customs check. This X-ray was produced by a </a:t>
            </a:r>
            <a:r>
              <a:rPr i="1" lang="en-GB"/>
              <a:t>Sycoscan</a:t>
            </a:r>
            <a:r>
              <a:rPr lang="en-GB"/>
              <a:t> X-ray machine which scans large objects like vehicles, gradually producing a composite image of them. Any suspect areas can be magnified on the screen and then, if necessary, checked by hand. Photographed at Roissy/Charles de Gaulle Airport in Paris, France. </a:t>
            </a:r>
            <a:endParaRPr/>
          </a:p>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4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1" name="Google Shape;521;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p4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
        <p:nvSpPr>
          <p:cNvPr id="545" name="Google Shape;545;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6" name="Google Shape;546;p4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GB"/>
              <a:t>Photo credit: </a:t>
            </a:r>
            <a:r>
              <a:rPr lang="en-GB"/>
              <a:t>Geoff Tompkinson/Science Photo Library</a:t>
            </a:r>
            <a:endParaRPr/>
          </a:p>
          <a:p>
            <a:pPr indent="0" lvl="0" marL="0" rtl="0" algn="l">
              <a:spcBef>
                <a:spcPts val="0"/>
              </a:spcBef>
              <a:spcAft>
                <a:spcPts val="0"/>
              </a:spcAft>
              <a:buNone/>
            </a:pPr>
            <a:r>
              <a:rPr lang="en-GB"/>
              <a:t>Radiographer conducts a barium meal stomach X-ray on a woman patient in a fluoroscopy suite. The patient is on a reclining bed after having swallowed a liquid barium meal. The X-ray apparatus is then placed over the patient's abdomen (as seen here). A barium meal is opaque to X-rays and it shows up the structure of the digestive tract. The screen at left reveals a barium X-ray of the curved sac of the stomach. Barium X-rays are used to diagnose the cause of swallowing difficulty, check for inflammation of the oesophagus or stomach, detect stomach ulcers and bleeding, and reveal disorders in other parts of the bowel.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p4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6" name="Google Shape;556;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p4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
        <p:nvSpPr>
          <p:cNvPr id="561" name="Google Shape;561;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2" name="Google Shape;562;p4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p4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
        <p:nvSpPr>
          <p:cNvPr id="583" name="Google Shape;583;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4" name="Google Shape;584;p4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GB"/>
              <a:t>Photo credit</a:t>
            </a:r>
            <a:r>
              <a:rPr lang="en-GB"/>
              <a:t>: ISM/Science Photo Library</a:t>
            </a:r>
            <a:endParaRPr/>
          </a:p>
          <a:p>
            <a:pPr indent="0" lvl="0" marL="0" rtl="0" algn="l">
              <a:spcBef>
                <a:spcPts val="0"/>
              </a:spcBef>
              <a:spcAft>
                <a:spcPts val="0"/>
              </a:spcAft>
              <a:buNone/>
            </a:pPr>
            <a:r>
              <a:rPr lang="en-GB"/>
              <a:t>Secondary bone cancer. Coloured gamma scans of the skeleton of a 71-year-old man with secondary bone cancer (red areas). The primary cancer is of the prostate gland. The skeleton is seen from the front (left) and from behind (right). The cancer has spread to the spine, skull, pelvis, ribs, and leg and arm bones. Cancer that spreads from its original site is referred to as secondary cancer, and the cancer is said to have metastasised. The prognosis is poor. A gamma scan (also called a scintigram) is obtained by injecting a radioactive isotope (here Tc-99m, or Technetium-99m). This tracer material becomes concentrated in the cancerous tissues and is detected by the gamma radiation it emits.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 name="Shape 591"/>
        <p:cNvGrpSpPr/>
        <p:nvPr/>
      </p:nvGrpSpPr>
      <p:grpSpPr>
        <a:xfrm>
          <a:off x="0" y="0"/>
          <a:ext cx="0" cy="0"/>
          <a:chOff x="0" y="0"/>
          <a:chExt cx="0" cy="0"/>
        </a:xfrm>
      </p:grpSpPr>
      <p:sp>
        <p:nvSpPr>
          <p:cNvPr id="592" name="Google Shape;592;p4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
        <p:nvSpPr>
          <p:cNvPr id="593" name="Google Shape;593;p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4" name="Google Shape;594;p4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GB"/>
              <a:t>Photo credit:</a:t>
            </a:r>
            <a:r>
              <a:rPr lang="en-GB"/>
              <a:t> Martin Dohrn/Science Photo Library</a:t>
            </a:r>
            <a:endParaRPr/>
          </a:p>
          <a:p>
            <a:pPr indent="0" lvl="0" marL="0" rtl="0" algn="l">
              <a:spcBef>
                <a:spcPts val="0"/>
              </a:spcBef>
              <a:spcAft>
                <a:spcPts val="0"/>
              </a:spcAft>
              <a:buNone/>
            </a:pPr>
            <a:r>
              <a:rPr lang="en-GB"/>
              <a:t>Gamma radiotherapy using a "cobalt bomb", radioactive cobalt-60 being the most common source of gamma radiation. The cobalt source is housed in the large treatment head, and gamma radiation is released through a shutter when the machine is in operation.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p5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604" name="Google Shape;604;p50:notes"/>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sz="1200">
                <a:solidFill>
                  <a:schemeClr val="dk1"/>
                </a:solidFill>
                <a:latin typeface="Arial"/>
                <a:ea typeface="Arial"/>
                <a:cs typeface="Arial"/>
                <a:sym typeface="Arial"/>
              </a:rPr>
              <a:t>Boardworks GCSE Science: Physics</a:t>
            </a:r>
            <a:endParaRPr/>
          </a:p>
          <a:p>
            <a:pPr indent="0" lvl="0" marL="0" rtl="0" algn="l">
              <a:spcBef>
                <a:spcPts val="0"/>
              </a:spcBef>
              <a:spcAft>
                <a:spcPts val="0"/>
              </a:spcAft>
              <a:buNone/>
            </a:pPr>
            <a:r>
              <a:rPr lang="en-GB" sz="1200">
                <a:solidFill>
                  <a:schemeClr val="dk1"/>
                </a:solidFill>
                <a:latin typeface="Arial"/>
                <a:ea typeface="Arial"/>
                <a:cs typeface="Arial"/>
                <a:sym typeface="Arial"/>
              </a:rPr>
              <a:t>Electromagnetic Waves</a:t>
            </a:r>
            <a:endParaRPr/>
          </a:p>
        </p:txBody>
      </p:sp>
      <p:sp>
        <p:nvSpPr>
          <p:cNvPr id="605" name="Google Shape;605;p50:notes"/>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06" name="Google Shape;606;p5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 name="Shape 27"/>
        <p:cNvGrpSpPr/>
        <p:nvPr/>
      </p:nvGrpSpPr>
      <p:grpSpPr>
        <a:xfrm>
          <a:off x="0" y="0"/>
          <a:ext cx="0" cy="0"/>
          <a:chOff x="0" y="0"/>
          <a:chExt cx="0" cy="0"/>
        </a:xfrm>
      </p:grpSpPr>
      <p:sp>
        <p:nvSpPr>
          <p:cNvPr id="28" name="Google Shape;28;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Content" type="txAndObj">
  <p:cSld name="TEXT_AND_OBJECT">
    <p:spTree>
      <p:nvGrpSpPr>
        <p:cNvPr id="36" name="Shape 36"/>
        <p:cNvGrpSpPr/>
        <p:nvPr/>
      </p:nvGrpSpPr>
      <p:grpSpPr>
        <a:xfrm>
          <a:off x="0" y="0"/>
          <a:ext cx="0" cy="0"/>
          <a:chOff x="0" y="0"/>
          <a:chExt cx="0" cy="0"/>
        </a:xfrm>
      </p:grpSpPr>
      <p:sp>
        <p:nvSpPr>
          <p:cNvPr id="37" name="Google Shape;37;p6"/>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6"/>
          <p:cNvSpPr txBox="1"/>
          <p:nvPr>
            <p:ph idx="1" type="body"/>
          </p:nvPr>
        </p:nvSpPr>
        <p:spPr>
          <a:xfrm>
            <a:off x="609600" y="1600201"/>
            <a:ext cx="53848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9" name="Google Shape;39;p6"/>
          <p:cNvSpPr txBox="1"/>
          <p:nvPr>
            <p:ph idx="2" type="body"/>
          </p:nvPr>
        </p:nvSpPr>
        <p:spPr>
          <a:xfrm>
            <a:off x="6197600" y="1600201"/>
            <a:ext cx="53848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6"/>
          <p:cNvSpPr txBox="1"/>
          <p:nvPr>
            <p:ph idx="10" type="dt"/>
          </p:nvPr>
        </p:nvSpPr>
        <p:spPr>
          <a:xfrm>
            <a:off x="609600" y="6245225"/>
            <a:ext cx="2844800" cy="47625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6"/>
          <p:cNvSpPr txBox="1"/>
          <p:nvPr>
            <p:ph idx="11" type="ftr"/>
          </p:nvPr>
        </p:nvSpPr>
        <p:spPr>
          <a:xfrm>
            <a:off x="4165600" y="6245225"/>
            <a:ext cx="3860800" cy="47625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6"/>
          <p:cNvSpPr txBox="1"/>
          <p:nvPr>
            <p:ph idx="12" type="sldNum"/>
          </p:nvPr>
        </p:nvSpPr>
        <p:spPr>
          <a:xfrm>
            <a:off x="8737600" y="6245225"/>
            <a:ext cx="2844800" cy="47625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888888"/>
                </a:solidFill>
                <a:latin typeface="Calibri"/>
                <a:ea typeface="Calibri"/>
                <a:cs typeface="Calibri"/>
                <a:sym typeface="Calibri"/>
              </a:defRPr>
            </a:lvl1pPr>
            <a:lvl2pPr indent="0" lvl="1" marL="0" algn="r">
              <a:spcBef>
                <a:spcPts val="0"/>
              </a:spcBef>
              <a:buNone/>
              <a:defRPr sz="1200">
                <a:solidFill>
                  <a:srgbClr val="888888"/>
                </a:solidFill>
                <a:latin typeface="Calibri"/>
                <a:ea typeface="Calibri"/>
                <a:cs typeface="Calibri"/>
                <a:sym typeface="Calibri"/>
              </a:defRPr>
            </a:lvl2pPr>
            <a:lvl3pPr indent="0" lvl="2" marL="0" algn="r">
              <a:spcBef>
                <a:spcPts val="0"/>
              </a:spcBef>
              <a:buNone/>
              <a:defRPr sz="1200">
                <a:solidFill>
                  <a:srgbClr val="888888"/>
                </a:solidFill>
                <a:latin typeface="Calibri"/>
                <a:ea typeface="Calibri"/>
                <a:cs typeface="Calibri"/>
                <a:sym typeface="Calibri"/>
              </a:defRPr>
            </a:lvl3pPr>
            <a:lvl4pPr indent="0" lvl="3" marL="0" algn="r">
              <a:spcBef>
                <a:spcPts val="0"/>
              </a:spcBef>
              <a:buNone/>
              <a:defRPr sz="1200">
                <a:solidFill>
                  <a:srgbClr val="888888"/>
                </a:solidFill>
                <a:latin typeface="Calibri"/>
                <a:ea typeface="Calibri"/>
                <a:cs typeface="Calibri"/>
                <a:sym typeface="Calibri"/>
              </a:defRPr>
            </a:lvl4pPr>
            <a:lvl5pPr indent="0" lvl="4" marL="0" algn="r">
              <a:spcBef>
                <a:spcPts val="0"/>
              </a:spcBef>
              <a:buNone/>
              <a:defRPr sz="1200">
                <a:solidFill>
                  <a:srgbClr val="888888"/>
                </a:solidFill>
                <a:latin typeface="Calibri"/>
                <a:ea typeface="Calibri"/>
                <a:cs typeface="Calibri"/>
                <a:sym typeface="Calibri"/>
              </a:defRPr>
            </a:lvl5pPr>
            <a:lvl6pPr indent="0" lvl="5" marL="0" algn="r">
              <a:spcBef>
                <a:spcPts val="0"/>
              </a:spcBef>
              <a:buNone/>
              <a:defRPr sz="1200">
                <a:solidFill>
                  <a:srgbClr val="888888"/>
                </a:solidFill>
                <a:latin typeface="Calibri"/>
                <a:ea typeface="Calibri"/>
                <a:cs typeface="Calibri"/>
                <a:sym typeface="Calibri"/>
              </a:defRPr>
            </a:lvl6pPr>
            <a:lvl7pPr indent="0" lvl="6" marL="0" algn="r">
              <a:spcBef>
                <a:spcPts val="0"/>
              </a:spcBef>
              <a:buNone/>
              <a:defRPr sz="1200">
                <a:solidFill>
                  <a:srgbClr val="888888"/>
                </a:solidFill>
                <a:latin typeface="Calibri"/>
                <a:ea typeface="Calibri"/>
                <a:cs typeface="Calibri"/>
                <a:sym typeface="Calibri"/>
              </a:defRPr>
            </a:lvl7pPr>
            <a:lvl8pPr indent="0" lvl="7" marL="0" algn="r">
              <a:spcBef>
                <a:spcPts val="0"/>
              </a:spcBef>
              <a:buNone/>
              <a:defRPr sz="1200">
                <a:solidFill>
                  <a:srgbClr val="888888"/>
                </a:solidFill>
                <a:latin typeface="Calibri"/>
                <a:ea typeface="Calibri"/>
                <a:cs typeface="Calibri"/>
                <a:sym typeface="Calibri"/>
              </a:defRPr>
            </a:lvl8pPr>
            <a:lvl9pPr indent="0" lvl="8" marL="0" algn="r">
              <a:spcBef>
                <a:spcPts val="0"/>
              </a:spcBef>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3" name="Shape 43"/>
        <p:cNvGrpSpPr/>
        <p:nvPr/>
      </p:nvGrpSpPr>
      <p:grpSpPr>
        <a:xfrm>
          <a:off x="0" y="0"/>
          <a:ext cx="0" cy="0"/>
          <a:chOff x="0" y="0"/>
          <a:chExt cx="0" cy="0"/>
        </a:xfrm>
      </p:grpSpPr>
      <p:sp>
        <p:nvSpPr>
          <p:cNvPr id="44" name="Google Shape;44;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7"/>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7"/>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 name="Google Shape;47;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lip Art and Text" type="clipArtAndTx">
  <p:cSld name="CLIPART_AND_TEXT">
    <p:spTree>
      <p:nvGrpSpPr>
        <p:cNvPr id="50" name="Shape 50"/>
        <p:cNvGrpSpPr/>
        <p:nvPr/>
      </p:nvGrpSpPr>
      <p:grpSpPr>
        <a:xfrm>
          <a:off x="0" y="0"/>
          <a:ext cx="0" cy="0"/>
          <a:chOff x="0" y="0"/>
          <a:chExt cx="0" cy="0"/>
        </a:xfrm>
      </p:grpSpPr>
      <p:sp>
        <p:nvSpPr>
          <p:cNvPr id="51" name="Google Shape;51;p8"/>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 name="Google Shape;52;p8"/>
          <p:cNvSpPr/>
          <p:nvPr>
            <p:ph idx="2" type="clipArt"/>
          </p:nvPr>
        </p:nvSpPr>
        <p:spPr>
          <a:xfrm>
            <a:off x="609600" y="1600201"/>
            <a:ext cx="5384800" cy="4525963"/>
          </a:xfrm>
          <a:prstGeom prst="rect">
            <a:avLst/>
          </a:prstGeom>
          <a:noFill/>
          <a:ln>
            <a:noFill/>
          </a:ln>
        </p:spPr>
      </p:sp>
      <p:sp>
        <p:nvSpPr>
          <p:cNvPr id="53" name="Google Shape;53;p8"/>
          <p:cNvSpPr txBox="1"/>
          <p:nvPr>
            <p:ph idx="1" type="body"/>
          </p:nvPr>
        </p:nvSpPr>
        <p:spPr>
          <a:xfrm>
            <a:off x="6197600" y="1600201"/>
            <a:ext cx="53848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 name="Google Shape;54;p8"/>
          <p:cNvSpPr txBox="1"/>
          <p:nvPr>
            <p:ph idx="10" type="dt"/>
          </p:nvPr>
        </p:nvSpPr>
        <p:spPr>
          <a:xfrm>
            <a:off x="609600" y="6245225"/>
            <a:ext cx="2844800" cy="47625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8"/>
          <p:cNvSpPr txBox="1"/>
          <p:nvPr>
            <p:ph idx="11" type="ftr"/>
          </p:nvPr>
        </p:nvSpPr>
        <p:spPr>
          <a:xfrm>
            <a:off x="4165600" y="6245225"/>
            <a:ext cx="3860800" cy="47625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8"/>
          <p:cNvSpPr txBox="1"/>
          <p:nvPr>
            <p:ph idx="12" type="sldNum"/>
          </p:nvPr>
        </p:nvSpPr>
        <p:spPr>
          <a:xfrm>
            <a:off x="8737600" y="6245225"/>
            <a:ext cx="2844800" cy="47625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888888"/>
                </a:solidFill>
                <a:latin typeface="Calibri"/>
                <a:ea typeface="Calibri"/>
                <a:cs typeface="Calibri"/>
                <a:sym typeface="Calibri"/>
              </a:defRPr>
            </a:lvl1pPr>
            <a:lvl2pPr indent="0" lvl="1" marL="0" algn="r">
              <a:spcBef>
                <a:spcPts val="0"/>
              </a:spcBef>
              <a:buNone/>
              <a:defRPr sz="1200">
                <a:solidFill>
                  <a:srgbClr val="888888"/>
                </a:solidFill>
                <a:latin typeface="Calibri"/>
                <a:ea typeface="Calibri"/>
                <a:cs typeface="Calibri"/>
                <a:sym typeface="Calibri"/>
              </a:defRPr>
            </a:lvl2pPr>
            <a:lvl3pPr indent="0" lvl="2" marL="0" algn="r">
              <a:spcBef>
                <a:spcPts val="0"/>
              </a:spcBef>
              <a:buNone/>
              <a:defRPr sz="1200">
                <a:solidFill>
                  <a:srgbClr val="888888"/>
                </a:solidFill>
                <a:latin typeface="Calibri"/>
                <a:ea typeface="Calibri"/>
                <a:cs typeface="Calibri"/>
                <a:sym typeface="Calibri"/>
              </a:defRPr>
            </a:lvl3pPr>
            <a:lvl4pPr indent="0" lvl="3" marL="0" algn="r">
              <a:spcBef>
                <a:spcPts val="0"/>
              </a:spcBef>
              <a:buNone/>
              <a:defRPr sz="1200">
                <a:solidFill>
                  <a:srgbClr val="888888"/>
                </a:solidFill>
                <a:latin typeface="Calibri"/>
                <a:ea typeface="Calibri"/>
                <a:cs typeface="Calibri"/>
                <a:sym typeface="Calibri"/>
              </a:defRPr>
            </a:lvl4pPr>
            <a:lvl5pPr indent="0" lvl="4" marL="0" algn="r">
              <a:spcBef>
                <a:spcPts val="0"/>
              </a:spcBef>
              <a:buNone/>
              <a:defRPr sz="1200">
                <a:solidFill>
                  <a:srgbClr val="888888"/>
                </a:solidFill>
                <a:latin typeface="Calibri"/>
                <a:ea typeface="Calibri"/>
                <a:cs typeface="Calibri"/>
                <a:sym typeface="Calibri"/>
              </a:defRPr>
            </a:lvl5pPr>
            <a:lvl6pPr indent="0" lvl="5" marL="0" algn="r">
              <a:spcBef>
                <a:spcPts val="0"/>
              </a:spcBef>
              <a:buNone/>
              <a:defRPr sz="1200">
                <a:solidFill>
                  <a:srgbClr val="888888"/>
                </a:solidFill>
                <a:latin typeface="Calibri"/>
                <a:ea typeface="Calibri"/>
                <a:cs typeface="Calibri"/>
                <a:sym typeface="Calibri"/>
              </a:defRPr>
            </a:lvl6pPr>
            <a:lvl7pPr indent="0" lvl="6" marL="0" algn="r">
              <a:spcBef>
                <a:spcPts val="0"/>
              </a:spcBef>
              <a:buNone/>
              <a:defRPr sz="1200">
                <a:solidFill>
                  <a:srgbClr val="888888"/>
                </a:solidFill>
                <a:latin typeface="Calibri"/>
                <a:ea typeface="Calibri"/>
                <a:cs typeface="Calibri"/>
                <a:sym typeface="Calibri"/>
              </a:defRPr>
            </a:lvl7pPr>
            <a:lvl8pPr indent="0" lvl="7" marL="0" algn="r">
              <a:spcBef>
                <a:spcPts val="0"/>
              </a:spcBef>
              <a:buNone/>
              <a:defRPr sz="1200">
                <a:solidFill>
                  <a:srgbClr val="888888"/>
                </a:solidFill>
                <a:latin typeface="Calibri"/>
                <a:ea typeface="Calibri"/>
                <a:cs typeface="Calibri"/>
                <a:sym typeface="Calibri"/>
              </a:defRPr>
            </a:lvl8pPr>
            <a:lvl9pPr indent="0" lvl="8" marL="0" algn="r">
              <a:spcBef>
                <a:spcPts val="0"/>
              </a:spcBef>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7" name="Shape 57"/>
        <p:cNvGrpSpPr/>
        <p:nvPr/>
      </p:nvGrpSpPr>
      <p:grpSpPr>
        <a:xfrm>
          <a:off x="0" y="0"/>
          <a:ext cx="0" cy="0"/>
          <a:chOff x="0" y="0"/>
          <a:chExt cx="0" cy="0"/>
        </a:xfrm>
      </p:grpSpPr>
      <p:sp>
        <p:nvSpPr>
          <p:cNvPr id="58" name="Google Shape;58;p9"/>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9" name="Google Shape;59;p9"/>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60" name="Google Shape;60;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3" name="Shape 63"/>
        <p:cNvGrpSpPr/>
        <p:nvPr/>
      </p:nvGrpSpPr>
      <p:grpSpPr>
        <a:xfrm>
          <a:off x="0" y="0"/>
          <a:ext cx="0" cy="0"/>
          <a:chOff x="0" y="0"/>
          <a:chExt cx="0" cy="0"/>
        </a:xfrm>
      </p:grpSpPr>
      <p:sp>
        <p:nvSpPr>
          <p:cNvPr id="64" name="Google Shape;64;p10"/>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5" name="Google Shape;65;p10"/>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66" name="Google Shape;66;p10"/>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7" name="Google Shape;67;p10"/>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68" name="Google Shape;68;p10"/>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9" name="Google Shape;69;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2" name="Shape 72"/>
        <p:cNvGrpSpPr/>
        <p:nvPr/>
      </p:nvGrpSpPr>
      <p:grpSpPr>
        <a:xfrm>
          <a:off x="0" y="0"/>
          <a:ext cx="0" cy="0"/>
          <a:chOff x="0" y="0"/>
          <a:chExt cx="0" cy="0"/>
        </a:xfrm>
      </p:grpSpPr>
      <p:sp>
        <p:nvSpPr>
          <p:cNvPr id="73" name="Google Shape;73;p1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1"/>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75" name="Google Shape;75;p11"/>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6" name="Google Shape;76;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9" name="Shape 79"/>
        <p:cNvGrpSpPr/>
        <p:nvPr/>
      </p:nvGrpSpPr>
      <p:grpSpPr>
        <a:xfrm>
          <a:off x="0" y="0"/>
          <a:ext cx="0" cy="0"/>
          <a:chOff x="0" y="0"/>
          <a:chExt cx="0" cy="0"/>
        </a:xfrm>
      </p:grpSpPr>
      <p:sp>
        <p:nvSpPr>
          <p:cNvPr id="80" name="Google Shape;80;p1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1" name="Google Shape;81;p12"/>
          <p:cNvSpPr/>
          <p:nvPr>
            <p:ph idx="2" type="pic"/>
          </p:nvPr>
        </p:nvSpPr>
        <p:spPr>
          <a:xfrm>
            <a:off x="5183188" y="987425"/>
            <a:ext cx="6172200" cy="4873625"/>
          </a:xfrm>
          <a:prstGeom prst="rect">
            <a:avLst/>
          </a:prstGeom>
          <a:noFill/>
          <a:ln>
            <a:noFill/>
          </a:ln>
        </p:spPr>
      </p:sp>
      <p:sp>
        <p:nvSpPr>
          <p:cNvPr id="82" name="Google Shape;82;p12"/>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83" name="Google Shape;83;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6" name="Shape 86"/>
        <p:cNvGrpSpPr/>
        <p:nvPr/>
      </p:nvGrpSpPr>
      <p:grpSpPr>
        <a:xfrm>
          <a:off x="0" y="0"/>
          <a:ext cx="0" cy="0"/>
          <a:chOff x="0" y="0"/>
          <a:chExt cx="0" cy="0"/>
        </a:xfrm>
      </p:grpSpPr>
      <p:sp>
        <p:nvSpPr>
          <p:cNvPr id="87" name="Google Shape;87;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8" name="Google Shape;88;p13"/>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9" name="Google Shape;89;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92" name="Shape 92"/>
        <p:cNvGrpSpPr/>
        <p:nvPr/>
      </p:nvGrpSpPr>
      <p:grpSpPr>
        <a:xfrm>
          <a:off x="0" y="0"/>
          <a:ext cx="0" cy="0"/>
          <a:chOff x="0" y="0"/>
          <a:chExt cx="0" cy="0"/>
        </a:xfrm>
      </p:grpSpPr>
      <p:sp>
        <p:nvSpPr>
          <p:cNvPr id="93" name="Google Shape;93;p14"/>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4" name="Google Shape;94;p14"/>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5" name="Google Shape;95;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7" name="Google Shape;97;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DED"/>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 Id="rId4" Type="http://schemas.openxmlformats.org/officeDocument/2006/relationships/image" Target="../media/image1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20.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1.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16.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18.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image" Target="../media/image5.png"/><Relationship Id="rId4" Type="http://schemas.openxmlformats.org/officeDocument/2006/relationships/image" Target="../media/image7.jpg"/></Relationships>
</file>

<file path=ppt/slides/_rels/slide14.xml.rels><?xml version="1.0" encoding="UTF-8" standalone="yes"?><Relationships xmlns="http://schemas.openxmlformats.org/package/2006/relationships"><Relationship Id="rId10" Type="http://schemas.openxmlformats.org/officeDocument/2006/relationships/image" Target="../media/image5.png"/><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hyperlink" Target="http://en.wikipedia.org/wiki/Image:Ir_girl.png" TargetMode="External"/><Relationship Id="rId4" Type="http://schemas.openxmlformats.org/officeDocument/2006/relationships/image" Target="../media/image14.png"/><Relationship Id="rId9" Type="http://schemas.openxmlformats.org/officeDocument/2006/relationships/image" Target="../media/image2.jpg"/><Relationship Id="rId5" Type="http://schemas.openxmlformats.org/officeDocument/2006/relationships/hyperlink" Target="http://en.wikipedia.org/wiki/Image:Infrared_dog.jpg" TargetMode="External"/><Relationship Id="rId6" Type="http://schemas.openxmlformats.org/officeDocument/2006/relationships/image" Target="../media/image4.jpg"/><Relationship Id="rId7" Type="http://schemas.openxmlformats.org/officeDocument/2006/relationships/hyperlink" Target="http://en.wikipedia.org/wiki/Image:Wiki_snake_eats_mouse.jpg" TargetMode="External"/><Relationship Id="rId8" Type="http://schemas.openxmlformats.org/officeDocument/2006/relationships/image" Target="../media/image10.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17.png"/><Relationship Id="rId4" Type="http://schemas.openxmlformats.org/officeDocument/2006/relationships/image" Target="../media/image3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24.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 Id="rId3" Type="http://schemas.openxmlformats.org/officeDocument/2006/relationships/image" Target="../media/image25.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hyperlink" Target="https://www.youtube.com/watch?v=AdTPc4mqp_Y&amp;ab_channel=GetThereFaster"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2.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image" Target="../media/image2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image" Target="../media/image21.png"/><Relationship Id="rId4" Type="http://schemas.openxmlformats.org/officeDocument/2006/relationships/image" Target="../media/image1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 Id="rId3" Type="http://schemas.openxmlformats.org/officeDocument/2006/relationships/image" Target="../media/image23.jpg"/><Relationship Id="rId4" Type="http://schemas.openxmlformats.org/officeDocument/2006/relationships/image" Target="../media/image4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 Id="rId3" Type="http://schemas.openxmlformats.org/officeDocument/2006/relationships/image" Target="../media/image27.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 Id="rId3" Type="http://schemas.openxmlformats.org/officeDocument/2006/relationships/image" Target="../media/image35.jpg"/><Relationship Id="rId4" Type="http://schemas.openxmlformats.org/officeDocument/2006/relationships/image" Target="../media/image29.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 Id="rId3" Type="http://schemas.openxmlformats.org/officeDocument/2006/relationships/image" Target="../media/image42.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 Id="rId3" Type="http://schemas.openxmlformats.org/officeDocument/2006/relationships/image" Target="../media/image33.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28.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 Id="rId3" Type="http://schemas.openxmlformats.org/officeDocument/2006/relationships/image" Target="../media/image17.png"/><Relationship Id="rId4" Type="http://schemas.openxmlformats.org/officeDocument/2006/relationships/image" Target="../media/image3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 Id="rId3" Type="http://schemas.openxmlformats.org/officeDocument/2006/relationships/image" Target="../media/image5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 Id="rId3" Type="http://schemas.openxmlformats.org/officeDocument/2006/relationships/image" Target="../media/image26.jpg"/><Relationship Id="rId4" Type="http://schemas.openxmlformats.org/officeDocument/2006/relationships/image" Target="../media/image30.jpg"/></Relationships>
</file>

<file path=ppt/slides/_rels/slide34.xml.rels><?xml version="1.0" encoding="UTF-8" standalone="yes"?><Relationships xmlns="http://schemas.openxmlformats.org/package/2006/relationships"><Relationship Id="rId11" Type="http://schemas.openxmlformats.org/officeDocument/2006/relationships/image" Target="../media/image44.jpg"/><Relationship Id="rId10" Type="http://schemas.openxmlformats.org/officeDocument/2006/relationships/hyperlink" Target="http://www.shutterstock.com/subscribe.mhtml" TargetMode="External"/><Relationship Id="rId13" Type="http://schemas.openxmlformats.org/officeDocument/2006/relationships/image" Target="../media/image41.jpg"/><Relationship Id="rId12" Type="http://schemas.openxmlformats.org/officeDocument/2006/relationships/hyperlink" Target="http://www.emedicinehealth.com/images/4453/4453-4463-9005-25019.jpg" TargetMode="External"/><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36.jpg"/><Relationship Id="rId4" Type="http://schemas.openxmlformats.org/officeDocument/2006/relationships/hyperlink" Target="http://www.shutterstock.com/subscribe.mhtml" TargetMode="External"/><Relationship Id="rId9" Type="http://schemas.openxmlformats.org/officeDocument/2006/relationships/image" Target="../media/image34.jpg"/><Relationship Id="rId5" Type="http://schemas.openxmlformats.org/officeDocument/2006/relationships/image" Target="../media/image53.jpg"/><Relationship Id="rId6" Type="http://schemas.openxmlformats.org/officeDocument/2006/relationships/hyperlink" Target="http://www.shutterstock.com/subscribe.mhtml" TargetMode="External"/><Relationship Id="rId7" Type="http://schemas.openxmlformats.org/officeDocument/2006/relationships/image" Target="../media/image40.jpg"/><Relationship Id="rId8" Type="http://schemas.openxmlformats.org/officeDocument/2006/relationships/hyperlink" Target="http://www.shutterstock.com/subscribe.mhtml"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 Id="rId3" Type="http://schemas.openxmlformats.org/officeDocument/2006/relationships/image" Target="../media/image50.jpg"/><Relationship Id="rId4" Type="http://schemas.openxmlformats.org/officeDocument/2006/relationships/image" Target="../media/image38.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hyperlink" Target="http://mynasadata.larc.nasa.gov/science.html" TargetMode="External"/><Relationship Id="rId4" Type="http://schemas.openxmlformats.org/officeDocument/2006/relationships/image" Target="../media/image49.png"/><Relationship Id="rId5" Type="http://schemas.openxmlformats.org/officeDocument/2006/relationships/hyperlink" Target="http://www.nasa.gov/" TargetMode="External"/><Relationship Id="rId6" Type="http://schemas.openxmlformats.org/officeDocument/2006/relationships/image" Target="../media/image39.png"/><Relationship Id="rId7" Type="http://schemas.openxmlformats.org/officeDocument/2006/relationships/image" Target="../media/image51.png"/><Relationship Id="rId8" Type="http://schemas.openxmlformats.org/officeDocument/2006/relationships/image" Target="../media/image4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 Id="rId3" Type="http://schemas.openxmlformats.org/officeDocument/2006/relationships/image" Target="../media/image46.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 Id="rId3" Type="http://schemas.openxmlformats.org/officeDocument/2006/relationships/image" Target="../media/image17.png"/><Relationship Id="rId4" Type="http://schemas.openxmlformats.org/officeDocument/2006/relationships/image" Target="../media/image4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 Id="rId3" Type="http://schemas.openxmlformats.org/officeDocument/2006/relationships/image" Target="../media/image54.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 Id="rId3" Type="http://schemas.openxmlformats.org/officeDocument/2006/relationships/image" Target="../media/image45.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 Id="rId3" Type="http://schemas.openxmlformats.org/officeDocument/2006/relationships/image" Target="../media/image32.png"/><Relationship Id="rId4" Type="http://schemas.openxmlformats.org/officeDocument/2006/relationships/image" Target="../media/image43.png"/><Relationship Id="rId5" Type="http://schemas.openxmlformats.org/officeDocument/2006/relationships/image" Target="../media/image5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5"/>
          <p:cNvSpPr txBox="1"/>
          <p:nvPr>
            <p:ph type="ctrTitle"/>
          </p:nvPr>
        </p:nvSpPr>
        <p:spPr>
          <a:xfrm>
            <a:off x="412559" y="379643"/>
            <a:ext cx="11488709" cy="1470025"/>
          </a:xfrm>
          <a:prstGeom prst="rect">
            <a:avLst/>
          </a:prstGeom>
          <a:noFill/>
          <a:ln>
            <a:noFill/>
          </a:ln>
        </p:spPr>
        <p:txBody>
          <a:bodyPr anchorCtr="0" anchor="b" bIns="45700" lIns="91425" spcFirstLastPara="1" rIns="91425" wrap="square" tIns="45700">
            <a:normAutofit fontScale="90000"/>
          </a:bodyPr>
          <a:lstStyle/>
          <a:p>
            <a:pPr indent="0" lvl="0" marL="0" rtl="0" algn="ctr">
              <a:lnSpc>
                <a:spcPct val="90000"/>
              </a:lnSpc>
              <a:spcBef>
                <a:spcPts val="0"/>
              </a:spcBef>
              <a:spcAft>
                <a:spcPts val="0"/>
              </a:spcAft>
              <a:buClr>
                <a:schemeClr val="dk1"/>
              </a:buClr>
              <a:buSzPct val="100000"/>
              <a:buFont typeface="Comic Sans MS"/>
              <a:buNone/>
            </a:pPr>
            <a:r>
              <a:rPr b="1" lang="en-GB"/>
              <a:t>The Electromagnetic Spectrum</a:t>
            </a:r>
            <a:br>
              <a:rPr lang="en-GB"/>
            </a:br>
            <a:endParaRPr/>
          </a:p>
        </p:txBody>
      </p:sp>
      <p:sp>
        <p:nvSpPr>
          <p:cNvPr id="103" name="Google Shape;103;p15"/>
          <p:cNvSpPr txBox="1"/>
          <p:nvPr>
            <p:ph idx="1" type="subTitle"/>
          </p:nvPr>
        </p:nvSpPr>
        <p:spPr>
          <a:xfrm>
            <a:off x="277588" y="1951255"/>
            <a:ext cx="11623680" cy="2808287"/>
          </a:xfrm>
          <a:prstGeom prst="rect">
            <a:avLst/>
          </a:prstGeom>
          <a:noFill/>
          <a:ln>
            <a:noFill/>
          </a:ln>
        </p:spPr>
        <p:txBody>
          <a:bodyPr anchorCtr="0" anchor="t" bIns="45700" lIns="91425" spcFirstLastPara="1" rIns="91425" wrap="square" tIns="45700">
            <a:normAutofit/>
          </a:bodyPr>
          <a:lstStyle/>
          <a:p>
            <a:pPr indent="0" lvl="0" marL="0" rtl="0" algn="l">
              <a:lnSpc>
                <a:spcPct val="80000"/>
              </a:lnSpc>
              <a:spcBef>
                <a:spcPts val="0"/>
              </a:spcBef>
              <a:spcAft>
                <a:spcPts val="0"/>
              </a:spcAft>
              <a:buClr>
                <a:schemeClr val="dk1"/>
              </a:buClr>
              <a:buSzPts val="2400"/>
              <a:buNone/>
            </a:pPr>
            <a:r>
              <a:rPr b="1" lang="en-GB"/>
              <a:t>Learning Objectives:</a:t>
            </a:r>
            <a:r>
              <a:rPr lang="en-GB"/>
              <a:t>  </a:t>
            </a:r>
            <a:endParaRPr/>
          </a:p>
          <a:p>
            <a:pPr indent="-457200" lvl="0" marL="457200" rtl="0" algn="l">
              <a:lnSpc>
                <a:spcPct val="80000"/>
              </a:lnSpc>
              <a:spcBef>
                <a:spcPts val="1000"/>
              </a:spcBef>
              <a:spcAft>
                <a:spcPts val="0"/>
              </a:spcAft>
              <a:buClr>
                <a:schemeClr val="dk1"/>
              </a:buClr>
              <a:buSzPts val="2400"/>
              <a:buFont typeface="Calibri"/>
              <a:buAutoNum type="arabicPeriod"/>
            </a:pPr>
            <a:r>
              <a:rPr lang="en-GB"/>
              <a:t>To understand how wavelength and frequency are related across the spectrum..</a:t>
            </a:r>
            <a:endParaRPr/>
          </a:p>
          <a:p>
            <a:pPr indent="-457200" lvl="0" marL="457200" rtl="0" algn="l">
              <a:lnSpc>
                <a:spcPct val="80000"/>
              </a:lnSpc>
              <a:spcBef>
                <a:spcPts val="1000"/>
              </a:spcBef>
              <a:spcAft>
                <a:spcPts val="0"/>
              </a:spcAft>
              <a:buClr>
                <a:schemeClr val="dk1"/>
              </a:buClr>
              <a:buSzPts val="2400"/>
              <a:buFont typeface="Calibri"/>
              <a:buAutoNum type="arabicPeriod"/>
            </a:pPr>
            <a:r>
              <a:rPr lang="en-GB"/>
              <a:t>To learn the uses and dangers of different EM waves.</a:t>
            </a:r>
            <a:endParaRPr sz="2800"/>
          </a:p>
        </p:txBody>
      </p:sp>
      <p:pic>
        <p:nvPicPr>
          <p:cNvPr id="104" name="Google Shape;104;p15"/>
          <p:cNvPicPr preferRelativeResize="0"/>
          <p:nvPr/>
        </p:nvPicPr>
        <p:blipFill rotWithShape="1">
          <a:blip r:embed="rId3">
            <a:alphaModFix/>
          </a:blip>
          <a:srcRect b="0" l="0" r="0" t="0"/>
          <a:stretch/>
        </p:blipFill>
        <p:spPr>
          <a:xfrm>
            <a:off x="171099" y="3624451"/>
            <a:ext cx="4528151" cy="2343650"/>
          </a:xfrm>
          <a:prstGeom prst="rect">
            <a:avLst/>
          </a:prstGeom>
          <a:noFill/>
          <a:ln>
            <a:noFill/>
          </a:ln>
        </p:spPr>
      </p:pic>
      <p:pic>
        <p:nvPicPr>
          <p:cNvPr id="105" name="Google Shape;105;p15"/>
          <p:cNvPicPr preferRelativeResize="0"/>
          <p:nvPr/>
        </p:nvPicPr>
        <p:blipFill rotWithShape="1">
          <a:blip r:embed="rId4">
            <a:alphaModFix/>
          </a:blip>
          <a:srcRect b="0" l="0" r="0" t="0"/>
          <a:stretch/>
        </p:blipFill>
        <p:spPr>
          <a:xfrm>
            <a:off x="6818499" y="3622901"/>
            <a:ext cx="5082775" cy="25069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6"/>
          <p:cNvSpPr txBox="1"/>
          <p:nvPr>
            <p:ph type="title"/>
          </p:nvPr>
        </p:nvSpPr>
        <p:spPr>
          <a:xfrm>
            <a:off x="1992313" y="0"/>
            <a:ext cx="8229600" cy="1143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omic Sans MS"/>
              <a:buNone/>
            </a:pPr>
            <a:r>
              <a:rPr lang="en-GB"/>
              <a:t>Whiteboard Starter (3 mins):</a:t>
            </a:r>
            <a:endParaRPr/>
          </a:p>
        </p:txBody>
      </p:sp>
      <p:sp>
        <p:nvSpPr>
          <p:cNvPr id="111" name="Google Shape;111;p16"/>
          <p:cNvSpPr txBox="1"/>
          <p:nvPr>
            <p:ph idx="1" type="body"/>
          </p:nvPr>
        </p:nvSpPr>
        <p:spPr>
          <a:xfrm>
            <a:off x="643944" y="1196976"/>
            <a:ext cx="11269014" cy="5256213"/>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3600"/>
              <a:buFont typeface="Calibri"/>
              <a:buChar char="•"/>
            </a:pPr>
            <a:r>
              <a:rPr lang="en-GB" sz="3600"/>
              <a:t>Draw a wave.</a:t>
            </a:r>
            <a:endParaRPr/>
          </a:p>
          <a:p>
            <a:pPr indent="-228600" lvl="0" marL="228600" rtl="0" algn="l">
              <a:lnSpc>
                <a:spcPct val="90000"/>
              </a:lnSpc>
              <a:spcBef>
                <a:spcPts val="1000"/>
              </a:spcBef>
              <a:spcAft>
                <a:spcPts val="0"/>
              </a:spcAft>
              <a:buClr>
                <a:schemeClr val="dk1"/>
              </a:buClr>
              <a:buSzPts val="3600"/>
              <a:buFont typeface="Calibri"/>
              <a:buChar char="•"/>
            </a:pPr>
            <a:r>
              <a:rPr lang="en-GB" sz="3600"/>
              <a:t>Show its wavelength (λ)</a:t>
            </a:r>
            <a:endParaRPr/>
          </a:p>
          <a:p>
            <a:pPr indent="-228600" lvl="0" marL="228600" rtl="0" algn="l">
              <a:lnSpc>
                <a:spcPct val="90000"/>
              </a:lnSpc>
              <a:spcBef>
                <a:spcPts val="1000"/>
              </a:spcBef>
              <a:spcAft>
                <a:spcPts val="0"/>
              </a:spcAft>
              <a:buClr>
                <a:schemeClr val="dk1"/>
              </a:buClr>
              <a:buSzPts val="3600"/>
              <a:buFont typeface="Calibri"/>
              <a:buChar char="•"/>
            </a:pPr>
            <a:r>
              <a:rPr lang="en-GB" sz="3600"/>
              <a:t>Show its amplitude</a:t>
            </a:r>
            <a:endParaRPr/>
          </a:p>
          <a:p>
            <a:pPr indent="-228600" lvl="1" marL="685800" rtl="0" algn="l">
              <a:lnSpc>
                <a:spcPct val="90000"/>
              </a:lnSpc>
              <a:spcBef>
                <a:spcPts val="500"/>
              </a:spcBef>
              <a:spcAft>
                <a:spcPts val="0"/>
              </a:spcAft>
              <a:buClr>
                <a:schemeClr val="dk1"/>
              </a:buClr>
              <a:buSzPts val="3200"/>
              <a:buFont typeface="Calibri"/>
              <a:buChar char="•"/>
            </a:pPr>
            <a:r>
              <a:rPr lang="en-GB" sz="3200"/>
              <a:t>The height of a wave from the normal/baseline</a:t>
            </a:r>
            <a:endParaRPr/>
          </a:p>
          <a:p>
            <a:pPr indent="-228600" lvl="0" marL="228600" rtl="0" algn="l">
              <a:lnSpc>
                <a:spcPct val="90000"/>
              </a:lnSpc>
              <a:spcBef>
                <a:spcPts val="1000"/>
              </a:spcBef>
              <a:spcAft>
                <a:spcPts val="0"/>
              </a:spcAft>
              <a:buClr>
                <a:schemeClr val="dk1"/>
              </a:buClr>
              <a:buSzPts val="3600"/>
              <a:buFont typeface="Calibri"/>
              <a:buChar char="•"/>
            </a:pPr>
            <a:r>
              <a:rPr lang="en-GB" sz="3600"/>
              <a:t>What is its frequency (f)?</a:t>
            </a:r>
            <a:endParaRPr/>
          </a:p>
          <a:p>
            <a:pPr indent="-228600" lvl="1" marL="685800" rtl="0" algn="l">
              <a:lnSpc>
                <a:spcPct val="90000"/>
              </a:lnSpc>
              <a:spcBef>
                <a:spcPts val="500"/>
              </a:spcBef>
              <a:spcAft>
                <a:spcPts val="0"/>
              </a:spcAft>
              <a:buClr>
                <a:schemeClr val="dk1"/>
              </a:buClr>
              <a:buSzPts val="3200"/>
              <a:buFont typeface="Calibri"/>
              <a:buChar char="•"/>
            </a:pPr>
            <a:r>
              <a:rPr lang="en-GB" sz="3200"/>
              <a:t>The number of complete wavelength passing a point each second. </a:t>
            </a:r>
            <a:endParaRPr/>
          </a:p>
          <a:p>
            <a:pPr indent="-228600" lvl="1" marL="685800" rtl="0" algn="l">
              <a:lnSpc>
                <a:spcPct val="90000"/>
              </a:lnSpc>
              <a:spcBef>
                <a:spcPts val="500"/>
              </a:spcBef>
              <a:spcAft>
                <a:spcPts val="0"/>
              </a:spcAft>
              <a:buClr>
                <a:schemeClr val="dk1"/>
              </a:buClr>
              <a:buSzPts val="3200"/>
              <a:buFont typeface="Calibri"/>
              <a:buChar char="•"/>
            </a:pPr>
            <a:r>
              <a:rPr lang="en-GB" sz="3200"/>
              <a:t>Measured in Hertz (Hz).</a:t>
            </a:r>
            <a:endParaRPr sz="3200"/>
          </a:p>
        </p:txBody>
      </p:sp>
      <p:sp>
        <p:nvSpPr>
          <p:cNvPr id="112" name="Google Shape;112;p16"/>
          <p:cNvSpPr/>
          <p:nvPr/>
        </p:nvSpPr>
        <p:spPr>
          <a:xfrm>
            <a:off x="1008025" y="3033700"/>
            <a:ext cx="8320800" cy="5619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13" name="Google Shape;113;p16"/>
          <p:cNvSpPr/>
          <p:nvPr/>
        </p:nvSpPr>
        <p:spPr>
          <a:xfrm>
            <a:off x="1008025" y="4118850"/>
            <a:ext cx="10143900" cy="14907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12"/>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13"/>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17"/>
          <p:cNvSpPr txBox="1"/>
          <p:nvPr/>
        </p:nvSpPr>
        <p:spPr>
          <a:xfrm>
            <a:off x="78975" y="1566425"/>
            <a:ext cx="11436300" cy="4027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100"/>
              </a:spcBef>
              <a:spcAft>
                <a:spcPts val="0"/>
              </a:spcAft>
              <a:buNone/>
            </a:pPr>
            <a:r>
              <a:rPr b="1" lang="en-GB" sz="3000">
                <a:solidFill>
                  <a:schemeClr val="dk1"/>
                </a:solidFill>
                <a:latin typeface="Calibri"/>
                <a:ea typeface="Calibri"/>
                <a:cs typeface="Calibri"/>
                <a:sym typeface="Calibri"/>
              </a:rPr>
              <a:t>Energy of Waves </a:t>
            </a:r>
            <a:endParaRPr b="1" sz="3000">
              <a:solidFill>
                <a:schemeClr val="dk1"/>
              </a:solidFill>
              <a:latin typeface="Calibri"/>
              <a:ea typeface="Calibri"/>
              <a:cs typeface="Calibri"/>
              <a:sym typeface="Calibri"/>
            </a:endParaRPr>
          </a:p>
          <a:p>
            <a:pPr indent="-419100" lvl="0" marL="457200" rtl="0" algn="l">
              <a:lnSpc>
                <a:spcPct val="115000"/>
              </a:lnSpc>
              <a:spcBef>
                <a:spcPts val="1100"/>
              </a:spcBef>
              <a:spcAft>
                <a:spcPts val="0"/>
              </a:spcAft>
              <a:buClr>
                <a:schemeClr val="dk1"/>
              </a:buClr>
              <a:buSzPts val="3000"/>
              <a:buFont typeface="Calibri"/>
              <a:buChar char="●"/>
            </a:pPr>
            <a:r>
              <a:rPr lang="en-GB" sz="3000">
                <a:solidFill>
                  <a:schemeClr val="dk1"/>
                </a:solidFill>
                <a:latin typeface="Calibri"/>
                <a:ea typeface="Calibri"/>
                <a:cs typeface="Calibri"/>
                <a:sym typeface="Calibri"/>
              </a:rPr>
              <a:t>I can deduce the position of a wave on the electromagnetic spectrum from given data</a:t>
            </a:r>
            <a:endParaRPr sz="3000">
              <a:solidFill>
                <a:schemeClr val="dk1"/>
              </a:solidFill>
              <a:latin typeface="Calibri"/>
              <a:ea typeface="Calibri"/>
              <a:cs typeface="Calibri"/>
              <a:sym typeface="Calibri"/>
            </a:endParaRPr>
          </a:p>
          <a:p>
            <a:pPr indent="-419100" lvl="0" marL="457200" rtl="0" algn="l">
              <a:lnSpc>
                <a:spcPct val="115000"/>
              </a:lnSpc>
              <a:spcBef>
                <a:spcPts val="0"/>
              </a:spcBef>
              <a:spcAft>
                <a:spcPts val="0"/>
              </a:spcAft>
              <a:buClr>
                <a:schemeClr val="dk1"/>
              </a:buClr>
              <a:buSzPts val="3000"/>
              <a:buFont typeface="Calibri"/>
              <a:buChar char="●"/>
            </a:pPr>
            <a:r>
              <a:rPr lang="en-GB" sz="3000">
                <a:solidFill>
                  <a:schemeClr val="dk1"/>
                </a:solidFill>
                <a:latin typeface="Calibri"/>
                <a:ea typeface="Calibri"/>
                <a:cs typeface="Calibri"/>
                <a:sym typeface="Calibri"/>
              </a:rPr>
              <a:t>I can explain the uses and effects of different types of electromagnetic waves</a:t>
            </a:r>
            <a:endParaRPr sz="3000">
              <a:solidFill>
                <a:schemeClr val="dk1"/>
              </a:solidFill>
              <a:latin typeface="Calibri"/>
              <a:ea typeface="Calibri"/>
              <a:cs typeface="Calibri"/>
              <a:sym typeface="Calibri"/>
            </a:endParaRPr>
          </a:p>
        </p:txBody>
      </p:sp>
      <p:sp>
        <p:nvSpPr>
          <p:cNvPr id="120" name="Google Shape;120;p17"/>
          <p:cNvSpPr txBox="1"/>
          <p:nvPr/>
        </p:nvSpPr>
        <p:spPr>
          <a:xfrm>
            <a:off x="526525" y="394900"/>
            <a:ext cx="10425300" cy="75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2800">
                <a:solidFill>
                  <a:schemeClr val="dk1"/>
                </a:solidFill>
                <a:latin typeface="Calibri"/>
                <a:ea typeface="Calibri"/>
                <a:cs typeface="Calibri"/>
                <a:sym typeface="Calibri"/>
              </a:rPr>
              <a:t>Student Achievement Statements</a:t>
            </a:r>
            <a:endParaRPr b="1" sz="28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18"/>
          <p:cNvSpPr/>
          <p:nvPr/>
        </p:nvSpPr>
        <p:spPr>
          <a:xfrm>
            <a:off x="6672263" y="3500439"/>
            <a:ext cx="1871662" cy="865187"/>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6" name="Google Shape;126;p18"/>
          <p:cNvSpPr/>
          <p:nvPr/>
        </p:nvSpPr>
        <p:spPr>
          <a:xfrm>
            <a:off x="3863976" y="3500439"/>
            <a:ext cx="1800225" cy="865187"/>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cxnSp>
        <p:nvCxnSpPr>
          <p:cNvPr id="127" name="Google Shape;127;p18"/>
          <p:cNvCxnSpPr/>
          <p:nvPr/>
        </p:nvCxnSpPr>
        <p:spPr>
          <a:xfrm>
            <a:off x="2063750" y="1989138"/>
            <a:ext cx="8135938" cy="0"/>
          </a:xfrm>
          <a:prstGeom prst="straightConnector1">
            <a:avLst/>
          </a:prstGeom>
          <a:noFill/>
          <a:ln cap="flat" cmpd="sng" w="38100">
            <a:solidFill>
              <a:schemeClr val="dk1"/>
            </a:solidFill>
            <a:prstDash val="solid"/>
            <a:round/>
            <a:headEnd len="med" w="med" type="none"/>
            <a:tailEnd len="med" w="med" type="none"/>
          </a:ln>
        </p:spPr>
      </p:cxnSp>
      <p:cxnSp>
        <p:nvCxnSpPr>
          <p:cNvPr id="128" name="Google Shape;128;p18"/>
          <p:cNvCxnSpPr/>
          <p:nvPr/>
        </p:nvCxnSpPr>
        <p:spPr>
          <a:xfrm>
            <a:off x="1992314" y="3500438"/>
            <a:ext cx="8135937" cy="0"/>
          </a:xfrm>
          <a:prstGeom prst="straightConnector1">
            <a:avLst/>
          </a:prstGeom>
          <a:noFill/>
          <a:ln cap="flat" cmpd="sng" w="38100">
            <a:solidFill>
              <a:schemeClr val="dk1"/>
            </a:solidFill>
            <a:prstDash val="solid"/>
            <a:round/>
            <a:headEnd len="med" w="med" type="none"/>
            <a:tailEnd len="med" w="med" type="none"/>
          </a:ln>
        </p:spPr>
      </p:cxnSp>
      <p:cxnSp>
        <p:nvCxnSpPr>
          <p:cNvPr id="129" name="Google Shape;129;p18"/>
          <p:cNvCxnSpPr/>
          <p:nvPr/>
        </p:nvCxnSpPr>
        <p:spPr>
          <a:xfrm>
            <a:off x="5519738" y="1989138"/>
            <a:ext cx="0" cy="1511300"/>
          </a:xfrm>
          <a:prstGeom prst="straightConnector1">
            <a:avLst/>
          </a:prstGeom>
          <a:noFill/>
          <a:ln cap="flat" cmpd="sng" w="9525">
            <a:solidFill>
              <a:schemeClr val="dk1"/>
            </a:solidFill>
            <a:prstDash val="solid"/>
            <a:round/>
            <a:headEnd len="med" w="med" type="none"/>
            <a:tailEnd len="med" w="med" type="none"/>
          </a:ln>
        </p:spPr>
      </p:cxnSp>
      <p:cxnSp>
        <p:nvCxnSpPr>
          <p:cNvPr id="130" name="Google Shape;130;p18"/>
          <p:cNvCxnSpPr/>
          <p:nvPr/>
        </p:nvCxnSpPr>
        <p:spPr>
          <a:xfrm>
            <a:off x="6888163" y="1989138"/>
            <a:ext cx="0" cy="1511300"/>
          </a:xfrm>
          <a:prstGeom prst="straightConnector1">
            <a:avLst/>
          </a:prstGeom>
          <a:noFill/>
          <a:ln cap="flat" cmpd="sng" w="9525">
            <a:solidFill>
              <a:schemeClr val="dk1"/>
            </a:solidFill>
            <a:prstDash val="solid"/>
            <a:round/>
            <a:headEnd len="med" w="med" type="none"/>
            <a:tailEnd len="med" w="med" type="none"/>
          </a:ln>
        </p:spPr>
      </p:cxnSp>
      <p:cxnSp>
        <p:nvCxnSpPr>
          <p:cNvPr id="131" name="Google Shape;131;p18"/>
          <p:cNvCxnSpPr/>
          <p:nvPr/>
        </p:nvCxnSpPr>
        <p:spPr>
          <a:xfrm>
            <a:off x="8112125" y="1989138"/>
            <a:ext cx="0" cy="1511300"/>
          </a:xfrm>
          <a:prstGeom prst="straightConnector1">
            <a:avLst/>
          </a:prstGeom>
          <a:noFill/>
          <a:ln cap="flat" cmpd="sng" w="9525">
            <a:solidFill>
              <a:schemeClr val="dk1"/>
            </a:solidFill>
            <a:prstDash val="solid"/>
            <a:round/>
            <a:headEnd len="med" w="med" type="none"/>
            <a:tailEnd len="med" w="med" type="none"/>
          </a:ln>
        </p:spPr>
      </p:cxnSp>
      <p:cxnSp>
        <p:nvCxnSpPr>
          <p:cNvPr id="132" name="Google Shape;132;p18"/>
          <p:cNvCxnSpPr/>
          <p:nvPr/>
        </p:nvCxnSpPr>
        <p:spPr>
          <a:xfrm>
            <a:off x="9336088" y="1989138"/>
            <a:ext cx="0" cy="1511300"/>
          </a:xfrm>
          <a:prstGeom prst="straightConnector1">
            <a:avLst/>
          </a:prstGeom>
          <a:noFill/>
          <a:ln cap="flat" cmpd="sng" w="9525">
            <a:solidFill>
              <a:schemeClr val="dk1"/>
            </a:solidFill>
            <a:prstDash val="solid"/>
            <a:round/>
            <a:headEnd len="med" w="med" type="none"/>
            <a:tailEnd len="med" w="med" type="none"/>
          </a:ln>
        </p:spPr>
      </p:cxnSp>
      <p:cxnSp>
        <p:nvCxnSpPr>
          <p:cNvPr id="133" name="Google Shape;133;p18"/>
          <p:cNvCxnSpPr/>
          <p:nvPr/>
        </p:nvCxnSpPr>
        <p:spPr>
          <a:xfrm>
            <a:off x="2782888" y="1989138"/>
            <a:ext cx="0" cy="1511300"/>
          </a:xfrm>
          <a:prstGeom prst="straightConnector1">
            <a:avLst/>
          </a:prstGeom>
          <a:noFill/>
          <a:ln cap="flat" cmpd="sng" w="9525">
            <a:solidFill>
              <a:schemeClr val="dk1"/>
            </a:solidFill>
            <a:prstDash val="solid"/>
            <a:round/>
            <a:headEnd len="med" w="med" type="none"/>
            <a:tailEnd len="med" w="med" type="none"/>
          </a:ln>
        </p:spPr>
      </p:cxnSp>
      <p:cxnSp>
        <p:nvCxnSpPr>
          <p:cNvPr id="134" name="Google Shape;134;p18"/>
          <p:cNvCxnSpPr/>
          <p:nvPr/>
        </p:nvCxnSpPr>
        <p:spPr>
          <a:xfrm>
            <a:off x="4224338" y="1989138"/>
            <a:ext cx="0" cy="1511300"/>
          </a:xfrm>
          <a:prstGeom prst="straightConnector1">
            <a:avLst/>
          </a:prstGeom>
          <a:noFill/>
          <a:ln cap="flat" cmpd="sng" w="9525">
            <a:solidFill>
              <a:schemeClr val="dk1"/>
            </a:solidFill>
            <a:prstDash val="solid"/>
            <a:round/>
            <a:headEnd len="med" w="med" type="none"/>
            <a:tailEnd len="med" w="med" type="none"/>
          </a:ln>
        </p:spPr>
      </p:cxnSp>
      <p:sp>
        <p:nvSpPr>
          <p:cNvPr id="135" name="Google Shape;135;p18"/>
          <p:cNvSpPr txBox="1"/>
          <p:nvPr/>
        </p:nvSpPr>
        <p:spPr>
          <a:xfrm>
            <a:off x="5591175" y="2425701"/>
            <a:ext cx="1155700"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omic Sans MS"/>
                <a:ea typeface="Comic Sans MS"/>
                <a:cs typeface="Comic Sans MS"/>
                <a:sym typeface="Comic Sans MS"/>
              </a:rPr>
              <a:t>VISIBLE</a:t>
            </a:r>
            <a:endParaRPr sz="1800">
              <a:solidFill>
                <a:schemeClr val="dk1"/>
              </a:solidFill>
              <a:latin typeface="Comic Sans MS"/>
              <a:ea typeface="Comic Sans MS"/>
              <a:cs typeface="Comic Sans MS"/>
              <a:sym typeface="Comic Sans MS"/>
            </a:endParaRPr>
          </a:p>
        </p:txBody>
      </p:sp>
      <p:sp>
        <p:nvSpPr>
          <p:cNvPr id="136" name="Google Shape;136;p18"/>
          <p:cNvSpPr txBox="1"/>
          <p:nvPr/>
        </p:nvSpPr>
        <p:spPr>
          <a:xfrm>
            <a:off x="8112126" y="2425701"/>
            <a:ext cx="1057275"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omic Sans MS"/>
                <a:ea typeface="Comic Sans MS"/>
                <a:cs typeface="Comic Sans MS"/>
                <a:sym typeface="Comic Sans MS"/>
              </a:rPr>
              <a:t>X-RAYS</a:t>
            </a:r>
            <a:endParaRPr sz="1800">
              <a:solidFill>
                <a:schemeClr val="dk1"/>
              </a:solidFill>
              <a:latin typeface="Comic Sans MS"/>
              <a:ea typeface="Comic Sans MS"/>
              <a:cs typeface="Comic Sans MS"/>
              <a:sym typeface="Comic Sans MS"/>
            </a:endParaRPr>
          </a:p>
        </p:txBody>
      </p:sp>
      <p:sp>
        <p:nvSpPr>
          <p:cNvPr id="137" name="Google Shape;137;p18"/>
          <p:cNvSpPr txBox="1"/>
          <p:nvPr/>
        </p:nvSpPr>
        <p:spPr>
          <a:xfrm>
            <a:off x="4367213" y="2354264"/>
            <a:ext cx="1035050" cy="91598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omic Sans MS"/>
                <a:ea typeface="Comic Sans MS"/>
                <a:cs typeface="Comic Sans MS"/>
                <a:sym typeface="Comic Sans MS"/>
              </a:rPr>
              <a:t>INFRA-</a:t>
            </a:r>
            <a:endParaRPr/>
          </a:p>
          <a:p>
            <a:pPr indent="0" lvl="0" marL="0" marR="0" rtl="0" algn="l">
              <a:spcBef>
                <a:spcPts val="0"/>
              </a:spcBef>
              <a:spcAft>
                <a:spcPts val="0"/>
              </a:spcAft>
              <a:buNone/>
            </a:pPr>
            <a:r>
              <a:rPr lang="en-GB" sz="1800">
                <a:solidFill>
                  <a:schemeClr val="dk1"/>
                </a:solidFill>
                <a:latin typeface="Comic Sans MS"/>
                <a:ea typeface="Comic Sans MS"/>
                <a:cs typeface="Comic Sans MS"/>
                <a:sym typeface="Comic Sans MS"/>
              </a:rPr>
              <a:t>RED</a:t>
            </a:r>
            <a:endParaRPr/>
          </a:p>
          <a:p>
            <a:pPr indent="0" lvl="0" marL="0" marR="0" rtl="0" algn="l">
              <a:spcBef>
                <a:spcPts val="0"/>
              </a:spcBef>
              <a:spcAft>
                <a:spcPts val="0"/>
              </a:spcAft>
              <a:buNone/>
            </a:pPr>
            <a:r>
              <a:rPr lang="en-GB" sz="1800">
                <a:solidFill>
                  <a:schemeClr val="dk1"/>
                </a:solidFill>
                <a:latin typeface="Comic Sans MS"/>
                <a:ea typeface="Comic Sans MS"/>
                <a:cs typeface="Comic Sans MS"/>
                <a:sym typeface="Comic Sans MS"/>
              </a:rPr>
              <a:t>(IR)</a:t>
            </a:r>
            <a:endParaRPr sz="1800">
              <a:solidFill>
                <a:schemeClr val="dk1"/>
              </a:solidFill>
              <a:latin typeface="Comic Sans MS"/>
              <a:ea typeface="Comic Sans MS"/>
              <a:cs typeface="Comic Sans MS"/>
              <a:sym typeface="Comic Sans MS"/>
            </a:endParaRPr>
          </a:p>
        </p:txBody>
      </p:sp>
      <p:sp>
        <p:nvSpPr>
          <p:cNvPr id="138" name="Google Shape;138;p18"/>
          <p:cNvSpPr txBox="1"/>
          <p:nvPr/>
        </p:nvSpPr>
        <p:spPr>
          <a:xfrm>
            <a:off x="6959601" y="2209800"/>
            <a:ext cx="1133475" cy="9159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omic Sans MS"/>
                <a:ea typeface="Comic Sans MS"/>
                <a:cs typeface="Comic Sans MS"/>
                <a:sym typeface="Comic Sans MS"/>
              </a:rPr>
              <a:t>ULTRA-</a:t>
            </a:r>
            <a:endParaRPr/>
          </a:p>
          <a:p>
            <a:pPr indent="0" lvl="0" marL="0" marR="0" rtl="0" algn="l">
              <a:spcBef>
                <a:spcPts val="0"/>
              </a:spcBef>
              <a:spcAft>
                <a:spcPts val="0"/>
              </a:spcAft>
              <a:buNone/>
            </a:pPr>
            <a:r>
              <a:rPr lang="en-GB" sz="1800">
                <a:solidFill>
                  <a:schemeClr val="dk1"/>
                </a:solidFill>
                <a:latin typeface="Comic Sans MS"/>
                <a:ea typeface="Comic Sans MS"/>
                <a:cs typeface="Comic Sans MS"/>
                <a:sym typeface="Comic Sans MS"/>
              </a:rPr>
              <a:t>VIOLET </a:t>
            </a:r>
            <a:endParaRPr/>
          </a:p>
          <a:p>
            <a:pPr indent="0" lvl="0" marL="0" marR="0" rtl="0" algn="l">
              <a:spcBef>
                <a:spcPts val="0"/>
              </a:spcBef>
              <a:spcAft>
                <a:spcPts val="0"/>
              </a:spcAft>
              <a:buNone/>
            </a:pPr>
            <a:r>
              <a:rPr lang="en-GB" sz="1800">
                <a:solidFill>
                  <a:schemeClr val="dk1"/>
                </a:solidFill>
                <a:latin typeface="Comic Sans MS"/>
                <a:ea typeface="Comic Sans MS"/>
                <a:cs typeface="Comic Sans MS"/>
                <a:sym typeface="Comic Sans MS"/>
              </a:rPr>
              <a:t>(UV)</a:t>
            </a:r>
            <a:endParaRPr sz="1800">
              <a:solidFill>
                <a:schemeClr val="dk1"/>
              </a:solidFill>
              <a:latin typeface="Comic Sans MS"/>
              <a:ea typeface="Comic Sans MS"/>
              <a:cs typeface="Comic Sans MS"/>
              <a:sym typeface="Comic Sans MS"/>
            </a:endParaRPr>
          </a:p>
        </p:txBody>
      </p:sp>
      <p:sp>
        <p:nvSpPr>
          <p:cNvPr id="139" name="Google Shape;139;p18"/>
          <p:cNvSpPr txBox="1"/>
          <p:nvPr/>
        </p:nvSpPr>
        <p:spPr>
          <a:xfrm>
            <a:off x="2927351" y="2349500"/>
            <a:ext cx="1069975" cy="6413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omic Sans MS"/>
                <a:ea typeface="Comic Sans MS"/>
                <a:cs typeface="Comic Sans MS"/>
                <a:sym typeface="Comic Sans MS"/>
              </a:rPr>
              <a:t>MICRO-</a:t>
            </a:r>
            <a:endParaRPr/>
          </a:p>
          <a:p>
            <a:pPr indent="0" lvl="0" marL="0" marR="0" rtl="0" algn="l">
              <a:spcBef>
                <a:spcPts val="0"/>
              </a:spcBef>
              <a:spcAft>
                <a:spcPts val="0"/>
              </a:spcAft>
              <a:buNone/>
            </a:pPr>
            <a:r>
              <a:rPr lang="en-GB" sz="1800">
                <a:solidFill>
                  <a:schemeClr val="dk1"/>
                </a:solidFill>
                <a:latin typeface="Comic Sans MS"/>
                <a:ea typeface="Comic Sans MS"/>
                <a:cs typeface="Comic Sans MS"/>
                <a:sym typeface="Comic Sans MS"/>
              </a:rPr>
              <a:t>WAVES</a:t>
            </a:r>
            <a:endParaRPr sz="1800">
              <a:solidFill>
                <a:schemeClr val="dk1"/>
              </a:solidFill>
              <a:latin typeface="Comic Sans MS"/>
              <a:ea typeface="Comic Sans MS"/>
              <a:cs typeface="Comic Sans MS"/>
              <a:sym typeface="Comic Sans MS"/>
            </a:endParaRPr>
          </a:p>
        </p:txBody>
      </p:sp>
      <p:sp>
        <p:nvSpPr>
          <p:cNvPr id="140" name="Google Shape;140;p18"/>
          <p:cNvSpPr txBox="1"/>
          <p:nvPr/>
        </p:nvSpPr>
        <p:spPr>
          <a:xfrm>
            <a:off x="9409114" y="2425700"/>
            <a:ext cx="1076325" cy="6413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omic Sans MS"/>
                <a:ea typeface="Comic Sans MS"/>
                <a:cs typeface="Comic Sans MS"/>
                <a:sym typeface="Comic Sans MS"/>
              </a:rPr>
              <a:t>GAMMA</a:t>
            </a:r>
            <a:endParaRPr/>
          </a:p>
          <a:p>
            <a:pPr indent="0" lvl="0" marL="0" marR="0" rtl="0" algn="l">
              <a:spcBef>
                <a:spcPts val="0"/>
              </a:spcBef>
              <a:spcAft>
                <a:spcPts val="0"/>
              </a:spcAft>
              <a:buNone/>
            </a:pPr>
            <a:r>
              <a:rPr lang="en-GB" sz="1800">
                <a:solidFill>
                  <a:schemeClr val="dk1"/>
                </a:solidFill>
                <a:latin typeface="Comic Sans MS"/>
                <a:ea typeface="Comic Sans MS"/>
                <a:cs typeface="Comic Sans MS"/>
                <a:sym typeface="Comic Sans MS"/>
              </a:rPr>
              <a:t>(γ)</a:t>
            </a:r>
            <a:endParaRPr/>
          </a:p>
        </p:txBody>
      </p:sp>
      <p:sp>
        <p:nvSpPr>
          <p:cNvPr id="141" name="Google Shape;141;p18"/>
          <p:cNvSpPr txBox="1"/>
          <p:nvPr/>
        </p:nvSpPr>
        <p:spPr>
          <a:xfrm>
            <a:off x="1703389" y="2570163"/>
            <a:ext cx="966787" cy="3667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omic Sans MS"/>
                <a:ea typeface="Comic Sans MS"/>
                <a:cs typeface="Comic Sans MS"/>
                <a:sym typeface="Comic Sans MS"/>
              </a:rPr>
              <a:t>RADIO</a:t>
            </a:r>
            <a:endParaRPr sz="1800">
              <a:solidFill>
                <a:schemeClr val="dk1"/>
              </a:solidFill>
              <a:latin typeface="Comic Sans MS"/>
              <a:ea typeface="Comic Sans MS"/>
              <a:cs typeface="Comic Sans MS"/>
              <a:sym typeface="Comic Sans MS"/>
            </a:endParaRPr>
          </a:p>
        </p:txBody>
      </p:sp>
      <p:pic>
        <p:nvPicPr>
          <p:cNvPr descr="The visible spectrum from red (at left) to violet (at right)." id="142" name="Google Shape;142;p18"/>
          <p:cNvPicPr preferRelativeResize="0"/>
          <p:nvPr/>
        </p:nvPicPr>
        <p:blipFill rotWithShape="1">
          <a:blip r:embed="rId3">
            <a:alphaModFix/>
          </a:blip>
          <a:srcRect b="0" l="0" r="0" t="0"/>
          <a:stretch/>
        </p:blipFill>
        <p:spPr>
          <a:xfrm>
            <a:off x="4079875" y="4508501"/>
            <a:ext cx="4387850" cy="2035175"/>
          </a:xfrm>
          <a:prstGeom prst="rect">
            <a:avLst/>
          </a:prstGeom>
          <a:noFill/>
          <a:ln>
            <a:noFill/>
          </a:ln>
        </p:spPr>
      </p:pic>
      <p:sp>
        <p:nvSpPr>
          <p:cNvPr id="143" name="Google Shape;143;p18"/>
          <p:cNvSpPr/>
          <p:nvPr/>
        </p:nvSpPr>
        <p:spPr>
          <a:xfrm>
            <a:off x="3935413" y="4365626"/>
            <a:ext cx="4608600" cy="2303400"/>
          </a:xfrm>
          <a:prstGeom prst="rect">
            <a:avLst/>
          </a:prstGeom>
          <a:no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4" name="Google Shape;144;p18"/>
          <p:cNvSpPr txBox="1"/>
          <p:nvPr/>
        </p:nvSpPr>
        <p:spPr>
          <a:xfrm>
            <a:off x="3889388" y="3427664"/>
            <a:ext cx="1676400" cy="923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Red is always</a:t>
            </a:r>
            <a:endParaRPr>
              <a:latin typeface="Calibri"/>
              <a:ea typeface="Calibri"/>
              <a:cs typeface="Calibri"/>
              <a:sym typeface="Calibri"/>
            </a:endParaRPr>
          </a:p>
          <a:p>
            <a:pPr indent="0" lvl="0" marL="0" marR="0" rtl="0" algn="l">
              <a:spcBef>
                <a:spcPts val="0"/>
              </a:spcBef>
              <a:spcAft>
                <a:spcPts val="0"/>
              </a:spcAft>
              <a:buNone/>
            </a:pPr>
            <a:r>
              <a:rPr b="1" lang="en-GB" sz="1800">
                <a:solidFill>
                  <a:srgbClr val="FF0000"/>
                </a:solidFill>
                <a:latin typeface="Calibri"/>
                <a:ea typeface="Calibri"/>
                <a:cs typeface="Calibri"/>
                <a:sym typeface="Calibri"/>
              </a:rPr>
              <a:t>Next to the</a:t>
            </a:r>
            <a:endParaRPr>
              <a:latin typeface="Calibri"/>
              <a:ea typeface="Calibri"/>
              <a:cs typeface="Calibri"/>
              <a:sym typeface="Calibri"/>
            </a:endParaRPr>
          </a:p>
          <a:p>
            <a:pPr indent="0" lvl="0" marL="0" marR="0" rtl="0" algn="l">
              <a:spcBef>
                <a:spcPts val="0"/>
              </a:spcBef>
              <a:spcAft>
                <a:spcPts val="0"/>
              </a:spcAft>
              <a:buNone/>
            </a:pPr>
            <a:r>
              <a:rPr b="1" lang="en-GB" sz="1800">
                <a:solidFill>
                  <a:srgbClr val="FF0000"/>
                </a:solidFill>
                <a:latin typeface="Calibri"/>
                <a:ea typeface="Calibri"/>
                <a:cs typeface="Calibri"/>
                <a:sym typeface="Calibri"/>
              </a:rPr>
              <a:t>Infrared</a:t>
            </a:r>
            <a:endParaRPr b="1" sz="1800">
              <a:solidFill>
                <a:srgbClr val="FF0000"/>
              </a:solidFill>
              <a:latin typeface="Calibri"/>
              <a:ea typeface="Calibri"/>
              <a:cs typeface="Calibri"/>
              <a:sym typeface="Calibri"/>
            </a:endParaRPr>
          </a:p>
        </p:txBody>
      </p:sp>
      <p:sp>
        <p:nvSpPr>
          <p:cNvPr id="145" name="Google Shape;145;p18"/>
          <p:cNvSpPr txBox="1"/>
          <p:nvPr/>
        </p:nvSpPr>
        <p:spPr>
          <a:xfrm>
            <a:off x="6656338" y="3471338"/>
            <a:ext cx="1903500" cy="923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CC0099"/>
                </a:solidFill>
                <a:latin typeface="Calibri"/>
                <a:ea typeface="Calibri"/>
                <a:cs typeface="Calibri"/>
                <a:sym typeface="Calibri"/>
              </a:rPr>
              <a:t>Violet is always</a:t>
            </a:r>
            <a:endParaRPr>
              <a:latin typeface="Calibri"/>
              <a:ea typeface="Calibri"/>
              <a:cs typeface="Calibri"/>
              <a:sym typeface="Calibri"/>
            </a:endParaRPr>
          </a:p>
          <a:p>
            <a:pPr indent="0" lvl="0" marL="0" marR="0" rtl="0" algn="l">
              <a:spcBef>
                <a:spcPts val="0"/>
              </a:spcBef>
              <a:spcAft>
                <a:spcPts val="0"/>
              </a:spcAft>
              <a:buNone/>
            </a:pPr>
            <a:r>
              <a:rPr b="1" lang="en-GB" sz="1800">
                <a:solidFill>
                  <a:srgbClr val="CC0099"/>
                </a:solidFill>
                <a:latin typeface="Calibri"/>
                <a:ea typeface="Calibri"/>
                <a:cs typeface="Calibri"/>
                <a:sym typeface="Calibri"/>
              </a:rPr>
              <a:t>Next to the</a:t>
            </a:r>
            <a:endParaRPr>
              <a:latin typeface="Calibri"/>
              <a:ea typeface="Calibri"/>
              <a:cs typeface="Calibri"/>
              <a:sym typeface="Calibri"/>
            </a:endParaRPr>
          </a:p>
          <a:p>
            <a:pPr indent="0" lvl="0" marL="0" marR="0" rtl="0" algn="l">
              <a:spcBef>
                <a:spcPts val="0"/>
              </a:spcBef>
              <a:spcAft>
                <a:spcPts val="0"/>
              </a:spcAft>
              <a:buNone/>
            </a:pPr>
            <a:r>
              <a:rPr b="1" lang="en-GB" sz="1800">
                <a:solidFill>
                  <a:srgbClr val="CC0099"/>
                </a:solidFill>
                <a:latin typeface="Calibri"/>
                <a:ea typeface="Calibri"/>
                <a:cs typeface="Calibri"/>
                <a:sym typeface="Calibri"/>
              </a:rPr>
              <a:t>Ultraviolet</a:t>
            </a:r>
            <a:endParaRPr b="1" sz="1800">
              <a:solidFill>
                <a:srgbClr val="CC0099"/>
              </a:solidFill>
              <a:latin typeface="Calibri"/>
              <a:ea typeface="Calibri"/>
              <a:cs typeface="Calibri"/>
              <a:sym typeface="Calibri"/>
            </a:endParaRPr>
          </a:p>
        </p:txBody>
      </p:sp>
      <p:sp>
        <p:nvSpPr>
          <p:cNvPr id="146" name="Google Shape;146;p18"/>
          <p:cNvSpPr txBox="1"/>
          <p:nvPr/>
        </p:nvSpPr>
        <p:spPr>
          <a:xfrm>
            <a:off x="1468125" y="573098"/>
            <a:ext cx="64155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rgbClr val="FF0066"/>
                </a:solidFill>
                <a:latin typeface="Comic Sans MS"/>
                <a:ea typeface="Comic Sans MS"/>
                <a:cs typeface="Comic Sans MS"/>
                <a:sym typeface="Comic Sans MS"/>
              </a:rPr>
              <a:t>Frequency</a:t>
            </a:r>
            <a:r>
              <a:rPr lang="en-GB" sz="1800">
                <a:solidFill>
                  <a:schemeClr val="dk1"/>
                </a:solidFill>
                <a:latin typeface="Comic Sans MS"/>
                <a:ea typeface="Comic Sans MS"/>
                <a:cs typeface="Comic Sans MS"/>
                <a:sym typeface="Comic Sans MS"/>
              </a:rPr>
              <a:t> (f) increases as </a:t>
            </a:r>
            <a:r>
              <a:rPr b="1" i="1" lang="en-GB" sz="1800" u="sng">
                <a:solidFill>
                  <a:schemeClr val="dk1"/>
                </a:solidFill>
                <a:latin typeface="Comic Sans MS"/>
                <a:ea typeface="Comic Sans MS"/>
                <a:cs typeface="Comic Sans MS"/>
                <a:sym typeface="Comic Sans MS"/>
              </a:rPr>
              <a:t>you go across</a:t>
            </a:r>
            <a:r>
              <a:rPr lang="en-GB" sz="1800">
                <a:solidFill>
                  <a:schemeClr val="dk1"/>
                </a:solidFill>
                <a:latin typeface="Comic Sans MS"/>
                <a:ea typeface="Comic Sans MS"/>
                <a:cs typeface="Comic Sans MS"/>
                <a:sym typeface="Comic Sans MS"/>
              </a:rPr>
              <a:t> the spectrum</a:t>
            </a:r>
            <a:endParaRPr sz="1800">
              <a:solidFill>
                <a:schemeClr val="dk1"/>
              </a:solidFill>
              <a:latin typeface="Comic Sans MS"/>
              <a:ea typeface="Comic Sans MS"/>
              <a:cs typeface="Comic Sans MS"/>
              <a:sym typeface="Comic Sans MS"/>
            </a:endParaRPr>
          </a:p>
        </p:txBody>
      </p:sp>
      <p:cxnSp>
        <p:nvCxnSpPr>
          <p:cNvPr id="147" name="Google Shape;147;p18"/>
          <p:cNvCxnSpPr/>
          <p:nvPr/>
        </p:nvCxnSpPr>
        <p:spPr>
          <a:xfrm>
            <a:off x="7896225" y="765175"/>
            <a:ext cx="2376488" cy="0"/>
          </a:xfrm>
          <a:prstGeom prst="straightConnector1">
            <a:avLst/>
          </a:prstGeom>
          <a:noFill/>
          <a:ln cap="flat" cmpd="sng" w="38100">
            <a:solidFill>
              <a:schemeClr val="dk1"/>
            </a:solidFill>
            <a:prstDash val="solid"/>
            <a:round/>
            <a:headEnd len="med" w="med" type="none"/>
            <a:tailEnd len="med" w="med" type="triangle"/>
          </a:ln>
        </p:spPr>
      </p:cxnSp>
      <p:sp>
        <p:nvSpPr>
          <p:cNvPr id="148" name="Google Shape;148;p18"/>
          <p:cNvSpPr txBox="1"/>
          <p:nvPr/>
        </p:nvSpPr>
        <p:spPr>
          <a:xfrm>
            <a:off x="6096001" y="1273176"/>
            <a:ext cx="4575175"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rgbClr val="FF0066"/>
                </a:solidFill>
                <a:latin typeface="Comic Sans MS"/>
                <a:ea typeface="Comic Sans MS"/>
                <a:cs typeface="Comic Sans MS"/>
                <a:sym typeface="Comic Sans MS"/>
              </a:rPr>
              <a:t>Wavelength </a:t>
            </a:r>
            <a:r>
              <a:rPr lang="en-GB" sz="1800">
                <a:solidFill>
                  <a:schemeClr val="dk1"/>
                </a:solidFill>
                <a:latin typeface="Comic Sans MS"/>
                <a:ea typeface="Comic Sans MS"/>
                <a:cs typeface="Comic Sans MS"/>
                <a:sym typeface="Comic Sans MS"/>
              </a:rPr>
              <a:t>(λ) increases as </a:t>
            </a:r>
            <a:r>
              <a:rPr b="1" i="1" lang="en-GB" sz="1800" u="sng">
                <a:solidFill>
                  <a:schemeClr val="dk1"/>
                </a:solidFill>
                <a:latin typeface="Comic Sans MS"/>
                <a:ea typeface="Comic Sans MS"/>
                <a:cs typeface="Comic Sans MS"/>
                <a:sym typeface="Comic Sans MS"/>
              </a:rPr>
              <a:t>you go down</a:t>
            </a:r>
            <a:endParaRPr b="1" i="1" sz="1800" u="sng">
              <a:solidFill>
                <a:schemeClr val="dk1"/>
              </a:solidFill>
              <a:latin typeface="Comic Sans MS"/>
              <a:ea typeface="Comic Sans MS"/>
              <a:cs typeface="Comic Sans MS"/>
              <a:sym typeface="Comic Sans MS"/>
            </a:endParaRPr>
          </a:p>
        </p:txBody>
      </p:sp>
      <p:cxnSp>
        <p:nvCxnSpPr>
          <p:cNvPr id="149" name="Google Shape;149;p18"/>
          <p:cNvCxnSpPr/>
          <p:nvPr/>
        </p:nvCxnSpPr>
        <p:spPr>
          <a:xfrm rot="10800000">
            <a:off x="2135188" y="1484313"/>
            <a:ext cx="3960812" cy="0"/>
          </a:xfrm>
          <a:prstGeom prst="straightConnector1">
            <a:avLst/>
          </a:prstGeom>
          <a:noFill/>
          <a:ln cap="flat" cmpd="sng" w="38100">
            <a:solidFill>
              <a:schemeClr val="dk1"/>
            </a:solidFill>
            <a:prstDash val="solid"/>
            <a:round/>
            <a:headEnd len="med" w="med" type="none"/>
            <a:tailEnd len="med" w="med" type="triangle"/>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19"/>
          <p:cNvSpPr txBox="1"/>
          <p:nvPr>
            <p:ph type="title"/>
          </p:nvPr>
        </p:nvSpPr>
        <p:spPr>
          <a:xfrm>
            <a:off x="607226" y="-178750"/>
            <a:ext cx="11424000" cy="12054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omic Sans MS"/>
              <a:buNone/>
            </a:pPr>
            <a:r>
              <a:rPr lang="en-GB"/>
              <a:t>Are Electromagnetic Waves Dangerous?</a:t>
            </a:r>
            <a:endParaRPr/>
          </a:p>
        </p:txBody>
      </p:sp>
      <p:sp>
        <p:nvSpPr>
          <p:cNvPr id="157" name="Google Shape;157;p19"/>
          <p:cNvSpPr txBox="1"/>
          <p:nvPr/>
        </p:nvSpPr>
        <p:spPr>
          <a:xfrm>
            <a:off x="564681" y="809685"/>
            <a:ext cx="11269013"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400">
                <a:solidFill>
                  <a:srgbClr val="000066"/>
                </a:solidFill>
                <a:latin typeface="Calibri"/>
                <a:ea typeface="Calibri"/>
                <a:cs typeface="Calibri"/>
                <a:sym typeface="Calibri"/>
              </a:rPr>
              <a:t>The shorter the wavelength (and higher the frequency) of electromagnetic waves, the more energy that they carry. </a:t>
            </a:r>
            <a:endParaRPr>
              <a:latin typeface="Calibri"/>
              <a:ea typeface="Calibri"/>
              <a:cs typeface="Calibri"/>
              <a:sym typeface="Calibri"/>
            </a:endParaRPr>
          </a:p>
        </p:txBody>
      </p:sp>
      <p:cxnSp>
        <p:nvCxnSpPr>
          <p:cNvPr id="158" name="Google Shape;158;p19"/>
          <p:cNvCxnSpPr/>
          <p:nvPr/>
        </p:nvCxnSpPr>
        <p:spPr>
          <a:xfrm>
            <a:off x="2314575" y="4038600"/>
            <a:ext cx="8026400" cy="0"/>
          </a:xfrm>
          <a:prstGeom prst="straightConnector1">
            <a:avLst/>
          </a:prstGeom>
          <a:noFill/>
          <a:ln cap="flat" cmpd="sng" w="38100">
            <a:solidFill>
              <a:schemeClr val="dk1"/>
            </a:solidFill>
            <a:prstDash val="solid"/>
            <a:round/>
            <a:headEnd len="med" w="med" type="none"/>
            <a:tailEnd len="med" w="med" type="none"/>
          </a:ln>
        </p:spPr>
      </p:cxnSp>
      <p:pic>
        <p:nvPicPr>
          <p:cNvPr descr="continuous_wave" id="159" name="Google Shape;159;p19"/>
          <p:cNvPicPr preferRelativeResize="0"/>
          <p:nvPr/>
        </p:nvPicPr>
        <p:blipFill rotWithShape="1">
          <a:blip r:embed="rId3">
            <a:alphaModFix/>
          </a:blip>
          <a:srcRect b="0" l="0" r="0" t="0"/>
          <a:stretch/>
        </p:blipFill>
        <p:spPr>
          <a:xfrm>
            <a:off x="2203450" y="2403475"/>
            <a:ext cx="8161338" cy="1144588"/>
          </a:xfrm>
          <a:prstGeom prst="rect">
            <a:avLst/>
          </a:prstGeom>
          <a:noFill/>
          <a:ln>
            <a:noFill/>
          </a:ln>
        </p:spPr>
      </p:pic>
      <p:sp>
        <p:nvSpPr>
          <p:cNvPr id="160" name="Google Shape;160;p19"/>
          <p:cNvSpPr txBox="1"/>
          <p:nvPr/>
        </p:nvSpPr>
        <p:spPr>
          <a:xfrm>
            <a:off x="9326564" y="1717675"/>
            <a:ext cx="1258887" cy="641350"/>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None/>
            </a:pPr>
            <a:r>
              <a:rPr b="1" lang="en-GB" sz="2000">
                <a:solidFill>
                  <a:srgbClr val="000066"/>
                </a:solidFill>
                <a:latin typeface="Comic Sans MS"/>
                <a:ea typeface="Comic Sans MS"/>
                <a:cs typeface="Comic Sans MS"/>
                <a:sym typeface="Comic Sans MS"/>
              </a:rPr>
              <a:t>gamma rays</a:t>
            </a:r>
            <a:endParaRPr/>
          </a:p>
        </p:txBody>
      </p:sp>
      <p:sp>
        <p:nvSpPr>
          <p:cNvPr id="161" name="Google Shape;161;p19"/>
          <p:cNvSpPr txBox="1"/>
          <p:nvPr/>
        </p:nvSpPr>
        <p:spPr>
          <a:xfrm>
            <a:off x="8185150" y="1839914"/>
            <a:ext cx="1270000" cy="3968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2000">
                <a:solidFill>
                  <a:srgbClr val="000066"/>
                </a:solidFill>
                <a:latin typeface="Comic Sans MS"/>
                <a:ea typeface="Comic Sans MS"/>
                <a:cs typeface="Comic Sans MS"/>
                <a:sym typeface="Comic Sans MS"/>
              </a:rPr>
              <a:t>X-rays</a:t>
            </a:r>
            <a:endParaRPr/>
          </a:p>
        </p:txBody>
      </p:sp>
      <p:sp>
        <p:nvSpPr>
          <p:cNvPr id="162" name="Google Shape;162;p19"/>
          <p:cNvSpPr txBox="1"/>
          <p:nvPr/>
        </p:nvSpPr>
        <p:spPr>
          <a:xfrm>
            <a:off x="7126289" y="1839914"/>
            <a:ext cx="1049337" cy="3968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2000">
                <a:solidFill>
                  <a:srgbClr val="000066"/>
                </a:solidFill>
                <a:latin typeface="Comic Sans MS"/>
                <a:ea typeface="Comic Sans MS"/>
                <a:cs typeface="Comic Sans MS"/>
                <a:sym typeface="Comic Sans MS"/>
              </a:rPr>
              <a:t>UV</a:t>
            </a:r>
            <a:endParaRPr/>
          </a:p>
        </p:txBody>
      </p:sp>
      <p:sp>
        <p:nvSpPr>
          <p:cNvPr id="163" name="Google Shape;163;p19"/>
          <p:cNvSpPr txBox="1"/>
          <p:nvPr/>
        </p:nvSpPr>
        <p:spPr>
          <a:xfrm>
            <a:off x="6391276" y="1717675"/>
            <a:ext cx="1177925" cy="641350"/>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None/>
            </a:pPr>
            <a:r>
              <a:rPr b="1" lang="en-GB" sz="2000">
                <a:solidFill>
                  <a:srgbClr val="000066"/>
                </a:solidFill>
                <a:latin typeface="Comic Sans MS"/>
                <a:ea typeface="Comic Sans MS"/>
                <a:cs typeface="Comic Sans MS"/>
                <a:sym typeface="Comic Sans MS"/>
              </a:rPr>
              <a:t>visible light</a:t>
            </a:r>
            <a:endParaRPr/>
          </a:p>
        </p:txBody>
      </p:sp>
      <p:sp>
        <p:nvSpPr>
          <p:cNvPr id="164" name="Google Shape;164;p19"/>
          <p:cNvSpPr txBox="1"/>
          <p:nvPr/>
        </p:nvSpPr>
        <p:spPr>
          <a:xfrm>
            <a:off x="5260975" y="1839914"/>
            <a:ext cx="1198563"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2000">
                <a:solidFill>
                  <a:srgbClr val="000066"/>
                </a:solidFill>
                <a:latin typeface="Comic Sans MS"/>
                <a:ea typeface="Comic Sans MS"/>
                <a:cs typeface="Comic Sans MS"/>
                <a:sym typeface="Comic Sans MS"/>
              </a:rPr>
              <a:t>infrared</a:t>
            </a:r>
            <a:endParaRPr/>
          </a:p>
        </p:txBody>
      </p:sp>
      <p:sp>
        <p:nvSpPr>
          <p:cNvPr id="165" name="Google Shape;165;p19"/>
          <p:cNvSpPr txBox="1"/>
          <p:nvPr/>
        </p:nvSpPr>
        <p:spPr>
          <a:xfrm>
            <a:off x="3332163" y="1839914"/>
            <a:ext cx="1955800" cy="3968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2000">
                <a:solidFill>
                  <a:srgbClr val="000066"/>
                </a:solidFill>
                <a:latin typeface="Comic Sans MS"/>
                <a:ea typeface="Comic Sans MS"/>
                <a:cs typeface="Comic Sans MS"/>
                <a:sym typeface="Comic Sans MS"/>
              </a:rPr>
              <a:t>microwaves</a:t>
            </a:r>
            <a:endParaRPr/>
          </a:p>
        </p:txBody>
      </p:sp>
      <p:sp>
        <p:nvSpPr>
          <p:cNvPr id="166" name="Google Shape;166;p19"/>
          <p:cNvSpPr txBox="1"/>
          <p:nvPr/>
        </p:nvSpPr>
        <p:spPr>
          <a:xfrm>
            <a:off x="2038351" y="1717675"/>
            <a:ext cx="1020763" cy="641350"/>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None/>
            </a:pPr>
            <a:r>
              <a:rPr b="1" lang="en-GB" sz="2000">
                <a:solidFill>
                  <a:srgbClr val="000066"/>
                </a:solidFill>
                <a:latin typeface="Comic Sans MS"/>
                <a:ea typeface="Comic Sans MS"/>
                <a:cs typeface="Comic Sans MS"/>
                <a:sym typeface="Comic Sans MS"/>
              </a:rPr>
              <a:t>radio waves</a:t>
            </a:r>
            <a:endParaRPr/>
          </a:p>
        </p:txBody>
      </p:sp>
      <p:cxnSp>
        <p:nvCxnSpPr>
          <p:cNvPr id="167" name="Google Shape;167;p19"/>
          <p:cNvCxnSpPr/>
          <p:nvPr/>
        </p:nvCxnSpPr>
        <p:spPr>
          <a:xfrm>
            <a:off x="2497138" y="3908426"/>
            <a:ext cx="0" cy="144463"/>
          </a:xfrm>
          <a:prstGeom prst="straightConnector1">
            <a:avLst/>
          </a:prstGeom>
          <a:noFill/>
          <a:ln cap="flat" cmpd="sng" w="38100">
            <a:solidFill>
              <a:schemeClr val="dk1"/>
            </a:solidFill>
            <a:prstDash val="solid"/>
            <a:round/>
            <a:headEnd len="med" w="med" type="none"/>
            <a:tailEnd len="med" w="med" type="none"/>
          </a:ln>
        </p:spPr>
      </p:cxnSp>
      <p:cxnSp>
        <p:nvCxnSpPr>
          <p:cNvPr id="168" name="Google Shape;168;p19"/>
          <p:cNvCxnSpPr/>
          <p:nvPr/>
        </p:nvCxnSpPr>
        <p:spPr>
          <a:xfrm>
            <a:off x="3762375" y="3908426"/>
            <a:ext cx="0" cy="144463"/>
          </a:xfrm>
          <a:prstGeom prst="straightConnector1">
            <a:avLst/>
          </a:prstGeom>
          <a:noFill/>
          <a:ln cap="flat" cmpd="sng" w="38100">
            <a:solidFill>
              <a:schemeClr val="dk1"/>
            </a:solidFill>
            <a:prstDash val="solid"/>
            <a:round/>
            <a:headEnd len="med" w="med" type="none"/>
            <a:tailEnd len="med" w="med" type="none"/>
          </a:ln>
        </p:spPr>
      </p:cxnSp>
      <p:cxnSp>
        <p:nvCxnSpPr>
          <p:cNvPr id="169" name="Google Shape;169;p19"/>
          <p:cNvCxnSpPr/>
          <p:nvPr/>
        </p:nvCxnSpPr>
        <p:spPr>
          <a:xfrm>
            <a:off x="5029200" y="3908426"/>
            <a:ext cx="0" cy="144463"/>
          </a:xfrm>
          <a:prstGeom prst="straightConnector1">
            <a:avLst/>
          </a:prstGeom>
          <a:noFill/>
          <a:ln cap="flat" cmpd="sng" w="38100">
            <a:solidFill>
              <a:schemeClr val="dk1"/>
            </a:solidFill>
            <a:prstDash val="solid"/>
            <a:round/>
            <a:headEnd len="med" w="med" type="none"/>
            <a:tailEnd len="med" w="med" type="none"/>
          </a:ln>
        </p:spPr>
      </p:cxnSp>
      <p:cxnSp>
        <p:nvCxnSpPr>
          <p:cNvPr id="170" name="Google Shape;170;p19"/>
          <p:cNvCxnSpPr/>
          <p:nvPr/>
        </p:nvCxnSpPr>
        <p:spPr>
          <a:xfrm>
            <a:off x="6296025" y="3908426"/>
            <a:ext cx="0" cy="144463"/>
          </a:xfrm>
          <a:prstGeom prst="straightConnector1">
            <a:avLst/>
          </a:prstGeom>
          <a:noFill/>
          <a:ln cap="flat" cmpd="sng" w="38100">
            <a:solidFill>
              <a:schemeClr val="dk1"/>
            </a:solidFill>
            <a:prstDash val="solid"/>
            <a:round/>
            <a:headEnd len="med" w="med" type="none"/>
            <a:tailEnd len="med" w="med" type="none"/>
          </a:ln>
        </p:spPr>
      </p:cxnSp>
      <p:cxnSp>
        <p:nvCxnSpPr>
          <p:cNvPr id="171" name="Google Shape;171;p19"/>
          <p:cNvCxnSpPr/>
          <p:nvPr/>
        </p:nvCxnSpPr>
        <p:spPr>
          <a:xfrm>
            <a:off x="7561263" y="3908426"/>
            <a:ext cx="0" cy="144463"/>
          </a:xfrm>
          <a:prstGeom prst="straightConnector1">
            <a:avLst/>
          </a:prstGeom>
          <a:noFill/>
          <a:ln cap="flat" cmpd="sng" w="38100">
            <a:solidFill>
              <a:schemeClr val="dk1"/>
            </a:solidFill>
            <a:prstDash val="solid"/>
            <a:round/>
            <a:headEnd len="med" w="med" type="none"/>
            <a:tailEnd len="med" w="med" type="none"/>
          </a:ln>
        </p:spPr>
      </p:cxnSp>
      <p:cxnSp>
        <p:nvCxnSpPr>
          <p:cNvPr id="172" name="Google Shape;172;p19"/>
          <p:cNvCxnSpPr/>
          <p:nvPr/>
        </p:nvCxnSpPr>
        <p:spPr>
          <a:xfrm>
            <a:off x="8828088" y="3908426"/>
            <a:ext cx="0" cy="144463"/>
          </a:xfrm>
          <a:prstGeom prst="straightConnector1">
            <a:avLst/>
          </a:prstGeom>
          <a:noFill/>
          <a:ln cap="flat" cmpd="sng" w="38100">
            <a:solidFill>
              <a:schemeClr val="dk1"/>
            </a:solidFill>
            <a:prstDash val="solid"/>
            <a:round/>
            <a:headEnd len="med" w="med" type="none"/>
            <a:tailEnd len="med" w="med" type="none"/>
          </a:ln>
        </p:spPr>
      </p:cxnSp>
      <p:cxnSp>
        <p:nvCxnSpPr>
          <p:cNvPr id="173" name="Google Shape;173;p19"/>
          <p:cNvCxnSpPr/>
          <p:nvPr/>
        </p:nvCxnSpPr>
        <p:spPr>
          <a:xfrm>
            <a:off x="10094913" y="3908426"/>
            <a:ext cx="0" cy="144463"/>
          </a:xfrm>
          <a:prstGeom prst="straightConnector1">
            <a:avLst/>
          </a:prstGeom>
          <a:noFill/>
          <a:ln cap="flat" cmpd="sng" w="38100">
            <a:solidFill>
              <a:schemeClr val="dk1"/>
            </a:solidFill>
            <a:prstDash val="solid"/>
            <a:round/>
            <a:headEnd len="med" w="med" type="none"/>
            <a:tailEnd len="med" w="med" type="none"/>
          </a:ln>
        </p:spPr>
      </p:cxnSp>
      <p:pic>
        <p:nvPicPr>
          <p:cNvPr descr="red arrow" id="174" name="Google Shape;174;p19"/>
          <p:cNvPicPr preferRelativeResize="0"/>
          <p:nvPr/>
        </p:nvPicPr>
        <p:blipFill rotWithShape="1">
          <a:blip r:embed="rId4">
            <a:alphaModFix/>
          </a:blip>
          <a:srcRect b="0" l="0" r="0" t="0"/>
          <a:stretch/>
        </p:blipFill>
        <p:spPr>
          <a:xfrm>
            <a:off x="2225675" y="4048125"/>
            <a:ext cx="8172450" cy="590550"/>
          </a:xfrm>
          <a:prstGeom prst="rect">
            <a:avLst/>
          </a:prstGeom>
          <a:noFill/>
          <a:ln>
            <a:noFill/>
          </a:ln>
        </p:spPr>
      </p:pic>
      <p:sp>
        <p:nvSpPr>
          <p:cNvPr id="175" name="Google Shape;175;p19"/>
          <p:cNvSpPr txBox="1"/>
          <p:nvPr/>
        </p:nvSpPr>
        <p:spPr>
          <a:xfrm>
            <a:off x="4860926" y="4344988"/>
            <a:ext cx="2676525"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2400">
                <a:solidFill>
                  <a:srgbClr val="CC00CC"/>
                </a:solidFill>
                <a:latin typeface="Comic Sans MS"/>
                <a:ea typeface="Comic Sans MS"/>
                <a:cs typeface="Comic Sans MS"/>
                <a:sym typeface="Comic Sans MS"/>
              </a:rPr>
              <a:t>energy increases</a:t>
            </a:r>
            <a:endParaRPr/>
          </a:p>
        </p:txBody>
      </p:sp>
      <p:pic>
        <p:nvPicPr>
          <p:cNvPr descr="red arrow" id="176" name="Google Shape;176;p19"/>
          <p:cNvPicPr preferRelativeResize="0"/>
          <p:nvPr/>
        </p:nvPicPr>
        <p:blipFill rotWithShape="1">
          <a:blip r:embed="rId4">
            <a:alphaModFix/>
          </a:blip>
          <a:srcRect b="0" l="0" r="0" t="0"/>
          <a:stretch/>
        </p:blipFill>
        <p:spPr>
          <a:xfrm>
            <a:off x="2227263" y="4710113"/>
            <a:ext cx="8172450" cy="590550"/>
          </a:xfrm>
          <a:prstGeom prst="rect">
            <a:avLst/>
          </a:prstGeom>
          <a:noFill/>
          <a:ln>
            <a:noFill/>
          </a:ln>
        </p:spPr>
      </p:pic>
      <p:sp>
        <p:nvSpPr>
          <p:cNvPr id="177" name="Google Shape;177;p19"/>
          <p:cNvSpPr txBox="1"/>
          <p:nvPr/>
        </p:nvSpPr>
        <p:spPr>
          <a:xfrm>
            <a:off x="4853269" y="5019675"/>
            <a:ext cx="2699778"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2400">
                <a:solidFill>
                  <a:srgbClr val="CC00CC"/>
                </a:solidFill>
                <a:latin typeface="Comic Sans MS"/>
                <a:ea typeface="Comic Sans MS"/>
                <a:cs typeface="Comic Sans MS"/>
                <a:sym typeface="Comic Sans MS"/>
              </a:rPr>
              <a:t>hazard increases</a:t>
            </a:r>
            <a:endParaRPr/>
          </a:p>
        </p:txBody>
      </p:sp>
      <p:sp>
        <p:nvSpPr>
          <p:cNvPr id="178" name="Google Shape;178;p19"/>
          <p:cNvSpPr txBox="1"/>
          <p:nvPr/>
        </p:nvSpPr>
        <p:spPr>
          <a:xfrm>
            <a:off x="607219" y="5610225"/>
            <a:ext cx="10842000" cy="785100"/>
          </a:xfrm>
          <a:prstGeom prst="rect">
            <a:avLst/>
          </a:prstGeom>
          <a:noFill/>
          <a:ln>
            <a:noFill/>
          </a:ln>
        </p:spPr>
        <p:txBody>
          <a:bodyPr anchorCtr="0" anchor="t" bIns="0" lIns="91425" spcFirstLastPara="1" rIns="0" wrap="square" tIns="45700">
            <a:spAutoFit/>
          </a:bodyPr>
          <a:lstStyle/>
          <a:p>
            <a:pPr indent="0" lvl="0" marL="0" marR="0" rtl="0" algn="l">
              <a:spcBef>
                <a:spcPts val="0"/>
              </a:spcBef>
              <a:spcAft>
                <a:spcPts val="0"/>
              </a:spcAft>
              <a:buNone/>
            </a:pPr>
            <a:r>
              <a:rPr lang="en-GB" sz="2400">
                <a:solidFill>
                  <a:srgbClr val="000066"/>
                </a:solidFill>
                <a:latin typeface="Calibri"/>
                <a:ea typeface="Calibri"/>
                <a:cs typeface="Calibri"/>
                <a:sym typeface="Calibri"/>
              </a:rPr>
              <a:t>High-frequency electromagnetic waves, such as gamma rays, are potentially more harmful because they have more energy.</a:t>
            </a:r>
            <a:endParaRPr>
              <a:latin typeface="Calibri"/>
              <a:ea typeface="Calibri"/>
              <a:cs typeface="Calibri"/>
              <a:sym typeface="Calibri"/>
            </a:endParaRPr>
          </a:p>
        </p:txBody>
      </p:sp>
      <p:sp>
        <p:nvSpPr>
          <p:cNvPr id="179" name="Google Shape;179;p19"/>
          <p:cNvSpPr txBox="1"/>
          <p:nvPr/>
        </p:nvSpPr>
        <p:spPr>
          <a:xfrm>
            <a:off x="9580564" y="3443289"/>
            <a:ext cx="1089024" cy="400110"/>
          </a:xfrm>
          <a:prstGeom prst="rect">
            <a:avLst/>
          </a:prstGeom>
          <a:noFill/>
          <a:ln>
            <a:noFill/>
          </a:ln>
        </p:spPr>
        <p:txBody>
          <a:bodyPr anchorCtr="0" anchor="t" bIns="45700" lIns="91425" spcFirstLastPara="1" rIns="0" wrap="square" tIns="45700">
            <a:spAutoFit/>
          </a:bodyPr>
          <a:lstStyle/>
          <a:p>
            <a:pPr indent="0" lvl="0" marL="0" marR="0" rtl="0" algn="ctr">
              <a:spcBef>
                <a:spcPts val="0"/>
              </a:spcBef>
              <a:spcAft>
                <a:spcPts val="0"/>
              </a:spcAft>
              <a:buNone/>
            </a:pPr>
            <a:r>
              <a:rPr b="1" lang="en-GB" sz="2000">
                <a:solidFill>
                  <a:srgbClr val="000066"/>
                </a:solidFill>
                <a:latin typeface="Comic Sans MS"/>
                <a:ea typeface="Comic Sans MS"/>
                <a:cs typeface="Comic Sans MS"/>
                <a:sym typeface="Comic Sans MS"/>
              </a:rPr>
              <a:t>0.01</a:t>
            </a:r>
            <a:r>
              <a:rPr b="1" lang="en-GB" sz="1000">
                <a:solidFill>
                  <a:srgbClr val="000066"/>
                </a:solidFill>
                <a:latin typeface="Comic Sans MS"/>
                <a:ea typeface="Comic Sans MS"/>
                <a:cs typeface="Comic Sans MS"/>
                <a:sym typeface="Comic Sans MS"/>
              </a:rPr>
              <a:t> </a:t>
            </a:r>
            <a:r>
              <a:rPr b="1" lang="en-GB" sz="2000">
                <a:solidFill>
                  <a:srgbClr val="000066"/>
                </a:solidFill>
                <a:latin typeface="Comic Sans MS"/>
                <a:ea typeface="Comic Sans MS"/>
                <a:cs typeface="Comic Sans MS"/>
                <a:sym typeface="Comic Sans MS"/>
              </a:rPr>
              <a:t>nm</a:t>
            </a:r>
            <a:endParaRPr/>
          </a:p>
        </p:txBody>
      </p:sp>
      <p:sp>
        <p:nvSpPr>
          <p:cNvPr id="180" name="Google Shape;180;p19"/>
          <p:cNvSpPr txBox="1"/>
          <p:nvPr/>
        </p:nvSpPr>
        <p:spPr>
          <a:xfrm>
            <a:off x="7046913" y="3443289"/>
            <a:ext cx="1054100" cy="3968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2000">
                <a:solidFill>
                  <a:srgbClr val="000066"/>
                </a:solidFill>
                <a:latin typeface="Comic Sans MS"/>
                <a:ea typeface="Comic Sans MS"/>
                <a:cs typeface="Comic Sans MS"/>
                <a:sym typeface="Comic Sans MS"/>
              </a:rPr>
              <a:t>100</a:t>
            </a:r>
            <a:r>
              <a:rPr b="1" lang="en-GB" sz="1000">
                <a:solidFill>
                  <a:srgbClr val="000066"/>
                </a:solidFill>
                <a:latin typeface="Comic Sans MS"/>
                <a:ea typeface="Comic Sans MS"/>
                <a:cs typeface="Comic Sans MS"/>
                <a:sym typeface="Comic Sans MS"/>
              </a:rPr>
              <a:t> </a:t>
            </a:r>
            <a:r>
              <a:rPr b="1" lang="en-GB" sz="2000">
                <a:solidFill>
                  <a:srgbClr val="000066"/>
                </a:solidFill>
                <a:latin typeface="Comic Sans MS"/>
                <a:ea typeface="Comic Sans MS"/>
                <a:cs typeface="Comic Sans MS"/>
                <a:sym typeface="Comic Sans MS"/>
              </a:rPr>
              <a:t>nm</a:t>
            </a:r>
            <a:endParaRPr/>
          </a:p>
        </p:txBody>
      </p:sp>
      <p:sp>
        <p:nvSpPr>
          <p:cNvPr id="181" name="Google Shape;181;p19"/>
          <p:cNvSpPr txBox="1"/>
          <p:nvPr/>
        </p:nvSpPr>
        <p:spPr>
          <a:xfrm>
            <a:off x="8220075" y="3443289"/>
            <a:ext cx="1176338" cy="3968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2000">
                <a:solidFill>
                  <a:srgbClr val="000066"/>
                </a:solidFill>
                <a:latin typeface="Comic Sans MS"/>
                <a:ea typeface="Comic Sans MS"/>
                <a:cs typeface="Comic Sans MS"/>
                <a:sym typeface="Comic Sans MS"/>
              </a:rPr>
              <a:t>1</a:t>
            </a:r>
            <a:r>
              <a:rPr b="1" lang="en-GB" sz="1000">
                <a:solidFill>
                  <a:srgbClr val="000066"/>
                </a:solidFill>
                <a:latin typeface="Comic Sans MS"/>
                <a:ea typeface="Comic Sans MS"/>
                <a:cs typeface="Comic Sans MS"/>
                <a:sym typeface="Comic Sans MS"/>
              </a:rPr>
              <a:t> </a:t>
            </a:r>
            <a:r>
              <a:rPr b="1" lang="en-GB" sz="2000">
                <a:solidFill>
                  <a:srgbClr val="000066"/>
                </a:solidFill>
                <a:latin typeface="Comic Sans MS"/>
                <a:ea typeface="Comic Sans MS"/>
                <a:cs typeface="Comic Sans MS"/>
                <a:sym typeface="Comic Sans MS"/>
              </a:rPr>
              <a:t>nm</a:t>
            </a:r>
            <a:endParaRPr/>
          </a:p>
        </p:txBody>
      </p:sp>
      <p:sp>
        <p:nvSpPr>
          <p:cNvPr id="182" name="Google Shape;182;p19"/>
          <p:cNvSpPr txBox="1"/>
          <p:nvPr/>
        </p:nvSpPr>
        <p:spPr>
          <a:xfrm>
            <a:off x="5637214" y="3443289"/>
            <a:ext cx="1290637" cy="3968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2000">
                <a:solidFill>
                  <a:srgbClr val="000066"/>
                </a:solidFill>
                <a:latin typeface="Comic Sans MS"/>
                <a:ea typeface="Comic Sans MS"/>
                <a:cs typeface="Comic Sans MS"/>
                <a:sym typeface="Comic Sans MS"/>
              </a:rPr>
              <a:t>0.01</a:t>
            </a:r>
            <a:r>
              <a:rPr b="1" lang="en-GB" sz="1000">
                <a:solidFill>
                  <a:srgbClr val="000066"/>
                </a:solidFill>
                <a:latin typeface="Comic Sans MS"/>
                <a:ea typeface="Comic Sans MS"/>
                <a:cs typeface="Comic Sans MS"/>
                <a:sym typeface="Comic Sans MS"/>
              </a:rPr>
              <a:t> </a:t>
            </a:r>
            <a:r>
              <a:rPr b="1" lang="en-GB" sz="2000">
                <a:solidFill>
                  <a:srgbClr val="000066"/>
                </a:solidFill>
                <a:latin typeface="Comic Sans MS"/>
                <a:ea typeface="Comic Sans MS"/>
                <a:cs typeface="Comic Sans MS"/>
                <a:sym typeface="Comic Sans MS"/>
              </a:rPr>
              <a:t>mm</a:t>
            </a:r>
            <a:endParaRPr/>
          </a:p>
        </p:txBody>
      </p:sp>
      <p:sp>
        <p:nvSpPr>
          <p:cNvPr id="183" name="Google Shape;183;p19"/>
          <p:cNvSpPr txBox="1"/>
          <p:nvPr/>
        </p:nvSpPr>
        <p:spPr>
          <a:xfrm>
            <a:off x="4441825" y="3443289"/>
            <a:ext cx="1163638" cy="3968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2000">
                <a:solidFill>
                  <a:srgbClr val="000066"/>
                </a:solidFill>
                <a:latin typeface="Comic Sans MS"/>
                <a:ea typeface="Comic Sans MS"/>
                <a:cs typeface="Comic Sans MS"/>
                <a:sym typeface="Comic Sans MS"/>
              </a:rPr>
              <a:t>1</a:t>
            </a:r>
            <a:r>
              <a:rPr b="1" lang="en-GB" sz="1000">
                <a:solidFill>
                  <a:srgbClr val="000066"/>
                </a:solidFill>
                <a:latin typeface="Comic Sans MS"/>
                <a:ea typeface="Comic Sans MS"/>
                <a:cs typeface="Comic Sans MS"/>
                <a:sym typeface="Comic Sans MS"/>
              </a:rPr>
              <a:t> </a:t>
            </a:r>
            <a:r>
              <a:rPr b="1" lang="en-GB" sz="2000">
                <a:solidFill>
                  <a:srgbClr val="000066"/>
                </a:solidFill>
                <a:latin typeface="Comic Sans MS"/>
                <a:ea typeface="Comic Sans MS"/>
                <a:cs typeface="Comic Sans MS"/>
                <a:sym typeface="Comic Sans MS"/>
              </a:rPr>
              <a:t>mm</a:t>
            </a:r>
            <a:endParaRPr/>
          </a:p>
        </p:txBody>
      </p:sp>
      <p:sp>
        <p:nvSpPr>
          <p:cNvPr id="184" name="Google Shape;184;p19"/>
          <p:cNvSpPr txBox="1"/>
          <p:nvPr/>
        </p:nvSpPr>
        <p:spPr>
          <a:xfrm>
            <a:off x="3317875" y="3443289"/>
            <a:ext cx="877888" cy="3968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2000">
                <a:solidFill>
                  <a:srgbClr val="000066"/>
                </a:solidFill>
                <a:latin typeface="Comic Sans MS"/>
                <a:ea typeface="Comic Sans MS"/>
                <a:cs typeface="Comic Sans MS"/>
                <a:sym typeface="Comic Sans MS"/>
              </a:rPr>
              <a:t>10</a:t>
            </a:r>
            <a:r>
              <a:rPr b="1" lang="en-GB" sz="1000">
                <a:solidFill>
                  <a:srgbClr val="000066"/>
                </a:solidFill>
                <a:latin typeface="Comic Sans MS"/>
                <a:ea typeface="Comic Sans MS"/>
                <a:cs typeface="Comic Sans MS"/>
                <a:sym typeface="Comic Sans MS"/>
              </a:rPr>
              <a:t> </a:t>
            </a:r>
            <a:r>
              <a:rPr b="1" lang="en-GB" sz="2000">
                <a:solidFill>
                  <a:srgbClr val="000066"/>
                </a:solidFill>
                <a:latin typeface="Comic Sans MS"/>
                <a:ea typeface="Comic Sans MS"/>
                <a:cs typeface="Comic Sans MS"/>
                <a:sym typeface="Comic Sans MS"/>
              </a:rPr>
              <a:t>cm</a:t>
            </a:r>
            <a:endParaRPr/>
          </a:p>
        </p:txBody>
      </p:sp>
      <p:sp>
        <p:nvSpPr>
          <p:cNvPr id="185" name="Google Shape;185;p19"/>
          <p:cNvSpPr txBox="1"/>
          <p:nvPr/>
        </p:nvSpPr>
        <p:spPr>
          <a:xfrm>
            <a:off x="1924051" y="3443289"/>
            <a:ext cx="1135063" cy="3968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2000">
                <a:solidFill>
                  <a:srgbClr val="000066"/>
                </a:solidFill>
                <a:latin typeface="Comic Sans MS"/>
                <a:ea typeface="Comic Sans MS"/>
                <a:cs typeface="Comic Sans MS"/>
                <a:sym typeface="Comic Sans MS"/>
              </a:rPr>
              <a:t>10</a:t>
            </a:r>
            <a:r>
              <a:rPr b="1" lang="en-GB" sz="1000">
                <a:solidFill>
                  <a:srgbClr val="000066"/>
                </a:solidFill>
                <a:latin typeface="Comic Sans MS"/>
                <a:ea typeface="Comic Sans MS"/>
                <a:cs typeface="Comic Sans MS"/>
                <a:sym typeface="Comic Sans MS"/>
              </a:rPr>
              <a:t> </a:t>
            </a:r>
            <a:r>
              <a:rPr b="1" lang="en-GB" sz="2000">
                <a:solidFill>
                  <a:srgbClr val="000066"/>
                </a:solidFill>
                <a:latin typeface="Comic Sans MS"/>
                <a:ea typeface="Comic Sans MS"/>
                <a:cs typeface="Comic Sans MS"/>
                <a:sym typeface="Comic Sans MS"/>
              </a:rPr>
              <a:t>m</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4"/>
                                        </p:tgtEl>
                                        <p:attrNameLst>
                                          <p:attrName>style.visibility</p:attrName>
                                        </p:attrNameLst>
                                      </p:cBhvr>
                                      <p:to>
                                        <p:strVal val="visible"/>
                                      </p:to>
                                    </p:set>
                                    <p:animEffect filter="fade" transition="in">
                                      <p:cBhvr>
                                        <p:cTn dur="500"/>
                                        <p:tgtEl>
                                          <p:spTgt spid="174"/>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75"/>
                                        </p:tgtEl>
                                        <p:attrNameLst>
                                          <p:attrName>style.visibility</p:attrName>
                                        </p:attrNameLst>
                                      </p:cBhvr>
                                      <p:to>
                                        <p:strVal val="visible"/>
                                      </p:to>
                                    </p:set>
                                    <p:animEffect filter="fade" transition="in">
                                      <p:cBhvr>
                                        <p:cTn dur="500"/>
                                        <p:tgtEl>
                                          <p:spTgt spid="175"/>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76"/>
                                        </p:tgtEl>
                                        <p:attrNameLst>
                                          <p:attrName>style.visibility</p:attrName>
                                        </p:attrNameLst>
                                      </p:cBhvr>
                                      <p:to>
                                        <p:strVal val="visible"/>
                                      </p:to>
                                    </p:set>
                                    <p:animEffect filter="fade" transition="in">
                                      <p:cBhvr>
                                        <p:cTn dur="500"/>
                                        <p:tgtEl>
                                          <p:spTgt spid="176"/>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177"/>
                                        </p:tgtEl>
                                        <p:attrNameLst>
                                          <p:attrName>style.visibility</p:attrName>
                                        </p:attrNameLst>
                                      </p:cBhvr>
                                      <p:to>
                                        <p:strVal val="visible"/>
                                      </p:to>
                                    </p:set>
                                    <p:animEffect filter="fade" transition="in">
                                      <p:cBhvr>
                                        <p:cTn dur="500"/>
                                        <p:tgtEl>
                                          <p:spTgt spid="177"/>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78"/>
                                        </p:tgtEl>
                                        <p:attrNameLst>
                                          <p:attrName>style.visibility</p:attrName>
                                        </p:attrNameLst>
                                      </p:cBhvr>
                                      <p:to>
                                        <p:strVal val="visible"/>
                                      </p:to>
                                    </p:set>
                                    <p:animEffect filter="fade" transition="in">
                                      <p:cBhvr>
                                        <p:cTn dur="500"/>
                                        <p:tgtEl>
                                          <p:spTgt spid="17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20"/>
          <p:cNvSpPr txBox="1"/>
          <p:nvPr>
            <p:ph type="title"/>
          </p:nvPr>
        </p:nvSpPr>
        <p:spPr>
          <a:xfrm>
            <a:off x="400318" y="-21516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omic Sans MS"/>
              <a:buNone/>
            </a:pPr>
            <a:r>
              <a:rPr lang="en-GB"/>
              <a:t>How do Electromagnetic Waves Differ?</a:t>
            </a:r>
            <a:endParaRPr/>
          </a:p>
        </p:txBody>
      </p:sp>
      <p:sp>
        <p:nvSpPr>
          <p:cNvPr id="193" name="Google Shape;193;p20"/>
          <p:cNvSpPr txBox="1"/>
          <p:nvPr/>
        </p:nvSpPr>
        <p:spPr>
          <a:xfrm>
            <a:off x="1030056" y="784226"/>
            <a:ext cx="6234346"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2400">
                <a:solidFill>
                  <a:srgbClr val="000066"/>
                </a:solidFill>
                <a:latin typeface="Calibri"/>
                <a:ea typeface="Calibri"/>
                <a:cs typeface="Calibri"/>
                <a:sym typeface="Calibri"/>
              </a:rPr>
              <a:t>Different</a:t>
            </a:r>
            <a:r>
              <a:rPr lang="en-GB" sz="2400">
                <a:solidFill>
                  <a:srgbClr val="000066"/>
                </a:solidFill>
                <a:latin typeface="Calibri"/>
                <a:ea typeface="Calibri"/>
                <a:cs typeface="Calibri"/>
                <a:sym typeface="Calibri"/>
              </a:rPr>
              <a:t> electromagnetic waves carry different amounts of </a:t>
            </a:r>
            <a:r>
              <a:rPr b="1" lang="en-GB" sz="2400">
                <a:solidFill>
                  <a:srgbClr val="000066"/>
                </a:solidFill>
                <a:latin typeface="Calibri"/>
                <a:ea typeface="Calibri"/>
                <a:cs typeface="Calibri"/>
                <a:sym typeface="Calibri"/>
              </a:rPr>
              <a:t>energy</a:t>
            </a:r>
            <a:r>
              <a:rPr lang="en-GB" sz="2400">
                <a:solidFill>
                  <a:srgbClr val="000066"/>
                </a:solidFill>
                <a:latin typeface="Calibri"/>
                <a:ea typeface="Calibri"/>
                <a:cs typeface="Calibri"/>
                <a:sym typeface="Calibri"/>
              </a:rPr>
              <a:t>. </a:t>
            </a:r>
            <a:endParaRPr>
              <a:latin typeface="Calibri"/>
              <a:ea typeface="Calibri"/>
              <a:cs typeface="Calibri"/>
              <a:sym typeface="Calibri"/>
            </a:endParaRPr>
          </a:p>
        </p:txBody>
      </p:sp>
      <p:pic>
        <p:nvPicPr>
          <p:cNvPr descr="9814806_credit" id="194" name="Google Shape;194;p20"/>
          <p:cNvPicPr preferRelativeResize="0"/>
          <p:nvPr/>
        </p:nvPicPr>
        <p:blipFill rotWithShape="1">
          <a:blip r:embed="rId3">
            <a:alphaModFix/>
          </a:blip>
          <a:srcRect b="0" l="0" r="0" t="0"/>
          <a:stretch/>
        </p:blipFill>
        <p:spPr>
          <a:xfrm>
            <a:off x="7245351" y="796925"/>
            <a:ext cx="2919413" cy="1816100"/>
          </a:xfrm>
          <a:prstGeom prst="rect">
            <a:avLst/>
          </a:prstGeom>
          <a:noFill/>
          <a:ln>
            <a:noFill/>
          </a:ln>
        </p:spPr>
      </p:pic>
      <p:sp>
        <p:nvSpPr>
          <p:cNvPr id="195" name="Google Shape;195;p20"/>
          <p:cNvSpPr txBox="1"/>
          <p:nvPr/>
        </p:nvSpPr>
        <p:spPr>
          <a:xfrm>
            <a:off x="332866" y="2674445"/>
            <a:ext cx="11618728" cy="830997"/>
          </a:xfrm>
          <a:prstGeom prst="rect">
            <a:avLst/>
          </a:prstGeom>
          <a:noFill/>
          <a:ln>
            <a:noFill/>
          </a:ln>
        </p:spPr>
        <p:txBody>
          <a:bodyPr anchorCtr="0" anchor="t" bIns="45700" lIns="91425" spcFirstLastPara="1" rIns="91425" wrap="square" tIns="45700">
            <a:spAutoFit/>
          </a:bodyPr>
          <a:lstStyle/>
          <a:p>
            <a:pPr indent="-355600" lvl="0" marL="355600" marR="0" rtl="0" algn="l">
              <a:spcBef>
                <a:spcPts val="0"/>
              </a:spcBef>
              <a:spcAft>
                <a:spcPts val="0"/>
              </a:spcAft>
              <a:buClr>
                <a:srgbClr val="000066"/>
              </a:buClr>
              <a:buSzPts val="2400"/>
              <a:buFont typeface="Noto Sans Symbols"/>
              <a:buChar char="●"/>
            </a:pPr>
            <a:r>
              <a:rPr lang="en-GB" sz="2400">
                <a:solidFill>
                  <a:srgbClr val="000066"/>
                </a:solidFill>
                <a:latin typeface="Calibri"/>
                <a:ea typeface="Calibri"/>
                <a:cs typeface="Calibri"/>
                <a:sym typeface="Calibri"/>
              </a:rPr>
              <a:t>The amount of energy carried by an electromagnetic wave depends on the wavelength:   </a:t>
            </a:r>
            <a:r>
              <a:rPr b="1" lang="en-GB" sz="2400">
                <a:solidFill>
                  <a:srgbClr val="CC00CC"/>
                </a:solidFill>
                <a:latin typeface="Calibri"/>
                <a:ea typeface="Calibri"/>
                <a:cs typeface="Calibri"/>
                <a:sym typeface="Calibri"/>
              </a:rPr>
              <a:t>the shorter the wavelength</a:t>
            </a:r>
            <a:r>
              <a:rPr lang="en-GB" sz="2400">
                <a:solidFill>
                  <a:srgbClr val="000066"/>
                </a:solidFill>
                <a:latin typeface="Calibri"/>
                <a:ea typeface="Calibri"/>
                <a:cs typeface="Calibri"/>
                <a:sym typeface="Calibri"/>
              </a:rPr>
              <a:t>, </a:t>
            </a:r>
            <a:r>
              <a:rPr b="1" lang="en-GB" sz="2400">
                <a:solidFill>
                  <a:srgbClr val="CC00CC"/>
                </a:solidFill>
                <a:latin typeface="Calibri"/>
                <a:ea typeface="Calibri"/>
                <a:cs typeface="Calibri"/>
                <a:sym typeface="Calibri"/>
              </a:rPr>
              <a:t>the higher its energy</a:t>
            </a:r>
            <a:r>
              <a:rPr lang="en-GB" sz="2400">
                <a:solidFill>
                  <a:srgbClr val="000066"/>
                </a:solidFill>
                <a:latin typeface="Calibri"/>
                <a:ea typeface="Calibri"/>
                <a:cs typeface="Calibri"/>
                <a:sym typeface="Calibri"/>
              </a:rPr>
              <a:t>.</a:t>
            </a:r>
            <a:endParaRPr>
              <a:latin typeface="Calibri"/>
              <a:ea typeface="Calibri"/>
              <a:cs typeface="Calibri"/>
              <a:sym typeface="Calibri"/>
            </a:endParaRPr>
          </a:p>
        </p:txBody>
      </p:sp>
      <p:sp>
        <p:nvSpPr>
          <p:cNvPr id="196" name="Google Shape;196;p20"/>
          <p:cNvSpPr/>
          <p:nvPr/>
        </p:nvSpPr>
        <p:spPr>
          <a:xfrm>
            <a:off x="2113455" y="5861564"/>
            <a:ext cx="8095486" cy="46166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2400">
                <a:solidFill>
                  <a:srgbClr val="000066"/>
                </a:solidFill>
                <a:latin typeface="Calibri"/>
                <a:ea typeface="Calibri"/>
                <a:cs typeface="Calibri"/>
                <a:sym typeface="Calibri"/>
              </a:rPr>
              <a:t>Do microwaves have a shorter wavelength than X-rays?</a:t>
            </a:r>
            <a:endParaRPr>
              <a:latin typeface="Calibri"/>
              <a:ea typeface="Calibri"/>
              <a:cs typeface="Calibri"/>
              <a:sym typeface="Calibri"/>
            </a:endParaRPr>
          </a:p>
        </p:txBody>
      </p:sp>
      <p:sp>
        <p:nvSpPr>
          <p:cNvPr id="197" name="Google Shape;197;p20"/>
          <p:cNvSpPr txBox="1"/>
          <p:nvPr/>
        </p:nvSpPr>
        <p:spPr>
          <a:xfrm>
            <a:off x="1072570" y="1700214"/>
            <a:ext cx="5974343"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400">
                <a:solidFill>
                  <a:srgbClr val="000066"/>
                </a:solidFill>
                <a:latin typeface="Calibri"/>
                <a:ea typeface="Calibri"/>
                <a:cs typeface="Calibri"/>
                <a:sym typeface="Calibri"/>
              </a:rPr>
              <a:t>For example, </a:t>
            </a:r>
            <a:r>
              <a:rPr b="1" lang="en-GB" sz="2400">
                <a:solidFill>
                  <a:srgbClr val="000066"/>
                </a:solidFill>
                <a:latin typeface="Calibri"/>
                <a:ea typeface="Calibri"/>
                <a:cs typeface="Calibri"/>
                <a:sym typeface="Calibri"/>
              </a:rPr>
              <a:t>microwaves</a:t>
            </a:r>
            <a:r>
              <a:rPr lang="en-GB" sz="2400">
                <a:solidFill>
                  <a:srgbClr val="000066"/>
                </a:solidFill>
                <a:latin typeface="Calibri"/>
                <a:ea typeface="Calibri"/>
                <a:cs typeface="Calibri"/>
                <a:sym typeface="Calibri"/>
              </a:rPr>
              <a:t> carry less energy than </a:t>
            </a:r>
            <a:r>
              <a:rPr b="1" lang="en-GB" sz="2400">
                <a:solidFill>
                  <a:srgbClr val="000066"/>
                </a:solidFill>
                <a:latin typeface="Calibri"/>
                <a:ea typeface="Calibri"/>
                <a:cs typeface="Calibri"/>
                <a:sym typeface="Calibri"/>
              </a:rPr>
              <a:t>X-rays.</a:t>
            </a:r>
            <a:endParaRPr b="1">
              <a:latin typeface="Calibri"/>
              <a:ea typeface="Calibri"/>
              <a:cs typeface="Calibri"/>
              <a:sym typeface="Calibri"/>
            </a:endParaRPr>
          </a:p>
        </p:txBody>
      </p:sp>
      <p:sp>
        <p:nvSpPr>
          <p:cNvPr id="198" name="Google Shape;198;p20"/>
          <p:cNvSpPr txBox="1"/>
          <p:nvPr/>
        </p:nvSpPr>
        <p:spPr>
          <a:xfrm>
            <a:off x="332866" y="3721101"/>
            <a:ext cx="11618728" cy="830997"/>
          </a:xfrm>
          <a:prstGeom prst="rect">
            <a:avLst/>
          </a:prstGeom>
          <a:noFill/>
          <a:ln>
            <a:noFill/>
          </a:ln>
        </p:spPr>
        <p:txBody>
          <a:bodyPr anchorCtr="0" anchor="t" bIns="45700" lIns="91425" spcFirstLastPara="1" rIns="91425" wrap="square" tIns="45700">
            <a:spAutoFit/>
          </a:bodyPr>
          <a:lstStyle/>
          <a:p>
            <a:pPr indent="-355600" lvl="0" marL="355600" marR="0" rtl="0" algn="l">
              <a:spcBef>
                <a:spcPts val="0"/>
              </a:spcBef>
              <a:spcAft>
                <a:spcPts val="0"/>
              </a:spcAft>
              <a:buClr>
                <a:srgbClr val="000066"/>
              </a:buClr>
              <a:buSzPts val="2400"/>
              <a:buFont typeface="Noto Sans Symbols"/>
              <a:buChar char="●"/>
            </a:pPr>
            <a:r>
              <a:rPr lang="en-GB" sz="2400">
                <a:solidFill>
                  <a:srgbClr val="000066"/>
                </a:solidFill>
                <a:latin typeface="Calibri"/>
                <a:ea typeface="Calibri"/>
                <a:cs typeface="Calibri"/>
                <a:sym typeface="Calibri"/>
              </a:rPr>
              <a:t>Wavelength and frequency are linked properties of a wave:                                                       </a:t>
            </a:r>
            <a:r>
              <a:rPr b="1" lang="en-GB" sz="2400">
                <a:solidFill>
                  <a:srgbClr val="CC00CC"/>
                </a:solidFill>
                <a:latin typeface="Calibri"/>
                <a:ea typeface="Calibri"/>
                <a:cs typeface="Calibri"/>
                <a:sym typeface="Calibri"/>
              </a:rPr>
              <a:t>the shorter the wavelength</a:t>
            </a:r>
            <a:r>
              <a:rPr lang="en-GB" sz="2400">
                <a:solidFill>
                  <a:srgbClr val="000066"/>
                </a:solidFill>
                <a:latin typeface="Calibri"/>
                <a:ea typeface="Calibri"/>
                <a:cs typeface="Calibri"/>
                <a:sym typeface="Calibri"/>
              </a:rPr>
              <a:t>,</a:t>
            </a:r>
            <a:r>
              <a:rPr b="1" lang="en-GB" sz="2400">
                <a:solidFill>
                  <a:srgbClr val="CC00CC"/>
                </a:solidFill>
                <a:latin typeface="Calibri"/>
                <a:ea typeface="Calibri"/>
                <a:cs typeface="Calibri"/>
                <a:sym typeface="Calibri"/>
              </a:rPr>
              <a:t> the higher its frequency</a:t>
            </a:r>
            <a:r>
              <a:rPr lang="en-GB" sz="2400">
                <a:solidFill>
                  <a:srgbClr val="000066"/>
                </a:solidFill>
                <a:latin typeface="Calibri"/>
                <a:ea typeface="Calibri"/>
                <a:cs typeface="Calibri"/>
                <a:sym typeface="Calibri"/>
              </a:rPr>
              <a:t>.</a:t>
            </a:r>
            <a:endParaRPr>
              <a:latin typeface="Calibri"/>
              <a:ea typeface="Calibri"/>
              <a:cs typeface="Calibri"/>
              <a:sym typeface="Calibri"/>
            </a:endParaRPr>
          </a:p>
        </p:txBody>
      </p:sp>
      <p:sp>
        <p:nvSpPr>
          <p:cNvPr id="199" name="Google Shape;199;p20"/>
          <p:cNvSpPr txBox="1"/>
          <p:nvPr/>
        </p:nvSpPr>
        <p:spPr>
          <a:xfrm>
            <a:off x="400318" y="4827589"/>
            <a:ext cx="11171689" cy="830997"/>
          </a:xfrm>
          <a:prstGeom prst="rect">
            <a:avLst/>
          </a:prstGeom>
          <a:noFill/>
          <a:ln>
            <a:noFill/>
          </a:ln>
        </p:spPr>
        <p:txBody>
          <a:bodyPr anchorCtr="0" anchor="t" bIns="45700" lIns="91425" spcFirstLastPara="1" rIns="91425" wrap="square" tIns="45700">
            <a:spAutoFit/>
          </a:bodyPr>
          <a:lstStyle/>
          <a:p>
            <a:pPr indent="-355600" lvl="0" marL="355600" marR="0" rtl="0" algn="l">
              <a:spcBef>
                <a:spcPts val="0"/>
              </a:spcBef>
              <a:spcAft>
                <a:spcPts val="0"/>
              </a:spcAft>
              <a:buClr>
                <a:srgbClr val="000066"/>
              </a:buClr>
              <a:buSzPts val="2400"/>
              <a:buFont typeface="Calibri"/>
              <a:buChar char="●"/>
            </a:pPr>
            <a:r>
              <a:rPr lang="en-GB" sz="2400">
                <a:solidFill>
                  <a:srgbClr val="000066"/>
                </a:solidFill>
                <a:latin typeface="Calibri"/>
                <a:ea typeface="Calibri"/>
                <a:cs typeface="Calibri"/>
                <a:sym typeface="Calibri"/>
              </a:rPr>
              <a:t>So, frequency also tells you about the energy of a wave: </a:t>
            </a:r>
            <a:endParaRPr>
              <a:latin typeface="Calibri"/>
              <a:ea typeface="Calibri"/>
              <a:cs typeface="Calibri"/>
              <a:sym typeface="Calibri"/>
            </a:endParaRPr>
          </a:p>
          <a:p>
            <a:pPr indent="-355600" lvl="0" marL="355600" marR="0" rtl="0" algn="l">
              <a:spcBef>
                <a:spcPts val="0"/>
              </a:spcBef>
              <a:spcAft>
                <a:spcPts val="0"/>
              </a:spcAft>
              <a:buNone/>
            </a:pPr>
            <a:r>
              <a:rPr b="1" lang="en-GB" sz="2400">
                <a:solidFill>
                  <a:srgbClr val="CC00CC"/>
                </a:solidFill>
                <a:latin typeface="Calibri"/>
                <a:ea typeface="Calibri"/>
                <a:cs typeface="Calibri"/>
                <a:sym typeface="Calibri"/>
              </a:rPr>
              <a:t>	the higher its frequency</a:t>
            </a:r>
            <a:r>
              <a:rPr lang="en-GB" sz="2400">
                <a:solidFill>
                  <a:srgbClr val="000066"/>
                </a:solidFill>
                <a:latin typeface="Calibri"/>
                <a:ea typeface="Calibri"/>
                <a:cs typeface="Calibri"/>
                <a:sym typeface="Calibri"/>
              </a:rPr>
              <a:t>,</a:t>
            </a:r>
            <a:r>
              <a:rPr b="1" lang="en-GB" sz="2400">
                <a:solidFill>
                  <a:srgbClr val="CC00CC"/>
                </a:solidFill>
                <a:latin typeface="Calibri"/>
                <a:ea typeface="Calibri"/>
                <a:cs typeface="Calibri"/>
                <a:sym typeface="Calibri"/>
              </a:rPr>
              <a:t> the higher the energy</a:t>
            </a:r>
            <a:r>
              <a:rPr lang="en-GB" sz="2400">
                <a:solidFill>
                  <a:srgbClr val="000066"/>
                </a:solidFill>
                <a:latin typeface="Calibri"/>
                <a:ea typeface="Calibri"/>
                <a:cs typeface="Calibri"/>
                <a:sym typeface="Calibri"/>
              </a:rPr>
              <a:t>.</a:t>
            </a:r>
            <a:endParaRPr>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5"/>
                                        </p:tgtEl>
                                        <p:attrNameLst>
                                          <p:attrName>style.visibility</p:attrName>
                                        </p:attrNameLst>
                                      </p:cBhvr>
                                      <p:to>
                                        <p:strVal val="visible"/>
                                      </p:to>
                                    </p:set>
                                    <p:animEffect filter="fade" transition="in">
                                      <p:cBhvr>
                                        <p:cTn dur="500"/>
                                        <p:tgtEl>
                                          <p:spTgt spid="19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8"/>
                                        </p:tgtEl>
                                        <p:attrNameLst>
                                          <p:attrName>style.visibility</p:attrName>
                                        </p:attrNameLst>
                                      </p:cBhvr>
                                      <p:to>
                                        <p:strVal val="visible"/>
                                      </p:to>
                                    </p:set>
                                    <p:animEffect filter="fade" transition="in">
                                      <p:cBhvr>
                                        <p:cTn dur="500"/>
                                        <p:tgtEl>
                                          <p:spTgt spid="19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9"/>
                                        </p:tgtEl>
                                        <p:attrNameLst>
                                          <p:attrName>style.visibility</p:attrName>
                                        </p:attrNameLst>
                                      </p:cBhvr>
                                      <p:to>
                                        <p:strVal val="visible"/>
                                      </p:to>
                                    </p:set>
                                    <p:animEffect filter="fade" transition="in">
                                      <p:cBhvr>
                                        <p:cTn dur="500"/>
                                        <p:tgtEl>
                                          <p:spTgt spid="19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6"/>
                                        </p:tgtEl>
                                        <p:attrNameLst>
                                          <p:attrName>style.visibility</p:attrName>
                                        </p:attrNameLst>
                                      </p:cBhvr>
                                      <p:to>
                                        <p:strVal val="visible"/>
                                      </p:to>
                                    </p:set>
                                    <p:animEffect filter="fade" transition="in">
                                      <p:cBhvr>
                                        <p:cTn dur="500"/>
                                        <p:tgtEl>
                                          <p:spTgt spid="19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21"/>
          <p:cNvSpPr txBox="1"/>
          <p:nvPr>
            <p:ph type="title"/>
          </p:nvPr>
        </p:nvSpPr>
        <p:spPr>
          <a:xfrm>
            <a:off x="3032761" y="2419643"/>
            <a:ext cx="7518009" cy="1732891"/>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6000"/>
              <a:buFont typeface="Comic Sans MS"/>
              <a:buNone/>
            </a:pPr>
            <a:r>
              <a:rPr lang="en-GB" sz="6000"/>
              <a:t>1. Radio Waves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22"/>
          <p:cNvSpPr txBox="1"/>
          <p:nvPr>
            <p:ph type="title"/>
          </p:nvPr>
        </p:nvSpPr>
        <p:spPr>
          <a:xfrm>
            <a:off x="2048584" y="253219"/>
            <a:ext cx="8229600" cy="1143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omic Sans MS"/>
              <a:buNone/>
            </a:pPr>
            <a:r>
              <a:rPr lang="en-GB"/>
              <a:t>Radio Waves</a:t>
            </a:r>
            <a:endParaRPr/>
          </a:p>
        </p:txBody>
      </p:sp>
      <p:sp>
        <p:nvSpPr>
          <p:cNvPr id="210" name="Google Shape;210;p22"/>
          <p:cNvSpPr txBox="1"/>
          <p:nvPr>
            <p:ph idx="1" type="body"/>
          </p:nvPr>
        </p:nvSpPr>
        <p:spPr>
          <a:xfrm>
            <a:off x="239151" y="1796244"/>
            <a:ext cx="5620263" cy="4525962"/>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400"/>
              <a:buFont typeface="Calibri"/>
              <a:buChar char="•"/>
            </a:pPr>
            <a:r>
              <a:rPr lang="en-GB" sz="2400"/>
              <a:t>Radio waves have the longest wavelengths in the electromagnetic spectrum. </a:t>
            </a:r>
            <a:endParaRPr/>
          </a:p>
          <a:p>
            <a:pPr indent="-228600" lvl="0" marL="228600" rtl="0" algn="l">
              <a:lnSpc>
                <a:spcPct val="90000"/>
              </a:lnSpc>
              <a:spcBef>
                <a:spcPts val="1000"/>
              </a:spcBef>
              <a:spcAft>
                <a:spcPts val="0"/>
              </a:spcAft>
              <a:buClr>
                <a:schemeClr val="dk1"/>
              </a:buClr>
              <a:buSzPts val="2400"/>
              <a:buFont typeface="Calibri"/>
              <a:buChar char="•"/>
            </a:pPr>
            <a:r>
              <a:rPr lang="en-GB" sz="2400"/>
              <a:t>These waves can be longer than a football field or as short as a football. </a:t>
            </a:r>
            <a:endParaRPr/>
          </a:p>
          <a:p>
            <a:pPr indent="-228600" lvl="0" marL="228600" rtl="0" algn="l">
              <a:lnSpc>
                <a:spcPct val="90000"/>
              </a:lnSpc>
              <a:spcBef>
                <a:spcPts val="1000"/>
              </a:spcBef>
              <a:spcAft>
                <a:spcPts val="0"/>
              </a:spcAft>
              <a:buClr>
                <a:schemeClr val="dk1"/>
              </a:buClr>
              <a:buSzPts val="2400"/>
              <a:buFont typeface="Calibri"/>
              <a:buChar char="•"/>
            </a:pPr>
            <a:r>
              <a:rPr lang="en-GB" sz="2400"/>
              <a:t>Radio waves do more than just bring music to your radio. They also carry signals for your television and mobile phones</a:t>
            </a:r>
            <a:endParaRPr/>
          </a:p>
        </p:txBody>
      </p:sp>
      <p:pic>
        <p:nvPicPr>
          <p:cNvPr descr="Image of a portable radio." id="211" name="Google Shape;211;p22"/>
          <p:cNvPicPr preferRelativeResize="0"/>
          <p:nvPr>
            <p:ph idx="2" type="body"/>
          </p:nvPr>
        </p:nvPicPr>
        <p:blipFill rotWithShape="1">
          <a:blip r:embed="rId3">
            <a:alphaModFix/>
          </a:blip>
          <a:srcRect b="0" l="0" r="0" t="0"/>
          <a:stretch/>
        </p:blipFill>
        <p:spPr>
          <a:xfrm>
            <a:off x="6305916" y="824719"/>
            <a:ext cx="5046711" cy="3448827"/>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3"/>
          <p:cNvSpPr txBox="1"/>
          <p:nvPr>
            <p:ph type="title"/>
          </p:nvPr>
        </p:nvSpPr>
        <p:spPr>
          <a:xfrm>
            <a:off x="915474" y="-246299"/>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omic Sans MS"/>
              <a:buNone/>
            </a:pPr>
            <a:r>
              <a:rPr lang="en-GB"/>
              <a:t>How do radio waves affect humans?</a:t>
            </a:r>
            <a:endParaRPr/>
          </a:p>
        </p:txBody>
      </p:sp>
      <p:sp>
        <p:nvSpPr>
          <p:cNvPr id="219" name="Google Shape;219;p23"/>
          <p:cNvSpPr txBox="1"/>
          <p:nvPr/>
        </p:nvSpPr>
        <p:spPr>
          <a:xfrm>
            <a:off x="141668" y="784226"/>
            <a:ext cx="9022500" cy="2308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2400">
                <a:solidFill>
                  <a:srgbClr val="000066"/>
                </a:solidFill>
                <a:latin typeface="Calibri"/>
                <a:ea typeface="Calibri"/>
                <a:cs typeface="Calibri"/>
                <a:sym typeface="Calibri"/>
              </a:rPr>
              <a:t>Radio waves </a:t>
            </a:r>
            <a:endParaRPr b="1" sz="2400">
              <a:solidFill>
                <a:srgbClr val="000066"/>
              </a:solidFill>
              <a:latin typeface="Calibri"/>
              <a:ea typeface="Calibri"/>
              <a:cs typeface="Calibri"/>
              <a:sym typeface="Calibri"/>
            </a:endParaRPr>
          </a:p>
          <a:p>
            <a:pPr indent="-381000" lvl="0" marL="457200" marR="0" rtl="0" algn="l">
              <a:spcBef>
                <a:spcPts val="0"/>
              </a:spcBef>
              <a:spcAft>
                <a:spcPts val="0"/>
              </a:spcAft>
              <a:buClr>
                <a:srgbClr val="000066"/>
              </a:buClr>
              <a:buSzPts val="2400"/>
              <a:buFont typeface="Calibri"/>
              <a:buChar char="●"/>
            </a:pPr>
            <a:r>
              <a:rPr lang="en-GB" sz="2400">
                <a:solidFill>
                  <a:srgbClr val="000066"/>
                </a:solidFill>
                <a:latin typeface="Calibri"/>
                <a:ea typeface="Calibri"/>
                <a:cs typeface="Calibri"/>
                <a:sym typeface="Calibri"/>
              </a:rPr>
              <a:t>The longest-wavelength electromagnetic waves and mostly pass through the body. </a:t>
            </a:r>
            <a:endParaRPr sz="2400">
              <a:solidFill>
                <a:srgbClr val="000066"/>
              </a:solidFill>
              <a:latin typeface="Calibri"/>
              <a:ea typeface="Calibri"/>
              <a:cs typeface="Calibri"/>
              <a:sym typeface="Calibri"/>
            </a:endParaRPr>
          </a:p>
          <a:p>
            <a:pPr indent="-381000" lvl="0" marL="457200" rtl="0" algn="l">
              <a:spcBef>
                <a:spcPts val="0"/>
              </a:spcBef>
              <a:spcAft>
                <a:spcPts val="0"/>
              </a:spcAft>
              <a:buClr>
                <a:srgbClr val="000066"/>
              </a:buClr>
              <a:buSzPts val="2400"/>
              <a:buFont typeface="Calibri"/>
              <a:buChar char="●"/>
            </a:pPr>
            <a:r>
              <a:rPr lang="en-GB" sz="2400">
                <a:solidFill>
                  <a:srgbClr val="000066"/>
                </a:solidFill>
                <a:latin typeface="Calibri"/>
                <a:ea typeface="Calibri"/>
                <a:cs typeface="Calibri"/>
                <a:sym typeface="Calibri"/>
              </a:rPr>
              <a:t>They are not strongly absorbed and are thought to have no effect on the health of living tissue. </a:t>
            </a:r>
            <a:endParaRPr sz="2400">
              <a:solidFill>
                <a:srgbClr val="000066"/>
              </a:solidFill>
              <a:latin typeface="Calibri"/>
              <a:ea typeface="Calibri"/>
              <a:cs typeface="Calibri"/>
              <a:sym typeface="Calibri"/>
            </a:endParaRPr>
          </a:p>
          <a:p>
            <a:pPr indent="0" lvl="0" marL="457200" rtl="0" algn="l">
              <a:spcBef>
                <a:spcPts val="0"/>
              </a:spcBef>
              <a:spcAft>
                <a:spcPts val="0"/>
              </a:spcAft>
              <a:buNone/>
            </a:pPr>
            <a:r>
              <a:t/>
            </a:r>
            <a:endParaRPr sz="2400">
              <a:solidFill>
                <a:srgbClr val="000066"/>
              </a:solidFill>
              <a:latin typeface="Calibri"/>
              <a:ea typeface="Calibri"/>
              <a:cs typeface="Calibri"/>
              <a:sym typeface="Calibri"/>
            </a:endParaRPr>
          </a:p>
        </p:txBody>
      </p:sp>
      <p:pic>
        <p:nvPicPr>
          <p:cNvPr descr="PC1_gfx_radio" id="220" name="Google Shape;220;p23"/>
          <p:cNvPicPr preferRelativeResize="0"/>
          <p:nvPr/>
        </p:nvPicPr>
        <p:blipFill rotWithShape="1">
          <a:blip r:embed="rId3">
            <a:alphaModFix/>
          </a:blip>
          <a:srcRect b="0" l="0" r="0" t="0"/>
          <a:stretch/>
        </p:blipFill>
        <p:spPr>
          <a:xfrm>
            <a:off x="9848599" y="131637"/>
            <a:ext cx="2266950" cy="2266950"/>
          </a:xfrm>
          <a:prstGeom prst="rect">
            <a:avLst/>
          </a:prstGeom>
          <a:noFill/>
          <a:ln>
            <a:noFill/>
          </a:ln>
        </p:spPr>
      </p:pic>
      <p:sp>
        <p:nvSpPr>
          <p:cNvPr id="221" name="Google Shape;221;p23"/>
          <p:cNvSpPr txBox="1"/>
          <p:nvPr/>
        </p:nvSpPr>
        <p:spPr>
          <a:xfrm>
            <a:off x="141683" y="2030414"/>
            <a:ext cx="86529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a:latin typeface="Calibri"/>
              <a:ea typeface="Calibri"/>
              <a:cs typeface="Calibri"/>
              <a:sym typeface="Calibri"/>
            </a:endParaRPr>
          </a:p>
        </p:txBody>
      </p:sp>
      <p:pic>
        <p:nvPicPr>
          <p:cNvPr id="222" name="Google Shape;222;p23"/>
          <p:cNvPicPr preferRelativeResize="0"/>
          <p:nvPr/>
        </p:nvPicPr>
        <p:blipFill>
          <a:blip r:embed="rId4">
            <a:alphaModFix/>
          </a:blip>
          <a:stretch>
            <a:fillRect/>
          </a:stretch>
        </p:blipFill>
        <p:spPr>
          <a:xfrm>
            <a:off x="152400" y="3245426"/>
            <a:ext cx="4607122" cy="3460174"/>
          </a:xfrm>
          <a:prstGeom prst="rect">
            <a:avLst/>
          </a:prstGeom>
          <a:noFill/>
          <a:ln>
            <a:noFill/>
          </a:ln>
        </p:spPr>
      </p:pic>
      <p:sp>
        <p:nvSpPr>
          <p:cNvPr id="223" name="Google Shape;223;p23"/>
          <p:cNvSpPr txBox="1"/>
          <p:nvPr/>
        </p:nvSpPr>
        <p:spPr>
          <a:xfrm>
            <a:off x="5344250" y="3159150"/>
            <a:ext cx="6239400" cy="315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2800">
                <a:solidFill>
                  <a:srgbClr val="0B5394"/>
                </a:solidFill>
                <a:latin typeface="Calibri"/>
                <a:ea typeface="Calibri"/>
                <a:cs typeface="Calibri"/>
                <a:sym typeface="Calibri"/>
              </a:rPr>
              <a:t>Mt Wellington (kunanyi) Radio Tower</a:t>
            </a:r>
            <a:endParaRPr b="1" sz="2800">
              <a:solidFill>
                <a:srgbClr val="0B5394"/>
              </a:solidFill>
              <a:latin typeface="Calibri"/>
              <a:ea typeface="Calibri"/>
              <a:cs typeface="Calibri"/>
              <a:sym typeface="Calibri"/>
            </a:endParaRPr>
          </a:p>
          <a:p>
            <a:pPr indent="-406400" lvl="0" marL="457200" rtl="0" algn="l">
              <a:spcBef>
                <a:spcPts val="0"/>
              </a:spcBef>
              <a:spcAft>
                <a:spcPts val="0"/>
              </a:spcAft>
              <a:buClr>
                <a:srgbClr val="0B5394"/>
              </a:buClr>
              <a:buSzPts val="2800"/>
              <a:buFont typeface="Calibri"/>
              <a:buChar char="●"/>
            </a:pPr>
            <a:r>
              <a:rPr lang="en-GB" sz="2800">
                <a:solidFill>
                  <a:srgbClr val="0B5394"/>
                </a:solidFill>
                <a:latin typeface="Calibri"/>
                <a:ea typeface="Calibri"/>
                <a:cs typeface="Calibri"/>
                <a:sym typeface="Calibri"/>
              </a:rPr>
              <a:t>130m tall!!</a:t>
            </a:r>
            <a:endParaRPr sz="2800">
              <a:solidFill>
                <a:srgbClr val="0B5394"/>
              </a:solidFill>
              <a:latin typeface="Calibri"/>
              <a:ea typeface="Calibri"/>
              <a:cs typeface="Calibri"/>
              <a:sym typeface="Calibri"/>
            </a:endParaRPr>
          </a:p>
          <a:p>
            <a:pPr indent="-406400" lvl="0" marL="457200" rtl="0" algn="l">
              <a:spcBef>
                <a:spcPts val="0"/>
              </a:spcBef>
              <a:spcAft>
                <a:spcPts val="0"/>
              </a:spcAft>
              <a:buClr>
                <a:srgbClr val="0B5394"/>
              </a:buClr>
              <a:buSzPts val="2800"/>
              <a:buFont typeface="Calibri"/>
              <a:buChar char="●"/>
            </a:pPr>
            <a:r>
              <a:rPr lang="en-GB" sz="2800">
                <a:solidFill>
                  <a:srgbClr val="0B5394"/>
                </a:solidFill>
                <a:latin typeface="Calibri"/>
                <a:ea typeface="Calibri"/>
                <a:cs typeface="Calibri"/>
                <a:sym typeface="Calibri"/>
              </a:rPr>
              <a:t>Delivers Free-to-air Television and Radio via Radio waves throughout Hobart.</a:t>
            </a:r>
            <a:endParaRPr sz="2800">
              <a:solidFill>
                <a:srgbClr val="0B5394"/>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1"/>
                                        </p:tgtEl>
                                        <p:attrNameLst>
                                          <p:attrName>style.visibility</p:attrName>
                                        </p:attrNameLst>
                                      </p:cBhvr>
                                      <p:to>
                                        <p:strVal val="visible"/>
                                      </p:to>
                                    </p:set>
                                    <p:animEffect filter="fade" transition="in">
                                      <p:cBhvr>
                                        <p:cTn dur="500"/>
                                        <p:tgtEl>
                                          <p:spTgt spid="22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4"/>
          <p:cNvSpPr txBox="1"/>
          <p:nvPr>
            <p:ph type="title"/>
          </p:nvPr>
        </p:nvSpPr>
        <p:spPr>
          <a:xfrm>
            <a:off x="3032761" y="2419643"/>
            <a:ext cx="7518009" cy="1732891"/>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6000"/>
              <a:buFont typeface="Comic Sans MS"/>
              <a:buNone/>
            </a:pPr>
            <a:r>
              <a:rPr lang="en-GB" sz="6000"/>
              <a:t>2. Microwaves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25"/>
          <p:cNvSpPr txBox="1"/>
          <p:nvPr>
            <p:ph type="title"/>
          </p:nvPr>
        </p:nvSpPr>
        <p:spPr>
          <a:xfrm>
            <a:off x="417382" y="0"/>
            <a:ext cx="10972800" cy="1143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omic Sans MS"/>
              <a:buNone/>
            </a:pPr>
            <a:r>
              <a:rPr b="1" lang="en-GB"/>
              <a:t>Microwaves</a:t>
            </a:r>
            <a:endParaRPr b="1"/>
          </a:p>
        </p:txBody>
      </p:sp>
      <p:sp>
        <p:nvSpPr>
          <p:cNvPr id="234" name="Google Shape;234;p25"/>
          <p:cNvSpPr txBox="1"/>
          <p:nvPr>
            <p:ph idx="1" type="body"/>
          </p:nvPr>
        </p:nvSpPr>
        <p:spPr>
          <a:xfrm>
            <a:off x="267275" y="1297475"/>
            <a:ext cx="6419700" cy="4428600"/>
          </a:xfrm>
          <a:prstGeom prst="rect">
            <a:avLst/>
          </a:prstGeom>
          <a:noFill/>
          <a:ln>
            <a:noFill/>
          </a:ln>
        </p:spPr>
        <p:txBody>
          <a:bodyPr anchorCtr="0" anchor="t" bIns="45700" lIns="91425" spcFirstLastPara="1" rIns="91425" wrap="square" tIns="45700">
            <a:noAutofit/>
          </a:bodyPr>
          <a:lstStyle/>
          <a:p>
            <a:pPr indent="-228600" lvl="0" marL="228600" rtl="0" algn="l">
              <a:lnSpc>
                <a:spcPct val="80000"/>
              </a:lnSpc>
              <a:spcBef>
                <a:spcPts val="0"/>
              </a:spcBef>
              <a:spcAft>
                <a:spcPts val="0"/>
              </a:spcAft>
              <a:buClr>
                <a:schemeClr val="dk1"/>
              </a:buClr>
              <a:buSzPts val="3200"/>
              <a:buFont typeface="Calibri"/>
              <a:buChar char="•"/>
            </a:pPr>
            <a:r>
              <a:rPr lang="en-GB" sz="3200"/>
              <a:t>Microwaves length (cm)</a:t>
            </a:r>
            <a:endParaRPr/>
          </a:p>
          <a:p>
            <a:pPr indent="-228600" lvl="0" marL="228600" rtl="0" algn="l">
              <a:lnSpc>
                <a:spcPct val="80000"/>
              </a:lnSpc>
              <a:spcBef>
                <a:spcPts val="1000"/>
              </a:spcBef>
              <a:spcAft>
                <a:spcPts val="0"/>
              </a:spcAft>
              <a:buClr>
                <a:schemeClr val="dk1"/>
              </a:buClr>
              <a:buSzPts val="3200"/>
              <a:buFont typeface="Calibri"/>
              <a:buChar char="•"/>
            </a:pPr>
            <a:r>
              <a:rPr lang="en-GB" sz="3200"/>
              <a:t>The longer microwaves, are the waves which heat our food in a microwave oven.</a:t>
            </a:r>
            <a:endParaRPr/>
          </a:p>
          <a:p>
            <a:pPr indent="-228600" lvl="0" marL="228600" rtl="0" algn="l">
              <a:lnSpc>
                <a:spcPct val="80000"/>
              </a:lnSpc>
              <a:spcBef>
                <a:spcPts val="1000"/>
              </a:spcBef>
              <a:spcAft>
                <a:spcPts val="0"/>
              </a:spcAft>
              <a:buClr>
                <a:schemeClr val="dk1"/>
              </a:buClr>
              <a:buSzPts val="3200"/>
              <a:buFont typeface="Calibri"/>
              <a:buChar char="•"/>
            </a:pPr>
            <a:r>
              <a:rPr lang="en-GB" sz="3200"/>
              <a:t>Shorter microwaves are used in remote sensing. </a:t>
            </a:r>
            <a:endParaRPr sz="3200"/>
          </a:p>
          <a:p>
            <a:pPr indent="-317500" lvl="1" marL="685800" rtl="0" algn="l">
              <a:lnSpc>
                <a:spcPct val="80000"/>
              </a:lnSpc>
              <a:spcBef>
                <a:spcPts val="1000"/>
              </a:spcBef>
              <a:spcAft>
                <a:spcPts val="0"/>
              </a:spcAft>
              <a:buClr>
                <a:schemeClr val="dk1"/>
              </a:buClr>
              <a:buSzPts val="3200"/>
              <a:buFont typeface="Calibri"/>
              <a:buChar char="•"/>
            </a:pPr>
            <a:r>
              <a:rPr lang="en-GB" sz="3200"/>
              <a:t>These microwaves are used for radar like the doppler radar used in weather forecasts. </a:t>
            </a:r>
            <a:endParaRPr/>
          </a:p>
        </p:txBody>
      </p:sp>
      <p:pic>
        <p:nvPicPr>
          <p:cNvPr descr="Image of child putting a dish in a microwave oven." id="235" name="Google Shape;235;p25"/>
          <p:cNvPicPr preferRelativeResize="0"/>
          <p:nvPr>
            <p:ph idx="2" type="body"/>
          </p:nvPr>
        </p:nvPicPr>
        <p:blipFill rotWithShape="1">
          <a:blip r:embed="rId3">
            <a:alphaModFix/>
          </a:blip>
          <a:srcRect b="0" l="0" r="0" t="0"/>
          <a:stretch/>
        </p:blipFill>
        <p:spPr>
          <a:xfrm>
            <a:off x="6762130" y="1142990"/>
            <a:ext cx="5022600" cy="3616200"/>
          </a:xfrm>
          <a:prstGeom prst="rect">
            <a:avLst/>
          </a:prstGeom>
          <a:noFill/>
          <a:ln>
            <a:noFill/>
          </a:ln>
        </p:spPr>
      </p:pic>
      <p:sp>
        <p:nvSpPr>
          <p:cNvPr id="236" name="Google Shape;236;p25"/>
          <p:cNvSpPr txBox="1"/>
          <p:nvPr/>
        </p:nvSpPr>
        <p:spPr>
          <a:xfrm>
            <a:off x="6989675" y="4975675"/>
            <a:ext cx="5080800" cy="179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800">
                <a:solidFill>
                  <a:schemeClr val="dk1"/>
                </a:solidFill>
                <a:latin typeface="Calibri"/>
                <a:ea typeface="Calibri"/>
                <a:cs typeface="Calibri"/>
                <a:sym typeface="Calibri"/>
              </a:rPr>
              <a:t>Microwaves work by vibrating water molecules present in the food to heat up the food via radiation!</a:t>
            </a:r>
            <a:endParaRPr sz="28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26"/>
          <p:cNvSpPr txBox="1"/>
          <p:nvPr>
            <p:ph type="title"/>
          </p:nvPr>
        </p:nvSpPr>
        <p:spPr>
          <a:xfrm>
            <a:off x="3032761" y="2419643"/>
            <a:ext cx="7518009" cy="1732891"/>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6000"/>
              <a:buFont typeface="Comic Sans MS"/>
              <a:buNone/>
            </a:pPr>
            <a:r>
              <a:rPr lang="en-GB" sz="6000"/>
              <a:t>3. Infrared Light</a:t>
            </a:r>
            <a:endParaRPr sz="6000"/>
          </a:p>
          <a:p>
            <a:pPr indent="0" lvl="0" marL="0" rtl="0" algn="l">
              <a:lnSpc>
                <a:spcPct val="90000"/>
              </a:lnSpc>
              <a:spcBef>
                <a:spcPts val="0"/>
              </a:spcBef>
              <a:spcAft>
                <a:spcPts val="0"/>
              </a:spcAft>
              <a:buClr>
                <a:schemeClr val="dk1"/>
              </a:buClr>
              <a:buSzPts val="6000"/>
              <a:buFont typeface="Comic Sans MS"/>
              <a:buNone/>
            </a:pPr>
            <a:r>
              <a:rPr lang="en-GB" sz="6000"/>
              <a:t>(Term 1 Recap)</a:t>
            </a:r>
            <a:endParaRPr sz="60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27"/>
          <p:cNvSpPr txBox="1"/>
          <p:nvPr>
            <p:ph type="title"/>
          </p:nvPr>
        </p:nvSpPr>
        <p:spPr>
          <a:xfrm>
            <a:off x="1992313" y="0"/>
            <a:ext cx="8229600" cy="1143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omic Sans MS"/>
              <a:buNone/>
            </a:pPr>
            <a:r>
              <a:rPr lang="en-GB"/>
              <a:t>Infrared Waves</a:t>
            </a:r>
            <a:endParaRPr/>
          </a:p>
        </p:txBody>
      </p:sp>
      <p:sp>
        <p:nvSpPr>
          <p:cNvPr id="247" name="Google Shape;247;p27"/>
          <p:cNvSpPr txBox="1"/>
          <p:nvPr>
            <p:ph idx="1" type="body"/>
          </p:nvPr>
        </p:nvSpPr>
        <p:spPr>
          <a:xfrm>
            <a:off x="348267" y="1085534"/>
            <a:ext cx="7596554" cy="5589586"/>
          </a:xfrm>
          <a:prstGeom prst="rect">
            <a:avLst/>
          </a:prstGeom>
          <a:noFill/>
          <a:ln>
            <a:noFill/>
          </a:ln>
        </p:spPr>
        <p:txBody>
          <a:bodyPr anchorCtr="0" anchor="t" bIns="45700" lIns="91425" spcFirstLastPara="1" rIns="91425" wrap="square" tIns="45700">
            <a:normAutofit/>
          </a:bodyPr>
          <a:lstStyle/>
          <a:p>
            <a:pPr indent="-228600" lvl="0" marL="228600" rtl="0" algn="l">
              <a:lnSpc>
                <a:spcPct val="80000"/>
              </a:lnSpc>
              <a:spcBef>
                <a:spcPts val="0"/>
              </a:spcBef>
              <a:spcAft>
                <a:spcPts val="0"/>
              </a:spcAft>
              <a:buClr>
                <a:schemeClr val="dk1"/>
              </a:buClr>
              <a:buSzPts val="2400"/>
              <a:buChar char="•"/>
            </a:pPr>
            <a:r>
              <a:rPr b="1" lang="en-GB" sz="2400"/>
              <a:t>Infrared light</a:t>
            </a:r>
            <a:r>
              <a:rPr lang="en-GB" sz="2400"/>
              <a:t> lies between the visible and microwave portions of the electromagnetic spectrum. </a:t>
            </a:r>
            <a:endParaRPr/>
          </a:p>
          <a:p>
            <a:pPr indent="-76200" lvl="0" marL="228600" rtl="0" algn="l">
              <a:lnSpc>
                <a:spcPct val="80000"/>
              </a:lnSpc>
              <a:spcBef>
                <a:spcPts val="1000"/>
              </a:spcBef>
              <a:spcAft>
                <a:spcPts val="0"/>
              </a:spcAft>
              <a:buClr>
                <a:schemeClr val="dk1"/>
              </a:buClr>
              <a:buSzPts val="2400"/>
              <a:buNone/>
            </a:pPr>
            <a:r>
              <a:t/>
            </a:r>
            <a:endParaRPr sz="2400"/>
          </a:p>
          <a:p>
            <a:pPr indent="-228600" lvl="0" marL="228600" rtl="0" algn="l">
              <a:lnSpc>
                <a:spcPct val="80000"/>
              </a:lnSpc>
              <a:spcBef>
                <a:spcPts val="1000"/>
              </a:spcBef>
              <a:spcAft>
                <a:spcPts val="0"/>
              </a:spcAft>
              <a:buClr>
                <a:schemeClr val="dk1"/>
              </a:buClr>
              <a:buSzPts val="2400"/>
              <a:buFont typeface="Calibri"/>
              <a:buChar char="•"/>
            </a:pPr>
            <a:r>
              <a:rPr lang="en-GB" sz="2400"/>
              <a:t>Infrared light has a range of wavelengths, just like visible light has wavelengths that range from red light to violet. </a:t>
            </a:r>
            <a:endParaRPr/>
          </a:p>
          <a:p>
            <a:pPr indent="-76200" lvl="0" marL="228600" rtl="0" algn="l">
              <a:lnSpc>
                <a:spcPct val="80000"/>
              </a:lnSpc>
              <a:spcBef>
                <a:spcPts val="1000"/>
              </a:spcBef>
              <a:spcAft>
                <a:spcPts val="0"/>
              </a:spcAft>
              <a:buClr>
                <a:schemeClr val="dk1"/>
              </a:buClr>
              <a:buSzPts val="2400"/>
              <a:buNone/>
            </a:pPr>
            <a:r>
              <a:t/>
            </a:r>
            <a:endParaRPr sz="2400"/>
          </a:p>
          <a:p>
            <a:pPr indent="-228600" lvl="0" marL="228600" rtl="0" algn="l">
              <a:lnSpc>
                <a:spcPct val="80000"/>
              </a:lnSpc>
              <a:spcBef>
                <a:spcPts val="1000"/>
              </a:spcBef>
              <a:spcAft>
                <a:spcPts val="0"/>
              </a:spcAft>
              <a:buClr>
                <a:schemeClr val="dk1"/>
              </a:buClr>
              <a:buSzPts val="2400"/>
              <a:buFont typeface="Calibri"/>
              <a:buChar char="•"/>
            </a:pPr>
            <a:r>
              <a:rPr lang="en-GB" sz="2400"/>
              <a:t>Infrared is used for:</a:t>
            </a:r>
            <a:endParaRPr/>
          </a:p>
          <a:p>
            <a:pPr indent="-228600" lvl="1" marL="685800" rtl="0" algn="l">
              <a:lnSpc>
                <a:spcPct val="80000"/>
              </a:lnSpc>
              <a:spcBef>
                <a:spcPts val="500"/>
              </a:spcBef>
              <a:spcAft>
                <a:spcPts val="0"/>
              </a:spcAft>
              <a:buClr>
                <a:schemeClr val="dk1"/>
              </a:buClr>
              <a:buSzPts val="2000"/>
              <a:buFont typeface="Calibri"/>
              <a:buChar char="•"/>
            </a:pPr>
            <a:r>
              <a:rPr lang="en-GB" sz="2000"/>
              <a:t>Heating</a:t>
            </a:r>
            <a:endParaRPr/>
          </a:p>
          <a:p>
            <a:pPr indent="-228600" lvl="1" marL="685800" rtl="0" algn="l">
              <a:lnSpc>
                <a:spcPct val="80000"/>
              </a:lnSpc>
              <a:spcBef>
                <a:spcPts val="500"/>
              </a:spcBef>
              <a:spcAft>
                <a:spcPts val="0"/>
              </a:spcAft>
              <a:buClr>
                <a:schemeClr val="dk1"/>
              </a:buClr>
              <a:buSzPts val="2000"/>
              <a:buFont typeface="Calibri"/>
              <a:buChar char="•"/>
            </a:pPr>
            <a:r>
              <a:rPr lang="en-GB" sz="2000"/>
              <a:t>Thermal detection e.g. police</a:t>
            </a:r>
            <a:endParaRPr/>
          </a:p>
          <a:p>
            <a:pPr indent="-228600" lvl="1" marL="685800" rtl="0" algn="l">
              <a:lnSpc>
                <a:spcPct val="80000"/>
              </a:lnSpc>
              <a:spcBef>
                <a:spcPts val="500"/>
              </a:spcBef>
              <a:spcAft>
                <a:spcPts val="0"/>
              </a:spcAft>
              <a:buClr>
                <a:schemeClr val="dk1"/>
              </a:buClr>
              <a:buSzPts val="2000"/>
              <a:buFont typeface="Calibri"/>
              <a:buChar char="•"/>
            </a:pPr>
            <a:r>
              <a:rPr lang="en-GB" sz="2000"/>
              <a:t>Weather forecasting</a:t>
            </a:r>
            <a:endParaRPr/>
          </a:p>
          <a:p>
            <a:pPr indent="-228600" lvl="1" marL="685800" rtl="0" algn="l">
              <a:lnSpc>
                <a:spcPct val="80000"/>
              </a:lnSpc>
              <a:spcBef>
                <a:spcPts val="500"/>
              </a:spcBef>
              <a:spcAft>
                <a:spcPts val="0"/>
              </a:spcAft>
              <a:buClr>
                <a:schemeClr val="dk1"/>
              </a:buClr>
              <a:buSzPts val="2000"/>
              <a:buFont typeface="Calibri"/>
              <a:buChar char="•"/>
            </a:pPr>
            <a:r>
              <a:rPr lang="en-GB" sz="2000"/>
              <a:t>Remote control devices</a:t>
            </a:r>
            <a:endParaRPr/>
          </a:p>
          <a:p>
            <a:pPr indent="-228600" lvl="1" marL="685800" rtl="0" algn="l">
              <a:lnSpc>
                <a:spcPct val="80000"/>
              </a:lnSpc>
              <a:spcBef>
                <a:spcPts val="500"/>
              </a:spcBef>
              <a:spcAft>
                <a:spcPts val="0"/>
              </a:spcAft>
              <a:buClr>
                <a:schemeClr val="dk1"/>
              </a:buClr>
              <a:buSzPts val="2000"/>
              <a:buFont typeface="Calibri"/>
              <a:buChar char="•"/>
            </a:pPr>
            <a:r>
              <a:rPr lang="en-GB" sz="2000"/>
              <a:t>Communication</a:t>
            </a:r>
            <a:endParaRPr/>
          </a:p>
          <a:p>
            <a:pPr indent="-76200" lvl="0" marL="228600" rtl="0" algn="l">
              <a:lnSpc>
                <a:spcPct val="80000"/>
              </a:lnSpc>
              <a:spcBef>
                <a:spcPts val="1000"/>
              </a:spcBef>
              <a:spcAft>
                <a:spcPts val="0"/>
              </a:spcAft>
              <a:buClr>
                <a:schemeClr val="dk1"/>
              </a:buClr>
              <a:buSzPts val="2400"/>
              <a:buNone/>
            </a:pPr>
            <a:r>
              <a:t/>
            </a:r>
            <a:endParaRPr sz="2400"/>
          </a:p>
        </p:txBody>
      </p:sp>
      <p:pic>
        <p:nvPicPr>
          <p:cNvPr descr="Infrared man" id="248" name="Google Shape;248;p27"/>
          <p:cNvPicPr preferRelativeResize="0"/>
          <p:nvPr>
            <p:ph idx="4294967295" type="body"/>
          </p:nvPr>
        </p:nvPicPr>
        <p:blipFill rotWithShape="1">
          <a:blip r:embed="rId3">
            <a:alphaModFix/>
          </a:blip>
          <a:srcRect b="0" l="0" r="0" t="0"/>
          <a:stretch/>
        </p:blipFill>
        <p:spPr>
          <a:xfrm>
            <a:off x="8577867" y="160851"/>
            <a:ext cx="3288092" cy="3288092"/>
          </a:xfrm>
          <a:prstGeom prst="rect">
            <a:avLst/>
          </a:prstGeom>
          <a:noFill/>
          <a:ln>
            <a:noFill/>
          </a:ln>
        </p:spPr>
      </p:pic>
      <p:pic>
        <p:nvPicPr>
          <p:cNvPr descr="Infrared image of a cat." id="249" name="Google Shape;249;p27"/>
          <p:cNvPicPr preferRelativeResize="0"/>
          <p:nvPr>
            <p:ph idx="4294967295" type="body"/>
          </p:nvPr>
        </p:nvPicPr>
        <p:blipFill rotWithShape="1">
          <a:blip r:embed="rId4">
            <a:alphaModFix/>
          </a:blip>
          <a:srcRect b="0" l="0" r="0" t="0"/>
          <a:stretch/>
        </p:blipFill>
        <p:spPr>
          <a:xfrm>
            <a:off x="6846973" y="3300180"/>
            <a:ext cx="3374940" cy="337494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28"/>
          <p:cNvSpPr/>
          <p:nvPr/>
        </p:nvSpPr>
        <p:spPr>
          <a:xfrm>
            <a:off x="1524000" y="1668464"/>
            <a:ext cx="9144000" cy="83099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descr="Electromagnetic Spectrum" id="255" name="Google Shape;255;p28"/>
          <p:cNvSpPr/>
          <p:nvPr/>
        </p:nvSpPr>
        <p:spPr>
          <a:xfrm>
            <a:off x="1524000" y="1668464"/>
            <a:ext cx="6515100" cy="35210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6" name="Google Shape;256;p28"/>
          <p:cNvSpPr/>
          <p:nvPr/>
        </p:nvSpPr>
        <p:spPr>
          <a:xfrm>
            <a:off x="1524000" y="2490789"/>
            <a:ext cx="9144000" cy="83099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2400"/>
              <a:buFont typeface="Calibri"/>
              <a:buNone/>
            </a:pPr>
            <a:r>
              <a:t/>
            </a:r>
            <a:endParaRPr sz="24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pic>
        <p:nvPicPr>
          <p:cNvPr descr="Image of two girls in mid-infrared (&quot;thermal&quot;) light (false-color)" id="257" name="Google Shape;257;p28">
            <a:hlinkClick r:id="rId3"/>
          </p:cNvPr>
          <p:cNvPicPr preferRelativeResize="0"/>
          <p:nvPr/>
        </p:nvPicPr>
        <p:blipFill rotWithShape="1">
          <a:blip r:embed="rId4">
            <a:alphaModFix/>
          </a:blip>
          <a:srcRect b="0" l="0" r="0" t="0"/>
          <a:stretch/>
        </p:blipFill>
        <p:spPr>
          <a:xfrm>
            <a:off x="1311457" y="186011"/>
            <a:ext cx="4652780" cy="3083390"/>
          </a:xfrm>
          <a:prstGeom prst="rect">
            <a:avLst/>
          </a:prstGeom>
          <a:noFill/>
          <a:ln>
            <a:noFill/>
          </a:ln>
        </p:spPr>
      </p:pic>
      <p:pic>
        <p:nvPicPr>
          <p:cNvPr descr="A thermographic image of a dog" id="258" name="Google Shape;258;p28">
            <a:hlinkClick r:id="rId5"/>
          </p:cNvPr>
          <p:cNvPicPr preferRelativeResize="0"/>
          <p:nvPr/>
        </p:nvPicPr>
        <p:blipFill rotWithShape="1">
          <a:blip r:embed="rId6">
            <a:alphaModFix/>
          </a:blip>
          <a:srcRect b="0" l="0" r="0" t="0"/>
          <a:stretch/>
        </p:blipFill>
        <p:spPr>
          <a:xfrm>
            <a:off x="6369049" y="1973430"/>
            <a:ext cx="4784943" cy="2441409"/>
          </a:xfrm>
          <a:prstGeom prst="rect">
            <a:avLst/>
          </a:prstGeom>
          <a:noFill/>
          <a:ln>
            <a:noFill/>
          </a:ln>
        </p:spPr>
      </p:pic>
      <p:pic>
        <p:nvPicPr>
          <p:cNvPr descr="Thermographic image of a snake eating a mouse" id="259" name="Google Shape;259;p28">
            <a:hlinkClick r:id="rId7"/>
          </p:cNvPr>
          <p:cNvPicPr preferRelativeResize="0"/>
          <p:nvPr/>
        </p:nvPicPr>
        <p:blipFill rotWithShape="1">
          <a:blip r:embed="rId8">
            <a:alphaModFix/>
          </a:blip>
          <a:srcRect b="0" l="0" r="0" t="0"/>
          <a:stretch/>
        </p:blipFill>
        <p:spPr>
          <a:xfrm>
            <a:off x="785713" y="3321786"/>
            <a:ext cx="5583336" cy="3317876"/>
          </a:xfrm>
          <a:prstGeom prst="rect">
            <a:avLst/>
          </a:prstGeom>
          <a:noFill/>
          <a:ln>
            <a:noFill/>
          </a:ln>
        </p:spPr>
      </p:pic>
      <p:grpSp>
        <p:nvGrpSpPr>
          <p:cNvPr id="260" name="Google Shape;260;p28"/>
          <p:cNvGrpSpPr/>
          <p:nvPr/>
        </p:nvGrpSpPr>
        <p:grpSpPr>
          <a:xfrm>
            <a:off x="3863975" y="2435225"/>
            <a:ext cx="4465638" cy="1951038"/>
            <a:chOff x="0" y="0"/>
            <a:chExt cx="2813" cy="1229"/>
          </a:xfrm>
        </p:grpSpPr>
        <p:sp>
          <p:nvSpPr>
            <p:cNvPr id="261" name="Google Shape;261;p28"/>
            <p:cNvSpPr/>
            <p:nvPr/>
          </p:nvSpPr>
          <p:spPr>
            <a:xfrm>
              <a:off x="0" y="0"/>
              <a:ext cx="0" cy="233"/>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2" name="Google Shape;262;p28"/>
            <p:cNvSpPr/>
            <p:nvPr/>
          </p:nvSpPr>
          <p:spPr>
            <a:xfrm>
              <a:off x="0" y="0"/>
              <a:ext cx="2813" cy="1229"/>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GB" sz="900">
                  <a:solidFill>
                    <a:srgbClr val="000000"/>
                  </a:solidFill>
                  <a:latin typeface="Calibri"/>
                  <a:ea typeface="Calibri"/>
                  <a:cs typeface="Calibri"/>
                  <a:sym typeface="Calibri"/>
                </a:rPr>
                <a:t>  </a:t>
              </a:r>
              <a:r>
                <a:rPr lang="en-GB" sz="12200">
                  <a:solidFill>
                    <a:srgbClr val="000000"/>
                  </a:solidFill>
                  <a:latin typeface="Calibri"/>
                  <a:ea typeface="Calibri"/>
                  <a:cs typeface="Calibri"/>
                  <a:sym typeface="Calibri"/>
                </a:rPr>
                <a:t> </a:t>
              </a:r>
              <a:r>
                <a:rPr lang="en-GB" sz="900">
                  <a:solidFill>
                    <a:srgbClr val="000000"/>
                  </a:solidFill>
                  <a:latin typeface="Calibri"/>
                  <a:ea typeface="Calibri"/>
                  <a:cs typeface="Calibri"/>
                  <a:sym typeface="Calibri"/>
                </a:rPr>
                <a:t>                                                                                         </a:t>
              </a:r>
              <a:endParaRPr/>
            </a:p>
          </p:txBody>
        </p:sp>
      </p:grpSp>
      <p:pic>
        <p:nvPicPr>
          <p:cNvPr descr="Image of a television remote control" id="263" name="Google Shape;263;p28"/>
          <p:cNvPicPr preferRelativeResize="0"/>
          <p:nvPr/>
        </p:nvPicPr>
        <p:blipFill rotWithShape="1">
          <a:blip r:embed="rId9">
            <a:alphaModFix/>
          </a:blip>
          <a:srcRect b="0" l="0" r="0" t="0"/>
          <a:stretch/>
        </p:blipFill>
        <p:spPr>
          <a:xfrm>
            <a:off x="7194550" y="4441827"/>
            <a:ext cx="3349460" cy="2276473"/>
          </a:xfrm>
          <a:prstGeom prst="rect">
            <a:avLst/>
          </a:prstGeom>
          <a:noFill/>
          <a:ln>
            <a:noFill/>
          </a:ln>
        </p:spPr>
      </p:pic>
      <p:grpSp>
        <p:nvGrpSpPr>
          <p:cNvPr id="264" name="Google Shape;264;p28"/>
          <p:cNvGrpSpPr/>
          <p:nvPr/>
        </p:nvGrpSpPr>
        <p:grpSpPr>
          <a:xfrm>
            <a:off x="3708400" y="2720975"/>
            <a:ext cx="4776788" cy="1403350"/>
            <a:chOff x="0" y="0"/>
            <a:chExt cx="3009" cy="884"/>
          </a:xfrm>
        </p:grpSpPr>
        <p:sp>
          <p:nvSpPr>
            <p:cNvPr id="265" name="Google Shape;265;p28"/>
            <p:cNvSpPr/>
            <p:nvPr/>
          </p:nvSpPr>
          <p:spPr>
            <a:xfrm>
              <a:off x="0" y="0"/>
              <a:ext cx="0" cy="233"/>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6" name="Google Shape;266;p28"/>
            <p:cNvSpPr/>
            <p:nvPr/>
          </p:nvSpPr>
          <p:spPr>
            <a:xfrm>
              <a:off x="0" y="0"/>
              <a:ext cx="3009" cy="88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GB" sz="900">
                  <a:solidFill>
                    <a:srgbClr val="000000"/>
                  </a:solidFill>
                  <a:latin typeface="Calibri"/>
                  <a:ea typeface="Calibri"/>
                  <a:cs typeface="Calibri"/>
                  <a:sym typeface="Calibri"/>
                </a:rPr>
                <a:t>  </a:t>
              </a:r>
              <a:r>
                <a:rPr lang="en-GB" sz="8600">
                  <a:solidFill>
                    <a:srgbClr val="000000"/>
                  </a:solidFill>
                  <a:latin typeface="Calibri"/>
                  <a:ea typeface="Calibri"/>
                  <a:cs typeface="Calibri"/>
                  <a:sym typeface="Calibri"/>
                </a:rPr>
                <a:t> </a:t>
              </a:r>
              <a:r>
                <a:rPr lang="en-GB" sz="900">
                  <a:solidFill>
                    <a:srgbClr val="000000"/>
                  </a:solidFill>
                  <a:latin typeface="Calibri"/>
                  <a:ea typeface="Calibri"/>
                  <a:cs typeface="Calibri"/>
                  <a:sym typeface="Calibri"/>
                </a:rPr>
                <a:t>                                          </a:t>
              </a:r>
              <a:endParaRPr/>
            </a:p>
          </p:txBody>
        </p:sp>
      </p:grpSp>
      <p:pic>
        <p:nvPicPr>
          <p:cNvPr descr="Infrared man" id="267" name="Google Shape;267;p28"/>
          <p:cNvPicPr preferRelativeResize="0"/>
          <p:nvPr/>
        </p:nvPicPr>
        <p:blipFill rotWithShape="1">
          <a:blip r:embed="rId10">
            <a:alphaModFix/>
          </a:blip>
          <a:srcRect b="0" l="0" r="0" t="0"/>
          <a:stretch/>
        </p:blipFill>
        <p:spPr>
          <a:xfrm>
            <a:off x="7967909" y="85728"/>
            <a:ext cx="2057400" cy="2057400"/>
          </a:xfrm>
          <a:prstGeom prst="rect">
            <a:avLst/>
          </a:prstGeom>
          <a:noFill/>
          <a:ln>
            <a:noFill/>
          </a:ln>
        </p:spPr>
      </p:pic>
      <p:sp>
        <p:nvSpPr>
          <p:cNvPr id="268" name="Google Shape;268;p28"/>
          <p:cNvSpPr/>
          <p:nvPr/>
        </p:nvSpPr>
        <p:spPr>
          <a:xfrm>
            <a:off x="5638800" y="2971801"/>
            <a:ext cx="0" cy="368035"/>
          </a:xfrm>
          <a:prstGeom prst="rect">
            <a:avLst/>
          </a:prstGeom>
          <a:noFill/>
          <a:ln>
            <a:noFill/>
          </a:ln>
        </p:spPr>
        <p:txBody>
          <a:bodyPr anchorCtr="0" anchor="t" bIns="45700" lIns="91425" spcFirstLastPara="1" rIns="91425" wrap="square" tIns="44425">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9" name="Google Shape;269;p28"/>
          <p:cNvSpPr/>
          <p:nvPr/>
        </p:nvSpPr>
        <p:spPr>
          <a:xfrm>
            <a:off x="5638800" y="2971801"/>
            <a:ext cx="0" cy="368035"/>
          </a:xfrm>
          <a:prstGeom prst="rect">
            <a:avLst/>
          </a:prstGeom>
          <a:noFill/>
          <a:ln>
            <a:noFill/>
          </a:ln>
        </p:spPr>
        <p:txBody>
          <a:bodyPr anchorCtr="0" anchor="t" bIns="45700" lIns="91425" spcFirstLastPara="1" rIns="91425" wrap="square" tIns="44425">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0" name="Google Shape;270;p28"/>
          <p:cNvSpPr txBox="1"/>
          <p:nvPr/>
        </p:nvSpPr>
        <p:spPr>
          <a:xfrm>
            <a:off x="1900239" y="5537200"/>
            <a:ext cx="2987675"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2400">
                <a:solidFill>
                  <a:schemeClr val="lt1"/>
                </a:solidFill>
                <a:latin typeface="Times New Roman"/>
                <a:ea typeface="Times New Roman"/>
                <a:cs typeface="Times New Roman"/>
                <a:sym typeface="Times New Roman"/>
              </a:rPr>
              <a:t>Snake eating a mouse</a:t>
            </a:r>
            <a:endParaRPr b="1" sz="2400">
              <a:solidFill>
                <a:schemeClr val="lt1"/>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29"/>
          <p:cNvSpPr txBox="1"/>
          <p:nvPr>
            <p:ph type="title"/>
          </p:nvPr>
        </p:nvSpPr>
        <p:spPr>
          <a:xfrm>
            <a:off x="929704" y="-27945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omic Sans MS"/>
              <a:buNone/>
            </a:pPr>
            <a:r>
              <a:rPr lang="en-GB"/>
              <a:t>What are infrared waves?</a:t>
            </a:r>
            <a:endParaRPr/>
          </a:p>
        </p:txBody>
      </p:sp>
      <p:sp>
        <p:nvSpPr>
          <p:cNvPr id="278" name="Google Shape;278;p29"/>
          <p:cNvSpPr txBox="1"/>
          <p:nvPr/>
        </p:nvSpPr>
        <p:spPr>
          <a:xfrm>
            <a:off x="621988" y="784226"/>
            <a:ext cx="8953958"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400">
                <a:solidFill>
                  <a:srgbClr val="000066"/>
                </a:solidFill>
                <a:latin typeface="Calibri"/>
                <a:ea typeface="Calibri"/>
                <a:cs typeface="Calibri"/>
                <a:sym typeface="Calibri"/>
              </a:rPr>
              <a:t>We experience infrared waves everyday in the form of heat. </a:t>
            </a:r>
            <a:endParaRPr>
              <a:latin typeface="Calibri"/>
              <a:ea typeface="Calibri"/>
              <a:cs typeface="Calibri"/>
              <a:sym typeface="Calibri"/>
            </a:endParaRPr>
          </a:p>
        </p:txBody>
      </p:sp>
      <p:grpSp>
        <p:nvGrpSpPr>
          <p:cNvPr id="279" name="Google Shape;279;p29"/>
          <p:cNvGrpSpPr/>
          <p:nvPr/>
        </p:nvGrpSpPr>
        <p:grpSpPr>
          <a:xfrm>
            <a:off x="870328" y="2348088"/>
            <a:ext cx="10076620" cy="2680408"/>
            <a:chOff x="32" y="1806"/>
            <a:chExt cx="5737" cy="1383"/>
          </a:xfrm>
        </p:grpSpPr>
        <p:sp>
          <p:nvSpPr>
            <p:cNvPr id="280" name="Google Shape;280;p29"/>
            <p:cNvSpPr/>
            <p:nvPr/>
          </p:nvSpPr>
          <p:spPr>
            <a:xfrm>
              <a:off x="33" y="1806"/>
              <a:ext cx="5736" cy="1383"/>
            </a:xfrm>
            <a:prstGeom prst="rect">
              <a:avLst/>
            </a:prstGeom>
            <a:solidFill>
              <a:srgbClr val="FFFFCC"/>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10066"/>
                </a:solidFill>
                <a:latin typeface="Comic Sans MS"/>
                <a:ea typeface="Comic Sans MS"/>
                <a:cs typeface="Comic Sans MS"/>
                <a:sym typeface="Comic Sans MS"/>
              </a:endParaRPr>
            </a:p>
          </p:txBody>
        </p:sp>
        <p:pic>
          <p:nvPicPr>
            <p:cNvPr descr="PS_gfx_emscale" id="281" name="Google Shape;281;p29"/>
            <p:cNvPicPr preferRelativeResize="0"/>
            <p:nvPr/>
          </p:nvPicPr>
          <p:blipFill rotWithShape="1">
            <a:blip r:embed="rId3">
              <a:alphaModFix/>
            </a:blip>
            <a:srcRect b="0" l="13417" r="12047" t="0"/>
            <a:stretch/>
          </p:blipFill>
          <p:spPr>
            <a:xfrm>
              <a:off x="32" y="1998"/>
              <a:ext cx="5736" cy="918"/>
            </a:xfrm>
            <a:prstGeom prst="rect">
              <a:avLst/>
            </a:prstGeom>
            <a:noFill/>
            <a:ln>
              <a:noFill/>
            </a:ln>
          </p:spPr>
        </p:pic>
        <p:sp>
          <p:nvSpPr>
            <p:cNvPr id="282" name="Google Shape;282;p29"/>
            <p:cNvSpPr txBox="1"/>
            <p:nvPr/>
          </p:nvSpPr>
          <p:spPr>
            <a:xfrm>
              <a:off x="2340" y="1888"/>
              <a:ext cx="1500" cy="300"/>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None/>
              </a:pPr>
              <a:r>
                <a:rPr b="1" lang="en-GB" sz="2800">
                  <a:solidFill>
                    <a:srgbClr val="CC00CC"/>
                  </a:solidFill>
                  <a:latin typeface="Comic Sans MS"/>
                  <a:ea typeface="Comic Sans MS"/>
                  <a:cs typeface="Comic Sans MS"/>
                  <a:sym typeface="Comic Sans MS"/>
                </a:rPr>
                <a:t>infrared</a:t>
              </a:r>
              <a:endParaRPr/>
            </a:p>
          </p:txBody>
        </p:sp>
        <p:sp>
          <p:nvSpPr>
            <p:cNvPr id="283" name="Google Shape;283;p29"/>
            <p:cNvSpPr txBox="1"/>
            <p:nvPr/>
          </p:nvSpPr>
          <p:spPr>
            <a:xfrm>
              <a:off x="178" y="1864"/>
              <a:ext cx="1500" cy="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2800">
                  <a:solidFill>
                    <a:srgbClr val="010066"/>
                  </a:solidFill>
                  <a:latin typeface="Comic Sans MS"/>
                  <a:ea typeface="Comic Sans MS"/>
                  <a:cs typeface="Comic Sans MS"/>
                  <a:sym typeface="Comic Sans MS"/>
                </a:rPr>
                <a:t>microwaves </a:t>
              </a:r>
              <a:endParaRPr/>
            </a:p>
          </p:txBody>
        </p:sp>
        <p:sp>
          <p:nvSpPr>
            <p:cNvPr id="284" name="Google Shape;284;p29"/>
            <p:cNvSpPr txBox="1"/>
            <p:nvPr/>
          </p:nvSpPr>
          <p:spPr>
            <a:xfrm>
              <a:off x="373" y="2641"/>
              <a:ext cx="600" cy="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2400">
                  <a:solidFill>
                    <a:srgbClr val="9900CC"/>
                  </a:solidFill>
                  <a:latin typeface="Comic Sans MS"/>
                  <a:ea typeface="Comic Sans MS"/>
                  <a:cs typeface="Comic Sans MS"/>
                  <a:sym typeface="Comic Sans MS"/>
                </a:rPr>
                <a:t>10</a:t>
              </a:r>
              <a:r>
                <a:rPr b="1" lang="en-GB" sz="1200">
                  <a:solidFill>
                    <a:srgbClr val="9900CC"/>
                  </a:solidFill>
                  <a:latin typeface="Comic Sans MS"/>
                  <a:ea typeface="Comic Sans MS"/>
                  <a:cs typeface="Comic Sans MS"/>
                  <a:sym typeface="Comic Sans MS"/>
                </a:rPr>
                <a:t> </a:t>
              </a:r>
              <a:r>
                <a:rPr b="1" lang="en-GB" sz="2400">
                  <a:solidFill>
                    <a:srgbClr val="9900CC"/>
                  </a:solidFill>
                  <a:latin typeface="Comic Sans MS"/>
                  <a:ea typeface="Comic Sans MS"/>
                  <a:cs typeface="Comic Sans MS"/>
                  <a:sym typeface="Comic Sans MS"/>
                </a:rPr>
                <a:t>mm</a:t>
              </a:r>
              <a:endParaRPr/>
            </a:p>
          </p:txBody>
        </p:sp>
        <p:sp>
          <p:nvSpPr>
            <p:cNvPr id="285" name="Google Shape;285;p29"/>
            <p:cNvSpPr txBox="1"/>
            <p:nvPr/>
          </p:nvSpPr>
          <p:spPr>
            <a:xfrm>
              <a:off x="2922" y="2641"/>
              <a:ext cx="1200" cy="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2400">
                  <a:solidFill>
                    <a:srgbClr val="9900CC"/>
                  </a:solidFill>
                  <a:latin typeface="Comic Sans MS"/>
                  <a:ea typeface="Comic Sans MS"/>
                  <a:cs typeface="Comic Sans MS"/>
                  <a:sym typeface="Comic Sans MS"/>
                </a:rPr>
                <a:t>0.001 mm</a:t>
              </a:r>
              <a:endParaRPr/>
            </a:p>
          </p:txBody>
        </p:sp>
        <p:sp>
          <p:nvSpPr>
            <p:cNvPr id="286" name="Google Shape;286;p29"/>
            <p:cNvSpPr txBox="1"/>
            <p:nvPr/>
          </p:nvSpPr>
          <p:spPr>
            <a:xfrm>
              <a:off x="1598" y="2641"/>
              <a:ext cx="1200" cy="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2400">
                  <a:solidFill>
                    <a:srgbClr val="9900CC"/>
                  </a:solidFill>
                  <a:latin typeface="Comic Sans MS"/>
                  <a:ea typeface="Comic Sans MS"/>
                  <a:cs typeface="Comic Sans MS"/>
                  <a:sym typeface="Comic Sans MS"/>
                </a:rPr>
                <a:t>0.1 mm</a:t>
              </a:r>
              <a:endParaRPr/>
            </a:p>
          </p:txBody>
        </p:sp>
        <p:sp>
          <p:nvSpPr>
            <p:cNvPr id="287" name="Google Shape;287;p29"/>
            <p:cNvSpPr txBox="1"/>
            <p:nvPr/>
          </p:nvSpPr>
          <p:spPr>
            <a:xfrm>
              <a:off x="4403" y="2641"/>
              <a:ext cx="1200" cy="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2400">
                  <a:solidFill>
                    <a:srgbClr val="9900CC"/>
                  </a:solidFill>
                  <a:latin typeface="Comic Sans MS"/>
                  <a:ea typeface="Comic Sans MS"/>
                  <a:cs typeface="Comic Sans MS"/>
                  <a:sym typeface="Comic Sans MS"/>
                </a:rPr>
                <a:t>0.00001 mm</a:t>
              </a:r>
              <a:endParaRPr/>
            </a:p>
          </p:txBody>
        </p:sp>
        <p:sp>
          <p:nvSpPr>
            <p:cNvPr id="288" name="Google Shape;288;p29"/>
            <p:cNvSpPr txBox="1"/>
            <p:nvPr/>
          </p:nvSpPr>
          <p:spPr>
            <a:xfrm>
              <a:off x="4411" y="1811"/>
              <a:ext cx="900" cy="300"/>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None/>
              </a:pPr>
              <a:r>
                <a:rPr b="1" lang="en-GB" sz="2800">
                  <a:solidFill>
                    <a:srgbClr val="010066"/>
                  </a:solidFill>
                  <a:latin typeface="Comic Sans MS"/>
                  <a:ea typeface="Comic Sans MS"/>
                  <a:cs typeface="Comic Sans MS"/>
                  <a:sym typeface="Comic Sans MS"/>
                </a:rPr>
                <a:t>visible light </a:t>
              </a:r>
              <a:endParaRPr/>
            </a:p>
          </p:txBody>
        </p:sp>
        <p:sp>
          <p:nvSpPr>
            <p:cNvPr id="289" name="Google Shape;289;p29"/>
            <p:cNvSpPr txBox="1"/>
            <p:nvPr/>
          </p:nvSpPr>
          <p:spPr>
            <a:xfrm>
              <a:off x="1069" y="2889"/>
              <a:ext cx="3600" cy="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2400">
                  <a:solidFill>
                    <a:srgbClr val="9900CC"/>
                  </a:solidFill>
                  <a:latin typeface="Comic Sans MS"/>
                  <a:ea typeface="Comic Sans MS"/>
                  <a:cs typeface="Comic Sans MS"/>
                  <a:sym typeface="Comic Sans MS"/>
                </a:rPr>
                <a:t>wavelength of electromagnetic waves </a:t>
              </a:r>
              <a:endParaRPr/>
            </a:p>
          </p:txBody>
        </p:sp>
      </p:grpSp>
      <p:pic>
        <p:nvPicPr>
          <p:cNvPr descr="PC2_gfx_heater" id="290" name="Google Shape;290;p29"/>
          <p:cNvPicPr preferRelativeResize="0"/>
          <p:nvPr/>
        </p:nvPicPr>
        <p:blipFill rotWithShape="1">
          <a:blip r:embed="rId4">
            <a:alphaModFix/>
          </a:blip>
          <a:srcRect b="0" l="0" r="0" t="0"/>
          <a:stretch/>
        </p:blipFill>
        <p:spPr>
          <a:xfrm>
            <a:off x="9453093" y="213335"/>
            <a:ext cx="2299927" cy="2299928"/>
          </a:xfrm>
          <a:prstGeom prst="rect">
            <a:avLst/>
          </a:prstGeom>
          <a:noFill/>
          <a:ln>
            <a:noFill/>
          </a:ln>
        </p:spPr>
      </p:pic>
      <p:grpSp>
        <p:nvGrpSpPr>
          <p:cNvPr id="291" name="Google Shape;291;p29"/>
          <p:cNvGrpSpPr/>
          <p:nvPr/>
        </p:nvGrpSpPr>
        <p:grpSpPr>
          <a:xfrm>
            <a:off x="299715" y="5583946"/>
            <a:ext cx="11394116" cy="952501"/>
            <a:chOff x="352" y="3216"/>
            <a:chExt cx="5100" cy="600"/>
          </a:xfrm>
        </p:grpSpPr>
        <p:sp>
          <p:nvSpPr>
            <p:cNvPr id="292" name="Google Shape;292;p29"/>
            <p:cNvSpPr txBox="1"/>
            <p:nvPr/>
          </p:nvSpPr>
          <p:spPr>
            <a:xfrm>
              <a:off x="352" y="3216"/>
              <a:ext cx="5100" cy="600"/>
            </a:xfrm>
            <a:prstGeom prst="rect">
              <a:avLst/>
            </a:prstGeom>
            <a:noFill/>
            <a:ln>
              <a:noFill/>
            </a:ln>
          </p:spPr>
          <p:txBody>
            <a:bodyPr anchorCtr="0" anchor="t" bIns="0" lIns="91425" spcFirstLastPara="1" rIns="91425" wrap="square" tIns="45700">
              <a:spAutoFit/>
            </a:bodyPr>
            <a:lstStyle/>
            <a:p>
              <a:pPr indent="0" lvl="0" marL="0" marR="0" rtl="0" algn="l">
                <a:spcBef>
                  <a:spcPts val="0"/>
                </a:spcBef>
                <a:spcAft>
                  <a:spcPts val="0"/>
                </a:spcAft>
                <a:buNone/>
              </a:pPr>
              <a:r>
                <a:rPr lang="en-GB" sz="2400">
                  <a:solidFill>
                    <a:srgbClr val="000066"/>
                  </a:solidFill>
                  <a:latin typeface="Calibri"/>
                  <a:ea typeface="Calibri"/>
                  <a:cs typeface="Calibri"/>
                  <a:sym typeface="Calibri"/>
                </a:rPr>
                <a:t>Infrared waves have wavelengths between 1 mm (about the size of a pin head) and about 0.0001 mm (about the size of</a:t>
              </a:r>
              <a:endParaRPr>
                <a:latin typeface="Calibri"/>
                <a:ea typeface="Calibri"/>
                <a:cs typeface="Calibri"/>
                <a:sym typeface="Calibri"/>
              </a:endParaRPr>
            </a:p>
          </p:txBody>
        </p:sp>
        <p:sp>
          <p:nvSpPr>
            <p:cNvPr id="293" name="Google Shape;293;p29"/>
            <p:cNvSpPr txBox="1"/>
            <p:nvPr/>
          </p:nvSpPr>
          <p:spPr>
            <a:xfrm>
              <a:off x="2046" y="3448"/>
              <a:ext cx="600" cy="300"/>
            </a:xfrm>
            <a:prstGeom prst="rect">
              <a:avLst/>
            </a:prstGeom>
            <a:noFill/>
            <a:ln>
              <a:noFill/>
            </a:ln>
          </p:spPr>
          <p:txBody>
            <a:bodyPr anchorCtr="0" anchor="t" bIns="0" lIns="91425" spcFirstLastPara="1" rIns="91425" wrap="square" tIns="45700">
              <a:spAutoFit/>
            </a:bodyPr>
            <a:lstStyle/>
            <a:p>
              <a:pPr indent="0" lvl="0" marL="0" marR="0" rtl="0" algn="l">
                <a:spcBef>
                  <a:spcPts val="0"/>
                </a:spcBef>
                <a:spcAft>
                  <a:spcPts val="0"/>
                </a:spcAft>
                <a:buNone/>
              </a:pPr>
              <a:r>
                <a:rPr lang="en-GB" sz="2400">
                  <a:solidFill>
                    <a:srgbClr val="000066"/>
                  </a:solidFill>
                  <a:latin typeface="Comic Sans MS"/>
                  <a:ea typeface="Comic Sans MS"/>
                  <a:cs typeface="Comic Sans MS"/>
                  <a:sym typeface="Comic Sans MS"/>
                </a:rPr>
                <a:t>a cell).</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9"/>
                                        </p:tgtEl>
                                        <p:attrNameLst>
                                          <p:attrName>style.visibility</p:attrName>
                                        </p:attrNameLst>
                                      </p:cBhvr>
                                      <p:to>
                                        <p:strVal val="visible"/>
                                      </p:to>
                                    </p:set>
                                    <p:animEffect filter="fade" transition="in">
                                      <p:cBhvr>
                                        <p:cTn dur="500"/>
                                        <p:tgtEl>
                                          <p:spTgt spid="27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1"/>
                                        </p:tgtEl>
                                        <p:attrNameLst>
                                          <p:attrName>style.visibility</p:attrName>
                                        </p:attrNameLst>
                                      </p:cBhvr>
                                      <p:to>
                                        <p:strVal val="visible"/>
                                      </p:to>
                                    </p:set>
                                    <p:animEffect filter="fade" transition="in">
                                      <p:cBhvr>
                                        <p:cTn dur="500"/>
                                        <p:tgtEl>
                                          <p:spTgt spid="29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30"/>
          <p:cNvSpPr txBox="1"/>
          <p:nvPr>
            <p:ph type="title"/>
          </p:nvPr>
        </p:nvSpPr>
        <p:spPr>
          <a:xfrm>
            <a:off x="554865" y="-244713"/>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omic Sans MS"/>
              <a:buNone/>
            </a:pPr>
            <a:r>
              <a:rPr lang="en-GB"/>
              <a:t>What produces infrared waves?</a:t>
            </a:r>
            <a:endParaRPr/>
          </a:p>
        </p:txBody>
      </p:sp>
      <p:sp>
        <p:nvSpPr>
          <p:cNvPr id="301" name="Google Shape;301;p30"/>
          <p:cNvSpPr txBox="1"/>
          <p:nvPr/>
        </p:nvSpPr>
        <p:spPr>
          <a:xfrm>
            <a:off x="296380" y="784225"/>
            <a:ext cx="8098500" cy="965700"/>
          </a:xfrm>
          <a:prstGeom prst="rect">
            <a:avLst/>
          </a:prstGeom>
          <a:noFill/>
          <a:ln>
            <a:noFill/>
          </a:ln>
        </p:spPr>
        <p:txBody>
          <a:bodyPr anchorCtr="0" anchor="t" bIns="49425" lIns="98875" spcFirstLastPara="1" rIns="98875" wrap="square" tIns="49425">
            <a:spAutoFit/>
          </a:bodyPr>
          <a:lstStyle/>
          <a:p>
            <a:pPr indent="0" lvl="0" marL="0" marR="0" rtl="0" algn="l">
              <a:spcBef>
                <a:spcPts val="0"/>
              </a:spcBef>
              <a:spcAft>
                <a:spcPts val="0"/>
              </a:spcAft>
              <a:buNone/>
            </a:pPr>
            <a:r>
              <a:rPr lang="en-GB" sz="2812">
                <a:solidFill>
                  <a:srgbClr val="000066"/>
                </a:solidFill>
                <a:latin typeface="Calibri"/>
                <a:ea typeface="Calibri"/>
                <a:cs typeface="Calibri"/>
                <a:sym typeface="Calibri"/>
              </a:rPr>
              <a:t>Infrared radiation is emitted by all objects but </a:t>
            </a:r>
            <a:r>
              <a:rPr lang="en-GB" sz="2812">
                <a:solidFill>
                  <a:srgbClr val="010066"/>
                </a:solidFill>
                <a:latin typeface="Calibri"/>
                <a:ea typeface="Calibri"/>
                <a:cs typeface="Calibri"/>
                <a:sym typeface="Calibri"/>
              </a:rPr>
              <a:t>is not visible to humans.</a:t>
            </a:r>
            <a:endParaRPr sz="2812">
              <a:solidFill>
                <a:srgbClr val="000066"/>
              </a:solidFill>
              <a:latin typeface="Calibri"/>
              <a:ea typeface="Calibri"/>
              <a:cs typeface="Calibri"/>
              <a:sym typeface="Calibri"/>
            </a:endParaRPr>
          </a:p>
        </p:txBody>
      </p:sp>
      <p:sp>
        <p:nvSpPr>
          <p:cNvPr id="302" name="Google Shape;302;p30"/>
          <p:cNvSpPr txBox="1"/>
          <p:nvPr/>
        </p:nvSpPr>
        <p:spPr>
          <a:xfrm>
            <a:off x="266475" y="1860405"/>
            <a:ext cx="8862900" cy="532800"/>
          </a:xfrm>
          <a:prstGeom prst="rect">
            <a:avLst/>
          </a:prstGeom>
          <a:noFill/>
          <a:ln>
            <a:noFill/>
          </a:ln>
        </p:spPr>
        <p:txBody>
          <a:bodyPr anchorCtr="0" anchor="t" bIns="49425" lIns="98875" spcFirstLastPara="1" rIns="98875" wrap="square" tIns="49425">
            <a:spAutoFit/>
          </a:bodyPr>
          <a:lstStyle/>
          <a:p>
            <a:pPr indent="0" lvl="0" marL="0" marR="0" rtl="0" algn="l">
              <a:spcBef>
                <a:spcPts val="0"/>
              </a:spcBef>
              <a:spcAft>
                <a:spcPts val="0"/>
              </a:spcAft>
              <a:buNone/>
            </a:pPr>
            <a:r>
              <a:rPr lang="en-GB" sz="2812">
                <a:solidFill>
                  <a:srgbClr val="000066"/>
                </a:solidFill>
                <a:latin typeface="Calibri"/>
                <a:ea typeface="Calibri"/>
                <a:cs typeface="Calibri"/>
                <a:sym typeface="Calibri"/>
              </a:rPr>
              <a:t>The hotter an object is, the more infrared radiation it emits. </a:t>
            </a:r>
            <a:endParaRPr sz="1731">
              <a:latin typeface="Calibri"/>
              <a:ea typeface="Calibri"/>
              <a:cs typeface="Calibri"/>
              <a:sym typeface="Calibri"/>
            </a:endParaRPr>
          </a:p>
        </p:txBody>
      </p:sp>
      <p:pic>
        <p:nvPicPr>
          <p:cNvPr descr="19138019" id="303" name="Google Shape;303;p30"/>
          <p:cNvPicPr preferRelativeResize="0"/>
          <p:nvPr/>
        </p:nvPicPr>
        <p:blipFill rotWithShape="1">
          <a:blip r:embed="rId3">
            <a:alphaModFix/>
          </a:blip>
          <a:srcRect b="0" l="0" r="0" t="3844"/>
          <a:stretch/>
        </p:blipFill>
        <p:spPr>
          <a:xfrm>
            <a:off x="8460550" y="3628022"/>
            <a:ext cx="3802600" cy="3229978"/>
          </a:xfrm>
          <a:prstGeom prst="rect">
            <a:avLst/>
          </a:prstGeom>
          <a:noFill/>
          <a:ln>
            <a:noFill/>
          </a:ln>
        </p:spPr>
      </p:pic>
      <p:sp>
        <p:nvSpPr>
          <p:cNvPr id="304" name="Google Shape;304;p30"/>
          <p:cNvSpPr/>
          <p:nvPr/>
        </p:nvSpPr>
        <p:spPr>
          <a:xfrm>
            <a:off x="296380" y="2729223"/>
            <a:ext cx="9125700" cy="898800"/>
          </a:xfrm>
          <a:prstGeom prst="rect">
            <a:avLst/>
          </a:prstGeom>
          <a:noFill/>
          <a:ln>
            <a:noFill/>
          </a:ln>
        </p:spPr>
        <p:txBody>
          <a:bodyPr anchorCtr="0" anchor="t" bIns="49425" lIns="98875" spcFirstLastPara="1" rIns="98875" wrap="square" tIns="49425">
            <a:noAutofit/>
          </a:bodyPr>
          <a:lstStyle/>
          <a:p>
            <a:pPr indent="0" lvl="0" marL="0" marR="0" rtl="0" algn="l">
              <a:spcBef>
                <a:spcPts val="0"/>
              </a:spcBef>
              <a:spcAft>
                <a:spcPts val="0"/>
              </a:spcAft>
              <a:buNone/>
            </a:pPr>
            <a:r>
              <a:rPr lang="en-GB" sz="2812">
                <a:solidFill>
                  <a:srgbClr val="000066"/>
                </a:solidFill>
                <a:latin typeface="Calibri"/>
                <a:ea typeface="Calibri"/>
                <a:cs typeface="Calibri"/>
                <a:sym typeface="Calibri"/>
              </a:rPr>
              <a:t>As an object gets hotter, visible light is also emitted. This is what can be seen when an object glows ‘red hot’.</a:t>
            </a:r>
            <a:endParaRPr sz="1731">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2"/>
                                        </p:tgtEl>
                                        <p:attrNameLst>
                                          <p:attrName>style.visibility</p:attrName>
                                        </p:attrNameLst>
                                      </p:cBhvr>
                                      <p:to>
                                        <p:strVal val="visible"/>
                                      </p:to>
                                    </p:set>
                                    <p:animEffect filter="fade" transition="in">
                                      <p:cBhvr>
                                        <p:cTn dur="500"/>
                                        <p:tgtEl>
                                          <p:spTgt spid="30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4"/>
                                        </p:tgtEl>
                                        <p:attrNameLst>
                                          <p:attrName>style.visibility</p:attrName>
                                        </p:attrNameLst>
                                      </p:cBhvr>
                                      <p:to>
                                        <p:strVal val="visible"/>
                                      </p:to>
                                    </p:set>
                                    <p:animEffect filter="fade" transition="in">
                                      <p:cBhvr>
                                        <p:cTn dur="500"/>
                                        <p:tgtEl>
                                          <p:spTgt spid="304"/>
                                        </p:tgtEl>
                                      </p:cBhvr>
                                    </p:animEffect>
                                  </p:childTnLst>
                                </p:cTn>
                              </p:par>
                            </p:childTnLst>
                          </p:cTn>
                        </p:par>
                        <p:par>
                          <p:cTn fill="hold">
                            <p:stCondLst>
                              <p:cond delay="500"/>
                            </p:stCondLst>
                            <p:childTnLst>
                              <p:par>
                                <p:cTn fill="hold" nodeType="afterEffect" presetClass="entr" presetID="23" presetSubtype="16">
                                  <p:stCondLst>
                                    <p:cond delay="0"/>
                                  </p:stCondLst>
                                  <p:childTnLst>
                                    <p:set>
                                      <p:cBhvr>
                                        <p:cTn dur="1" fill="hold">
                                          <p:stCondLst>
                                            <p:cond delay="0"/>
                                          </p:stCondLst>
                                        </p:cTn>
                                        <p:tgtEl>
                                          <p:spTgt spid="303"/>
                                        </p:tgtEl>
                                        <p:attrNameLst>
                                          <p:attrName>style.visibility</p:attrName>
                                        </p:attrNameLst>
                                      </p:cBhvr>
                                      <p:to>
                                        <p:strVal val="visible"/>
                                      </p:to>
                                    </p:set>
                                    <p:anim calcmode="lin" valueType="num">
                                      <p:cBhvr additive="base">
                                        <p:cTn dur="500"/>
                                        <p:tgtEl>
                                          <p:spTgt spid="303"/>
                                        </p:tgtEl>
                                        <p:attrNameLst>
                                          <p:attrName>ppt_w</p:attrName>
                                        </p:attrNameLst>
                                      </p:cBhvr>
                                      <p:tavLst>
                                        <p:tav fmla="" tm="0">
                                          <p:val>
                                            <p:strVal val="0"/>
                                          </p:val>
                                        </p:tav>
                                        <p:tav fmla="" tm="100000">
                                          <p:val>
                                            <p:strVal val="#ppt_w"/>
                                          </p:val>
                                        </p:tav>
                                      </p:tavLst>
                                    </p:anim>
                                    <p:anim calcmode="lin" valueType="num">
                                      <p:cBhvr additive="base">
                                        <p:cTn dur="500"/>
                                        <p:tgtEl>
                                          <p:spTgt spid="303"/>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31"/>
          <p:cNvSpPr txBox="1"/>
          <p:nvPr>
            <p:ph type="title"/>
          </p:nvPr>
        </p:nvSpPr>
        <p:spPr>
          <a:xfrm>
            <a:off x="735168" y="-230982"/>
            <a:ext cx="11216425"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omic Sans MS"/>
              <a:buNone/>
            </a:pPr>
            <a:r>
              <a:rPr lang="en-GB"/>
              <a:t>How is infrared used in remote controls?</a:t>
            </a:r>
            <a:endParaRPr/>
          </a:p>
        </p:txBody>
      </p:sp>
      <p:sp>
        <p:nvSpPr>
          <p:cNvPr id="312" name="Google Shape;312;p31"/>
          <p:cNvSpPr txBox="1"/>
          <p:nvPr/>
        </p:nvSpPr>
        <p:spPr>
          <a:xfrm>
            <a:off x="378922" y="784226"/>
            <a:ext cx="11199300" cy="461700"/>
          </a:xfrm>
          <a:prstGeom prst="rect">
            <a:avLst/>
          </a:prstGeom>
          <a:noFill/>
          <a:ln>
            <a:noFill/>
          </a:ln>
        </p:spPr>
        <p:txBody>
          <a:bodyPr anchorCtr="0" anchor="t" bIns="45700" lIns="91425" spcFirstLastPara="1" rIns="0" wrap="square" tIns="45700">
            <a:spAutoFit/>
          </a:bodyPr>
          <a:lstStyle/>
          <a:p>
            <a:pPr indent="0" lvl="0" marL="0" marR="0" rtl="0" algn="l">
              <a:spcBef>
                <a:spcPts val="0"/>
              </a:spcBef>
              <a:spcAft>
                <a:spcPts val="0"/>
              </a:spcAft>
              <a:buNone/>
            </a:pPr>
            <a:r>
              <a:rPr lang="en-GB" sz="2400">
                <a:solidFill>
                  <a:srgbClr val="010066"/>
                </a:solidFill>
                <a:latin typeface="Calibri"/>
                <a:ea typeface="Calibri"/>
                <a:cs typeface="Calibri"/>
                <a:sym typeface="Calibri"/>
              </a:rPr>
              <a:t>Infrared radiation with short wavelengths are not hot and cannot be detected by skin. </a:t>
            </a:r>
            <a:endParaRPr>
              <a:latin typeface="Calibri"/>
              <a:ea typeface="Calibri"/>
              <a:cs typeface="Calibri"/>
              <a:sym typeface="Calibri"/>
            </a:endParaRPr>
          </a:p>
        </p:txBody>
      </p:sp>
      <p:sp>
        <p:nvSpPr>
          <p:cNvPr id="313" name="Google Shape;313;p31"/>
          <p:cNvSpPr txBox="1"/>
          <p:nvPr/>
        </p:nvSpPr>
        <p:spPr>
          <a:xfrm>
            <a:off x="6529389" y="4629150"/>
            <a:ext cx="34116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14" name="Google Shape;314;p31"/>
          <p:cNvSpPr txBox="1"/>
          <p:nvPr/>
        </p:nvSpPr>
        <p:spPr>
          <a:xfrm>
            <a:off x="411186" y="1795593"/>
            <a:ext cx="6981300" cy="1200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400">
                <a:solidFill>
                  <a:srgbClr val="010066"/>
                </a:solidFill>
                <a:latin typeface="Calibri"/>
                <a:ea typeface="Calibri"/>
                <a:cs typeface="Calibri"/>
                <a:sym typeface="Calibri"/>
              </a:rPr>
              <a:t>This type of infrared radiation is used by remote controls to send information through the air over short distances.</a:t>
            </a:r>
            <a:endParaRPr>
              <a:latin typeface="Calibri"/>
              <a:ea typeface="Calibri"/>
              <a:cs typeface="Calibri"/>
              <a:sym typeface="Calibri"/>
            </a:endParaRPr>
          </a:p>
        </p:txBody>
      </p:sp>
      <p:sp>
        <p:nvSpPr>
          <p:cNvPr id="315" name="Google Shape;315;p31"/>
          <p:cNvSpPr txBox="1"/>
          <p:nvPr/>
        </p:nvSpPr>
        <p:spPr>
          <a:xfrm>
            <a:off x="411186" y="5121277"/>
            <a:ext cx="11346900" cy="1293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400">
                <a:solidFill>
                  <a:srgbClr val="010066"/>
                </a:solidFill>
                <a:latin typeface="Calibri"/>
                <a:ea typeface="Calibri"/>
                <a:cs typeface="Calibri"/>
                <a:sym typeface="Calibri"/>
              </a:rPr>
              <a:t>Infrared waves can also be used to transmit information through optical fibres. In this way, infrared radiation can send data over long distances and around corners.</a:t>
            </a:r>
            <a:endParaRPr sz="2400">
              <a:solidFill>
                <a:srgbClr val="010066"/>
              </a:solidFill>
              <a:latin typeface="Calibri"/>
              <a:ea typeface="Calibri"/>
              <a:cs typeface="Calibri"/>
              <a:sym typeface="Calibri"/>
            </a:endParaRPr>
          </a:p>
          <a:p>
            <a:pPr indent="0" lvl="0" marL="0" marR="0" rtl="0" algn="l">
              <a:spcBef>
                <a:spcPts val="720"/>
              </a:spcBef>
              <a:spcAft>
                <a:spcPts val="0"/>
              </a:spcAft>
              <a:buNone/>
            </a:pPr>
            <a:r>
              <a:t/>
            </a:r>
            <a:endParaRPr sz="2400">
              <a:solidFill>
                <a:srgbClr val="010066"/>
              </a:solidFill>
              <a:latin typeface="Calibri"/>
              <a:ea typeface="Calibri"/>
              <a:cs typeface="Calibri"/>
              <a:sym typeface="Calibri"/>
            </a:endParaRPr>
          </a:p>
        </p:txBody>
      </p:sp>
      <p:sp>
        <p:nvSpPr>
          <p:cNvPr id="316" name="Google Shape;316;p31"/>
          <p:cNvSpPr/>
          <p:nvPr/>
        </p:nvSpPr>
        <p:spPr>
          <a:xfrm>
            <a:off x="411186" y="3323678"/>
            <a:ext cx="6150467" cy="15696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2400">
                <a:solidFill>
                  <a:srgbClr val="010066"/>
                </a:solidFill>
                <a:latin typeface="Calibri"/>
                <a:ea typeface="Calibri"/>
                <a:cs typeface="Calibri"/>
                <a:sym typeface="Calibri"/>
              </a:rPr>
              <a:t>The pulses of infrared radiation from the remote control can only travel in a straight line to the device being controlled. </a:t>
            </a:r>
            <a:endParaRPr>
              <a:latin typeface="Calibri"/>
              <a:ea typeface="Calibri"/>
              <a:cs typeface="Calibri"/>
              <a:sym typeface="Calibri"/>
            </a:endParaRPr>
          </a:p>
        </p:txBody>
      </p:sp>
      <p:pic>
        <p:nvPicPr>
          <p:cNvPr descr="186226_4294" id="317" name="Google Shape;317;p31"/>
          <p:cNvPicPr preferRelativeResize="0"/>
          <p:nvPr/>
        </p:nvPicPr>
        <p:blipFill rotWithShape="1">
          <a:blip r:embed="rId3">
            <a:alphaModFix/>
          </a:blip>
          <a:srcRect b="0" l="0" r="862" t="0"/>
          <a:stretch/>
        </p:blipFill>
        <p:spPr>
          <a:xfrm>
            <a:off x="7594054" y="1592930"/>
            <a:ext cx="4164014" cy="31813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4"/>
                                        </p:tgtEl>
                                        <p:attrNameLst>
                                          <p:attrName>style.visibility</p:attrName>
                                        </p:attrNameLst>
                                      </p:cBhvr>
                                      <p:to>
                                        <p:strVal val="visible"/>
                                      </p:to>
                                    </p:set>
                                    <p:animEffect filter="fade" transition="in">
                                      <p:cBhvr>
                                        <p:cTn dur="500"/>
                                        <p:tgtEl>
                                          <p:spTgt spid="31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6"/>
                                        </p:tgtEl>
                                        <p:attrNameLst>
                                          <p:attrName>style.visibility</p:attrName>
                                        </p:attrNameLst>
                                      </p:cBhvr>
                                      <p:to>
                                        <p:strVal val="visible"/>
                                      </p:to>
                                    </p:set>
                                    <p:animEffect filter="fade" transition="in">
                                      <p:cBhvr>
                                        <p:cTn dur="500"/>
                                        <p:tgtEl>
                                          <p:spTgt spid="31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32"/>
          <p:cNvSpPr txBox="1"/>
          <p:nvPr/>
        </p:nvSpPr>
        <p:spPr>
          <a:xfrm>
            <a:off x="2711625" y="2014000"/>
            <a:ext cx="7581900" cy="14775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None/>
            </a:pPr>
            <a:r>
              <a:rPr lang="en-GB" sz="2800" u="sng">
                <a:solidFill>
                  <a:schemeClr val="hlink"/>
                </a:solidFill>
                <a:latin typeface="Calibri"/>
                <a:ea typeface="Calibri"/>
                <a:cs typeface="Calibri"/>
                <a:sym typeface="Calibri"/>
                <a:hlinkClick r:id="rId3"/>
              </a:rPr>
              <a:t>Nintendo Wii Demonstration IR Radiation</a:t>
            </a:r>
            <a:endParaRPr sz="2800">
              <a:solidFill>
                <a:schemeClr val="dk1"/>
              </a:solidFill>
              <a:latin typeface="Calibri"/>
              <a:ea typeface="Calibri"/>
              <a:cs typeface="Calibri"/>
              <a:sym typeface="Calibri"/>
            </a:endParaRPr>
          </a:p>
          <a:p>
            <a:pPr indent="0" lvl="0" marL="457200" rtl="0" algn="l">
              <a:spcBef>
                <a:spcPts val="0"/>
              </a:spcBef>
              <a:spcAft>
                <a:spcPts val="0"/>
              </a:spcAft>
              <a:buNone/>
            </a:pPr>
            <a:br>
              <a:rPr lang="en-GB" sz="2800">
                <a:solidFill>
                  <a:schemeClr val="dk1"/>
                </a:solidFill>
                <a:latin typeface="Calibri"/>
                <a:ea typeface="Calibri"/>
                <a:cs typeface="Calibri"/>
                <a:sym typeface="Calibri"/>
              </a:rPr>
            </a:br>
            <a:endParaRPr sz="280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33"/>
          <p:cNvSpPr txBox="1"/>
          <p:nvPr>
            <p:ph type="title"/>
          </p:nvPr>
        </p:nvSpPr>
        <p:spPr>
          <a:xfrm>
            <a:off x="3032761" y="2419643"/>
            <a:ext cx="7518009" cy="1732891"/>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6000"/>
              <a:buFont typeface="Comic Sans MS"/>
              <a:buNone/>
            </a:pPr>
            <a:r>
              <a:rPr lang="en-GB" sz="6000"/>
              <a:t>4. Visible Light</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34"/>
          <p:cNvSpPr txBox="1"/>
          <p:nvPr>
            <p:ph type="title"/>
          </p:nvPr>
        </p:nvSpPr>
        <p:spPr>
          <a:xfrm>
            <a:off x="838200" y="-256536"/>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omic Sans MS"/>
              <a:buNone/>
            </a:pPr>
            <a:r>
              <a:rPr lang="en-GB">
                <a:latin typeface="Comic Sans MS"/>
                <a:ea typeface="Comic Sans MS"/>
                <a:cs typeface="Comic Sans MS"/>
                <a:sym typeface="Comic Sans MS"/>
              </a:rPr>
              <a:t>How does visible light affect humans?</a:t>
            </a:r>
            <a:endParaRPr/>
          </a:p>
        </p:txBody>
      </p:sp>
      <p:sp>
        <p:nvSpPr>
          <p:cNvPr id="336" name="Google Shape;336;p34"/>
          <p:cNvSpPr txBox="1"/>
          <p:nvPr/>
        </p:nvSpPr>
        <p:spPr>
          <a:xfrm>
            <a:off x="379469" y="784226"/>
            <a:ext cx="9177283"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400">
                <a:solidFill>
                  <a:srgbClr val="000066"/>
                </a:solidFill>
                <a:latin typeface="Calibri"/>
                <a:ea typeface="Calibri"/>
                <a:cs typeface="Calibri"/>
                <a:sym typeface="Calibri"/>
              </a:rPr>
              <a:t>Your eyes detect visible light, which does not normally pose any health risk. </a:t>
            </a:r>
            <a:endParaRPr>
              <a:latin typeface="Calibri"/>
              <a:ea typeface="Calibri"/>
              <a:cs typeface="Calibri"/>
              <a:sym typeface="Calibri"/>
            </a:endParaRPr>
          </a:p>
        </p:txBody>
      </p:sp>
      <p:sp>
        <p:nvSpPr>
          <p:cNvPr id="337" name="Google Shape;337;p34"/>
          <p:cNvSpPr txBox="1"/>
          <p:nvPr/>
        </p:nvSpPr>
        <p:spPr>
          <a:xfrm>
            <a:off x="4250028" y="2540013"/>
            <a:ext cx="7804500" cy="1200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400">
                <a:solidFill>
                  <a:srgbClr val="000066"/>
                </a:solidFill>
                <a:latin typeface="Calibri"/>
                <a:ea typeface="Calibri"/>
                <a:cs typeface="Calibri"/>
                <a:sym typeface="Calibri"/>
              </a:rPr>
              <a:t>Lasers are very intense sources of visible light. </a:t>
            </a:r>
            <a:r>
              <a:rPr lang="en-GB" sz="2400">
                <a:solidFill>
                  <a:srgbClr val="010066"/>
                </a:solidFill>
                <a:latin typeface="Calibri"/>
                <a:ea typeface="Calibri"/>
                <a:cs typeface="Calibri"/>
                <a:sym typeface="Calibri"/>
              </a:rPr>
              <a:t>The lasers used in light shows are not powerful enough to cause harm but must be used safely.</a:t>
            </a:r>
            <a:endParaRPr>
              <a:latin typeface="Calibri"/>
              <a:ea typeface="Calibri"/>
              <a:cs typeface="Calibri"/>
              <a:sym typeface="Calibri"/>
            </a:endParaRPr>
          </a:p>
        </p:txBody>
      </p:sp>
      <p:sp>
        <p:nvSpPr>
          <p:cNvPr id="338" name="Google Shape;338;p34"/>
          <p:cNvSpPr txBox="1"/>
          <p:nvPr/>
        </p:nvSpPr>
        <p:spPr>
          <a:xfrm>
            <a:off x="377880" y="1662113"/>
            <a:ext cx="9177300" cy="831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400">
                <a:solidFill>
                  <a:srgbClr val="000066"/>
                </a:solidFill>
                <a:latin typeface="Calibri"/>
                <a:ea typeface="Calibri"/>
                <a:cs typeface="Calibri"/>
                <a:sym typeface="Calibri"/>
              </a:rPr>
              <a:t>However, very bright light can damage your eyes and may even make you blind.</a:t>
            </a:r>
            <a:endParaRPr>
              <a:latin typeface="Calibri"/>
              <a:ea typeface="Calibri"/>
              <a:cs typeface="Calibri"/>
              <a:sym typeface="Calibri"/>
            </a:endParaRPr>
          </a:p>
        </p:txBody>
      </p:sp>
      <p:sp>
        <p:nvSpPr>
          <p:cNvPr id="339" name="Google Shape;339;p34"/>
          <p:cNvSpPr txBox="1"/>
          <p:nvPr/>
        </p:nvSpPr>
        <p:spPr>
          <a:xfrm>
            <a:off x="4250020" y="4028000"/>
            <a:ext cx="7498200" cy="1200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400">
                <a:solidFill>
                  <a:srgbClr val="000066"/>
                </a:solidFill>
                <a:latin typeface="Calibri"/>
                <a:ea typeface="Calibri"/>
                <a:cs typeface="Calibri"/>
                <a:sym typeface="Calibri"/>
              </a:rPr>
              <a:t>Some very powerful lasers can cut through materials such as metal. These would also be able to burn through living tissue.</a:t>
            </a:r>
            <a:endParaRPr>
              <a:latin typeface="Calibri"/>
              <a:ea typeface="Calibri"/>
              <a:cs typeface="Calibri"/>
              <a:sym typeface="Calibri"/>
            </a:endParaRPr>
          </a:p>
        </p:txBody>
      </p:sp>
      <p:pic>
        <p:nvPicPr>
          <p:cNvPr descr="587467_69127503_credit_1" id="340" name="Google Shape;340;p34"/>
          <p:cNvPicPr preferRelativeResize="0"/>
          <p:nvPr/>
        </p:nvPicPr>
        <p:blipFill rotWithShape="1">
          <a:blip r:embed="rId3">
            <a:alphaModFix/>
          </a:blip>
          <a:srcRect b="0" l="0" r="0" t="0"/>
          <a:stretch/>
        </p:blipFill>
        <p:spPr>
          <a:xfrm>
            <a:off x="144505" y="3299913"/>
            <a:ext cx="3872148" cy="339137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8"/>
                                        </p:tgtEl>
                                        <p:attrNameLst>
                                          <p:attrName>style.visibility</p:attrName>
                                        </p:attrNameLst>
                                      </p:cBhvr>
                                      <p:to>
                                        <p:strVal val="visible"/>
                                      </p:to>
                                    </p:set>
                                    <p:animEffect filter="fade" transition="in">
                                      <p:cBhvr>
                                        <p:cTn dur="500"/>
                                        <p:tgtEl>
                                          <p:spTgt spid="33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7"/>
                                        </p:tgtEl>
                                        <p:attrNameLst>
                                          <p:attrName>style.visibility</p:attrName>
                                        </p:attrNameLst>
                                      </p:cBhvr>
                                      <p:to>
                                        <p:strVal val="visible"/>
                                      </p:to>
                                    </p:set>
                                    <p:animEffect filter="fade" transition="in">
                                      <p:cBhvr>
                                        <p:cTn dur="500"/>
                                        <p:tgtEl>
                                          <p:spTgt spid="337"/>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40"/>
                                        </p:tgtEl>
                                        <p:attrNameLst>
                                          <p:attrName>style.visibility</p:attrName>
                                        </p:attrNameLst>
                                      </p:cBhvr>
                                      <p:to>
                                        <p:strVal val="visible"/>
                                      </p:to>
                                    </p:set>
                                    <p:animEffect filter="fade" transition="in">
                                      <p:cBhvr>
                                        <p:cTn dur="500"/>
                                        <p:tgtEl>
                                          <p:spTgt spid="34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9"/>
                                        </p:tgtEl>
                                        <p:attrNameLst>
                                          <p:attrName>style.visibility</p:attrName>
                                        </p:attrNameLst>
                                      </p:cBhvr>
                                      <p:to>
                                        <p:strVal val="visible"/>
                                      </p:to>
                                    </p:set>
                                    <p:animEffect filter="fade" transition="in">
                                      <p:cBhvr>
                                        <p:cTn dur="500"/>
                                        <p:tgtEl>
                                          <p:spTgt spid="33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35"/>
          <p:cNvSpPr txBox="1"/>
          <p:nvPr>
            <p:ph type="title"/>
          </p:nvPr>
        </p:nvSpPr>
        <p:spPr>
          <a:xfrm>
            <a:off x="3032761" y="2419643"/>
            <a:ext cx="7518009" cy="1732891"/>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6000"/>
              <a:buFont typeface="Comic Sans MS"/>
              <a:buNone/>
            </a:pPr>
            <a:r>
              <a:rPr lang="en-GB" sz="6000">
                <a:latin typeface="Comic Sans MS"/>
                <a:ea typeface="Comic Sans MS"/>
                <a:cs typeface="Comic Sans MS"/>
                <a:sym typeface="Comic Sans MS"/>
              </a:rPr>
              <a:t>5. Ultraviolet Light</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36"/>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GB"/>
              <a:t>What is the main source of UV Radiation on Earth?</a:t>
            </a:r>
            <a:endParaRPr/>
          </a:p>
        </p:txBody>
      </p:sp>
      <p:pic>
        <p:nvPicPr>
          <p:cNvPr descr="sun5" id="352" name="Google Shape;352;p36"/>
          <p:cNvPicPr preferRelativeResize="0"/>
          <p:nvPr/>
        </p:nvPicPr>
        <p:blipFill rotWithShape="1">
          <a:blip r:embed="rId3">
            <a:alphaModFix/>
          </a:blip>
          <a:srcRect b="3245" l="4727" r="4718" t="2157"/>
          <a:stretch/>
        </p:blipFill>
        <p:spPr>
          <a:xfrm>
            <a:off x="3690399" y="2815233"/>
            <a:ext cx="3812600" cy="34835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37"/>
          <p:cNvSpPr txBox="1"/>
          <p:nvPr>
            <p:ph type="title"/>
          </p:nvPr>
        </p:nvSpPr>
        <p:spPr>
          <a:xfrm>
            <a:off x="398204" y="-228878"/>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omic Sans MS"/>
              <a:buNone/>
            </a:pPr>
            <a:r>
              <a:rPr lang="en-GB"/>
              <a:t>What is ultraviolet (UV) radiation?</a:t>
            </a:r>
            <a:endParaRPr/>
          </a:p>
        </p:txBody>
      </p:sp>
      <p:sp>
        <p:nvSpPr>
          <p:cNvPr id="359" name="Google Shape;359;p37"/>
          <p:cNvSpPr txBox="1"/>
          <p:nvPr/>
        </p:nvSpPr>
        <p:spPr>
          <a:xfrm>
            <a:off x="140668" y="784226"/>
            <a:ext cx="85428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Comic Sans MS"/>
              <a:buNone/>
            </a:pPr>
            <a:r>
              <a:rPr lang="en-GB" sz="2800">
                <a:solidFill>
                  <a:schemeClr val="dk1"/>
                </a:solidFill>
                <a:latin typeface="Calibri"/>
                <a:ea typeface="Calibri"/>
                <a:cs typeface="Calibri"/>
                <a:sym typeface="Calibri"/>
              </a:rPr>
              <a:t>Everyday we are exposed to ultraviolet (UV) radiation emitted by the Sun.</a:t>
            </a:r>
            <a:endParaRPr>
              <a:latin typeface="Calibri"/>
              <a:ea typeface="Calibri"/>
              <a:cs typeface="Calibri"/>
              <a:sym typeface="Calibri"/>
            </a:endParaRPr>
          </a:p>
        </p:txBody>
      </p:sp>
      <p:pic>
        <p:nvPicPr>
          <p:cNvPr descr="sun5" id="360" name="Google Shape;360;p37"/>
          <p:cNvPicPr preferRelativeResize="0"/>
          <p:nvPr/>
        </p:nvPicPr>
        <p:blipFill rotWithShape="1">
          <a:blip r:embed="rId3">
            <a:alphaModFix/>
          </a:blip>
          <a:srcRect b="3239" l="4724" r="4724" t="2159"/>
          <a:stretch/>
        </p:blipFill>
        <p:spPr>
          <a:xfrm>
            <a:off x="9232076" y="689965"/>
            <a:ext cx="2133600" cy="1949450"/>
          </a:xfrm>
          <a:prstGeom prst="rect">
            <a:avLst/>
          </a:prstGeom>
          <a:noFill/>
          <a:ln>
            <a:noFill/>
          </a:ln>
        </p:spPr>
      </p:pic>
      <p:sp>
        <p:nvSpPr>
          <p:cNvPr id="361" name="Google Shape;361;p37"/>
          <p:cNvSpPr txBox="1"/>
          <p:nvPr/>
        </p:nvSpPr>
        <p:spPr>
          <a:xfrm>
            <a:off x="269529" y="5113338"/>
            <a:ext cx="11078396"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Comic Sans MS"/>
              <a:buNone/>
            </a:pPr>
            <a:r>
              <a:rPr lang="en-GB" sz="2800">
                <a:solidFill>
                  <a:schemeClr val="dk1"/>
                </a:solidFill>
                <a:latin typeface="Calibri"/>
                <a:ea typeface="Calibri"/>
                <a:cs typeface="Calibri"/>
                <a:sym typeface="Calibri"/>
              </a:rPr>
              <a:t>The wavelength of UV radiation ranges from </a:t>
            </a:r>
            <a:r>
              <a:rPr b="1" lang="en-GB" sz="2800">
                <a:solidFill>
                  <a:schemeClr val="dk1"/>
                </a:solidFill>
                <a:latin typeface="Calibri"/>
                <a:ea typeface="Calibri"/>
                <a:cs typeface="Calibri"/>
                <a:sym typeface="Calibri"/>
              </a:rPr>
              <a:t>10 to 1000 nm.</a:t>
            </a:r>
            <a:endParaRPr b="1">
              <a:latin typeface="Calibri"/>
              <a:ea typeface="Calibri"/>
              <a:cs typeface="Calibri"/>
              <a:sym typeface="Calibri"/>
            </a:endParaRPr>
          </a:p>
        </p:txBody>
      </p:sp>
      <p:sp>
        <p:nvSpPr>
          <p:cNvPr id="362" name="Google Shape;362;p37"/>
          <p:cNvSpPr txBox="1"/>
          <p:nvPr/>
        </p:nvSpPr>
        <p:spPr>
          <a:xfrm>
            <a:off x="984766" y="6023654"/>
            <a:ext cx="9004358" cy="523220"/>
          </a:xfrm>
          <a:prstGeom prst="rect">
            <a:avLst/>
          </a:prstGeom>
          <a:noFill/>
          <a:ln>
            <a:noFill/>
          </a:ln>
        </p:spPr>
        <p:txBody>
          <a:bodyPr anchorCtr="0" anchor="t" bIns="45700" lIns="0" spcFirstLastPara="1" rIns="91425" wrap="square" tIns="45700">
            <a:spAutoFit/>
          </a:bodyPr>
          <a:lstStyle/>
          <a:p>
            <a:pPr indent="0" lvl="0" marL="0" marR="0" rtl="0" algn="l">
              <a:lnSpc>
                <a:spcPct val="100000"/>
              </a:lnSpc>
              <a:spcBef>
                <a:spcPts val="0"/>
              </a:spcBef>
              <a:spcAft>
                <a:spcPts val="0"/>
              </a:spcAft>
              <a:buClr>
                <a:schemeClr val="dk1"/>
              </a:buClr>
              <a:buSzPts val="2800"/>
              <a:buFont typeface="Comic Sans MS"/>
              <a:buNone/>
            </a:pPr>
            <a:r>
              <a:rPr lang="en-GB" sz="2800">
                <a:solidFill>
                  <a:schemeClr val="dk1"/>
                </a:solidFill>
                <a:latin typeface="Calibri"/>
                <a:ea typeface="Calibri"/>
                <a:cs typeface="Calibri"/>
                <a:sym typeface="Calibri"/>
              </a:rPr>
              <a:t>that bees, birds, butterflies and other insects can. </a:t>
            </a:r>
            <a:endParaRPr>
              <a:latin typeface="Calibri"/>
              <a:ea typeface="Calibri"/>
              <a:cs typeface="Calibri"/>
              <a:sym typeface="Calibri"/>
            </a:endParaRPr>
          </a:p>
        </p:txBody>
      </p:sp>
      <p:sp>
        <p:nvSpPr>
          <p:cNvPr id="363" name="Google Shape;363;p37"/>
          <p:cNvSpPr/>
          <p:nvPr/>
        </p:nvSpPr>
        <p:spPr>
          <a:xfrm>
            <a:off x="140677" y="1631950"/>
            <a:ext cx="9013311" cy="1338828"/>
          </a:xfrm>
          <a:prstGeom prst="rect">
            <a:avLst/>
          </a:prstGeom>
          <a:noFill/>
          <a:ln>
            <a:noFill/>
          </a:ln>
        </p:spPr>
        <p:txBody>
          <a:bodyPr anchorCtr="0" anchor="t" bIns="0" lIns="91425" spcFirstLastPara="1" rIns="0" wrap="square" tIns="45700">
            <a:noAutofit/>
          </a:bodyPr>
          <a:lstStyle/>
          <a:p>
            <a:pPr indent="0" lvl="0" marL="0" marR="0" rtl="0" algn="l">
              <a:spcBef>
                <a:spcPts val="0"/>
              </a:spcBef>
              <a:spcAft>
                <a:spcPts val="0"/>
              </a:spcAft>
              <a:buClr>
                <a:schemeClr val="dk1"/>
              </a:buClr>
              <a:buSzPts val="2800"/>
              <a:buFont typeface="Noto Sans Symbols"/>
              <a:buNone/>
            </a:pPr>
            <a:r>
              <a:rPr lang="en-GB" sz="2800">
                <a:solidFill>
                  <a:schemeClr val="dk1"/>
                </a:solidFill>
                <a:latin typeface="Calibri"/>
                <a:ea typeface="Calibri"/>
                <a:cs typeface="Calibri"/>
                <a:sym typeface="Calibri"/>
              </a:rPr>
              <a:t>UV radiation is </a:t>
            </a:r>
            <a:r>
              <a:rPr b="1" lang="en-GB" sz="2800">
                <a:solidFill>
                  <a:schemeClr val="dk1"/>
                </a:solidFill>
                <a:latin typeface="Calibri"/>
                <a:ea typeface="Calibri"/>
                <a:cs typeface="Calibri"/>
                <a:sym typeface="Calibri"/>
              </a:rPr>
              <a:t>high-energy</a:t>
            </a:r>
            <a:r>
              <a:rPr lang="en-GB" sz="2800">
                <a:solidFill>
                  <a:schemeClr val="dk1"/>
                </a:solidFill>
                <a:latin typeface="Calibri"/>
                <a:ea typeface="Calibri"/>
                <a:cs typeface="Calibri"/>
                <a:sym typeface="Calibri"/>
              </a:rPr>
              <a:t> electromagnetic radiation that is found between visible light and X-rays on the electromagnetic spectrum.</a:t>
            </a:r>
            <a:endParaRPr>
              <a:latin typeface="Calibri"/>
              <a:ea typeface="Calibri"/>
              <a:cs typeface="Calibri"/>
              <a:sym typeface="Calibri"/>
            </a:endParaRPr>
          </a:p>
        </p:txBody>
      </p:sp>
      <p:sp>
        <p:nvSpPr>
          <p:cNvPr id="364" name="Google Shape;364;p37"/>
          <p:cNvSpPr/>
          <p:nvPr/>
        </p:nvSpPr>
        <p:spPr>
          <a:xfrm>
            <a:off x="899576" y="5583848"/>
            <a:ext cx="12667061" cy="477054"/>
          </a:xfrm>
          <a:prstGeom prst="rect">
            <a:avLst/>
          </a:prstGeom>
          <a:noFill/>
          <a:ln>
            <a:noFill/>
          </a:ln>
        </p:spPr>
        <p:txBody>
          <a:bodyPr anchorCtr="0" anchor="t" bIns="0" lIns="91425" spcFirstLastPara="1" rIns="0" wrap="square" tIns="45700">
            <a:noAutofit/>
          </a:bodyPr>
          <a:lstStyle/>
          <a:p>
            <a:pPr indent="0" lvl="0" marL="0" marR="0" rtl="0" algn="l">
              <a:spcBef>
                <a:spcPts val="0"/>
              </a:spcBef>
              <a:spcAft>
                <a:spcPts val="0"/>
              </a:spcAft>
              <a:buClr>
                <a:schemeClr val="dk1"/>
              </a:buClr>
              <a:buSzPts val="2800"/>
              <a:buFont typeface="Noto Sans Symbols"/>
              <a:buNone/>
            </a:pPr>
            <a:r>
              <a:rPr lang="en-GB" sz="2800">
                <a:solidFill>
                  <a:schemeClr val="dk1"/>
                </a:solidFill>
                <a:latin typeface="Calibri"/>
                <a:ea typeface="Calibri"/>
                <a:cs typeface="Calibri"/>
                <a:sym typeface="Calibri"/>
              </a:rPr>
              <a:t>Humans cannot see UV radiation but research has shown</a:t>
            </a:r>
            <a:endParaRPr>
              <a:latin typeface="Calibri"/>
              <a:ea typeface="Calibri"/>
              <a:cs typeface="Calibri"/>
              <a:sym typeface="Calibri"/>
            </a:endParaRPr>
          </a:p>
        </p:txBody>
      </p:sp>
      <p:grpSp>
        <p:nvGrpSpPr>
          <p:cNvPr id="365" name="Google Shape;365;p37"/>
          <p:cNvGrpSpPr/>
          <p:nvPr/>
        </p:nvGrpSpPr>
        <p:grpSpPr>
          <a:xfrm>
            <a:off x="1652589" y="2881313"/>
            <a:ext cx="8978922" cy="2348536"/>
            <a:chOff x="65" y="1796"/>
            <a:chExt cx="5736" cy="1500"/>
          </a:xfrm>
        </p:grpSpPr>
        <p:sp>
          <p:nvSpPr>
            <p:cNvPr id="366" name="Google Shape;366;p37"/>
            <p:cNvSpPr/>
            <p:nvPr/>
          </p:nvSpPr>
          <p:spPr>
            <a:xfrm>
              <a:off x="66" y="1796"/>
              <a:ext cx="5700" cy="1500"/>
            </a:xfrm>
            <a:prstGeom prst="rect">
              <a:avLst/>
            </a:prstGeom>
            <a:solidFill>
              <a:srgbClr val="FFFFCC"/>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mic Sans MS"/>
                <a:ea typeface="Comic Sans MS"/>
                <a:cs typeface="Comic Sans MS"/>
                <a:sym typeface="Comic Sans MS"/>
              </a:endParaRPr>
            </a:p>
          </p:txBody>
        </p:sp>
        <p:pic>
          <p:nvPicPr>
            <p:cNvPr descr="PS_gfx_emscale" id="367" name="Google Shape;367;p37"/>
            <p:cNvPicPr preferRelativeResize="0"/>
            <p:nvPr/>
          </p:nvPicPr>
          <p:blipFill rotWithShape="1">
            <a:blip r:embed="rId4">
              <a:alphaModFix/>
            </a:blip>
            <a:srcRect b="0" l="13417" r="12045" t="0"/>
            <a:stretch/>
          </p:blipFill>
          <p:spPr>
            <a:xfrm>
              <a:off x="65" y="1994"/>
              <a:ext cx="5736" cy="918"/>
            </a:xfrm>
            <a:prstGeom prst="rect">
              <a:avLst/>
            </a:prstGeom>
            <a:noFill/>
            <a:ln>
              <a:noFill/>
            </a:ln>
          </p:spPr>
        </p:pic>
        <p:sp>
          <p:nvSpPr>
            <p:cNvPr id="368" name="Google Shape;368;p37"/>
            <p:cNvSpPr txBox="1"/>
            <p:nvPr/>
          </p:nvSpPr>
          <p:spPr>
            <a:xfrm>
              <a:off x="2148" y="1811"/>
              <a:ext cx="900" cy="600"/>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CC00CC"/>
                </a:buClr>
                <a:buSzPts val="2800"/>
                <a:buFont typeface="Comic Sans MS"/>
                <a:buNone/>
              </a:pPr>
              <a:r>
                <a:rPr b="1" lang="en-GB" sz="2800">
                  <a:solidFill>
                    <a:srgbClr val="CC00CC"/>
                  </a:solidFill>
                  <a:latin typeface="Comic Sans MS"/>
                  <a:ea typeface="Comic Sans MS"/>
                  <a:cs typeface="Comic Sans MS"/>
                  <a:sym typeface="Comic Sans MS"/>
                </a:rPr>
                <a:t>ultra-violet</a:t>
              </a:r>
              <a:endParaRPr/>
            </a:p>
          </p:txBody>
        </p:sp>
        <p:sp>
          <p:nvSpPr>
            <p:cNvPr id="369" name="Google Shape;369;p37"/>
            <p:cNvSpPr txBox="1"/>
            <p:nvPr/>
          </p:nvSpPr>
          <p:spPr>
            <a:xfrm>
              <a:off x="940" y="1931"/>
              <a:ext cx="12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Comic Sans MS"/>
                <a:buNone/>
              </a:pPr>
              <a:r>
                <a:rPr b="1" lang="en-GB" sz="2800">
                  <a:solidFill>
                    <a:schemeClr val="dk1"/>
                  </a:solidFill>
                  <a:latin typeface="Comic Sans MS"/>
                  <a:ea typeface="Comic Sans MS"/>
                  <a:cs typeface="Comic Sans MS"/>
                  <a:sym typeface="Comic Sans MS"/>
                </a:rPr>
                <a:t>infrared</a:t>
              </a:r>
              <a:endParaRPr/>
            </a:p>
          </p:txBody>
        </p:sp>
        <p:sp>
          <p:nvSpPr>
            <p:cNvPr id="370" name="Google Shape;370;p37"/>
            <p:cNvSpPr txBox="1"/>
            <p:nvPr/>
          </p:nvSpPr>
          <p:spPr>
            <a:xfrm>
              <a:off x="3130" y="1933"/>
              <a:ext cx="9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Comic Sans MS"/>
                <a:buNone/>
              </a:pPr>
              <a:r>
                <a:rPr b="1" lang="en-GB" sz="2800">
                  <a:solidFill>
                    <a:schemeClr val="dk1"/>
                  </a:solidFill>
                  <a:latin typeface="Comic Sans MS"/>
                  <a:ea typeface="Comic Sans MS"/>
                  <a:cs typeface="Comic Sans MS"/>
                  <a:sym typeface="Comic Sans MS"/>
                </a:rPr>
                <a:t>X-rays </a:t>
              </a:r>
              <a:endParaRPr/>
            </a:p>
          </p:txBody>
        </p:sp>
        <p:sp>
          <p:nvSpPr>
            <p:cNvPr id="371" name="Google Shape;371;p37"/>
            <p:cNvSpPr txBox="1"/>
            <p:nvPr/>
          </p:nvSpPr>
          <p:spPr>
            <a:xfrm>
              <a:off x="559" y="2637"/>
              <a:ext cx="3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9900CC"/>
                </a:buClr>
                <a:buSzPts val="1800"/>
                <a:buFont typeface="Comic Sans MS"/>
                <a:buNone/>
              </a:pPr>
              <a:r>
                <a:rPr b="1" lang="en-GB" sz="1800">
                  <a:solidFill>
                    <a:srgbClr val="9900CC"/>
                  </a:solidFill>
                  <a:latin typeface="Comic Sans MS"/>
                  <a:ea typeface="Comic Sans MS"/>
                  <a:cs typeface="Comic Sans MS"/>
                  <a:sym typeface="Comic Sans MS"/>
                </a:rPr>
                <a:t>10</a:t>
              </a:r>
              <a:r>
                <a:rPr b="1" baseline="30000" lang="en-GB" sz="1800">
                  <a:solidFill>
                    <a:srgbClr val="9900CC"/>
                  </a:solidFill>
                  <a:latin typeface="Comic Sans MS"/>
                  <a:ea typeface="Comic Sans MS"/>
                  <a:cs typeface="Comic Sans MS"/>
                  <a:sym typeface="Comic Sans MS"/>
                </a:rPr>
                <a:t>-3</a:t>
              </a:r>
              <a:endParaRPr b="1" sz="1800">
                <a:solidFill>
                  <a:srgbClr val="9900CC"/>
                </a:solidFill>
                <a:latin typeface="Comic Sans MS"/>
                <a:ea typeface="Comic Sans MS"/>
                <a:cs typeface="Comic Sans MS"/>
                <a:sym typeface="Comic Sans MS"/>
              </a:endParaRPr>
            </a:p>
          </p:txBody>
        </p:sp>
        <p:sp>
          <p:nvSpPr>
            <p:cNvPr id="372" name="Google Shape;372;p37"/>
            <p:cNvSpPr txBox="1"/>
            <p:nvPr/>
          </p:nvSpPr>
          <p:spPr>
            <a:xfrm>
              <a:off x="3319" y="2637"/>
              <a:ext cx="3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9900CC"/>
                </a:buClr>
                <a:buSzPts val="1800"/>
                <a:buFont typeface="Comic Sans MS"/>
                <a:buNone/>
              </a:pPr>
              <a:r>
                <a:rPr b="1" lang="en-GB" sz="1800">
                  <a:solidFill>
                    <a:srgbClr val="9900CC"/>
                  </a:solidFill>
                  <a:latin typeface="Comic Sans MS"/>
                  <a:ea typeface="Comic Sans MS"/>
                  <a:cs typeface="Comic Sans MS"/>
                  <a:sym typeface="Comic Sans MS"/>
                </a:rPr>
                <a:t>10</a:t>
              </a:r>
              <a:r>
                <a:rPr b="1" baseline="30000" lang="en-GB" sz="1800">
                  <a:solidFill>
                    <a:srgbClr val="9900CC"/>
                  </a:solidFill>
                  <a:latin typeface="Comic Sans MS"/>
                  <a:ea typeface="Comic Sans MS"/>
                  <a:cs typeface="Comic Sans MS"/>
                  <a:sym typeface="Comic Sans MS"/>
                </a:rPr>
                <a:t>-9</a:t>
              </a:r>
              <a:endParaRPr b="1" sz="1800">
                <a:solidFill>
                  <a:srgbClr val="9900CC"/>
                </a:solidFill>
                <a:latin typeface="Comic Sans MS"/>
                <a:ea typeface="Comic Sans MS"/>
                <a:cs typeface="Comic Sans MS"/>
                <a:sym typeface="Comic Sans MS"/>
              </a:endParaRPr>
            </a:p>
          </p:txBody>
        </p:sp>
        <p:sp>
          <p:nvSpPr>
            <p:cNvPr id="373" name="Google Shape;373;p37"/>
            <p:cNvSpPr txBox="1"/>
            <p:nvPr/>
          </p:nvSpPr>
          <p:spPr>
            <a:xfrm>
              <a:off x="1784" y="2637"/>
              <a:ext cx="600" cy="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9900CC"/>
                </a:buClr>
                <a:buSzPts val="1800"/>
                <a:buFont typeface="Comic Sans MS"/>
                <a:buNone/>
              </a:pPr>
              <a:r>
                <a:rPr b="1" lang="en-GB" sz="1800">
                  <a:solidFill>
                    <a:srgbClr val="9900CC"/>
                  </a:solidFill>
                  <a:latin typeface="Comic Sans MS"/>
                  <a:ea typeface="Comic Sans MS"/>
                  <a:cs typeface="Comic Sans MS"/>
                  <a:sym typeface="Comic Sans MS"/>
                </a:rPr>
                <a:t>10</a:t>
              </a:r>
              <a:r>
                <a:rPr b="1" baseline="30000" lang="en-GB" sz="1800">
                  <a:solidFill>
                    <a:srgbClr val="9900CC"/>
                  </a:solidFill>
                  <a:latin typeface="Comic Sans MS"/>
                  <a:ea typeface="Comic Sans MS"/>
                  <a:cs typeface="Comic Sans MS"/>
                  <a:sym typeface="Comic Sans MS"/>
                </a:rPr>
                <a:t>-6</a:t>
              </a:r>
              <a:endParaRPr b="1" sz="1800">
                <a:solidFill>
                  <a:srgbClr val="9900CC"/>
                </a:solidFill>
                <a:latin typeface="Comic Sans MS"/>
                <a:ea typeface="Comic Sans MS"/>
                <a:cs typeface="Comic Sans MS"/>
                <a:sym typeface="Comic Sans MS"/>
              </a:endParaRPr>
            </a:p>
          </p:txBody>
        </p:sp>
        <p:sp>
          <p:nvSpPr>
            <p:cNvPr id="374" name="Google Shape;374;p37"/>
            <p:cNvSpPr txBox="1"/>
            <p:nvPr/>
          </p:nvSpPr>
          <p:spPr>
            <a:xfrm>
              <a:off x="4706" y="2637"/>
              <a:ext cx="6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9900CC"/>
                </a:buClr>
                <a:buSzPts val="1800"/>
                <a:buFont typeface="Comic Sans MS"/>
                <a:buNone/>
              </a:pPr>
              <a:r>
                <a:rPr b="1" lang="en-GB" sz="1800">
                  <a:solidFill>
                    <a:srgbClr val="9900CC"/>
                  </a:solidFill>
                  <a:latin typeface="Comic Sans MS"/>
                  <a:ea typeface="Comic Sans MS"/>
                  <a:cs typeface="Comic Sans MS"/>
                  <a:sym typeface="Comic Sans MS"/>
                </a:rPr>
                <a:t>10</a:t>
              </a:r>
              <a:r>
                <a:rPr b="1" baseline="30000" lang="en-GB" sz="1800">
                  <a:solidFill>
                    <a:srgbClr val="9900CC"/>
                  </a:solidFill>
                  <a:latin typeface="Comic Sans MS"/>
                  <a:ea typeface="Comic Sans MS"/>
                  <a:cs typeface="Comic Sans MS"/>
                  <a:sym typeface="Comic Sans MS"/>
                </a:rPr>
                <a:t>-12</a:t>
              </a:r>
              <a:endParaRPr b="1" sz="1800">
                <a:solidFill>
                  <a:srgbClr val="9900CC"/>
                </a:solidFill>
                <a:latin typeface="Comic Sans MS"/>
                <a:ea typeface="Comic Sans MS"/>
                <a:cs typeface="Comic Sans MS"/>
                <a:sym typeface="Comic Sans MS"/>
              </a:endParaRPr>
            </a:p>
          </p:txBody>
        </p:sp>
        <p:sp>
          <p:nvSpPr>
            <p:cNvPr id="375" name="Google Shape;375;p37"/>
            <p:cNvSpPr txBox="1"/>
            <p:nvPr/>
          </p:nvSpPr>
          <p:spPr>
            <a:xfrm>
              <a:off x="4057" y="1807"/>
              <a:ext cx="900" cy="600"/>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chemeClr val="dk1"/>
                </a:buClr>
                <a:buSzPts val="2800"/>
                <a:buFont typeface="Comic Sans MS"/>
                <a:buNone/>
              </a:pPr>
              <a:r>
                <a:rPr b="1" lang="en-GB" sz="2800">
                  <a:solidFill>
                    <a:schemeClr val="dk1"/>
                  </a:solidFill>
                  <a:latin typeface="Comic Sans MS"/>
                  <a:ea typeface="Comic Sans MS"/>
                  <a:cs typeface="Comic Sans MS"/>
                  <a:sym typeface="Comic Sans MS"/>
                </a:rPr>
                <a:t>gamma</a:t>
              </a:r>
              <a:endParaRPr/>
            </a:p>
            <a:p>
              <a:pPr indent="0" lvl="0" marL="0" marR="0" rtl="0" algn="ctr">
                <a:lnSpc>
                  <a:spcPct val="80000"/>
                </a:lnSpc>
                <a:spcBef>
                  <a:spcPts val="0"/>
                </a:spcBef>
                <a:spcAft>
                  <a:spcPts val="0"/>
                </a:spcAft>
                <a:buClr>
                  <a:schemeClr val="dk1"/>
                </a:buClr>
                <a:buSzPts val="2800"/>
                <a:buFont typeface="Comic Sans MS"/>
                <a:buNone/>
              </a:pPr>
              <a:r>
                <a:rPr b="1" lang="en-GB" sz="2800">
                  <a:solidFill>
                    <a:schemeClr val="dk1"/>
                  </a:solidFill>
                  <a:latin typeface="Comic Sans MS"/>
                  <a:ea typeface="Comic Sans MS"/>
                  <a:cs typeface="Comic Sans MS"/>
                  <a:sym typeface="Comic Sans MS"/>
                </a:rPr>
                <a:t>rays</a:t>
              </a:r>
              <a:endParaRPr/>
            </a:p>
          </p:txBody>
        </p:sp>
        <p:sp>
          <p:nvSpPr>
            <p:cNvPr id="376" name="Google Shape;376;p37"/>
            <p:cNvSpPr txBox="1"/>
            <p:nvPr/>
          </p:nvSpPr>
          <p:spPr>
            <a:xfrm>
              <a:off x="1102" y="2885"/>
              <a:ext cx="27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9900CC"/>
                </a:buClr>
                <a:buSzPts val="1800"/>
                <a:buFont typeface="Comic Sans MS"/>
                <a:buNone/>
              </a:pPr>
              <a:r>
                <a:rPr b="1" lang="en-GB" sz="1800">
                  <a:solidFill>
                    <a:srgbClr val="9900CC"/>
                  </a:solidFill>
                  <a:latin typeface="Comic Sans MS"/>
                  <a:ea typeface="Comic Sans MS"/>
                  <a:cs typeface="Comic Sans MS"/>
                  <a:sym typeface="Comic Sans MS"/>
                </a:rPr>
                <a:t>wavelength of electromagnetic waves </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3"/>
                                        </p:tgtEl>
                                        <p:attrNameLst>
                                          <p:attrName>style.visibility</p:attrName>
                                        </p:attrNameLst>
                                      </p:cBhvr>
                                      <p:to>
                                        <p:strVal val="visible"/>
                                      </p:to>
                                    </p:set>
                                    <p:animEffect filter="fade" transition="in">
                                      <p:cBhvr>
                                        <p:cTn dur="500"/>
                                        <p:tgtEl>
                                          <p:spTgt spid="36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1"/>
                                        </p:tgtEl>
                                        <p:attrNameLst>
                                          <p:attrName>style.visibility</p:attrName>
                                        </p:attrNameLst>
                                      </p:cBhvr>
                                      <p:to>
                                        <p:strVal val="visible"/>
                                      </p:to>
                                    </p:set>
                                    <p:animEffect filter="fade" transition="in">
                                      <p:cBhvr>
                                        <p:cTn dur="500"/>
                                        <p:tgtEl>
                                          <p:spTgt spid="36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4"/>
                                        </p:tgtEl>
                                        <p:attrNameLst>
                                          <p:attrName>style.visibility</p:attrName>
                                        </p:attrNameLst>
                                      </p:cBhvr>
                                      <p:to>
                                        <p:strVal val="visible"/>
                                      </p:to>
                                    </p:set>
                                    <p:animEffect filter="fade" transition="in">
                                      <p:cBhvr>
                                        <p:cTn dur="500"/>
                                        <p:tgtEl>
                                          <p:spTgt spid="364"/>
                                        </p:tgtEl>
                                      </p:cBhvr>
                                    </p:animEffect>
                                  </p:childTnLst>
                                </p:cTn>
                              </p:par>
                              <p:par>
                                <p:cTn fill="hold" nodeType="withEffect" presetClass="entr" presetID="10" presetSubtype="0">
                                  <p:stCondLst>
                                    <p:cond delay="0"/>
                                  </p:stCondLst>
                                  <p:childTnLst>
                                    <p:set>
                                      <p:cBhvr>
                                        <p:cTn dur="1" fill="hold">
                                          <p:stCondLst>
                                            <p:cond delay="0"/>
                                          </p:stCondLst>
                                        </p:cTn>
                                        <p:tgtEl>
                                          <p:spTgt spid="362"/>
                                        </p:tgtEl>
                                        <p:attrNameLst>
                                          <p:attrName>style.visibility</p:attrName>
                                        </p:attrNameLst>
                                      </p:cBhvr>
                                      <p:to>
                                        <p:strVal val="visible"/>
                                      </p:to>
                                    </p:set>
                                    <p:animEffect filter="fade" transition="in">
                                      <p:cBhvr>
                                        <p:cTn dur="500"/>
                                        <p:tgtEl>
                                          <p:spTgt spid="36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38"/>
          <p:cNvSpPr txBox="1"/>
          <p:nvPr>
            <p:ph type="title"/>
          </p:nvPr>
        </p:nvSpPr>
        <p:spPr>
          <a:xfrm>
            <a:off x="348177" y="-287089"/>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omic Sans MS"/>
              <a:buNone/>
            </a:pPr>
            <a:r>
              <a:rPr lang="en-GB"/>
              <a:t>How is UV light produced?</a:t>
            </a:r>
            <a:endParaRPr/>
          </a:p>
        </p:txBody>
      </p:sp>
      <p:sp>
        <p:nvSpPr>
          <p:cNvPr id="383" name="Google Shape;383;p38"/>
          <p:cNvSpPr txBox="1"/>
          <p:nvPr/>
        </p:nvSpPr>
        <p:spPr>
          <a:xfrm>
            <a:off x="348177" y="784226"/>
            <a:ext cx="68685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Comic Sans MS"/>
              <a:buNone/>
            </a:pPr>
            <a:r>
              <a:rPr lang="en-GB" sz="2800">
                <a:solidFill>
                  <a:schemeClr val="dk1"/>
                </a:solidFill>
                <a:latin typeface="Calibri"/>
                <a:ea typeface="Calibri"/>
                <a:cs typeface="Calibri"/>
                <a:sym typeface="Calibri"/>
              </a:rPr>
              <a:t>Ultraviolet radiation is emitted by very hot objects, such as the Sun.</a:t>
            </a:r>
            <a:endParaRPr>
              <a:latin typeface="Calibri"/>
              <a:ea typeface="Calibri"/>
              <a:cs typeface="Calibri"/>
              <a:sym typeface="Calibri"/>
            </a:endParaRPr>
          </a:p>
        </p:txBody>
      </p:sp>
      <p:sp>
        <p:nvSpPr>
          <p:cNvPr id="384" name="Google Shape;384;p38"/>
          <p:cNvSpPr txBox="1"/>
          <p:nvPr/>
        </p:nvSpPr>
        <p:spPr>
          <a:xfrm>
            <a:off x="5675314" y="3321050"/>
            <a:ext cx="6471300" cy="908100"/>
          </a:xfrm>
          <a:prstGeom prst="rect">
            <a:avLst/>
          </a:prstGeom>
          <a:noFill/>
          <a:ln>
            <a:noFill/>
          </a:ln>
        </p:spPr>
        <p:txBody>
          <a:bodyPr anchorCtr="0" anchor="t" bIns="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Comic Sans MS"/>
              <a:buNone/>
            </a:pPr>
            <a:r>
              <a:rPr lang="en-GB" sz="2800">
                <a:solidFill>
                  <a:schemeClr val="dk1"/>
                </a:solidFill>
                <a:latin typeface="Calibri"/>
                <a:ea typeface="Calibri"/>
                <a:cs typeface="Calibri"/>
                <a:sym typeface="Calibri"/>
              </a:rPr>
              <a:t>Some gases emit ultraviolet radiation when an electric current is passed through them. </a:t>
            </a:r>
            <a:endParaRPr>
              <a:latin typeface="Calibri"/>
              <a:ea typeface="Calibri"/>
              <a:cs typeface="Calibri"/>
              <a:sym typeface="Calibri"/>
            </a:endParaRPr>
          </a:p>
        </p:txBody>
      </p:sp>
      <p:pic>
        <p:nvPicPr>
          <p:cNvPr descr="9974274" id="385" name="Google Shape;385;p38"/>
          <p:cNvPicPr preferRelativeResize="0"/>
          <p:nvPr/>
        </p:nvPicPr>
        <p:blipFill rotWithShape="1">
          <a:blip r:embed="rId3">
            <a:alphaModFix/>
          </a:blip>
          <a:srcRect b="0" l="0" r="0" t="0"/>
          <a:stretch/>
        </p:blipFill>
        <p:spPr>
          <a:xfrm>
            <a:off x="7805617" y="139296"/>
            <a:ext cx="4236328" cy="2823546"/>
          </a:xfrm>
          <a:prstGeom prst="rect">
            <a:avLst/>
          </a:prstGeom>
          <a:noFill/>
          <a:ln>
            <a:noFill/>
          </a:ln>
        </p:spPr>
      </p:pic>
      <p:sp>
        <p:nvSpPr>
          <p:cNvPr id="386" name="Google Shape;386;p38"/>
          <p:cNvSpPr/>
          <p:nvPr/>
        </p:nvSpPr>
        <p:spPr>
          <a:xfrm>
            <a:off x="348177" y="1677444"/>
            <a:ext cx="7355451" cy="1338828"/>
          </a:xfrm>
          <a:prstGeom prst="rect">
            <a:avLst/>
          </a:prstGeom>
          <a:noFill/>
          <a:ln>
            <a:noFill/>
          </a:ln>
        </p:spPr>
        <p:txBody>
          <a:bodyPr anchorCtr="0" anchor="t" bIns="0" lIns="91425" spcFirstLastPara="1" rIns="0" wrap="square" tIns="45700">
            <a:noAutofit/>
          </a:bodyPr>
          <a:lstStyle/>
          <a:p>
            <a:pPr indent="0" lvl="0" marL="0" marR="0" rtl="0" algn="l">
              <a:lnSpc>
                <a:spcPct val="100000"/>
              </a:lnSpc>
              <a:spcBef>
                <a:spcPts val="0"/>
              </a:spcBef>
              <a:spcAft>
                <a:spcPts val="0"/>
              </a:spcAft>
              <a:buClr>
                <a:schemeClr val="dk1"/>
              </a:buClr>
              <a:buSzPts val="2800"/>
              <a:buFont typeface="Comic Sans MS"/>
              <a:buNone/>
            </a:pPr>
            <a:r>
              <a:rPr lang="en-GB" sz="2800">
                <a:solidFill>
                  <a:schemeClr val="dk1"/>
                </a:solidFill>
                <a:latin typeface="Calibri"/>
                <a:ea typeface="Calibri"/>
                <a:cs typeface="Calibri"/>
                <a:sym typeface="Calibri"/>
              </a:rPr>
              <a:t>Electrical sparks and arc welding also reach temperatures that are high enough to produce ultraviolet radiation.  </a:t>
            </a:r>
            <a:endParaRPr>
              <a:latin typeface="Calibri"/>
              <a:ea typeface="Calibri"/>
              <a:cs typeface="Calibri"/>
              <a:sym typeface="Calibri"/>
            </a:endParaRPr>
          </a:p>
        </p:txBody>
      </p:sp>
      <p:sp>
        <p:nvSpPr>
          <p:cNvPr id="387" name="Google Shape;387;p38"/>
          <p:cNvSpPr/>
          <p:nvPr/>
        </p:nvSpPr>
        <p:spPr>
          <a:xfrm>
            <a:off x="5680075" y="4598989"/>
            <a:ext cx="6361870" cy="1769715"/>
          </a:xfrm>
          <a:prstGeom prst="rect">
            <a:avLst/>
          </a:prstGeom>
          <a:noFill/>
          <a:ln>
            <a:noFill/>
          </a:ln>
        </p:spPr>
        <p:txBody>
          <a:bodyPr anchorCtr="0" anchor="t" bIns="0" lIns="91425" spcFirstLastPara="1" rIns="0" wrap="square" tIns="45700">
            <a:noAutofit/>
          </a:bodyPr>
          <a:lstStyle/>
          <a:p>
            <a:pPr indent="0" lvl="0" marL="0" marR="0" rtl="0" algn="l">
              <a:lnSpc>
                <a:spcPct val="100000"/>
              </a:lnSpc>
              <a:spcBef>
                <a:spcPts val="0"/>
              </a:spcBef>
              <a:spcAft>
                <a:spcPts val="0"/>
              </a:spcAft>
              <a:buClr>
                <a:schemeClr val="dk1"/>
              </a:buClr>
              <a:buSzPts val="2800"/>
              <a:buFont typeface="Comic Sans MS"/>
              <a:buNone/>
            </a:pPr>
            <a:r>
              <a:rPr lang="en-GB" sz="2800">
                <a:solidFill>
                  <a:schemeClr val="dk1"/>
                </a:solidFill>
                <a:latin typeface="Calibri"/>
                <a:ea typeface="Calibri"/>
                <a:cs typeface="Calibri"/>
                <a:sym typeface="Calibri"/>
              </a:rPr>
              <a:t>Tanning beds and the ‘black lights’ seen in Zone-3 use ultraviolet rays</a:t>
            </a:r>
            <a:endParaRPr>
              <a:latin typeface="Calibri"/>
              <a:ea typeface="Calibri"/>
              <a:cs typeface="Calibri"/>
              <a:sym typeface="Calibri"/>
            </a:endParaRPr>
          </a:p>
        </p:txBody>
      </p:sp>
      <p:pic>
        <p:nvPicPr>
          <p:cNvPr id="388" name="Google Shape;388;p38"/>
          <p:cNvPicPr preferRelativeResize="0"/>
          <p:nvPr/>
        </p:nvPicPr>
        <p:blipFill>
          <a:blip r:embed="rId4">
            <a:alphaModFix/>
          </a:blip>
          <a:stretch>
            <a:fillRect/>
          </a:stretch>
        </p:blipFill>
        <p:spPr>
          <a:xfrm>
            <a:off x="152400" y="3168672"/>
            <a:ext cx="5308710" cy="353692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6"/>
                                        </p:tgtEl>
                                        <p:attrNameLst>
                                          <p:attrName>style.visibility</p:attrName>
                                        </p:attrNameLst>
                                      </p:cBhvr>
                                      <p:to>
                                        <p:strVal val="visible"/>
                                      </p:to>
                                    </p:set>
                                    <p:animEffect filter="fade" transition="in">
                                      <p:cBhvr>
                                        <p:cTn dur="500"/>
                                        <p:tgtEl>
                                          <p:spTgt spid="386"/>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85"/>
                                        </p:tgtEl>
                                        <p:attrNameLst>
                                          <p:attrName>style.visibility</p:attrName>
                                        </p:attrNameLst>
                                      </p:cBhvr>
                                      <p:to>
                                        <p:strVal val="visible"/>
                                      </p:to>
                                    </p:set>
                                    <p:animEffect filter="fade" transition="in">
                                      <p:cBhvr>
                                        <p:cTn dur="500"/>
                                        <p:tgtEl>
                                          <p:spTgt spid="38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4"/>
                                        </p:tgtEl>
                                        <p:attrNameLst>
                                          <p:attrName>style.visibility</p:attrName>
                                        </p:attrNameLst>
                                      </p:cBhvr>
                                      <p:to>
                                        <p:strVal val="visible"/>
                                      </p:to>
                                    </p:set>
                                    <p:animEffect filter="fade" transition="in">
                                      <p:cBhvr>
                                        <p:cTn dur="500"/>
                                        <p:tgtEl>
                                          <p:spTgt spid="38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7"/>
                                        </p:tgtEl>
                                        <p:attrNameLst>
                                          <p:attrName>style.visibility</p:attrName>
                                        </p:attrNameLst>
                                      </p:cBhvr>
                                      <p:to>
                                        <p:strVal val="visible"/>
                                      </p:to>
                                    </p:set>
                                    <p:animEffect filter="fade" transition="in">
                                      <p:cBhvr>
                                        <p:cTn dur="500"/>
                                        <p:tgtEl>
                                          <p:spTgt spid="38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39"/>
          <p:cNvSpPr txBox="1"/>
          <p:nvPr>
            <p:ph type="title"/>
          </p:nvPr>
        </p:nvSpPr>
        <p:spPr>
          <a:xfrm>
            <a:off x="613117" y="-2699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omic Sans MS"/>
              <a:buNone/>
            </a:pPr>
            <a:r>
              <a:rPr lang="en-GB"/>
              <a:t>What is ultraviolet radiation used for?</a:t>
            </a:r>
            <a:endParaRPr/>
          </a:p>
        </p:txBody>
      </p:sp>
      <p:sp>
        <p:nvSpPr>
          <p:cNvPr id="395" name="Google Shape;395;p39"/>
          <p:cNvSpPr txBox="1"/>
          <p:nvPr/>
        </p:nvSpPr>
        <p:spPr>
          <a:xfrm>
            <a:off x="182880" y="873125"/>
            <a:ext cx="7824600" cy="1893300"/>
          </a:xfrm>
          <a:prstGeom prst="rect">
            <a:avLst/>
          </a:prstGeom>
          <a:noFill/>
          <a:ln>
            <a:noFill/>
          </a:ln>
        </p:spPr>
        <p:txBody>
          <a:bodyPr anchorCtr="0" anchor="t" bIns="0" lIns="91425" spcFirstLastPara="1" rIns="0" wrap="square" tIns="45700">
            <a:spAutoFit/>
          </a:bodyPr>
          <a:lstStyle/>
          <a:p>
            <a:pPr indent="-355600" lvl="0" marL="355600" marR="0" rtl="0" algn="l">
              <a:lnSpc>
                <a:spcPct val="100000"/>
              </a:lnSpc>
              <a:spcBef>
                <a:spcPts val="0"/>
              </a:spcBef>
              <a:spcAft>
                <a:spcPts val="0"/>
              </a:spcAft>
              <a:buNone/>
            </a:pPr>
            <a:r>
              <a:rPr b="1" lang="en-GB" sz="2400">
                <a:solidFill>
                  <a:srgbClr val="CC00CC"/>
                </a:solidFill>
                <a:latin typeface="Calibri"/>
                <a:ea typeface="Calibri"/>
                <a:cs typeface="Calibri"/>
                <a:sym typeface="Calibri"/>
              </a:rPr>
              <a:t>Bright clothing</a:t>
            </a:r>
            <a:endParaRPr>
              <a:latin typeface="Calibri"/>
              <a:ea typeface="Calibri"/>
              <a:cs typeface="Calibri"/>
              <a:sym typeface="Calibri"/>
            </a:endParaRPr>
          </a:p>
          <a:p>
            <a:pPr indent="-355600" lvl="0" marL="355600" marR="0" rtl="0" algn="l">
              <a:lnSpc>
                <a:spcPct val="100000"/>
              </a:lnSpc>
              <a:spcBef>
                <a:spcPts val="0"/>
              </a:spcBef>
              <a:spcAft>
                <a:spcPts val="0"/>
              </a:spcAft>
              <a:buClr>
                <a:srgbClr val="000066"/>
              </a:buClr>
              <a:buSzPts val="2400"/>
              <a:buFont typeface="Noto Sans Symbols"/>
              <a:buNone/>
            </a:pPr>
            <a:r>
              <a:rPr lang="en-GB" sz="2400">
                <a:solidFill>
                  <a:srgbClr val="000066"/>
                </a:solidFill>
                <a:latin typeface="Calibri"/>
                <a:ea typeface="Calibri"/>
                <a:cs typeface="Calibri"/>
                <a:sym typeface="Calibri"/>
              </a:rPr>
              <a:t>	Certain chemicals can absorb UV radiation and then re-emit it as visible light. Some washing powders use these to make white material appear whiter in sunlight. Such chemicals are also used in safety clothing.</a:t>
            </a:r>
            <a:endParaRPr>
              <a:latin typeface="Calibri"/>
              <a:ea typeface="Calibri"/>
              <a:cs typeface="Calibri"/>
              <a:sym typeface="Calibri"/>
            </a:endParaRPr>
          </a:p>
        </p:txBody>
      </p:sp>
      <p:sp>
        <p:nvSpPr>
          <p:cNvPr id="396" name="Google Shape;396;p39"/>
          <p:cNvSpPr txBox="1"/>
          <p:nvPr/>
        </p:nvSpPr>
        <p:spPr>
          <a:xfrm>
            <a:off x="182880" y="4999067"/>
            <a:ext cx="8657100" cy="1154400"/>
          </a:xfrm>
          <a:prstGeom prst="rect">
            <a:avLst/>
          </a:prstGeom>
          <a:noFill/>
          <a:ln>
            <a:noFill/>
          </a:ln>
        </p:spPr>
        <p:txBody>
          <a:bodyPr anchorCtr="0" anchor="t" bIns="0" lIns="91425" spcFirstLastPara="1" rIns="0" wrap="square" tIns="45700">
            <a:spAutoFit/>
          </a:bodyPr>
          <a:lstStyle/>
          <a:p>
            <a:pPr indent="-355600" lvl="0" marL="355600" marR="0" rtl="0" algn="l">
              <a:lnSpc>
                <a:spcPct val="100000"/>
              </a:lnSpc>
              <a:spcBef>
                <a:spcPts val="0"/>
              </a:spcBef>
              <a:spcAft>
                <a:spcPts val="0"/>
              </a:spcAft>
              <a:buNone/>
            </a:pPr>
            <a:r>
              <a:rPr b="1" lang="en-GB" sz="2400">
                <a:solidFill>
                  <a:srgbClr val="CC00CC"/>
                </a:solidFill>
                <a:latin typeface="Calibri"/>
                <a:ea typeface="Calibri"/>
                <a:cs typeface="Calibri"/>
                <a:sym typeface="Calibri"/>
              </a:rPr>
              <a:t>Tanning</a:t>
            </a:r>
            <a:endParaRPr>
              <a:latin typeface="Calibri"/>
              <a:ea typeface="Calibri"/>
              <a:cs typeface="Calibri"/>
              <a:sym typeface="Calibri"/>
            </a:endParaRPr>
          </a:p>
          <a:p>
            <a:pPr indent="-355600" lvl="0" marL="355600" marR="0" rtl="0" algn="l">
              <a:lnSpc>
                <a:spcPct val="100000"/>
              </a:lnSpc>
              <a:spcBef>
                <a:spcPts val="0"/>
              </a:spcBef>
              <a:spcAft>
                <a:spcPts val="0"/>
              </a:spcAft>
              <a:buClr>
                <a:srgbClr val="000066"/>
              </a:buClr>
              <a:buSzPts val="2400"/>
              <a:buFont typeface="Noto Sans Symbols"/>
              <a:buNone/>
            </a:pPr>
            <a:r>
              <a:rPr lang="en-GB" sz="2400">
                <a:solidFill>
                  <a:srgbClr val="000066"/>
                </a:solidFill>
                <a:latin typeface="Calibri"/>
                <a:ea typeface="Calibri"/>
                <a:cs typeface="Calibri"/>
                <a:sym typeface="Calibri"/>
              </a:rPr>
              <a:t> 	UV radiation in sunlight causes skin to tan. </a:t>
            </a:r>
            <a:r>
              <a:rPr lang="en-GB" sz="2400">
                <a:solidFill>
                  <a:srgbClr val="010066"/>
                </a:solidFill>
                <a:latin typeface="Calibri"/>
                <a:ea typeface="Calibri"/>
                <a:cs typeface="Calibri"/>
                <a:sym typeface="Calibri"/>
              </a:rPr>
              <a:t>Tanning beds imitate sunlight by emitting artificially-produced UV rays.</a:t>
            </a:r>
            <a:endParaRPr>
              <a:latin typeface="Calibri"/>
              <a:ea typeface="Calibri"/>
              <a:cs typeface="Calibri"/>
              <a:sym typeface="Calibri"/>
            </a:endParaRPr>
          </a:p>
        </p:txBody>
      </p:sp>
      <p:pic>
        <p:nvPicPr>
          <p:cNvPr descr="366167_4433" id="397" name="Google Shape;397;p39"/>
          <p:cNvPicPr preferRelativeResize="0"/>
          <p:nvPr/>
        </p:nvPicPr>
        <p:blipFill rotWithShape="1">
          <a:blip r:embed="rId3">
            <a:alphaModFix/>
          </a:blip>
          <a:srcRect b="0" l="0" r="0" t="0"/>
          <a:stretch/>
        </p:blipFill>
        <p:spPr>
          <a:xfrm>
            <a:off x="8839835" y="841519"/>
            <a:ext cx="2970530" cy="5311710"/>
          </a:xfrm>
          <a:prstGeom prst="rect">
            <a:avLst/>
          </a:prstGeom>
          <a:noFill/>
          <a:ln>
            <a:noFill/>
          </a:ln>
        </p:spPr>
      </p:pic>
      <p:sp>
        <p:nvSpPr>
          <p:cNvPr id="398" name="Google Shape;398;p39"/>
          <p:cNvSpPr/>
          <p:nvPr/>
        </p:nvSpPr>
        <p:spPr>
          <a:xfrm>
            <a:off x="182880" y="3259390"/>
            <a:ext cx="7694296" cy="1523494"/>
          </a:xfrm>
          <a:prstGeom prst="rect">
            <a:avLst/>
          </a:prstGeom>
          <a:noFill/>
          <a:ln>
            <a:noFill/>
          </a:ln>
        </p:spPr>
        <p:txBody>
          <a:bodyPr anchorCtr="0" anchor="t" bIns="0" lIns="91425" spcFirstLastPara="1" rIns="0" wrap="square" tIns="45700">
            <a:noAutofit/>
          </a:bodyPr>
          <a:lstStyle/>
          <a:p>
            <a:pPr indent="-361950" lvl="0" marL="361950" marR="0" rtl="0" algn="l">
              <a:lnSpc>
                <a:spcPct val="100000"/>
              </a:lnSpc>
              <a:spcBef>
                <a:spcPts val="0"/>
              </a:spcBef>
              <a:spcAft>
                <a:spcPts val="0"/>
              </a:spcAft>
              <a:buNone/>
            </a:pPr>
            <a:r>
              <a:rPr b="1" lang="en-GB" sz="2400">
                <a:solidFill>
                  <a:srgbClr val="CC00CC"/>
                </a:solidFill>
                <a:latin typeface="Calibri"/>
                <a:ea typeface="Calibri"/>
                <a:cs typeface="Calibri"/>
                <a:sym typeface="Calibri"/>
              </a:rPr>
              <a:t>Security marking</a:t>
            </a:r>
            <a:endParaRPr>
              <a:latin typeface="Calibri"/>
              <a:ea typeface="Calibri"/>
              <a:cs typeface="Calibri"/>
              <a:sym typeface="Calibri"/>
            </a:endParaRPr>
          </a:p>
          <a:p>
            <a:pPr indent="-361950" lvl="0" marL="361950" marR="0" rtl="0" algn="l">
              <a:lnSpc>
                <a:spcPct val="100000"/>
              </a:lnSpc>
              <a:spcBef>
                <a:spcPts val="0"/>
              </a:spcBef>
              <a:spcAft>
                <a:spcPts val="0"/>
              </a:spcAft>
              <a:buClr>
                <a:srgbClr val="000066"/>
              </a:buClr>
              <a:buSzPts val="2400"/>
              <a:buFont typeface="Noto Sans Symbols"/>
              <a:buNone/>
            </a:pPr>
            <a:r>
              <a:rPr lang="en-GB" sz="2400">
                <a:solidFill>
                  <a:srgbClr val="000066"/>
                </a:solidFill>
                <a:latin typeface="Calibri"/>
                <a:ea typeface="Calibri"/>
                <a:cs typeface="Calibri"/>
                <a:sym typeface="Calibri"/>
              </a:rPr>
              <a:t>	Special inks, that are only visible under UV radiation, are used to security mark expensive items. </a:t>
            </a:r>
            <a:endParaRPr>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8"/>
                                        </p:tgtEl>
                                        <p:attrNameLst>
                                          <p:attrName>style.visibility</p:attrName>
                                        </p:attrNameLst>
                                      </p:cBhvr>
                                      <p:to>
                                        <p:strVal val="visible"/>
                                      </p:to>
                                    </p:set>
                                    <p:animEffect filter="fade" transition="in">
                                      <p:cBhvr>
                                        <p:cTn dur="500"/>
                                        <p:tgtEl>
                                          <p:spTgt spid="39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6"/>
                                        </p:tgtEl>
                                        <p:attrNameLst>
                                          <p:attrName>style.visibility</p:attrName>
                                        </p:attrNameLst>
                                      </p:cBhvr>
                                      <p:to>
                                        <p:strVal val="visible"/>
                                      </p:to>
                                    </p:set>
                                    <p:animEffect filter="fade" transition="in">
                                      <p:cBhvr>
                                        <p:cTn dur="500"/>
                                        <p:tgtEl>
                                          <p:spTgt spid="39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40"/>
          <p:cNvSpPr txBox="1"/>
          <p:nvPr>
            <p:ph type="title"/>
          </p:nvPr>
        </p:nvSpPr>
        <p:spPr>
          <a:xfrm>
            <a:off x="165027" y="-25096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Comic Sans MS"/>
              <a:buNone/>
            </a:pPr>
            <a:r>
              <a:rPr b="1" lang="en-GB" sz="3200"/>
              <a:t>How can UV light help prevent fraud?</a:t>
            </a:r>
            <a:endParaRPr/>
          </a:p>
        </p:txBody>
      </p:sp>
      <p:sp>
        <p:nvSpPr>
          <p:cNvPr id="405" name="Google Shape;405;p40"/>
          <p:cNvSpPr txBox="1"/>
          <p:nvPr/>
        </p:nvSpPr>
        <p:spPr>
          <a:xfrm>
            <a:off x="407963" y="774701"/>
            <a:ext cx="6951600" cy="1569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lang="en-GB" sz="2400">
                <a:solidFill>
                  <a:schemeClr val="dk1"/>
                </a:solidFill>
                <a:latin typeface="Calibri"/>
                <a:ea typeface="Calibri"/>
                <a:cs typeface="Calibri"/>
                <a:sym typeface="Calibri"/>
              </a:rPr>
              <a:t>Chemicals that absorb energetic ultraviolet radiation and re-emit it as less energetic visible light are said to be </a:t>
            </a:r>
            <a:r>
              <a:rPr b="1" lang="en-GB" sz="2400">
                <a:solidFill>
                  <a:srgbClr val="CC00CC"/>
                </a:solidFill>
                <a:latin typeface="Calibri"/>
                <a:ea typeface="Calibri"/>
                <a:cs typeface="Calibri"/>
                <a:sym typeface="Calibri"/>
              </a:rPr>
              <a:t>fluorescent</a:t>
            </a:r>
            <a:r>
              <a:rPr lang="en-GB" sz="2400">
                <a:solidFill>
                  <a:schemeClr val="dk1"/>
                </a:solidFill>
                <a:latin typeface="Calibri"/>
                <a:ea typeface="Calibri"/>
                <a:cs typeface="Calibri"/>
                <a:sym typeface="Calibri"/>
              </a:rPr>
              <a:t>. These chemicals are used in inks and in safety clothing.</a:t>
            </a:r>
            <a:endParaRPr>
              <a:latin typeface="Calibri"/>
              <a:ea typeface="Calibri"/>
              <a:cs typeface="Calibri"/>
              <a:sym typeface="Calibri"/>
            </a:endParaRPr>
          </a:p>
        </p:txBody>
      </p:sp>
      <p:sp>
        <p:nvSpPr>
          <p:cNvPr id="406" name="Google Shape;406;p40"/>
          <p:cNvSpPr txBox="1"/>
          <p:nvPr/>
        </p:nvSpPr>
        <p:spPr>
          <a:xfrm>
            <a:off x="5260352" y="2866996"/>
            <a:ext cx="6909300" cy="1569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lang="en-GB" sz="2400">
                <a:solidFill>
                  <a:schemeClr val="dk1"/>
                </a:solidFill>
                <a:latin typeface="Calibri"/>
                <a:ea typeface="Calibri"/>
                <a:cs typeface="Calibri"/>
                <a:sym typeface="Calibri"/>
              </a:rPr>
              <a:t>Fluorescent inks, that are not visible under normal light, are used in banknote production to prevent fraud. The inks identify </a:t>
            </a:r>
            <a:r>
              <a:rPr lang="en-GB" sz="2400">
                <a:solidFill>
                  <a:srgbClr val="010066"/>
                </a:solidFill>
                <a:latin typeface="Calibri"/>
                <a:ea typeface="Calibri"/>
                <a:cs typeface="Calibri"/>
                <a:sym typeface="Calibri"/>
              </a:rPr>
              <a:t>genuine</a:t>
            </a:r>
            <a:r>
              <a:rPr lang="en-GB" sz="2400">
                <a:solidFill>
                  <a:schemeClr val="dk1"/>
                </a:solidFill>
                <a:latin typeface="Calibri"/>
                <a:ea typeface="Calibri"/>
                <a:cs typeface="Calibri"/>
                <a:sym typeface="Calibri"/>
              </a:rPr>
              <a:t> banknotes by glowing brightly under </a:t>
            </a:r>
            <a:r>
              <a:rPr lang="en-GB" sz="2400">
                <a:solidFill>
                  <a:srgbClr val="010066"/>
                </a:solidFill>
                <a:latin typeface="Calibri"/>
                <a:ea typeface="Calibri"/>
                <a:cs typeface="Calibri"/>
                <a:sym typeface="Calibri"/>
              </a:rPr>
              <a:t>ultraviolet light.</a:t>
            </a:r>
            <a:endParaRPr>
              <a:latin typeface="Calibri"/>
              <a:ea typeface="Calibri"/>
              <a:cs typeface="Calibri"/>
              <a:sym typeface="Calibri"/>
            </a:endParaRPr>
          </a:p>
        </p:txBody>
      </p:sp>
      <p:sp>
        <p:nvSpPr>
          <p:cNvPr id="407" name="Google Shape;407;p40"/>
          <p:cNvSpPr txBox="1"/>
          <p:nvPr/>
        </p:nvSpPr>
        <p:spPr>
          <a:xfrm>
            <a:off x="5260648" y="5168872"/>
            <a:ext cx="6931500" cy="785100"/>
          </a:xfrm>
          <a:prstGeom prst="rect">
            <a:avLst/>
          </a:prstGeom>
          <a:noFill/>
          <a:ln>
            <a:noFill/>
          </a:ln>
        </p:spPr>
        <p:txBody>
          <a:bodyPr anchorCtr="0" anchor="t" bIns="0" lIns="91425" spcFirstLastPara="1" rIns="0"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lang="en-GB" sz="2400">
                <a:solidFill>
                  <a:schemeClr val="dk1"/>
                </a:solidFill>
                <a:latin typeface="Calibri"/>
                <a:ea typeface="Calibri"/>
                <a:cs typeface="Calibri"/>
                <a:sym typeface="Calibri"/>
              </a:rPr>
              <a:t>Fluorescent inks are also used in stamps to distinguish different values for automatic sorting. </a:t>
            </a:r>
            <a:endParaRPr>
              <a:latin typeface="Calibri"/>
              <a:ea typeface="Calibri"/>
              <a:cs typeface="Calibri"/>
              <a:sym typeface="Calibri"/>
            </a:endParaRPr>
          </a:p>
        </p:txBody>
      </p:sp>
      <p:pic>
        <p:nvPicPr>
          <p:cNvPr descr="536057_11954286" id="408" name="Google Shape;408;p40"/>
          <p:cNvPicPr preferRelativeResize="0"/>
          <p:nvPr/>
        </p:nvPicPr>
        <p:blipFill rotWithShape="1">
          <a:blip r:embed="rId3">
            <a:alphaModFix/>
          </a:blip>
          <a:srcRect b="0" l="0" r="0" t="0"/>
          <a:stretch/>
        </p:blipFill>
        <p:spPr>
          <a:xfrm>
            <a:off x="8215532" y="227455"/>
            <a:ext cx="3613725" cy="2401066"/>
          </a:xfrm>
          <a:prstGeom prst="rect">
            <a:avLst/>
          </a:prstGeom>
          <a:noFill/>
          <a:ln>
            <a:noFill/>
          </a:ln>
        </p:spPr>
      </p:pic>
      <p:pic>
        <p:nvPicPr>
          <p:cNvPr descr="t362256" id="409" name="Google Shape;409;p40"/>
          <p:cNvPicPr preferRelativeResize="0"/>
          <p:nvPr/>
        </p:nvPicPr>
        <p:blipFill rotWithShape="1">
          <a:blip r:embed="rId4">
            <a:alphaModFix/>
          </a:blip>
          <a:srcRect b="0" l="0" r="0" t="0"/>
          <a:stretch/>
        </p:blipFill>
        <p:spPr>
          <a:xfrm>
            <a:off x="621518" y="2866996"/>
            <a:ext cx="4288106" cy="366774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6"/>
                                        </p:tgtEl>
                                        <p:attrNameLst>
                                          <p:attrName>style.visibility</p:attrName>
                                        </p:attrNameLst>
                                      </p:cBhvr>
                                      <p:to>
                                        <p:strVal val="visible"/>
                                      </p:to>
                                    </p:set>
                                    <p:animEffect filter="fade" transition="in">
                                      <p:cBhvr>
                                        <p:cTn dur="500"/>
                                        <p:tgtEl>
                                          <p:spTgt spid="406"/>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09"/>
                                        </p:tgtEl>
                                        <p:attrNameLst>
                                          <p:attrName>style.visibility</p:attrName>
                                        </p:attrNameLst>
                                      </p:cBhvr>
                                      <p:to>
                                        <p:strVal val="visible"/>
                                      </p:to>
                                    </p:set>
                                    <p:animEffect filter="fade" transition="in">
                                      <p:cBhvr>
                                        <p:cTn dur="500"/>
                                        <p:tgtEl>
                                          <p:spTgt spid="40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7"/>
                                        </p:tgtEl>
                                        <p:attrNameLst>
                                          <p:attrName>style.visibility</p:attrName>
                                        </p:attrNameLst>
                                      </p:cBhvr>
                                      <p:to>
                                        <p:strVal val="visible"/>
                                      </p:to>
                                    </p:set>
                                    <p:animEffect filter="fade" transition="in">
                                      <p:cBhvr>
                                        <p:cTn dur="500"/>
                                        <p:tgtEl>
                                          <p:spTgt spid="40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41"/>
          <p:cNvSpPr txBox="1"/>
          <p:nvPr>
            <p:ph type="title"/>
          </p:nvPr>
        </p:nvSpPr>
        <p:spPr>
          <a:xfrm>
            <a:off x="627185" y="-25229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omic Sans MS"/>
              <a:buNone/>
            </a:pPr>
            <a:r>
              <a:rPr lang="en-GB">
                <a:latin typeface="Comic Sans MS"/>
                <a:ea typeface="Comic Sans MS"/>
                <a:cs typeface="Comic Sans MS"/>
                <a:sym typeface="Comic Sans MS"/>
              </a:rPr>
              <a:t>How does UV radiation affect skin?</a:t>
            </a:r>
            <a:endParaRPr/>
          </a:p>
        </p:txBody>
      </p:sp>
      <p:sp>
        <p:nvSpPr>
          <p:cNvPr id="416" name="Google Shape;416;p41"/>
          <p:cNvSpPr txBox="1"/>
          <p:nvPr/>
        </p:nvSpPr>
        <p:spPr>
          <a:xfrm>
            <a:off x="196948" y="784225"/>
            <a:ext cx="12148950" cy="12003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lang="en-GB" sz="2400">
                <a:solidFill>
                  <a:schemeClr val="dk1"/>
                </a:solidFill>
                <a:latin typeface="Comic Sans MS"/>
                <a:ea typeface="Comic Sans MS"/>
                <a:cs typeface="Comic Sans MS"/>
                <a:sym typeface="Comic Sans MS"/>
              </a:rPr>
              <a:t>The skin uses UV radiation from the Sun to make </a:t>
            </a:r>
            <a:r>
              <a:rPr b="1" lang="en-GB" sz="2400">
                <a:solidFill>
                  <a:srgbClr val="CC00CC"/>
                </a:solidFill>
                <a:latin typeface="Comic Sans MS"/>
                <a:ea typeface="Comic Sans MS"/>
                <a:cs typeface="Comic Sans MS"/>
                <a:sym typeface="Comic Sans MS"/>
              </a:rPr>
              <a:t>vitamin D</a:t>
            </a:r>
            <a:r>
              <a:rPr lang="en-GB" sz="2400">
                <a:solidFill>
                  <a:schemeClr val="dk1"/>
                </a:solidFill>
                <a:latin typeface="Comic Sans MS"/>
                <a:ea typeface="Comic Sans MS"/>
                <a:cs typeface="Comic Sans MS"/>
                <a:sym typeface="Comic Sans MS"/>
              </a:rPr>
              <a:t>, which is needed for strong bones. Some exposure to UV radiation is beneficial but overexposure is generally harmful to the skin and eyes.</a:t>
            </a:r>
            <a:endParaRPr/>
          </a:p>
        </p:txBody>
      </p:sp>
      <p:sp>
        <p:nvSpPr>
          <p:cNvPr id="417" name="Google Shape;417;p41"/>
          <p:cNvSpPr txBox="1"/>
          <p:nvPr/>
        </p:nvSpPr>
        <p:spPr>
          <a:xfrm>
            <a:off x="4699971" y="2069295"/>
            <a:ext cx="7285703" cy="15696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lang="en-GB" sz="2400">
                <a:solidFill>
                  <a:schemeClr val="dk1"/>
                </a:solidFill>
                <a:latin typeface="Comic Sans MS"/>
                <a:ea typeface="Comic Sans MS"/>
                <a:cs typeface="Comic Sans MS"/>
                <a:sym typeface="Comic Sans MS"/>
              </a:rPr>
              <a:t>Ultraviolet radiation can kill cells. </a:t>
            </a:r>
            <a:r>
              <a:rPr b="1" lang="en-GB" sz="2400">
                <a:solidFill>
                  <a:srgbClr val="CC00CC"/>
                </a:solidFill>
                <a:latin typeface="Comic Sans MS"/>
                <a:ea typeface="Comic Sans MS"/>
                <a:cs typeface="Comic Sans MS"/>
                <a:sym typeface="Comic Sans MS"/>
              </a:rPr>
              <a:t>Sunburn</a:t>
            </a:r>
            <a:r>
              <a:rPr lang="en-GB" sz="2400">
                <a:solidFill>
                  <a:schemeClr val="dk1"/>
                </a:solidFill>
                <a:latin typeface="Comic Sans MS"/>
                <a:ea typeface="Comic Sans MS"/>
                <a:cs typeface="Comic Sans MS"/>
                <a:sym typeface="Comic Sans MS"/>
              </a:rPr>
              <a:t> occurs when the skin is exposed to high-intensity ultraviolet radiation, which damages and kills skin cells. </a:t>
            </a:r>
            <a:endParaRPr/>
          </a:p>
        </p:txBody>
      </p:sp>
      <p:pic>
        <p:nvPicPr>
          <p:cNvPr descr="417360_6504" id="418" name="Google Shape;418;p41"/>
          <p:cNvPicPr preferRelativeResize="0"/>
          <p:nvPr/>
        </p:nvPicPr>
        <p:blipFill rotWithShape="1">
          <a:blip r:embed="rId3">
            <a:alphaModFix/>
          </a:blip>
          <a:srcRect b="0" l="2179" r="0" t="0"/>
          <a:stretch/>
        </p:blipFill>
        <p:spPr>
          <a:xfrm>
            <a:off x="746303" y="2109788"/>
            <a:ext cx="3755359" cy="3451170"/>
          </a:xfrm>
          <a:prstGeom prst="rect">
            <a:avLst/>
          </a:prstGeom>
          <a:noFill/>
          <a:ln>
            <a:noFill/>
          </a:ln>
        </p:spPr>
      </p:pic>
      <p:grpSp>
        <p:nvGrpSpPr>
          <p:cNvPr id="419" name="Google Shape;419;p41"/>
          <p:cNvGrpSpPr/>
          <p:nvPr/>
        </p:nvGrpSpPr>
        <p:grpSpPr>
          <a:xfrm>
            <a:off x="654904" y="5808159"/>
            <a:ext cx="11330770" cy="830264"/>
            <a:chOff x="355" y="3446"/>
            <a:chExt cx="4944" cy="523"/>
          </a:xfrm>
        </p:grpSpPr>
        <p:sp>
          <p:nvSpPr>
            <p:cNvPr id="420" name="Google Shape;420;p41"/>
            <p:cNvSpPr/>
            <p:nvPr/>
          </p:nvSpPr>
          <p:spPr>
            <a:xfrm>
              <a:off x="355" y="3446"/>
              <a:ext cx="4944" cy="52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omic Sans MS"/>
                <a:buNone/>
              </a:pPr>
              <a:r>
                <a:rPr lang="en-GB" sz="2400">
                  <a:solidFill>
                    <a:schemeClr val="dk1"/>
                  </a:solidFill>
                  <a:latin typeface="Comic Sans MS"/>
                  <a:ea typeface="Comic Sans MS"/>
                  <a:cs typeface="Comic Sans MS"/>
                  <a:sym typeface="Comic Sans MS"/>
                </a:rPr>
                <a:t>Intense UV radiation can inflame the eyes and long-term</a:t>
              </a:r>
              <a:endParaRPr/>
            </a:p>
          </p:txBody>
        </p:sp>
        <p:sp>
          <p:nvSpPr>
            <p:cNvPr id="421" name="Google Shape;421;p41"/>
            <p:cNvSpPr/>
            <p:nvPr/>
          </p:nvSpPr>
          <p:spPr>
            <a:xfrm>
              <a:off x="416" y="3678"/>
              <a:ext cx="2736" cy="291"/>
            </a:xfrm>
            <a:prstGeom prst="rect">
              <a:avLst/>
            </a:prstGeom>
            <a:noFill/>
            <a:ln>
              <a:noFill/>
            </a:ln>
          </p:spPr>
          <p:txBody>
            <a:bodyPr anchorCtr="0" anchor="t" bIns="45700" lIns="0" spcFirstLastPara="1" rIns="0" wrap="square" tIns="45700">
              <a:noAutofit/>
            </a:bodyPr>
            <a:lstStyle/>
            <a:p>
              <a:pPr indent="0" lvl="0" marL="0" marR="0" rtl="0" algn="l">
                <a:lnSpc>
                  <a:spcPct val="100000"/>
                </a:lnSpc>
                <a:spcBef>
                  <a:spcPts val="0"/>
                </a:spcBef>
                <a:spcAft>
                  <a:spcPts val="0"/>
                </a:spcAft>
                <a:buClr>
                  <a:schemeClr val="dk1"/>
                </a:buClr>
                <a:buSzPts val="2400"/>
                <a:buFont typeface="Comic Sans MS"/>
                <a:buNone/>
              </a:pPr>
              <a:r>
                <a:rPr lang="en-GB" sz="2400">
                  <a:solidFill>
                    <a:schemeClr val="dk1"/>
                  </a:solidFill>
                  <a:latin typeface="Comic Sans MS"/>
                  <a:ea typeface="Comic Sans MS"/>
                  <a:cs typeface="Comic Sans MS"/>
                  <a:sym typeface="Comic Sans MS"/>
                </a:rPr>
                <a:t>exposure may cause cataracts.</a:t>
              </a:r>
              <a:endParaRPr/>
            </a:p>
          </p:txBody>
        </p:sp>
      </p:grpSp>
      <p:sp>
        <p:nvSpPr>
          <p:cNvPr id="422" name="Google Shape;422;p41"/>
          <p:cNvSpPr/>
          <p:nvPr/>
        </p:nvSpPr>
        <p:spPr>
          <a:xfrm>
            <a:off x="4712972" y="3999695"/>
            <a:ext cx="7212366" cy="1154162"/>
          </a:xfrm>
          <a:prstGeom prst="rect">
            <a:avLst/>
          </a:prstGeom>
          <a:noFill/>
          <a:ln>
            <a:noFill/>
          </a:ln>
        </p:spPr>
        <p:txBody>
          <a:bodyPr anchorCtr="0" anchor="t" bIns="0" lIns="91425" spcFirstLastPara="1" rIns="0" wrap="square" tIns="45700">
            <a:noAutofit/>
          </a:bodyPr>
          <a:lstStyle/>
          <a:p>
            <a:pPr indent="0" lvl="0" marL="0" marR="0" rtl="0" algn="l">
              <a:lnSpc>
                <a:spcPct val="100000"/>
              </a:lnSpc>
              <a:spcBef>
                <a:spcPts val="0"/>
              </a:spcBef>
              <a:spcAft>
                <a:spcPts val="0"/>
              </a:spcAft>
              <a:buClr>
                <a:schemeClr val="dk1"/>
              </a:buClr>
              <a:buSzPts val="2400"/>
              <a:buFont typeface="Comic Sans MS"/>
              <a:buNone/>
            </a:pPr>
            <a:r>
              <a:rPr lang="en-GB" sz="2400">
                <a:solidFill>
                  <a:schemeClr val="dk1"/>
                </a:solidFill>
                <a:latin typeface="Comic Sans MS"/>
                <a:ea typeface="Comic Sans MS"/>
                <a:cs typeface="Comic Sans MS"/>
                <a:sym typeface="Comic Sans MS"/>
              </a:rPr>
              <a:t>Over time, repeated exposure leads to premature </a:t>
            </a:r>
            <a:r>
              <a:rPr b="1" lang="en-GB" sz="2400">
                <a:solidFill>
                  <a:srgbClr val="CC00CC"/>
                </a:solidFill>
                <a:latin typeface="Comic Sans MS"/>
                <a:ea typeface="Comic Sans MS"/>
                <a:cs typeface="Comic Sans MS"/>
                <a:sym typeface="Comic Sans MS"/>
              </a:rPr>
              <a:t>ageing</a:t>
            </a:r>
            <a:r>
              <a:rPr lang="en-GB" sz="2400">
                <a:solidFill>
                  <a:schemeClr val="dk1"/>
                </a:solidFill>
                <a:latin typeface="Comic Sans MS"/>
                <a:ea typeface="Comic Sans MS"/>
                <a:cs typeface="Comic Sans MS"/>
                <a:sym typeface="Comic Sans MS"/>
              </a:rPr>
              <a:t> of the skin and increases the risk of </a:t>
            </a:r>
            <a:r>
              <a:rPr b="1" lang="en-GB" sz="2400">
                <a:solidFill>
                  <a:srgbClr val="CC00CC"/>
                </a:solidFill>
                <a:latin typeface="Comic Sans MS"/>
                <a:ea typeface="Comic Sans MS"/>
                <a:cs typeface="Comic Sans MS"/>
                <a:sym typeface="Comic Sans MS"/>
              </a:rPr>
              <a:t>skin cancer</a:t>
            </a:r>
            <a:r>
              <a:rPr lang="en-GB" sz="2400">
                <a:solidFill>
                  <a:schemeClr val="dk1"/>
                </a:solidFill>
                <a:latin typeface="Comic Sans MS"/>
                <a:ea typeface="Comic Sans MS"/>
                <a:cs typeface="Comic Sans MS"/>
                <a:sym typeface="Comic Sans MS"/>
              </a:rPr>
              <a: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7"/>
                                        </p:tgtEl>
                                        <p:attrNameLst>
                                          <p:attrName>style.visibility</p:attrName>
                                        </p:attrNameLst>
                                      </p:cBhvr>
                                      <p:to>
                                        <p:strVal val="visible"/>
                                      </p:to>
                                    </p:set>
                                    <p:animEffect filter="fade" transition="in">
                                      <p:cBhvr>
                                        <p:cTn dur="500"/>
                                        <p:tgtEl>
                                          <p:spTgt spid="417"/>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18"/>
                                        </p:tgtEl>
                                        <p:attrNameLst>
                                          <p:attrName>style.visibility</p:attrName>
                                        </p:attrNameLst>
                                      </p:cBhvr>
                                      <p:to>
                                        <p:strVal val="visible"/>
                                      </p:to>
                                    </p:set>
                                    <p:animEffect filter="fade" transition="in">
                                      <p:cBhvr>
                                        <p:cTn dur="500"/>
                                        <p:tgtEl>
                                          <p:spTgt spid="41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2"/>
                                        </p:tgtEl>
                                        <p:attrNameLst>
                                          <p:attrName>style.visibility</p:attrName>
                                        </p:attrNameLst>
                                      </p:cBhvr>
                                      <p:to>
                                        <p:strVal val="visible"/>
                                      </p:to>
                                    </p:set>
                                    <p:animEffect filter="fade" transition="in">
                                      <p:cBhvr>
                                        <p:cTn dur="500"/>
                                        <p:tgtEl>
                                          <p:spTgt spid="42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9"/>
                                        </p:tgtEl>
                                        <p:attrNameLst>
                                          <p:attrName>style.visibility</p:attrName>
                                        </p:attrNameLst>
                                      </p:cBhvr>
                                      <p:to>
                                        <p:strVal val="visible"/>
                                      </p:to>
                                    </p:set>
                                    <p:animEffect filter="fade" transition="in">
                                      <p:cBhvr>
                                        <p:cTn dur="500"/>
                                        <p:tgtEl>
                                          <p:spTgt spid="41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42"/>
          <p:cNvSpPr txBox="1"/>
          <p:nvPr>
            <p:ph type="title"/>
          </p:nvPr>
        </p:nvSpPr>
        <p:spPr>
          <a:xfrm>
            <a:off x="753794" y="-272759"/>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800"/>
              <a:buFont typeface="Comic Sans MS"/>
              <a:buNone/>
            </a:pPr>
            <a:r>
              <a:rPr lang="en-GB" sz="4800">
                <a:latin typeface="Comic Sans MS"/>
                <a:ea typeface="Comic Sans MS"/>
                <a:cs typeface="Comic Sans MS"/>
                <a:sym typeface="Comic Sans MS"/>
              </a:rPr>
              <a:t>Is a suntan safe?</a:t>
            </a:r>
            <a:endParaRPr/>
          </a:p>
        </p:txBody>
      </p:sp>
      <p:sp>
        <p:nvSpPr>
          <p:cNvPr id="429" name="Google Shape;429;p42"/>
          <p:cNvSpPr txBox="1"/>
          <p:nvPr/>
        </p:nvSpPr>
        <p:spPr>
          <a:xfrm>
            <a:off x="276482" y="784226"/>
            <a:ext cx="6810120"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lang="en-GB" sz="2400">
                <a:solidFill>
                  <a:schemeClr val="dk1"/>
                </a:solidFill>
                <a:latin typeface="Comic Sans MS"/>
                <a:ea typeface="Comic Sans MS"/>
                <a:cs typeface="Comic Sans MS"/>
                <a:sym typeface="Comic Sans MS"/>
              </a:rPr>
              <a:t>Some people believe a suntan is safe and makes them look healthy. </a:t>
            </a:r>
            <a:endParaRPr/>
          </a:p>
        </p:txBody>
      </p:sp>
      <p:pic>
        <p:nvPicPr>
          <p:cNvPr descr="272691_5734" id="430" name="Google Shape;430;p42"/>
          <p:cNvPicPr preferRelativeResize="0"/>
          <p:nvPr/>
        </p:nvPicPr>
        <p:blipFill rotWithShape="1">
          <a:blip r:embed="rId3">
            <a:alphaModFix/>
          </a:blip>
          <a:srcRect b="0" l="0" r="0" t="0"/>
          <a:stretch/>
        </p:blipFill>
        <p:spPr>
          <a:xfrm>
            <a:off x="7319893" y="166982"/>
            <a:ext cx="4603651" cy="3216072"/>
          </a:xfrm>
          <a:prstGeom prst="rect">
            <a:avLst/>
          </a:prstGeom>
          <a:noFill/>
          <a:ln>
            <a:noFill/>
          </a:ln>
        </p:spPr>
      </p:pic>
      <p:sp>
        <p:nvSpPr>
          <p:cNvPr id="431" name="Google Shape;431;p42"/>
          <p:cNvSpPr txBox="1"/>
          <p:nvPr/>
        </p:nvSpPr>
        <p:spPr>
          <a:xfrm>
            <a:off x="276425" y="1961300"/>
            <a:ext cx="6436800" cy="358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800">
                <a:solidFill>
                  <a:schemeClr val="dk1"/>
                </a:solidFill>
                <a:latin typeface="Calibri"/>
                <a:ea typeface="Calibri"/>
                <a:cs typeface="Calibri"/>
                <a:sym typeface="Calibri"/>
              </a:rPr>
              <a:t>Discuss with the person next to you: </a:t>
            </a:r>
            <a:endParaRPr sz="2800">
              <a:solidFill>
                <a:schemeClr val="dk1"/>
              </a:solidFill>
              <a:latin typeface="Calibri"/>
              <a:ea typeface="Calibri"/>
              <a:cs typeface="Calibri"/>
              <a:sym typeface="Calibri"/>
            </a:endParaRPr>
          </a:p>
          <a:p>
            <a:pPr indent="0" lvl="0" marL="0" rtl="0" algn="l">
              <a:spcBef>
                <a:spcPts val="0"/>
              </a:spcBef>
              <a:spcAft>
                <a:spcPts val="0"/>
              </a:spcAft>
              <a:buNone/>
            </a:pPr>
            <a:r>
              <a:t/>
            </a:r>
            <a:endParaRPr sz="2800">
              <a:solidFill>
                <a:schemeClr val="dk1"/>
              </a:solidFill>
              <a:latin typeface="Calibri"/>
              <a:ea typeface="Calibri"/>
              <a:cs typeface="Calibri"/>
              <a:sym typeface="Calibri"/>
            </a:endParaRPr>
          </a:p>
          <a:p>
            <a:pPr indent="-406400" lvl="0" marL="457200" rtl="0" algn="l">
              <a:spcBef>
                <a:spcPts val="0"/>
              </a:spcBef>
              <a:spcAft>
                <a:spcPts val="0"/>
              </a:spcAft>
              <a:buClr>
                <a:schemeClr val="dk1"/>
              </a:buClr>
              <a:buSzPts val="2800"/>
              <a:buFont typeface="Calibri"/>
              <a:buChar char="●"/>
            </a:pPr>
            <a:r>
              <a:rPr lang="en-GB" sz="2800">
                <a:solidFill>
                  <a:schemeClr val="dk1"/>
                </a:solidFill>
                <a:latin typeface="Calibri"/>
                <a:ea typeface="Calibri"/>
                <a:cs typeface="Calibri"/>
                <a:sym typeface="Calibri"/>
              </a:rPr>
              <a:t>Your worst sunburn!</a:t>
            </a:r>
            <a:endParaRPr sz="2800">
              <a:solidFill>
                <a:schemeClr val="dk1"/>
              </a:solidFill>
              <a:latin typeface="Calibri"/>
              <a:ea typeface="Calibri"/>
              <a:cs typeface="Calibri"/>
              <a:sym typeface="Calibri"/>
            </a:endParaRPr>
          </a:p>
          <a:p>
            <a:pPr indent="-406400" lvl="0" marL="457200" rtl="0" algn="l">
              <a:spcBef>
                <a:spcPts val="0"/>
              </a:spcBef>
              <a:spcAft>
                <a:spcPts val="0"/>
              </a:spcAft>
              <a:buClr>
                <a:schemeClr val="dk1"/>
              </a:buClr>
              <a:buSzPts val="2800"/>
              <a:buFont typeface="Calibri"/>
              <a:buChar char="●"/>
            </a:pPr>
            <a:r>
              <a:rPr lang="en-GB" sz="2800">
                <a:solidFill>
                  <a:schemeClr val="dk1"/>
                </a:solidFill>
                <a:latin typeface="Calibri"/>
                <a:ea typeface="Calibri"/>
                <a:cs typeface="Calibri"/>
                <a:sym typeface="Calibri"/>
              </a:rPr>
              <a:t>What do you think makes people tan?</a:t>
            </a:r>
            <a:endParaRPr sz="2800">
              <a:solidFill>
                <a:schemeClr val="dk1"/>
              </a:solidFill>
              <a:latin typeface="Calibri"/>
              <a:ea typeface="Calibri"/>
              <a:cs typeface="Calibri"/>
              <a:sym typeface="Calibri"/>
            </a:endParaRPr>
          </a:p>
          <a:p>
            <a:pPr indent="-406400" lvl="0" marL="457200" rtl="0" algn="l">
              <a:spcBef>
                <a:spcPts val="0"/>
              </a:spcBef>
              <a:spcAft>
                <a:spcPts val="0"/>
              </a:spcAft>
              <a:buClr>
                <a:schemeClr val="dk1"/>
              </a:buClr>
              <a:buSzPts val="2800"/>
              <a:buFont typeface="Calibri"/>
              <a:buChar char="●"/>
            </a:pPr>
            <a:r>
              <a:rPr lang="en-GB" sz="2800">
                <a:solidFill>
                  <a:schemeClr val="dk1"/>
                </a:solidFill>
                <a:latin typeface="Calibri"/>
                <a:ea typeface="Calibri"/>
                <a:cs typeface="Calibri"/>
                <a:sym typeface="Calibri"/>
              </a:rPr>
              <a:t>Why some people burn more easily than others?</a:t>
            </a:r>
            <a:endParaRPr sz="2800">
              <a:solidFill>
                <a:schemeClr val="dk1"/>
              </a:solidFill>
              <a:latin typeface="Calibri"/>
              <a:ea typeface="Calibri"/>
              <a:cs typeface="Calibri"/>
              <a:sym typeface="Calibri"/>
            </a:endParaRPr>
          </a:p>
          <a:p>
            <a:pPr indent="-406400" lvl="0" marL="457200" rtl="0" algn="l">
              <a:spcBef>
                <a:spcPts val="0"/>
              </a:spcBef>
              <a:spcAft>
                <a:spcPts val="0"/>
              </a:spcAft>
              <a:buClr>
                <a:schemeClr val="dk1"/>
              </a:buClr>
              <a:buSzPts val="2800"/>
              <a:buFont typeface="Calibri"/>
              <a:buChar char="●"/>
            </a:pPr>
            <a:r>
              <a:rPr lang="en-GB" sz="2800">
                <a:solidFill>
                  <a:schemeClr val="dk1"/>
                </a:solidFill>
                <a:latin typeface="Calibri"/>
                <a:ea typeface="Calibri"/>
                <a:cs typeface="Calibri"/>
                <a:sym typeface="Calibri"/>
              </a:rPr>
              <a:t>3 ways you can prevent sunburns</a:t>
            </a:r>
            <a:endParaRPr sz="2800">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43"/>
          <p:cNvSpPr txBox="1"/>
          <p:nvPr>
            <p:ph type="title"/>
          </p:nvPr>
        </p:nvSpPr>
        <p:spPr>
          <a:xfrm>
            <a:off x="3032761" y="2419643"/>
            <a:ext cx="7518009" cy="1732891"/>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6000"/>
              <a:buFont typeface="Comic Sans MS"/>
              <a:buNone/>
            </a:pPr>
            <a:r>
              <a:rPr lang="en-GB" sz="6000"/>
              <a:t>6. X-rays</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44"/>
          <p:cNvSpPr/>
          <p:nvPr/>
        </p:nvSpPr>
        <p:spPr>
          <a:xfrm>
            <a:off x="1992313" y="0"/>
            <a:ext cx="8229600" cy="114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4400">
                <a:solidFill>
                  <a:schemeClr val="dk2"/>
                </a:solidFill>
                <a:latin typeface="Comic Sans MS"/>
                <a:ea typeface="Comic Sans MS"/>
                <a:cs typeface="Comic Sans MS"/>
                <a:sym typeface="Comic Sans MS"/>
              </a:rPr>
              <a:t>X-Rays</a:t>
            </a:r>
            <a:endParaRPr sz="4400">
              <a:solidFill>
                <a:schemeClr val="dk2"/>
              </a:solidFill>
              <a:latin typeface="Comic Sans MS"/>
              <a:ea typeface="Comic Sans MS"/>
              <a:cs typeface="Comic Sans MS"/>
              <a:sym typeface="Comic Sans MS"/>
            </a:endParaRPr>
          </a:p>
        </p:txBody>
      </p:sp>
      <p:sp>
        <p:nvSpPr>
          <p:cNvPr id="442" name="Google Shape;442;p44"/>
          <p:cNvSpPr/>
          <p:nvPr/>
        </p:nvSpPr>
        <p:spPr>
          <a:xfrm>
            <a:off x="180304" y="1125538"/>
            <a:ext cx="6852321" cy="57324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chemeClr val="dk1"/>
              </a:buClr>
              <a:buSzPts val="2400"/>
              <a:buFont typeface="Comic Sans MS"/>
              <a:buChar char="•"/>
            </a:pPr>
            <a:r>
              <a:rPr b="1" lang="en-GB" sz="2400">
                <a:solidFill>
                  <a:schemeClr val="dk1"/>
                </a:solidFill>
                <a:latin typeface="Comic Sans MS"/>
                <a:ea typeface="Comic Sans MS"/>
                <a:cs typeface="Comic Sans MS"/>
                <a:sym typeface="Comic Sans MS"/>
              </a:rPr>
              <a:t>What would it be like to see X-rays?</a:t>
            </a:r>
            <a:r>
              <a:rPr lang="en-GB" sz="2400">
                <a:solidFill>
                  <a:schemeClr val="dk1"/>
                </a:solidFill>
                <a:latin typeface="Comic Sans MS"/>
                <a:ea typeface="Comic Sans MS"/>
                <a:cs typeface="Comic Sans MS"/>
                <a:sym typeface="Comic Sans MS"/>
              </a:rPr>
              <a:t> </a:t>
            </a:r>
            <a:endParaRPr/>
          </a:p>
          <a:p>
            <a:pPr indent="-342900" lvl="0" marL="342900" marR="0" rtl="0" algn="l">
              <a:lnSpc>
                <a:spcPct val="90000"/>
              </a:lnSpc>
              <a:spcBef>
                <a:spcPts val="480"/>
              </a:spcBef>
              <a:spcAft>
                <a:spcPts val="0"/>
              </a:spcAft>
              <a:buClr>
                <a:schemeClr val="dk1"/>
              </a:buClr>
              <a:buSzPts val="2400"/>
              <a:buFont typeface="Comic Sans MS"/>
              <a:buChar char="•"/>
            </a:pPr>
            <a:r>
              <a:rPr lang="en-GB" sz="2400">
                <a:solidFill>
                  <a:schemeClr val="dk1"/>
                </a:solidFill>
                <a:latin typeface="Comic Sans MS"/>
                <a:ea typeface="Comic Sans MS"/>
                <a:cs typeface="Comic Sans MS"/>
                <a:sym typeface="Comic Sans MS"/>
              </a:rPr>
              <a:t>Well, we wouldn't be able to see through people's clothes, no matter what the ads for X-ray glasses tell us!</a:t>
            </a:r>
            <a:endParaRPr/>
          </a:p>
          <a:p>
            <a:pPr indent="-342900" lvl="0" marL="342900" marR="0" rtl="0" algn="l">
              <a:lnSpc>
                <a:spcPct val="90000"/>
              </a:lnSpc>
              <a:spcBef>
                <a:spcPts val="480"/>
              </a:spcBef>
              <a:spcAft>
                <a:spcPts val="0"/>
              </a:spcAft>
              <a:buClr>
                <a:schemeClr val="dk1"/>
              </a:buClr>
              <a:buSzPts val="2400"/>
              <a:buFont typeface="Comic Sans MS"/>
              <a:buChar char="•"/>
            </a:pPr>
            <a:r>
              <a:rPr lang="en-GB" sz="2400">
                <a:solidFill>
                  <a:schemeClr val="dk1"/>
                </a:solidFill>
                <a:latin typeface="Comic Sans MS"/>
                <a:ea typeface="Comic Sans MS"/>
                <a:cs typeface="Comic Sans MS"/>
                <a:sym typeface="Comic Sans MS"/>
              </a:rPr>
              <a:t>If we could see X-rays, we could see things that either emit X-rays or halt their transmission. </a:t>
            </a:r>
            <a:endParaRPr/>
          </a:p>
          <a:p>
            <a:pPr indent="-342900" lvl="0" marL="342900" marR="0" rtl="0" algn="l">
              <a:lnSpc>
                <a:spcPct val="90000"/>
              </a:lnSpc>
              <a:spcBef>
                <a:spcPts val="480"/>
              </a:spcBef>
              <a:spcAft>
                <a:spcPts val="0"/>
              </a:spcAft>
              <a:buClr>
                <a:schemeClr val="dk1"/>
              </a:buClr>
              <a:buSzPts val="2400"/>
              <a:buFont typeface="Comic Sans MS"/>
              <a:buChar char="•"/>
            </a:pPr>
            <a:r>
              <a:rPr lang="en-GB" sz="2400">
                <a:solidFill>
                  <a:schemeClr val="dk1"/>
                </a:solidFill>
                <a:latin typeface="Comic Sans MS"/>
                <a:ea typeface="Comic Sans MS"/>
                <a:cs typeface="Comic Sans MS"/>
                <a:sym typeface="Comic Sans MS"/>
              </a:rPr>
              <a:t>X-ray film "sees" X-rays, like the ones that travel through your skin. It also sees shadows left by things that the X-rays can't travel through (like bones or metal). </a:t>
            </a:r>
            <a:endParaRPr/>
          </a:p>
        </p:txBody>
      </p:sp>
      <p:pic>
        <p:nvPicPr>
          <p:cNvPr descr="X-ray of one-year old showing a pin." id="443" name="Google Shape;443;p44"/>
          <p:cNvPicPr preferRelativeResize="0"/>
          <p:nvPr/>
        </p:nvPicPr>
        <p:blipFill rotWithShape="1">
          <a:blip r:embed="rId3">
            <a:alphaModFix/>
          </a:blip>
          <a:srcRect b="0" l="0" r="0" t="0"/>
          <a:stretch/>
        </p:blipFill>
        <p:spPr>
          <a:xfrm>
            <a:off x="7445550" y="1125538"/>
            <a:ext cx="4312169" cy="5390211"/>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p45"/>
          <p:cNvSpPr txBox="1"/>
          <p:nvPr>
            <p:ph type="title"/>
          </p:nvPr>
        </p:nvSpPr>
        <p:spPr>
          <a:xfrm>
            <a:off x="730250" y="-197096"/>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omic Sans MS"/>
              <a:buNone/>
            </a:pPr>
            <a:r>
              <a:rPr lang="en-GB">
                <a:latin typeface="Comic Sans MS"/>
                <a:ea typeface="Comic Sans MS"/>
                <a:cs typeface="Comic Sans MS"/>
                <a:sym typeface="Comic Sans MS"/>
              </a:rPr>
              <a:t>What are X-rays?</a:t>
            </a:r>
            <a:endParaRPr/>
          </a:p>
        </p:txBody>
      </p:sp>
      <p:sp>
        <p:nvSpPr>
          <p:cNvPr id="450" name="Google Shape;450;p45"/>
          <p:cNvSpPr txBox="1"/>
          <p:nvPr/>
        </p:nvSpPr>
        <p:spPr>
          <a:xfrm>
            <a:off x="493096" y="784226"/>
            <a:ext cx="10063643"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Comic Sans MS"/>
              <a:buNone/>
            </a:pPr>
            <a:r>
              <a:rPr lang="en-GB" sz="2800">
                <a:solidFill>
                  <a:schemeClr val="dk1"/>
                </a:solidFill>
                <a:latin typeface="Comic Sans MS"/>
                <a:ea typeface="Comic Sans MS"/>
                <a:cs typeface="Comic Sans MS"/>
                <a:sym typeface="Comic Sans MS"/>
              </a:rPr>
              <a:t>Anyone who has been to hospital with a broken bone will have had an X-ray photograph taken.</a:t>
            </a:r>
            <a:endParaRPr/>
          </a:p>
        </p:txBody>
      </p:sp>
      <p:sp>
        <p:nvSpPr>
          <p:cNvPr id="451" name="Google Shape;451;p45"/>
          <p:cNvSpPr txBox="1"/>
          <p:nvPr/>
        </p:nvSpPr>
        <p:spPr>
          <a:xfrm>
            <a:off x="260493" y="5433525"/>
            <a:ext cx="11455113"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Comic Sans MS"/>
              <a:buNone/>
            </a:pPr>
            <a:r>
              <a:rPr lang="en-GB" sz="2800">
                <a:solidFill>
                  <a:schemeClr val="dk1"/>
                </a:solidFill>
                <a:latin typeface="Comic Sans MS"/>
                <a:ea typeface="Comic Sans MS"/>
                <a:cs typeface="Comic Sans MS"/>
                <a:sym typeface="Comic Sans MS"/>
              </a:rPr>
              <a:t>X-rays have a very short wavelengths between 0.1 and 10</a:t>
            </a:r>
            <a:r>
              <a:rPr lang="en-GB" sz="1200">
                <a:solidFill>
                  <a:schemeClr val="dk1"/>
                </a:solidFill>
                <a:latin typeface="Comic Sans MS"/>
                <a:ea typeface="Comic Sans MS"/>
                <a:cs typeface="Comic Sans MS"/>
                <a:sym typeface="Comic Sans MS"/>
              </a:rPr>
              <a:t> </a:t>
            </a:r>
            <a:r>
              <a:rPr lang="en-GB" sz="2800">
                <a:solidFill>
                  <a:schemeClr val="dk1"/>
                </a:solidFill>
                <a:latin typeface="Comic Sans MS"/>
                <a:ea typeface="Comic Sans MS"/>
                <a:cs typeface="Comic Sans MS"/>
                <a:sym typeface="Comic Sans MS"/>
              </a:rPr>
              <a:t>nm. </a:t>
            </a:r>
            <a:endParaRPr/>
          </a:p>
          <a:p>
            <a:pPr indent="0" lvl="0" marL="0" marR="0" rtl="0" algn="l">
              <a:lnSpc>
                <a:spcPct val="100000"/>
              </a:lnSpc>
              <a:spcBef>
                <a:spcPts val="0"/>
              </a:spcBef>
              <a:spcAft>
                <a:spcPts val="0"/>
              </a:spcAft>
              <a:buClr>
                <a:schemeClr val="dk1"/>
              </a:buClr>
              <a:buSzPts val="2800"/>
              <a:buFont typeface="Comic Sans MS"/>
              <a:buNone/>
            </a:pPr>
            <a:r>
              <a:rPr lang="en-GB" sz="2800">
                <a:solidFill>
                  <a:schemeClr val="dk1"/>
                </a:solidFill>
                <a:latin typeface="Comic Sans MS"/>
                <a:ea typeface="Comic Sans MS"/>
                <a:cs typeface="Comic Sans MS"/>
                <a:sym typeface="Comic Sans MS"/>
              </a:rPr>
              <a:t>(The size of a water molecule is about 0.3 nm.)</a:t>
            </a:r>
            <a:endParaRPr/>
          </a:p>
        </p:txBody>
      </p:sp>
      <p:grpSp>
        <p:nvGrpSpPr>
          <p:cNvPr id="452" name="Google Shape;452;p45"/>
          <p:cNvGrpSpPr/>
          <p:nvPr/>
        </p:nvGrpSpPr>
        <p:grpSpPr>
          <a:xfrm>
            <a:off x="1614352" y="3277700"/>
            <a:ext cx="8942387" cy="2155825"/>
            <a:chOff x="57" y="1860"/>
            <a:chExt cx="5737" cy="1383"/>
          </a:xfrm>
        </p:grpSpPr>
        <p:sp>
          <p:nvSpPr>
            <p:cNvPr id="453" name="Google Shape;453;p45"/>
            <p:cNvSpPr/>
            <p:nvPr/>
          </p:nvSpPr>
          <p:spPr>
            <a:xfrm>
              <a:off x="58" y="1860"/>
              <a:ext cx="5736" cy="1383"/>
            </a:xfrm>
            <a:prstGeom prst="rect">
              <a:avLst/>
            </a:prstGeom>
            <a:solidFill>
              <a:srgbClr val="FFFFCC"/>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mic Sans MS"/>
                <a:ea typeface="Comic Sans MS"/>
                <a:cs typeface="Comic Sans MS"/>
                <a:sym typeface="Comic Sans MS"/>
              </a:endParaRPr>
            </a:p>
          </p:txBody>
        </p:sp>
        <p:pic>
          <p:nvPicPr>
            <p:cNvPr descr="PS_gfx_emscale" id="454" name="Google Shape;454;p45"/>
            <p:cNvPicPr preferRelativeResize="0"/>
            <p:nvPr/>
          </p:nvPicPr>
          <p:blipFill rotWithShape="1">
            <a:blip r:embed="rId3">
              <a:alphaModFix/>
            </a:blip>
            <a:srcRect b="0" l="13417" r="12047" t="0"/>
            <a:stretch/>
          </p:blipFill>
          <p:spPr>
            <a:xfrm>
              <a:off x="57" y="2058"/>
              <a:ext cx="5736" cy="918"/>
            </a:xfrm>
            <a:prstGeom prst="rect">
              <a:avLst/>
            </a:prstGeom>
            <a:noFill/>
            <a:ln>
              <a:noFill/>
            </a:ln>
          </p:spPr>
        </p:pic>
        <p:sp>
          <p:nvSpPr>
            <p:cNvPr id="455" name="Google Shape;455;p45"/>
            <p:cNvSpPr txBox="1"/>
            <p:nvPr/>
          </p:nvSpPr>
          <p:spPr>
            <a:xfrm>
              <a:off x="2140" y="1875"/>
              <a:ext cx="949" cy="497"/>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chemeClr val="dk1"/>
                </a:buClr>
                <a:buSzPts val="2800"/>
                <a:buFont typeface="Comic Sans MS"/>
                <a:buNone/>
              </a:pPr>
              <a:r>
                <a:rPr b="1" lang="en-GB" sz="2800">
                  <a:solidFill>
                    <a:schemeClr val="dk1"/>
                  </a:solidFill>
                  <a:latin typeface="Comic Sans MS"/>
                  <a:ea typeface="Comic Sans MS"/>
                  <a:cs typeface="Comic Sans MS"/>
                  <a:sym typeface="Comic Sans MS"/>
                </a:rPr>
                <a:t>ultra-violet</a:t>
              </a:r>
              <a:endParaRPr/>
            </a:p>
          </p:txBody>
        </p:sp>
        <p:sp>
          <p:nvSpPr>
            <p:cNvPr id="456" name="Google Shape;456;p45"/>
            <p:cNvSpPr txBox="1"/>
            <p:nvPr/>
          </p:nvSpPr>
          <p:spPr>
            <a:xfrm>
              <a:off x="932" y="1995"/>
              <a:ext cx="1035" cy="33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Comic Sans MS"/>
                <a:buNone/>
              </a:pPr>
              <a:r>
                <a:rPr b="1" lang="en-GB" sz="2800">
                  <a:solidFill>
                    <a:schemeClr val="dk1"/>
                  </a:solidFill>
                  <a:latin typeface="Comic Sans MS"/>
                  <a:ea typeface="Comic Sans MS"/>
                  <a:cs typeface="Comic Sans MS"/>
                  <a:sym typeface="Comic Sans MS"/>
                </a:rPr>
                <a:t>infrared</a:t>
              </a:r>
              <a:endParaRPr/>
            </a:p>
          </p:txBody>
        </p:sp>
        <p:sp>
          <p:nvSpPr>
            <p:cNvPr id="457" name="Google Shape;457;p45"/>
            <p:cNvSpPr txBox="1"/>
            <p:nvPr/>
          </p:nvSpPr>
          <p:spPr>
            <a:xfrm>
              <a:off x="3122" y="1997"/>
              <a:ext cx="1004" cy="33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CC"/>
                </a:buClr>
                <a:buSzPts val="2800"/>
                <a:buFont typeface="Comic Sans MS"/>
                <a:buNone/>
              </a:pPr>
              <a:r>
                <a:rPr b="1" lang="en-GB" sz="2800">
                  <a:solidFill>
                    <a:srgbClr val="CC00CC"/>
                  </a:solidFill>
                  <a:latin typeface="Comic Sans MS"/>
                  <a:ea typeface="Comic Sans MS"/>
                  <a:cs typeface="Comic Sans MS"/>
                  <a:sym typeface="Comic Sans MS"/>
                </a:rPr>
                <a:t>X-rays</a:t>
              </a:r>
              <a:r>
                <a:rPr b="1" lang="en-GB" sz="2800">
                  <a:solidFill>
                    <a:schemeClr val="dk1"/>
                  </a:solidFill>
                  <a:latin typeface="Comic Sans MS"/>
                  <a:ea typeface="Comic Sans MS"/>
                  <a:cs typeface="Comic Sans MS"/>
                  <a:sym typeface="Comic Sans MS"/>
                </a:rPr>
                <a:t> </a:t>
              </a:r>
              <a:endParaRPr/>
            </a:p>
          </p:txBody>
        </p:sp>
        <p:sp>
          <p:nvSpPr>
            <p:cNvPr id="458" name="Google Shape;458;p45"/>
            <p:cNvSpPr txBox="1"/>
            <p:nvPr/>
          </p:nvSpPr>
          <p:spPr>
            <a:xfrm>
              <a:off x="551" y="2701"/>
              <a:ext cx="421" cy="2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9900CC"/>
                </a:buClr>
                <a:buSzPts val="1800"/>
                <a:buFont typeface="Comic Sans MS"/>
                <a:buNone/>
              </a:pPr>
              <a:r>
                <a:rPr b="1" lang="en-GB" sz="1800">
                  <a:solidFill>
                    <a:srgbClr val="9900CC"/>
                  </a:solidFill>
                  <a:latin typeface="Comic Sans MS"/>
                  <a:ea typeface="Comic Sans MS"/>
                  <a:cs typeface="Comic Sans MS"/>
                  <a:sym typeface="Comic Sans MS"/>
                </a:rPr>
                <a:t>10</a:t>
              </a:r>
              <a:r>
                <a:rPr b="1" baseline="30000" lang="en-GB" sz="1800">
                  <a:solidFill>
                    <a:srgbClr val="9900CC"/>
                  </a:solidFill>
                  <a:latin typeface="Comic Sans MS"/>
                  <a:ea typeface="Comic Sans MS"/>
                  <a:cs typeface="Comic Sans MS"/>
                  <a:sym typeface="Comic Sans MS"/>
                </a:rPr>
                <a:t>-3</a:t>
              </a:r>
              <a:endParaRPr b="1" sz="1800">
                <a:solidFill>
                  <a:srgbClr val="9900CC"/>
                </a:solidFill>
                <a:latin typeface="Comic Sans MS"/>
                <a:ea typeface="Comic Sans MS"/>
                <a:cs typeface="Comic Sans MS"/>
                <a:sym typeface="Comic Sans MS"/>
              </a:endParaRPr>
            </a:p>
          </p:txBody>
        </p:sp>
        <p:sp>
          <p:nvSpPr>
            <p:cNvPr id="459" name="Google Shape;459;p45"/>
            <p:cNvSpPr txBox="1"/>
            <p:nvPr/>
          </p:nvSpPr>
          <p:spPr>
            <a:xfrm>
              <a:off x="3311" y="2701"/>
              <a:ext cx="421" cy="2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9900CC"/>
                </a:buClr>
                <a:buSzPts val="1800"/>
                <a:buFont typeface="Comic Sans MS"/>
                <a:buNone/>
              </a:pPr>
              <a:r>
                <a:rPr b="1" lang="en-GB" sz="1800">
                  <a:solidFill>
                    <a:srgbClr val="9900CC"/>
                  </a:solidFill>
                  <a:latin typeface="Comic Sans MS"/>
                  <a:ea typeface="Comic Sans MS"/>
                  <a:cs typeface="Comic Sans MS"/>
                  <a:sym typeface="Comic Sans MS"/>
                </a:rPr>
                <a:t>10</a:t>
              </a:r>
              <a:r>
                <a:rPr b="1" baseline="30000" lang="en-GB" sz="1800">
                  <a:solidFill>
                    <a:srgbClr val="9900CC"/>
                  </a:solidFill>
                  <a:latin typeface="Comic Sans MS"/>
                  <a:ea typeface="Comic Sans MS"/>
                  <a:cs typeface="Comic Sans MS"/>
                  <a:sym typeface="Comic Sans MS"/>
                </a:rPr>
                <a:t>-9</a:t>
              </a:r>
              <a:endParaRPr b="1" sz="1800">
                <a:solidFill>
                  <a:srgbClr val="9900CC"/>
                </a:solidFill>
                <a:latin typeface="Comic Sans MS"/>
                <a:ea typeface="Comic Sans MS"/>
                <a:cs typeface="Comic Sans MS"/>
                <a:sym typeface="Comic Sans MS"/>
              </a:endParaRPr>
            </a:p>
          </p:txBody>
        </p:sp>
        <p:sp>
          <p:nvSpPr>
            <p:cNvPr id="460" name="Google Shape;460;p45"/>
            <p:cNvSpPr txBox="1"/>
            <p:nvPr/>
          </p:nvSpPr>
          <p:spPr>
            <a:xfrm>
              <a:off x="1776" y="2701"/>
              <a:ext cx="742" cy="23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9900CC"/>
                </a:buClr>
                <a:buSzPts val="1800"/>
                <a:buFont typeface="Comic Sans MS"/>
                <a:buNone/>
              </a:pPr>
              <a:r>
                <a:rPr b="1" lang="en-GB" sz="1800">
                  <a:solidFill>
                    <a:srgbClr val="9900CC"/>
                  </a:solidFill>
                  <a:latin typeface="Comic Sans MS"/>
                  <a:ea typeface="Comic Sans MS"/>
                  <a:cs typeface="Comic Sans MS"/>
                  <a:sym typeface="Comic Sans MS"/>
                </a:rPr>
                <a:t>10</a:t>
              </a:r>
              <a:r>
                <a:rPr b="1" baseline="30000" lang="en-GB" sz="1800">
                  <a:solidFill>
                    <a:srgbClr val="9900CC"/>
                  </a:solidFill>
                  <a:latin typeface="Comic Sans MS"/>
                  <a:ea typeface="Comic Sans MS"/>
                  <a:cs typeface="Comic Sans MS"/>
                  <a:sym typeface="Comic Sans MS"/>
                </a:rPr>
                <a:t>-6</a:t>
              </a:r>
              <a:endParaRPr b="1" sz="1800">
                <a:solidFill>
                  <a:srgbClr val="9900CC"/>
                </a:solidFill>
                <a:latin typeface="Comic Sans MS"/>
                <a:ea typeface="Comic Sans MS"/>
                <a:cs typeface="Comic Sans MS"/>
                <a:sym typeface="Comic Sans MS"/>
              </a:endParaRPr>
            </a:p>
          </p:txBody>
        </p:sp>
        <p:sp>
          <p:nvSpPr>
            <p:cNvPr id="461" name="Google Shape;461;p45"/>
            <p:cNvSpPr txBox="1"/>
            <p:nvPr/>
          </p:nvSpPr>
          <p:spPr>
            <a:xfrm>
              <a:off x="4698" y="2701"/>
              <a:ext cx="482" cy="2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9900CC"/>
                </a:buClr>
                <a:buSzPts val="1800"/>
                <a:buFont typeface="Comic Sans MS"/>
                <a:buNone/>
              </a:pPr>
              <a:r>
                <a:rPr b="1" lang="en-GB" sz="1800">
                  <a:solidFill>
                    <a:srgbClr val="9900CC"/>
                  </a:solidFill>
                  <a:latin typeface="Comic Sans MS"/>
                  <a:ea typeface="Comic Sans MS"/>
                  <a:cs typeface="Comic Sans MS"/>
                  <a:sym typeface="Comic Sans MS"/>
                </a:rPr>
                <a:t>10</a:t>
              </a:r>
              <a:r>
                <a:rPr b="1" baseline="30000" lang="en-GB" sz="1800">
                  <a:solidFill>
                    <a:srgbClr val="9900CC"/>
                  </a:solidFill>
                  <a:latin typeface="Comic Sans MS"/>
                  <a:ea typeface="Comic Sans MS"/>
                  <a:cs typeface="Comic Sans MS"/>
                  <a:sym typeface="Comic Sans MS"/>
                </a:rPr>
                <a:t>-12</a:t>
              </a:r>
              <a:endParaRPr b="1" sz="1800">
                <a:solidFill>
                  <a:srgbClr val="9900CC"/>
                </a:solidFill>
                <a:latin typeface="Comic Sans MS"/>
                <a:ea typeface="Comic Sans MS"/>
                <a:cs typeface="Comic Sans MS"/>
                <a:sym typeface="Comic Sans MS"/>
              </a:endParaRPr>
            </a:p>
          </p:txBody>
        </p:sp>
        <p:sp>
          <p:nvSpPr>
            <p:cNvPr id="462" name="Google Shape;462;p45"/>
            <p:cNvSpPr txBox="1"/>
            <p:nvPr/>
          </p:nvSpPr>
          <p:spPr>
            <a:xfrm>
              <a:off x="4045" y="1871"/>
              <a:ext cx="854" cy="502"/>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chemeClr val="dk1"/>
                </a:buClr>
                <a:buSzPts val="2800"/>
                <a:buFont typeface="Comic Sans MS"/>
                <a:buNone/>
              </a:pPr>
              <a:r>
                <a:rPr b="1" lang="en-GB" sz="2800">
                  <a:solidFill>
                    <a:schemeClr val="dk1"/>
                  </a:solidFill>
                  <a:latin typeface="Comic Sans MS"/>
                  <a:ea typeface="Comic Sans MS"/>
                  <a:cs typeface="Comic Sans MS"/>
                  <a:sym typeface="Comic Sans MS"/>
                </a:rPr>
                <a:t>gamma</a:t>
              </a:r>
              <a:endParaRPr/>
            </a:p>
            <a:p>
              <a:pPr indent="0" lvl="0" marL="0" marR="0" rtl="0" algn="ctr">
                <a:lnSpc>
                  <a:spcPct val="80000"/>
                </a:lnSpc>
                <a:spcBef>
                  <a:spcPts val="0"/>
                </a:spcBef>
                <a:spcAft>
                  <a:spcPts val="0"/>
                </a:spcAft>
                <a:buClr>
                  <a:schemeClr val="dk1"/>
                </a:buClr>
                <a:buSzPts val="2800"/>
                <a:buFont typeface="Comic Sans MS"/>
                <a:buNone/>
              </a:pPr>
              <a:r>
                <a:rPr b="1" lang="en-GB" sz="2800">
                  <a:solidFill>
                    <a:schemeClr val="dk1"/>
                  </a:solidFill>
                  <a:latin typeface="Comic Sans MS"/>
                  <a:ea typeface="Comic Sans MS"/>
                  <a:cs typeface="Comic Sans MS"/>
                  <a:sym typeface="Comic Sans MS"/>
                </a:rPr>
                <a:t>rays</a:t>
              </a:r>
              <a:endParaRPr/>
            </a:p>
          </p:txBody>
        </p:sp>
        <p:sp>
          <p:nvSpPr>
            <p:cNvPr id="463" name="Google Shape;463;p45"/>
            <p:cNvSpPr txBox="1"/>
            <p:nvPr/>
          </p:nvSpPr>
          <p:spPr>
            <a:xfrm>
              <a:off x="1094" y="2949"/>
              <a:ext cx="2837" cy="2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9900CC"/>
                </a:buClr>
                <a:buSzPts val="1800"/>
                <a:buFont typeface="Comic Sans MS"/>
                <a:buNone/>
              </a:pPr>
              <a:r>
                <a:rPr b="1" lang="en-GB" sz="1800">
                  <a:solidFill>
                    <a:srgbClr val="9900CC"/>
                  </a:solidFill>
                  <a:latin typeface="Comic Sans MS"/>
                  <a:ea typeface="Comic Sans MS"/>
                  <a:cs typeface="Comic Sans MS"/>
                  <a:sym typeface="Comic Sans MS"/>
                </a:rPr>
                <a:t>wavelength of electromagnetic waves </a:t>
              </a:r>
              <a:endParaRPr/>
            </a:p>
          </p:txBody>
        </p:sp>
      </p:grpSp>
      <p:sp>
        <p:nvSpPr>
          <p:cNvPr id="464" name="Google Shape;464;p45"/>
          <p:cNvSpPr txBox="1"/>
          <p:nvPr/>
        </p:nvSpPr>
        <p:spPr>
          <a:xfrm>
            <a:off x="260493" y="1847500"/>
            <a:ext cx="11538954" cy="138499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Comic Sans MS"/>
              <a:buNone/>
            </a:pPr>
            <a:r>
              <a:rPr lang="en-GB" sz="2800">
                <a:solidFill>
                  <a:schemeClr val="dk1"/>
                </a:solidFill>
                <a:latin typeface="Comic Sans MS"/>
                <a:ea typeface="Comic Sans MS"/>
                <a:cs typeface="Comic Sans MS"/>
                <a:sym typeface="Comic Sans MS"/>
              </a:rPr>
              <a:t>X-rays are a form of electromagnetic radiation that are very penetrating. In the electromagnetic spectrum, they are found between UV and gamma rays.</a:t>
            </a:r>
            <a:endParaRPr/>
          </a:p>
        </p:txBody>
      </p:sp>
      <p:pic>
        <p:nvPicPr>
          <p:cNvPr descr="PC4_gfx_X-ray" id="465" name="Google Shape;465;p45"/>
          <p:cNvPicPr preferRelativeResize="0"/>
          <p:nvPr/>
        </p:nvPicPr>
        <p:blipFill rotWithShape="1">
          <a:blip r:embed="rId4">
            <a:alphaModFix/>
          </a:blip>
          <a:srcRect b="0" l="0" r="0" t="0"/>
          <a:stretch/>
        </p:blipFill>
        <p:spPr>
          <a:xfrm>
            <a:off x="10234615" y="243545"/>
            <a:ext cx="1571625" cy="16668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4"/>
                                        </p:tgtEl>
                                        <p:attrNameLst>
                                          <p:attrName>style.visibility</p:attrName>
                                        </p:attrNameLst>
                                      </p:cBhvr>
                                      <p:to>
                                        <p:strVal val="visible"/>
                                      </p:to>
                                    </p:set>
                                    <p:animEffect filter="fade" transition="in">
                                      <p:cBhvr>
                                        <p:cTn dur="500"/>
                                        <p:tgtEl>
                                          <p:spTgt spid="46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2"/>
                                        </p:tgtEl>
                                        <p:attrNameLst>
                                          <p:attrName>style.visibility</p:attrName>
                                        </p:attrNameLst>
                                      </p:cBhvr>
                                      <p:to>
                                        <p:strVal val="visible"/>
                                      </p:to>
                                    </p:set>
                                    <p:animEffect filter="fade" transition="in">
                                      <p:cBhvr>
                                        <p:cTn dur="500"/>
                                        <p:tgtEl>
                                          <p:spTgt spid="45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1"/>
                                        </p:tgtEl>
                                        <p:attrNameLst>
                                          <p:attrName>style.visibility</p:attrName>
                                        </p:attrNameLst>
                                      </p:cBhvr>
                                      <p:to>
                                        <p:strVal val="visible"/>
                                      </p:to>
                                    </p:set>
                                    <p:animEffect filter="fade" transition="in">
                                      <p:cBhvr>
                                        <p:cTn dur="500"/>
                                        <p:tgtEl>
                                          <p:spTgt spid="45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p46"/>
          <p:cNvSpPr txBox="1"/>
          <p:nvPr>
            <p:ph type="title"/>
          </p:nvPr>
        </p:nvSpPr>
        <p:spPr>
          <a:xfrm>
            <a:off x="795997" y="-2127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omic Sans MS"/>
              <a:buNone/>
            </a:pPr>
            <a:r>
              <a:rPr lang="en-GB">
                <a:latin typeface="Comic Sans MS"/>
                <a:ea typeface="Comic Sans MS"/>
                <a:cs typeface="Comic Sans MS"/>
                <a:sym typeface="Comic Sans MS"/>
              </a:rPr>
              <a:t>How are X-rays produced?</a:t>
            </a:r>
            <a:endParaRPr/>
          </a:p>
        </p:txBody>
      </p:sp>
      <p:sp>
        <p:nvSpPr>
          <p:cNvPr id="472" name="Google Shape;472;p46"/>
          <p:cNvSpPr txBox="1"/>
          <p:nvPr/>
        </p:nvSpPr>
        <p:spPr>
          <a:xfrm>
            <a:off x="225084" y="784226"/>
            <a:ext cx="10443000" cy="831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lang="en-GB" sz="2400">
                <a:solidFill>
                  <a:schemeClr val="dk1"/>
                </a:solidFill>
                <a:latin typeface="Comic Sans MS"/>
                <a:ea typeface="Comic Sans MS"/>
                <a:cs typeface="Comic Sans MS"/>
                <a:sym typeface="Comic Sans MS"/>
              </a:rPr>
              <a:t>X-rays are created when high-energy electrons suddenly lose energy. X-rays are produced artificially using a </a:t>
            </a:r>
            <a:r>
              <a:rPr b="1" lang="en-GB" sz="2400">
                <a:solidFill>
                  <a:srgbClr val="CC00CC"/>
                </a:solidFill>
                <a:latin typeface="Comic Sans MS"/>
                <a:ea typeface="Comic Sans MS"/>
                <a:cs typeface="Comic Sans MS"/>
                <a:sym typeface="Comic Sans MS"/>
              </a:rPr>
              <a:t>X-ray tube.</a:t>
            </a:r>
            <a:endParaRPr/>
          </a:p>
        </p:txBody>
      </p:sp>
      <p:pic>
        <p:nvPicPr>
          <p:cNvPr descr="PC4_gfx_x-ray machine" id="473" name="Google Shape;473;p46"/>
          <p:cNvPicPr preferRelativeResize="0"/>
          <p:nvPr/>
        </p:nvPicPr>
        <p:blipFill rotWithShape="1">
          <a:blip r:embed="rId3">
            <a:alphaModFix/>
          </a:blip>
          <a:srcRect b="0" l="0" r="0" t="0"/>
          <a:stretch/>
        </p:blipFill>
        <p:spPr>
          <a:xfrm>
            <a:off x="4381500" y="996950"/>
            <a:ext cx="3811588" cy="5240338"/>
          </a:xfrm>
          <a:prstGeom prst="rect">
            <a:avLst/>
          </a:prstGeom>
          <a:noFill/>
          <a:ln>
            <a:noFill/>
          </a:ln>
        </p:spPr>
      </p:pic>
      <p:sp>
        <p:nvSpPr>
          <p:cNvPr id="474" name="Google Shape;474;p46"/>
          <p:cNvSpPr txBox="1"/>
          <p:nvPr/>
        </p:nvSpPr>
        <p:spPr>
          <a:xfrm>
            <a:off x="2602524" y="1673225"/>
            <a:ext cx="1317900" cy="892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Clr>
                <a:srgbClr val="010066"/>
              </a:buClr>
              <a:buSzPts val="2600"/>
              <a:buFont typeface="Comic Sans MS"/>
              <a:buNone/>
            </a:pPr>
            <a:r>
              <a:rPr b="1" lang="en-GB" sz="2600">
                <a:solidFill>
                  <a:srgbClr val="010066"/>
                </a:solidFill>
                <a:latin typeface="Comic Sans MS"/>
                <a:ea typeface="Comic Sans MS"/>
                <a:cs typeface="Comic Sans MS"/>
                <a:sym typeface="Comic Sans MS"/>
              </a:rPr>
              <a:t>high</a:t>
            </a:r>
            <a:endParaRPr/>
          </a:p>
          <a:p>
            <a:pPr indent="0" lvl="0" marL="0" marR="0" rtl="0" algn="ctr">
              <a:spcBef>
                <a:spcPts val="0"/>
              </a:spcBef>
              <a:spcAft>
                <a:spcPts val="0"/>
              </a:spcAft>
              <a:buClr>
                <a:srgbClr val="010066"/>
              </a:buClr>
              <a:buSzPts val="2600"/>
              <a:buFont typeface="Comic Sans MS"/>
              <a:buNone/>
            </a:pPr>
            <a:r>
              <a:rPr b="1" lang="en-GB" sz="2600">
                <a:solidFill>
                  <a:srgbClr val="010066"/>
                </a:solidFill>
                <a:latin typeface="Comic Sans MS"/>
                <a:ea typeface="Comic Sans MS"/>
                <a:cs typeface="Comic Sans MS"/>
                <a:sym typeface="Comic Sans MS"/>
              </a:rPr>
              <a:t>voltage</a:t>
            </a:r>
            <a:endParaRPr/>
          </a:p>
        </p:txBody>
      </p:sp>
      <p:sp>
        <p:nvSpPr>
          <p:cNvPr id="475" name="Google Shape;475;p46"/>
          <p:cNvSpPr txBox="1"/>
          <p:nvPr/>
        </p:nvSpPr>
        <p:spPr>
          <a:xfrm>
            <a:off x="2471738" y="2921001"/>
            <a:ext cx="1447800" cy="492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10066"/>
              </a:buClr>
              <a:buSzPts val="2600"/>
              <a:buFont typeface="Comic Sans MS"/>
              <a:buNone/>
            </a:pPr>
            <a:r>
              <a:rPr b="1" lang="en-GB" sz="2600">
                <a:solidFill>
                  <a:srgbClr val="010066"/>
                </a:solidFill>
                <a:latin typeface="Comic Sans MS"/>
                <a:ea typeface="Comic Sans MS"/>
                <a:cs typeface="Comic Sans MS"/>
                <a:sym typeface="Comic Sans MS"/>
              </a:rPr>
              <a:t>cathode</a:t>
            </a:r>
            <a:endParaRPr/>
          </a:p>
        </p:txBody>
      </p:sp>
      <p:sp>
        <p:nvSpPr>
          <p:cNvPr id="476" name="Google Shape;476;p46"/>
          <p:cNvSpPr txBox="1"/>
          <p:nvPr/>
        </p:nvSpPr>
        <p:spPr>
          <a:xfrm>
            <a:off x="8732838" y="2235201"/>
            <a:ext cx="1101600" cy="492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10066"/>
              </a:buClr>
              <a:buSzPts val="2600"/>
              <a:buFont typeface="Comic Sans MS"/>
              <a:buNone/>
            </a:pPr>
            <a:r>
              <a:rPr b="1" lang="en-GB" sz="2600">
                <a:solidFill>
                  <a:srgbClr val="010066"/>
                </a:solidFill>
                <a:latin typeface="Comic Sans MS"/>
                <a:ea typeface="Comic Sans MS"/>
                <a:cs typeface="Comic Sans MS"/>
                <a:sym typeface="Comic Sans MS"/>
              </a:rPr>
              <a:t>anode</a:t>
            </a:r>
            <a:endParaRPr/>
          </a:p>
        </p:txBody>
      </p:sp>
      <p:sp>
        <p:nvSpPr>
          <p:cNvPr id="477" name="Google Shape;477;p46"/>
          <p:cNvSpPr txBox="1"/>
          <p:nvPr/>
        </p:nvSpPr>
        <p:spPr>
          <a:xfrm>
            <a:off x="8537881" y="3159125"/>
            <a:ext cx="1545600" cy="892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Clr>
                <a:srgbClr val="010066"/>
              </a:buClr>
              <a:buSzPts val="2600"/>
              <a:buFont typeface="Comic Sans MS"/>
              <a:buNone/>
            </a:pPr>
            <a:r>
              <a:rPr b="1" lang="en-GB" sz="2600">
                <a:solidFill>
                  <a:srgbClr val="010066"/>
                </a:solidFill>
                <a:latin typeface="Comic Sans MS"/>
                <a:ea typeface="Comic Sans MS"/>
                <a:cs typeface="Comic Sans MS"/>
                <a:sym typeface="Comic Sans MS"/>
              </a:rPr>
              <a:t>tungsten</a:t>
            </a:r>
            <a:endParaRPr/>
          </a:p>
          <a:p>
            <a:pPr indent="0" lvl="0" marL="0" marR="0" rtl="0" algn="ctr">
              <a:spcBef>
                <a:spcPts val="0"/>
              </a:spcBef>
              <a:spcAft>
                <a:spcPts val="0"/>
              </a:spcAft>
              <a:buClr>
                <a:srgbClr val="010066"/>
              </a:buClr>
              <a:buSzPts val="2600"/>
              <a:buFont typeface="Comic Sans MS"/>
              <a:buNone/>
            </a:pPr>
            <a:r>
              <a:rPr b="1" lang="en-GB" sz="2600">
                <a:solidFill>
                  <a:srgbClr val="010066"/>
                </a:solidFill>
                <a:latin typeface="Comic Sans MS"/>
                <a:ea typeface="Comic Sans MS"/>
                <a:cs typeface="Comic Sans MS"/>
                <a:sym typeface="Comic Sans MS"/>
              </a:rPr>
              <a:t>target</a:t>
            </a:r>
            <a:endParaRPr/>
          </a:p>
        </p:txBody>
      </p:sp>
      <p:sp>
        <p:nvSpPr>
          <p:cNvPr id="478" name="Google Shape;478;p46"/>
          <p:cNvSpPr txBox="1"/>
          <p:nvPr/>
        </p:nvSpPr>
        <p:spPr>
          <a:xfrm>
            <a:off x="7113589" y="4445001"/>
            <a:ext cx="1322700" cy="492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10066"/>
              </a:buClr>
              <a:buSzPts val="2600"/>
              <a:buFont typeface="Comic Sans MS"/>
              <a:buNone/>
            </a:pPr>
            <a:r>
              <a:rPr b="1" lang="en-GB" sz="2600">
                <a:solidFill>
                  <a:srgbClr val="010066"/>
                </a:solidFill>
                <a:latin typeface="Comic Sans MS"/>
                <a:ea typeface="Comic Sans MS"/>
                <a:cs typeface="Comic Sans MS"/>
                <a:sym typeface="Comic Sans MS"/>
              </a:rPr>
              <a:t>X-rays</a:t>
            </a:r>
            <a:endParaRPr/>
          </a:p>
        </p:txBody>
      </p:sp>
      <p:cxnSp>
        <p:nvCxnSpPr>
          <p:cNvPr id="479" name="Google Shape;479;p46"/>
          <p:cNvCxnSpPr/>
          <p:nvPr/>
        </p:nvCxnSpPr>
        <p:spPr>
          <a:xfrm>
            <a:off x="3851276" y="1916113"/>
            <a:ext cx="2549400" cy="203100"/>
          </a:xfrm>
          <a:prstGeom prst="straightConnector1">
            <a:avLst/>
          </a:prstGeom>
          <a:noFill/>
          <a:ln cap="flat" cmpd="sng" w="38100">
            <a:solidFill>
              <a:srgbClr val="010066"/>
            </a:solidFill>
            <a:prstDash val="solid"/>
            <a:round/>
            <a:headEnd len="med" w="med" type="oval"/>
            <a:tailEnd len="lg" w="lg" type="triangle"/>
          </a:ln>
        </p:spPr>
      </p:cxnSp>
      <p:sp>
        <p:nvSpPr>
          <p:cNvPr id="480" name="Google Shape;480;p46"/>
          <p:cNvSpPr txBox="1"/>
          <p:nvPr/>
        </p:nvSpPr>
        <p:spPr>
          <a:xfrm>
            <a:off x="2486314" y="3844925"/>
            <a:ext cx="1548900" cy="892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Clr>
                <a:srgbClr val="010066"/>
              </a:buClr>
              <a:buSzPts val="2600"/>
              <a:buFont typeface="Comic Sans MS"/>
              <a:buNone/>
            </a:pPr>
            <a:r>
              <a:rPr b="1" lang="en-GB" sz="2600">
                <a:solidFill>
                  <a:srgbClr val="010066"/>
                </a:solidFill>
                <a:latin typeface="Comic Sans MS"/>
                <a:ea typeface="Comic Sans MS"/>
                <a:cs typeface="Comic Sans MS"/>
                <a:sym typeface="Comic Sans MS"/>
              </a:rPr>
              <a:t>lead</a:t>
            </a:r>
            <a:endParaRPr/>
          </a:p>
          <a:p>
            <a:pPr indent="0" lvl="0" marL="0" marR="0" rtl="0" algn="ctr">
              <a:spcBef>
                <a:spcPts val="0"/>
              </a:spcBef>
              <a:spcAft>
                <a:spcPts val="0"/>
              </a:spcAft>
              <a:buClr>
                <a:srgbClr val="010066"/>
              </a:buClr>
              <a:buSzPts val="2600"/>
              <a:buFont typeface="Comic Sans MS"/>
              <a:buNone/>
            </a:pPr>
            <a:r>
              <a:rPr b="1" lang="en-GB" sz="2600">
                <a:solidFill>
                  <a:srgbClr val="010066"/>
                </a:solidFill>
                <a:latin typeface="Comic Sans MS"/>
                <a:ea typeface="Comic Sans MS"/>
                <a:cs typeface="Comic Sans MS"/>
                <a:sym typeface="Comic Sans MS"/>
              </a:rPr>
              <a:t>shielding</a:t>
            </a:r>
            <a:endParaRPr/>
          </a:p>
        </p:txBody>
      </p:sp>
      <p:cxnSp>
        <p:nvCxnSpPr>
          <p:cNvPr id="481" name="Google Shape;481;p46"/>
          <p:cNvCxnSpPr/>
          <p:nvPr/>
        </p:nvCxnSpPr>
        <p:spPr>
          <a:xfrm>
            <a:off x="3851276" y="4125913"/>
            <a:ext cx="708000" cy="12600"/>
          </a:xfrm>
          <a:prstGeom prst="straightConnector1">
            <a:avLst/>
          </a:prstGeom>
          <a:noFill/>
          <a:ln cap="flat" cmpd="sng" w="38100">
            <a:solidFill>
              <a:srgbClr val="010066"/>
            </a:solidFill>
            <a:prstDash val="solid"/>
            <a:round/>
            <a:headEnd len="med" w="med" type="oval"/>
            <a:tailEnd len="lg" w="lg" type="triangle"/>
          </a:ln>
        </p:spPr>
      </p:cxnSp>
      <p:cxnSp>
        <p:nvCxnSpPr>
          <p:cNvPr id="482" name="Google Shape;482;p46"/>
          <p:cNvCxnSpPr/>
          <p:nvPr/>
        </p:nvCxnSpPr>
        <p:spPr>
          <a:xfrm>
            <a:off x="3978276" y="3173413"/>
            <a:ext cx="949200" cy="0"/>
          </a:xfrm>
          <a:prstGeom prst="straightConnector1">
            <a:avLst/>
          </a:prstGeom>
          <a:noFill/>
          <a:ln cap="flat" cmpd="sng" w="38100">
            <a:solidFill>
              <a:srgbClr val="010066"/>
            </a:solidFill>
            <a:prstDash val="solid"/>
            <a:round/>
            <a:headEnd len="med" w="med" type="oval"/>
            <a:tailEnd len="lg" w="lg" type="triangle"/>
          </a:ln>
        </p:spPr>
      </p:cxnSp>
      <p:cxnSp>
        <p:nvCxnSpPr>
          <p:cNvPr id="483" name="Google Shape;483;p46"/>
          <p:cNvCxnSpPr/>
          <p:nvPr/>
        </p:nvCxnSpPr>
        <p:spPr>
          <a:xfrm flipH="1">
            <a:off x="7251776" y="2487613"/>
            <a:ext cx="1438200" cy="431700"/>
          </a:xfrm>
          <a:prstGeom prst="straightConnector1">
            <a:avLst/>
          </a:prstGeom>
          <a:noFill/>
          <a:ln cap="flat" cmpd="sng" w="38100">
            <a:solidFill>
              <a:srgbClr val="010066"/>
            </a:solidFill>
            <a:prstDash val="solid"/>
            <a:round/>
            <a:headEnd len="med" w="med" type="oval"/>
            <a:tailEnd len="lg" w="lg" type="triangle"/>
          </a:ln>
        </p:spPr>
      </p:cxnSp>
      <p:cxnSp>
        <p:nvCxnSpPr>
          <p:cNvPr id="484" name="Google Shape;484;p46"/>
          <p:cNvCxnSpPr/>
          <p:nvPr/>
        </p:nvCxnSpPr>
        <p:spPr>
          <a:xfrm rot="10800000">
            <a:off x="7175376" y="3237013"/>
            <a:ext cx="1527300" cy="431700"/>
          </a:xfrm>
          <a:prstGeom prst="straightConnector1">
            <a:avLst/>
          </a:prstGeom>
          <a:noFill/>
          <a:ln cap="flat" cmpd="sng" w="38100">
            <a:solidFill>
              <a:srgbClr val="010066"/>
            </a:solidFill>
            <a:prstDash val="solid"/>
            <a:round/>
            <a:headEnd len="med" w="med" type="oval"/>
            <a:tailEnd len="lg" w="lg" type="triangle"/>
          </a:ln>
        </p:spPr>
      </p:cxnSp>
      <p:sp>
        <p:nvSpPr>
          <p:cNvPr id="485" name="Google Shape;485;p46"/>
          <p:cNvSpPr txBox="1"/>
          <p:nvPr/>
        </p:nvSpPr>
        <p:spPr>
          <a:xfrm>
            <a:off x="225084" y="5338760"/>
            <a:ext cx="11967000" cy="1569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400">
                <a:solidFill>
                  <a:schemeClr val="dk1"/>
                </a:solidFill>
                <a:latin typeface="Comic Sans MS"/>
                <a:ea typeface="Comic Sans MS"/>
                <a:cs typeface="Comic Sans MS"/>
                <a:sym typeface="Comic Sans MS"/>
              </a:rPr>
              <a:t>Electrons from the hot cathode are fired at the tungsten target at high speed. When these high-energy electrons strike the target, some of their energy is changed into X-rays. </a:t>
            </a:r>
            <a:endParaRPr/>
          </a:p>
          <a:p>
            <a:pPr indent="0" lvl="0" marL="0" marR="0" rtl="0" algn="l">
              <a:lnSpc>
                <a:spcPct val="100000"/>
              </a:lnSpc>
              <a:spcBef>
                <a:spcPts val="0"/>
              </a:spcBef>
              <a:spcAft>
                <a:spcPts val="0"/>
              </a:spcAft>
              <a:buClr>
                <a:schemeClr val="dk1"/>
              </a:buClr>
              <a:buSzPts val="2400"/>
              <a:buFont typeface="Calibri"/>
              <a:buNone/>
            </a:pPr>
            <a:r>
              <a:t/>
            </a:r>
            <a:endParaRPr sz="2400">
              <a:solidFill>
                <a:schemeClr val="dk1"/>
              </a:solidFill>
              <a:latin typeface="Comic Sans MS"/>
              <a:ea typeface="Comic Sans MS"/>
              <a:cs typeface="Comic Sans MS"/>
              <a:sym typeface="Comic Sans M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473"/>
                                        </p:tgtEl>
                                        <p:attrNameLst>
                                          <p:attrName>style.visibility</p:attrName>
                                        </p:attrNameLst>
                                      </p:cBhvr>
                                      <p:to>
                                        <p:strVal val="visible"/>
                                      </p:to>
                                    </p:set>
                                    <p:anim calcmode="lin" valueType="num">
                                      <p:cBhvr additive="base">
                                        <p:cTn dur="500"/>
                                        <p:tgtEl>
                                          <p:spTgt spid="473"/>
                                        </p:tgtEl>
                                        <p:attrNameLst>
                                          <p:attrName>ppt_w</p:attrName>
                                        </p:attrNameLst>
                                      </p:cBhvr>
                                      <p:tavLst>
                                        <p:tav fmla="" tm="0">
                                          <p:val>
                                            <p:strVal val="0"/>
                                          </p:val>
                                        </p:tav>
                                        <p:tav fmla="" tm="100000">
                                          <p:val>
                                            <p:strVal val="#ppt_w"/>
                                          </p:val>
                                        </p:tav>
                                      </p:tavLst>
                                    </p:anim>
                                    <p:anim calcmode="lin" valueType="num">
                                      <p:cBhvr additive="base">
                                        <p:cTn dur="500"/>
                                        <p:tgtEl>
                                          <p:spTgt spid="473"/>
                                        </p:tgtEl>
                                        <p:attrNameLst>
                                          <p:attrName>ppt_h</p:attrName>
                                        </p:attrNameLst>
                                      </p:cBhvr>
                                      <p:tavLst>
                                        <p:tav fmla="" tm="0">
                                          <p:val>
                                            <p:strVal val="0"/>
                                          </p:val>
                                        </p:tav>
                                        <p:tav fmla="" tm="100000">
                                          <p:val>
                                            <p:strVal val="#ppt_h"/>
                                          </p:val>
                                        </p:tav>
                                      </p:tavLst>
                                    </p:anim>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74"/>
                                        </p:tgtEl>
                                        <p:attrNameLst>
                                          <p:attrName>style.visibility</p:attrName>
                                        </p:attrNameLst>
                                      </p:cBhvr>
                                      <p:to>
                                        <p:strVal val="visible"/>
                                      </p:to>
                                    </p:set>
                                    <p:animEffect filter="fade" transition="in">
                                      <p:cBhvr>
                                        <p:cTn dur="500"/>
                                        <p:tgtEl>
                                          <p:spTgt spid="474"/>
                                        </p:tgtEl>
                                      </p:cBhvr>
                                    </p:animEffect>
                                  </p:childTnLst>
                                </p:cTn>
                              </p:par>
                              <p:par>
                                <p:cTn fill="hold" nodeType="withEffect" presetClass="entr" presetID="10" presetSubtype="0">
                                  <p:stCondLst>
                                    <p:cond delay="0"/>
                                  </p:stCondLst>
                                  <p:childTnLst>
                                    <p:set>
                                      <p:cBhvr>
                                        <p:cTn dur="1" fill="hold">
                                          <p:stCondLst>
                                            <p:cond delay="0"/>
                                          </p:stCondLst>
                                        </p:cTn>
                                        <p:tgtEl>
                                          <p:spTgt spid="479"/>
                                        </p:tgtEl>
                                        <p:attrNameLst>
                                          <p:attrName>style.visibility</p:attrName>
                                        </p:attrNameLst>
                                      </p:cBhvr>
                                      <p:to>
                                        <p:strVal val="visible"/>
                                      </p:to>
                                    </p:set>
                                    <p:animEffect filter="fade" transition="in">
                                      <p:cBhvr>
                                        <p:cTn dur="500"/>
                                        <p:tgtEl>
                                          <p:spTgt spid="479"/>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75"/>
                                        </p:tgtEl>
                                        <p:attrNameLst>
                                          <p:attrName>style.visibility</p:attrName>
                                        </p:attrNameLst>
                                      </p:cBhvr>
                                      <p:to>
                                        <p:strVal val="visible"/>
                                      </p:to>
                                    </p:set>
                                    <p:animEffect filter="fade" transition="in">
                                      <p:cBhvr>
                                        <p:cTn dur="500"/>
                                        <p:tgtEl>
                                          <p:spTgt spid="475"/>
                                        </p:tgtEl>
                                      </p:cBhvr>
                                    </p:animEffect>
                                  </p:childTnLst>
                                </p:cTn>
                              </p:par>
                              <p:par>
                                <p:cTn fill="hold" nodeType="withEffect" presetClass="entr" presetID="10" presetSubtype="0">
                                  <p:stCondLst>
                                    <p:cond delay="0"/>
                                  </p:stCondLst>
                                  <p:childTnLst>
                                    <p:set>
                                      <p:cBhvr>
                                        <p:cTn dur="1" fill="hold">
                                          <p:stCondLst>
                                            <p:cond delay="0"/>
                                          </p:stCondLst>
                                        </p:cTn>
                                        <p:tgtEl>
                                          <p:spTgt spid="482"/>
                                        </p:tgtEl>
                                        <p:attrNameLst>
                                          <p:attrName>style.visibility</p:attrName>
                                        </p:attrNameLst>
                                      </p:cBhvr>
                                      <p:to>
                                        <p:strVal val="visible"/>
                                      </p:to>
                                    </p:set>
                                    <p:animEffect filter="fade" transition="in">
                                      <p:cBhvr>
                                        <p:cTn dur="500"/>
                                        <p:tgtEl>
                                          <p:spTgt spid="482"/>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480"/>
                                        </p:tgtEl>
                                        <p:attrNameLst>
                                          <p:attrName>style.visibility</p:attrName>
                                        </p:attrNameLst>
                                      </p:cBhvr>
                                      <p:to>
                                        <p:strVal val="visible"/>
                                      </p:to>
                                    </p:set>
                                    <p:animEffect filter="fade" transition="in">
                                      <p:cBhvr>
                                        <p:cTn dur="500"/>
                                        <p:tgtEl>
                                          <p:spTgt spid="480"/>
                                        </p:tgtEl>
                                      </p:cBhvr>
                                    </p:animEffect>
                                  </p:childTnLst>
                                </p:cTn>
                              </p:par>
                              <p:par>
                                <p:cTn fill="hold" nodeType="withEffect" presetClass="entr" presetID="10" presetSubtype="0">
                                  <p:stCondLst>
                                    <p:cond delay="0"/>
                                  </p:stCondLst>
                                  <p:childTnLst>
                                    <p:set>
                                      <p:cBhvr>
                                        <p:cTn dur="1" fill="hold">
                                          <p:stCondLst>
                                            <p:cond delay="0"/>
                                          </p:stCondLst>
                                        </p:cTn>
                                        <p:tgtEl>
                                          <p:spTgt spid="481"/>
                                        </p:tgtEl>
                                        <p:attrNameLst>
                                          <p:attrName>style.visibility</p:attrName>
                                        </p:attrNameLst>
                                      </p:cBhvr>
                                      <p:to>
                                        <p:strVal val="visible"/>
                                      </p:to>
                                    </p:set>
                                    <p:animEffect filter="fade" transition="in">
                                      <p:cBhvr>
                                        <p:cTn dur="500"/>
                                        <p:tgtEl>
                                          <p:spTgt spid="481"/>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476"/>
                                        </p:tgtEl>
                                        <p:attrNameLst>
                                          <p:attrName>style.visibility</p:attrName>
                                        </p:attrNameLst>
                                      </p:cBhvr>
                                      <p:to>
                                        <p:strVal val="visible"/>
                                      </p:to>
                                    </p:set>
                                    <p:animEffect filter="fade" transition="in">
                                      <p:cBhvr>
                                        <p:cTn dur="500"/>
                                        <p:tgtEl>
                                          <p:spTgt spid="476"/>
                                        </p:tgtEl>
                                      </p:cBhvr>
                                    </p:animEffect>
                                  </p:childTnLst>
                                </p:cTn>
                              </p:par>
                              <p:par>
                                <p:cTn fill="hold" nodeType="withEffect" presetClass="entr" presetID="10" presetSubtype="0">
                                  <p:stCondLst>
                                    <p:cond delay="0"/>
                                  </p:stCondLst>
                                  <p:childTnLst>
                                    <p:set>
                                      <p:cBhvr>
                                        <p:cTn dur="1" fill="hold">
                                          <p:stCondLst>
                                            <p:cond delay="0"/>
                                          </p:stCondLst>
                                        </p:cTn>
                                        <p:tgtEl>
                                          <p:spTgt spid="483"/>
                                        </p:tgtEl>
                                        <p:attrNameLst>
                                          <p:attrName>style.visibility</p:attrName>
                                        </p:attrNameLst>
                                      </p:cBhvr>
                                      <p:to>
                                        <p:strVal val="visible"/>
                                      </p:to>
                                    </p:set>
                                    <p:animEffect filter="fade" transition="in">
                                      <p:cBhvr>
                                        <p:cTn dur="500"/>
                                        <p:tgtEl>
                                          <p:spTgt spid="483"/>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477"/>
                                        </p:tgtEl>
                                        <p:attrNameLst>
                                          <p:attrName>style.visibility</p:attrName>
                                        </p:attrNameLst>
                                      </p:cBhvr>
                                      <p:to>
                                        <p:strVal val="visible"/>
                                      </p:to>
                                    </p:set>
                                    <p:animEffect filter="fade" transition="in">
                                      <p:cBhvr>
                                        <p:cTn dur="500"/>
                                        <p:tgtEl>
                                          <p:spTgt spid="477"/>
                                        </p:tgtEl>
                                      </p:cBhvr>
                                    </p:animEffect>
                                  </p:childTnLst>
                                </p:cTn>
                              </p:par>
                              <p:par>
                                <p:cTn fill="hold" nodeType="withEffect" presetClass="entr" presetID="10" presetSubtype="0">
                                  <p:stCondLst>
                                    <p:cond delay="0"/>
                                  </p:stCondLst>
                                  <p:childTnLst>
                                    <p:set>
                                      <p:cBhvr>
                                        <p:cTn dur="1" fill="hold">
                                          <p:stCondLst>
                                            <p:cond delay="0"/>
                                          </p:stCondLst>
                                        </p:cTn>
                                        <p:tgtEl>
                                          <p:spTgt spid="484"/>
                                        </p:tgtEl>
                                        <p:attrNameLst>
                                          <p:attrName>style.visibility</p:attrName>
                                        </p:attrNameLst>
                                      </p:cBhvr>
                                      <p:to>
                                        <p:strVal val="visible"/>
                                      </p:to>
                                    </p:set>
                                    <p:animEffect filter="fade" transition="in">
                                      <p:cBhvr>
                                        <p:cTn dur="500"/>
                                        <p:tgtEl>
                                          <p:spTgt spid="484"/>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478"/>
                                        </p:tgtEl>
                                        <p:attrNameLst>
                                          <p:attrName>style.visibility</p:attrName>
                                        </p:attrNameLst>
                                      </p:cBhvr>
                                      <p:to>
                                        <p:strVal val="visible"/>
                                      </p:to>
                                    </p:set>
                                    <p:animEffect filter="fade" transition="in">
                                      <p:cBhvr>
                                        <p:cTn dur="500"/>
                                        <p:tgtEl>
                                          <p:spTgt spid="47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pic>
        <p:nvPicPr>
          <p:cNvPr descr="JM_CC0007_credit" id="491" name="Google Shape;491;p47"/>
          <p:cNvPicPr preferRelativeResize="0"/>
          <p:nvPr/>
        </p:nvPicPr>
        <p:blipFill rotWithShape="1">
          <a:blip r:embed="rId3">
            <a:alphaModFix/>
          </a:blip>
          <a:srcRect b="0" l="0" r="0" t="0"/>
          <a:stretch/>
        </p:blipFill>
        <p:spPr>
          <a:xfrm>
            <a:off x="7840078" y="3629465"/>
            <a:ext cx="4034424" cy="2996125"/>
          </a:xfrm>
          <a:prstGeom prst="rect">
            <a:avLst/>
          </a:prstGeom>
          <a:noFill/>
          <a:ln>
            <a:noFill/>
          </a:ln>
        </p:spPr>
      </p:pic>
      <p:sp>
        <p:nvSpPr>
          <p:cNvPr id="492" name="Google Shape;492;p47"/>
          <p:cNvSpPr txBox="1"/>
          <p:nvPr>
            <p:ph type="title"/>
          </p:nvPr>
        </p:nvSpPr>
        <p:spPr>
          <a:xfrm>
            <a:off x="472440" y="-197168"/>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omic Sans MS"/>
              <a:buNone/>
            </a:pPr>
            <a:r>
              <a:rPr lang="en-GB">
                <a:latin typeface="Comic Sans MS"/>
                <a:ea typeface="Comic Sans MS"/>
                <a:cs typeface="Comic Sans MS"/>
                <a:sym typeface="Comic Sans MS"/>
              </a:rPr>
              <a:t>What are X-rays used for?</a:t>
            </a:r>
            <a:endParaRPr/>
          </a:p>
        </p:txBody>
      </p:sp>
      <p:pic>
        <p:nvPicPr>
          <p:cNvPr descr="262066_4290" id="493" name="Google Shape;493;p47"/>
          <p:cNvPicPr preferRelativeResize="0"/>
          <p:nvPr/>
        </p:nvPicPr>
        <p:blipFill rotWithShape="1">
          <a:blip r:embed="rId4">
            <a:alphaModFix/>
          </a:blip>
          <a:srcRect b="0" l="0" r="0" t="0"/>
          <a:stretch/>
        </p:blipFill>
        <p:spPr>
          <a:xfrm>
            <a:off x="8271803" y="151337"/>
            <a:ext cx="3602699" cy="3225177"/>
          </a:xfrm>
          <a:prstGeom prst="rect">
            <a:avLst/>
          </a:prstGeom>
          <a:noFill/>
          <a:ln>
            <a:noFill/>
          </a:ln>
        </p:spPr>
      </p:pic>
      <p:sp>
        <p:nvSpPr>
          <p:cNvPr id="494" name="Google Shape;494;p47"/>
          <p:cNvSpPr txBox="1"/>
          <p:nvPr/>
        </p:nvSpPr>
        <p:spPr>
          <a:xfrm>
            <a:off x="239151" y="781050"/>
            <a:ext cx="7095099" cy="1892826"/>
          </a:xfrm>
          <a:prstGeom prst="rect">
            <a:avLst/>
          </a:prstGeom>
          <a:noFill/>
          <a:ln>
            <a:noFill/>
          </a:ln>
        </p:spPr>
        <p:txBody>
          <a:bodyPr anchorCtr="0" anchor="t" bIns="0" lIns="91425" spcFirstLastPara="1" rIns="0" wrap="square" tIns="45700">
            <a:spAutoFit/>
          </a:bodyPr>
          <a:lstStyle/>
          <a:p>
            <a:pPr indent="-355600" lvl="0" marL="355600" marR="0" rtl="0" algn="l">
              <a:lnSpc>
                <a:spcPct val="100000"/>
              </a:lnSpc>
              <a:spcBef>
                <a:spcPts val="0"/>
              </a:spcBef>
              <a:spcAft>
                <a:spcPts val="0"/>
              </a:spcAft>
              <a:buNone/>
            </a:pPr>
            <a:r>
              <a:rPr b="1" lang="en-GB" sz="2400">
                <a:solidFill>
                  <a:srgbClr val="CC00CC"/>
                </a:solidFill>
                <a:latin typeface="Comic Sans MS"/>
                <a:ea typeface="Comic Sans MS"/>
                <a:cs typeface="Comic Sans MS"/>
                <a:sym typeface="Comic Sans MS"/>
              </a:rPr>
              <a:t>Imaging</a:t>
            </a:r>
            <a:endParaRPr/>
          </a:p>
          <a:p>
            <a:pPr indent="-355600" lvl="0" marL="355600" marR="0" rtl="0" algn="l">
              <a:lnSpc>
                <a:spcPct val="100000"/>
              </a:lnSpc>
              <a:spcBef>
                <a:spcPts val="0"/>
              </a:spcBef>
              <a:spcAft>
                <a:spcPts val="0"/>
              </a:spcAft>
              <a:buClr>
                <a:srgbClr val="000066"/>
              </a:buClr>
              <a:buSzPts val="2400"/>
              <a:buFont typeface="Noto Sans Symbols"/>
              <a:buNone/>
            </a:pPr>
            <a:r>
              <a:rPr lang="en-GB" sz="2400">
                <a:solidFill>
                  <a:srgbClr val="000066"/>
                </a:solidFill>
                <a:latin typeface="Comic Sans MS"/>
                <a:ea typeface="Comic Sans MS"/>
                <a:cs typeface="Comic Sans MS"/>
                <a:sym typeface="Comic Sans MS"/>
              </a:rPr>
              <a:t>    X-rays are very penetrating and can pass through many forms of matter. They are used in medicine, industry and security to take pictures of the inside of objects. </a:t>
            </a:r>
            <a:endParaRPr/>
          </a:p>
        </p:txBody>
      </p:sp>
      <p:sp>
        <p:nvSpPr>
          <p:cNvPr id="495" name="Google Shape;495;p47"/>
          <p:cNvSpPr/>
          <p:nvPr/>
        </p:nvSpPr>
        <p:spPr>
          <a:xfrm>
            <a:off x="424195" y="3135313"/>
            <a:ext cx="7091144" cy="1154162"/>
          </a:xfrm>
          <a:prstGeom prst="rect">
            <a:avLst/>
          </a:prstGeom>
          <a:noFill/>
          <a:ln>
            <a:noFill/>
          </a:ln>
        </p:spPr>
        <p:txBody>
          <a:bodyPr anchorCtr="0" anchor="t" bIns="0" lIns="91425" spcFirstLastPara="1" rIns="0" wrap="square" tIns="45700">
            <a:noAutofit/>
          </a:bodyPr>
          <a:lstStyle/>
          <a:p>
            <a:pPr indent="-361950" lvl="0" marL="361950" marR="0" rtl="0" algn="l">
              <a:lnSpc>
                <a:spcPct val="100000"/>
              </a:lnSpc>
              <a:spcBef>
                <a:spcPts val="0"/>
              </a:spcBef>
              <a:spcAft>
                <a:spcPts val="0"/>
              </a:spcAft>
              <a:buNone/>
            </a:pPr>
            <a:r>
              <a:rPr b="1" lang="en-GB" sz="2400">
                <a:solidFill>
                  <a:srgbClr val="CC00CC"/>
                </a:solidFill>
                <a:latin typeface="Comic Sans MS"/>
                <a:ea typeface="Comic Sans MS"/>
                <a:cs typeface="Comic Sans MS"/>
                <a:sym typeface="Comic Sans MS"/>
              </a:rPr>
              <a:t>Treating cancer</a:t>
            </a:r>
            <a:endParaRPr/>
          </a:p>
          <a:p>
            <a:pPr indent="-361950" lvl="0" marL="361950" marR="0" rtl="0" algn="l">
              <a:lnSpc>
                <a:spcPct val="100000"/>
              </a:lnSpc>
              <a:spcBef>
                <a:spcPts val="0"/>
              </a:spcBef>
              <a:spcAft>
                <a:spcPts val="0"/>
              </a:spcAft>
              <a:buClr>
                <a:srgbClr val="000066"/>
              </a:buClr>
              <a:buSzPts val="2400"/>
              <a:buFont typeface="Noto Sans Symbols"/>
              <a:buNone/>
            </a:pPr>
            <a:r>
              <a:rPr lang="en-GB" sz="2400">
                <a:solidFill>
                  <a:srgbClr val="000066"/>
                </a:solidFill>
                <a:latin typeface="Comic Sans MS"/>
                <a:ea typeface="Comic Sans MS"/>
                <a:cs typeface="Comic Sans MS"/>
                <a:sym typeface="Comic Sans MS"/>
              </a:rPr>
              <a:t>    Concentrated beams of short wavelength X-rays can be used to kill cancerous cells.</a:t>
            </a:r>
            <a:endParaRPr/>
          </a:p>
        </p:txBody>
      </p:sp>
      <p:sp>
        <p:nvSpPr>
          <p:cNvPr id="496" name="Google Shape;496;p47"/>
          <p:cNvSpPr/>
          <p:nvPr/>
        </p:nvSpPr>
        <p:spPr>
          <a:xfrm>
            <a:off x="346677" y="4759325"/>
            <a:ext cx="7517163" cy="1523494"/>
          </a:xfrm>
          <a:prstGeom prst="rect">
            <a:avLst/>
          </a:prstGeom>
          <a:noFill/>
          <a:ln>
            <a:noFill/>
          </a:ln>
        </p:spPr>
        <p:txBody>
          <a:bodyPr anchorCtr="0" anchor="t" bIns="0" lIns="91425" spcFirstLastPara="1" rIns="0" wrap="square" tIns="45700">
            <a:noAutofit/>
          </a:bodyPr>
          <a:lstStyle/>
          <a:p>
            <a:pPr indent="-361950" lvl="0" marL="361950" marR="0" rtl="0" algn="l">
              <a:spcBef>
                <a:spcPts val="0"/>
              </a:spcBef>
              <a:spcAft>
                <a:spcPts val="0"/>
              </a:spcAft>
              <a:buNone/>
            </a:pPr>
            <a:r>
              <a:rPr b="1" lang="en-GB" sz="2400">
                <a:solidFill>
                  <a:srgbClr val="CC00CC"/>
                </a:solidFill>
                <a:latin typeface="Comic Sans MS"/>
                <a:ea typeface="Comic Sans MS"/>
                <a:cs typeface="Comic Sans MS"/>
                <a:sym typeface="Comic Sans MS"/>
              </a:rPr>
              <a:t>Crystallography</a:t>
            </a:r>
            <a:endParaRPr/>
          </a:p>
          <a:p>
            <a:pPr indent="-361950" lvl="0" marL="361950" marR="0" rtl="0" algn="l">
              <a:spcBef>
                <a:spcPts val="0"/>
              </a:spcBef>
              <a:spcAft>
                <a:spcPts val="0"/>
              </a:spcAft>
              <a:buNone/>
            </a:pPr>
            <a:r>
              <a:rPr lang="en-GB" sz="2400">
                <a:solidFill>
                  <a:srgbClr val="000066"/>
                </a:solidFill>
                <a:latin typeface="Comic Sans MS"/>
                <a:ea typeface="Comic Sans MS"/>
                <a:cs typeface="Comic Sans MS"/>
                <a:sym typeface="Comic Sans MS"/>
              </a:rPr>
              <a:t> 	X-rays are used to work out the arrangement of atoms in various substances, including crystals.</a:t>
            </a:r>
            <a:endParaRPr/>
          </a:p>
          <a:p>
            <a:pPr indent="-361950" lvl="0" marL="361950" marR="0" rtl="0" algn="l">
              <a:lnSpc>
                <a:spcPct val="100000"/>
              </a:lnSpc>
              <a:spcBef>
                <a:spcPts val="0"/>
              </a:spcBef>
              <a:spcAft>
                <a:spcPts val="0"/>
              </a:spcAft>
              <a:buClr>
                <a:schemeClr val="dk1"/>
              </a:buClr>
              <a:buSzPts val="2400"/>
              <a:buFont typeface="Noto Sans Symbols"/>
              <a:buNone/>
            </a:pPr>
            <a:r>
              <a:t/>
            </a:r>
            <a:endParaRPr sz="2400">
              <a:solidFill>
                <a:srgbClr val="000066"/>
              </a:solidFill>
              <a:latin typeface="Comic Sans MS"/>
              <a:ea typeface="Comic Sans MS"/>
              <a:cs typeface="Comic Sans MS"/>
              <a:sym typeface="Comic Sans M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5"/>
                                        </p:tgtEl>
                                        <p:attrNameLst>
                                          <p:attrName>style.visibility</p:attrName>
                                        </p:attrNameLst>
                                      </p:cBhvr>
                                      <p:to>
                                        <p:strVal val="visible"/>
                                      </p:to>
                                    </p:set>
                                    <p:animEffect filter="fade" transition="in">
                                      <p:cBhvr>
                                        <p:cTn dur="500"/>
                                        <p:tgtEl>
                                          <p:spTgt spid="49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6"/>
                                        </p:tgtEl>
                                        <p:attrNameLst>
                                          <p:attrName>style.visibility</p:attrName>
                                        </p:attrNameLst>
                                      </p:cBhvr>
                                      <p:to>
                                        <p:strVal val="visible"/>
                                      </p:to>
                                    </p:set>
                                    <p:animEffect filter="fade" transition="in">
                                      <p:cBhvr>
                                        <p:cTn dur="500"/>
                                        <p:tgtEl>
                                          <p:spTgt spid="496"/>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91"/>
                                        </p:tgtEl>
                                        <p:attrNameLst>
                                          <p:attrName>style.visibility</p:attrName>
                                        </p:attrNameLst>
                                      </p:cBhvr>
                                      <p:to>
                                        <p:strVal val="visible"/>
                                      </p:to>
                                    </p:set>
                                    <p:animEffect filter="fade" transition="in">
                                      <p:cBhvr>
                                        <p:cTn dur="500"/>
                                        <p:tgtEl>
                                          <p:spTgt spid="49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00" name="Shape 500"/>
        <p:cNvGrpSpPr/>
        <p:nvPr/>
      </p:nvGrpSpPr>
      <p:grpSpPr>
        <a:xfrm>
          <a:off x="0" y="0"/>
          <a:ext cx="0" cy="0"/>
          <a:chOff x="0" y="0"/>
          <a:chExt cx="0" cy="0"/>
        </a:xfrm>
      </p:grpSpPr>
      <p:pic>
        <p:nvPicPr>
          <p:cNvPr descr="Normal foot X-ray" id="501" name="Google Shape;501;p48"/>
          <p:cNvPicPr preferRelativeResize="0"/>
          <p:nvPr/>
        </p:nvPicPr>
        <p:blipFill rotWithShape="1">
          <a:blip r:embed="rId3">
            <a:alphaModFix/>
          </a:blip>
          <a:srcRect b="0" l="0" r="0" t="0"/>
          <a:stretch/>
        </p:blipFill>
        <p:spPr>
          <a:xfrm>
            <a:off x="72356" y="3603147"/>
            <a:ext cx="4211209" cy="3368966"/>
          </a:xfrm>
          <a:prstGeom prst="rect">
            <a:avLst/>
          </a:prstGeom>
          <a:noFill/>
          <a:ln>
            <a:noFill/>
          </a:ln>
        </p:spPr>
      </p:pic>
      <p:pic>
        <p:nvPicPr>
          <p:cNvPr descr="stock photo : Front face on X-ray film" id="502" name="Google Shape;502;p48">
            <a:hlinkClick r:id="rId4"/>
          </p:cNvPr>
          <p:cNvPicPr preferRelativeResize="0"/>
          <p:nvPr/>
        </p:nvPicPr>
        <p:blipFill rotWithShape="1">
          <a:blip r:embed="rId5">
            <a:alphaModFix/>
          </a:blip>
          <a:srcRect b="0" l="0" r="0" t="0"/>
          <a:stretch/>
        </p:blipFill>
        <p:spPr>
          <a:xfrm>
            <a:off x="-373337" y="-26988"/>
            <a:ext cx="4584546" cy="4788302"/>
          </a:xfrm>
          <a:prstGeom prst="rect">
            <a:avLst/>
          </a:prstGeom>
          <a:noFill/>
          <a:ln>
            <a:noFill/>
          </a:ln>
        </p:spPr>
      </p:pic>
      <p:pic>
        <p:nvPicPr>
          <p:cNvPr descr="stock photo : Knees x-ray" id="503" name="Google Shape;503;p48">
            <a:hlinkClick r:id="rId6"/>
          </p:cNvPr>
          <p:cNvPicPr preferRelativeResize="0"/>
          <p:nvPr/>
        </p:nvPicPr>
        <p:blipFill rotWithShape="1">
          <a:blip r:embed="rId7">
            <a:alphaModFix/>
          </a:blip>
          <a:srcRect b="0" l="0" r="0" t="0"/>
          <a:stretch/>
        </p:blipFill>
        <p:spPr>
          <a:xfrm>
            <a:off x="6157390" y="-1"/>
            <a:ext cx="6049316" cy="3746545"/>
          </a:xfrm>
          <a:prstGeom prst="rect">
            <a:avLst/>
          </a:prstGeom>
          <a:noFill/>
          <a:ln>
            <a:noFill/>
          </a:ln>
        </p:spPr>
      </p:pic>
      <p:pic>
        <p:nvPicPr>
          <p:cNvPr descr="stock photo : X-ray of a young woman's hand" id="504" name="Google Shape;504;p48">
            <a:hlinkClick r:id="rId8"/>
          </p:cNvPr>
          <p:cNvPicPr preferRelativeResize="0"/>
          <p:nvPr/>
        </p:nvPicPr>
        <p:blipFill rotWithShape="1">
          <a:blip r:embed="rId9">
            <a:alphaModFix/>
          </a:blip>
          <a:srcRect b="0" l="0" r="0" t="0"/>
          <a:stretch/>
        </p:blipFill>
        <p:spPr>
          <a:xfrm>
            <a:off x="9125062" y="2561554"/>
            <a:ext cx="3081644" cy="4476750"/>
          </a:xfrm>
          <a:prstGeom prst="rect">
            <a:avLst/>
          </a:prstGeom>
          <a:noFill/>
          <a:ln>
            <a:noFill/>
          </a:ln>
        </p:spPr>
      </p:pic>
      <p:pic>
        <p:nvPicPr>
          <p:cNvPr descr="stock photo : x ray hips" id="505" name="Google Shape;505;p48">
            <a:hlinkClick r:id="rId10"/>
          </p:cNvPr>
          <p:cNvPicPr preferRelativeResize="0"/>
          <p:nvPr/>
        </p:nvPicPr>
        <p:blipFill rotWithShape="1">
          <a:blip r:embed="rId11">
            <a:alphaModFix/>
          </a:blip>
          <a:srcRect b="0" l="0" r="0" t="0"/>
          <a:stretch/>
        </p:blipFill>
        <p:spPr>
          <a:xfrm>
            <a:off x="4754565" y="3437075"/>
            <a:ext cx="4427483" cy="3443598"/>
          </a:xfrm>
          <a:prstGeom prst="rect">
            <a:avLst/>
          </a:prstGeom>
          <a:noFill/>
          <a:ln>
            <a:noFill/>
          </a:ln>
        </p:spPr>
      </p:pic>
      <p:pic>
        <p:nvPicPr>
          <p:cNvPr descr="Click to view original file" id="506" name="Google Shape;506;p48">
            <a:hlinkClick r:id="rId12"/>
          </p:cNvPr>
          <p:cNvPicPr preferRelativeResize="0"/>
          <p:nvPr/>
        </p:nvPicPr>
        <p:blipFill rotWithShape="1">
          <a:blip r:embed="rId13">
            <a:alphaModFix/>
          </a:blip>
          <a:srcRect b="0" l="0" r="0" t="0"/>
          <a:stretch/>
        </p:blipFill>
        <p:spPr>
          <a:xfrm>
            <a:off x="4315315" y="-26988"/>
            <a:ext cx="2271713" cy="3441390"/>
          </a:xfrm>
          <a:prstGeom prst="rect">
            <a:avLst/>
          </a:prstGeom>
          <a:noFill/>
          <a:ln>
            <a:noFill/>
          </a:ln>
        </p:spPr>
      </p:pic>
      <p:sp>
        <p:nvSpPr>
          <p:cNvPr id="507" name="Google Shape;507;p48"/>
          <p:cNvSpPr txBox="1"/>
          <p:nvPr/>
        </p:nvSpPr>
        <p:spPr>
          <a:xfrm>
            <a:off x="2082171" y="3297198"/>
            <a:ext cx="4466287" cy="1323439"/>
          </a:xfrm>
          <a:prstGeom prst="rect">
            <a:avLst/>
          </a:prstGeom>
          <a:solidFill>
            <a:schemeClr val="dk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4000">
                <a:solidFill>
                  <a:srgbClr val="FFFF00"/>
                </a:solidFill>
                <a:latin typeface="Comic Sans MS"/>
                <a:ea typeface="Comic Sans MS"/>
                <a:cs typeface="Comic Sans MS"/>
                <a:sym typeface="Comic Sans MS"/>
              </a:rPr>
              <a:t>What do you look </a:t>
            </a:r>
            <a:endParaRPr/>
          </a:p>
          <a:p>
            <a:pPr indent="0" lvl="0" marL="0" marR="0" rtl="0" algn="l">
              <a:spcBef>
                <a:spcPts val="0"/>
              </a:spcBef>
              <a:spcAft>
                <a:spcPts val="0"/>
              </a:spcAft>
              <a:buNone/>
            </a:pPr>
            <a:r>
              <a:rPr lang="en-GB" sz="4000">
                <a:solidFill>
                  <a:srgbClr val="FFFF00"/>
                </a:solidFill>
                <a:latin typeface="Comic Sans MS"/>
                <a:ea typeface="Comic Sans MS"/>
                <a:cs typeface="Comic Sans MS"/>
                <a:sym typeface="Comic Sans MS"/>
              </a:rPr>
              <a:t>like in x –rays?</a:t>
            </a:r>
            <a:endParaRPr sz="4000">
              <a:solidFill>
                <a:srgbClr val="FFFF00"/>
              </a:solidFill>
              <a:latin typeface="Comic Sans MS"/>
              <a:ea typeface="Comic Sans MS"/>
              <a:cs typeface="Comic Sans MS"/>
              <a:sym typeface="Comic Sans MS"/>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49"/>
          <p:cNvSpPr txBox="1"/>
          <p:nvPr>
            <p:ph type="title"/>
          </p:nvPr>
        </p:nvSpPr>
        <p:spPr>
          <a:xfrm>
            <a:off x="514643" y="-300832"/>
            <a:ext cx="10515600" cy="132556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omic Sans MS"/>
              <a:buNone/>
            </a:pPr>
            <a:r>
              <a:rPr lang="en-GB" sz="4800">
                <a:latin typeface="Comic Sans MS"/>
                <a:ea typeface="Comic Sans MS"/>
                <a:cs typeface="Comic Sans MS"/>
                <a:sym typeface="Comic Sans MS"/>
              </a:rPr>
              <a:t>How can X-rays ‘look inside’ objects?</a:t>
            </a:r>
            <a:endParaRPr/>
          </a:p>
        </p:txBody>
      </p:sp>
      <p:sp>
        <p:nvSpPr>
          <p:cNvPr id="514" name="Google Shape;514;p49"/>
          <p:cNvSpPr txBox="1"/>
          <p:nvPr/>
        </p:nvSpPr>
        <p:spPr>
          <a:xfrm>
            <a:off x="2475914" y="1701800"/>
            <a:ext cx="9716085" cy="15696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lang="en-GB" sz="2400">
                <a:solidFill>
                  <a:schemeClr val="dk1"/>
                </a:solidFill>
                <a:latin typeface="Comic Sans MS"/>
                <a:ea typeface="Comic Sans MS"/>
                <a:cs typeface="Comic Sans MS"/>
                <a:sym typeface="Comic Sans MS"/>
              </a:rPr>
              <a:t>X-rays pass through soft tissue, such as skin and muscle, without being absorbed. Denser tissue, such as bone, can absorb X-rays. Film that is exposed appears black and areas that are not exposed, because of X-ray absorption, appear white.</a:t>
            </a:r>
            <a:endParaRPr/>
          </a:p>
        </p:txBody>
      </p:sp>
      <p:sp>
        <p:nvSpPr>
          <p:cNvPr id="515" name="Google Shape;515;p49"/>
          <p:cNvSpPr txBox="1"/>
          <p:nvPr/>
        </p:nvSpPr>
        <p:spPr>
          <a:xfrm>
            <a:off x="514644" y="784226"/>
            <a:ext cx="10153358"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lang="en-GB" sz="2400">
                <a:solidFill>
                  <a:schemeClr val="dk1"/>
                </a:solidFill>
                <a:latin typeface="Comic Sans MS"/>
                <a:ea typeface="Comic Sans MS"/>
                <a:cs typeface="Comic Sans MS"/>
                <a:sym typeface="Comic Sans MS"/>
              </a:rPr>
              <a:t>X-rays images can be taken because X-rays can pass through opaque materials and also expose photographic film.</a:t>
            </a:r>
            <a:endParaRPr/>
          </a:p>
        </p:txBody>
      </p:sp>
      <p:pic>
        <p:nvPicPr>
          <p:cNvPr descr="t980088" id="516" name="Google Shape;516;p49"/>
          <p:cNvPicPr preferRelativeResize="0"/>
          <p:nvPr/>
        </p:nvPicPr>
        <p:blipFill rotWithShape="1">
          <a:blip r:embed="rId3">
            <a:alphaModFix/>
          </a:blip>
          <a:srcRect b="0" l="0" r="0" t="0"/>
          <a:stretch/>
        </p:blipFill>
        <p:spPr>
          <a:xfrm>
            <a:off x="6794279" y="3271460"/>
            <a:ext cx="5194643" cy="3463095"/>
          </a:xfrm>
          <a:prstGeom prst="rect">
            <a:avLst/>
          </a:prstGeom>
          <a:noFill/>
          <a:ln>
            <a:noFill/>
          </a:ln>
        </p:spPr>
      </p:pic>
      <p:pic>
        <p:nvPicPr>
          <p:cNvPr descr="262068_7849" id="517" name="Google Shape;517;p49"/>
          <p:cNvPicPr preferRelativeResize="0"/>
          <p:nvPr/>
        </p:nvPicPr>
        <p:blipFill rotWithShape="1">
          <a:blip r:embed="rId4">
            <a:alphaModFix/>
          </a:blip>
          <a:srcRect b="0" l="0" r="0" t="0"/>
          <a:stretch/>
        </p:blipFill>
        <p:spPr>
          <a:xfrm>
            <a:off x="107951" y="1733551"/>
            <a:ext cx="2252663" cy="2292350"/>
          </a:xfrm>
          <a:prstGeom prst="rect">
            <a:avLst/>
          </a:prstGeom>
          <a:noFill/>
          <a:ln>
            <a:noFill/>
          </a:ln>
        </p:spPr>
      </p:pic>
      <p:sp>
        <p:nvSpPr>
          <p:cNvPr id="518" name="Google Shape;518;p49"/>
          <p:cNvSpPr txBox="1"/>
          <p:nvPr/>
        </p:nvSpPr>
        <p:spPr>
          <a:xfrm>
            <a:off x="0" y="4538149"/>
            <a:ext cx="6972300" cy="230832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lang="en-GB" sz="2400">
                <a:solidFill>
                  <a:schemeClr val="dk1"/>
                </a:solidFill>
                <a:latin typeface="Comic Sans MS"/>
                <a:ea typeface="Comic Sans MS"/>
                <a:cs typeface="Comic Sans MS"/>
                <a:sym typeface="Comic Sans MS"/>
              </a:rPr>
              <a:t>X-rays are used by customs staff to check for weapons and drugs. Baggage is passed through an X-ray machine, which instantly reveals the contents. Even an articulated lorry can be      X-rayed!</a:t>
            </a:r>
            <a:endParaRPr/>
          </a:p>
          <a:p>
            <a:pPr indent="0" lvl="0" marL="0" marR="0" rtl="0" algn="l">
              <a:lnSpc>
                <a:spcPct val="100000"/>
              </a:lnSpc>
              <a:spcBef>
                <a:spcPts val="0"/>
              </a:spcBef>
              <a:spcAft>
                <a:spcPts val="0"/>
              </a:spcAft>
              <a:buClr>
                <a:schemeClr val="dk1"/>
              </a:buClr>
              <a:buSzPts val="2400"/>
              <a:buFont typeface="Calibri"/>
              <a:buNone/>
            </a:pPr>
            <a:r>
              <a:t/>
            </a:r>
            <a:endParaRPr sz="2400">
              <a:solidFill>
                <a:schemeClr val="dk1"/>
              </a:solidFill>
              <a:latin typeface="Comic Sans MS"/>
              <a:ea typeface="Comic Sans MS"/>
              <a:cs typeface="Comic Sans MS"/>
              <a:sym typeface="Comic Sans M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4"/>
                                        </p:tgtEl>
                                        <p:attrNameLst>
                                          <p:attrName>style.visibility</p:attrName>
                                        </p:attrNameLst>
                                      </p:cBhvr>
                                      <p:to>
                                        <p:strVal val="visible"/>
                                      </p:to>
                                    </p:set>
                                    <p:animEffect filter="fade" transition="in">
                                      <p:cBhvr>
                                        <p:cTn dur="500"/>
                                        <p:tgtEl>
                                          <p:spTgt spid="514"/>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517"/>
                                        </p:tgtEl>
                                        <p:attrNameLst>
                                          <p:attrName>style.visibility</p:attrName>
                                        </p:attrNameLst>
                                      </p:cBhvr>
                                      <p:to>
                                        <p:strVal val="visible"/>
                                      </p:to>
                                    </p:set>
                                    <p:animEffect filter="fade" transition="in">
                                      <p:cBhvr>
                                        <p:cTn dur="500"/>
                                        <p:tgtEl>
                                          <p:spTgt spid="517"/>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516"/>
                                        </p:tgtEl>
                                        <p:attrNameLst>
                                          <p:attrName>style.visibility</p:attrName>
                                        </p:attrNameLst>
                                      </p:cBhvr>
                                      <p:to>
                                        <p:strVal val="visible"/>
                                      </p:to>
                                    </p:set>
                                    <p:animEffect filter="fade" transition="in">
                                      <p:cBhvr>
                                        <p:cTn dur="500"/>
                                        <p:tgtEl>
                                          <p:spTgt spid="51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22" name="Shape 522"/>
        <p:cNvGrpSpPr/>
        <p:nvPr/>
      </p:nvGrpSpPr>
      <p:grpSpPr>
        <a:xfrm>
          <a:off x="0" y="0"/>
          <a:ext cx="0" cy="0"/>
          <a:chOff x="0" y="0"/>
          <a:chExt cx="0" cy="0"/>
        </a:xfrm>
      </p:grpSpPr>
      <p:sp>
        <p:nvSpPr>
          <p:cNvPr descr="EM_Spectrum3-new" id="523" name="Google Shape;523;p50"/>
          <p:cNvSpPr/>
          <p:nvPr/>
        </p:nvSpPr>
        <p:spPr>
          <a:xfrm>
            <a:off x="5948363" y="3281363"/>
            <a:ext cx="296862" cy="29686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mic Sans MS"/>
              <a:ea typeface="Comic Sans MS"/>
              <a:cs typeface="Comic Sans MS"/>
              <a:sym typeface="Comic Sans MS"/>
            </a:endParaRPr>
          </a:p>
        </p:txBody>
      </p:sp>
      <p:sp>
        <p:nvSpPr>
          <p:cNvPr id="524" name="Google Shape;524;p50"/>
          <p:cNvSpPr/>
          <p:nvPr/>
        </p:nvSpPr>
        <p:spPr>
          <a:xfrm>
            <a:off x="1327150" y="5224464"/>
            <a:ext cx="9537700" cy="83099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br>
              <a:rPr lang="en-GB" sz="2400">
                <a:solidFill>
                  <a:schemeClr val="dk1"/>
                </a:solidFill>
                <a:latin typeface="Comic Sans MS"/>
                <a:ea typeface="Comic Sans MS"/>
                <a:cs typeface="Comic Sans MS"/>
                <a:sym typeface="Comic Sans MS"/>
              </a:rPr>
            </a:br>
            <a:endParaRPr sz="2400">
              <a:solidFill>
                <a:schemeClr val="dk1"/>
              </a:solidFill>
              <a:latin typeface="Comic Sans MS"/>
              <a:ea typeface="Comic Sans MS"/>
              <a:cs typeface="Comic Sans MS"/>
              <a:sym typeface="Comic Sans MS"/>
            </a:endParaRPr>
          </a:p>
        </p:txBody>
      </p:sp>
      <p:sp>
        <p:nvSpPr>
          <p:cNvPr descr="COMPUTER TOOLS" id="525" name="Google Shape;525;p50"/>
          <p:cNvSpPr/>
          <p:nvPr/>
        </p:nvSpPr>
        <p:spPr>
          <a:xfrm>
            <a:off x="8791576" y="-2884488"/>
            <a:ext cx="296863" cy="296863"/>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mic Sans MS"/>
              <a:ea typeface="Comic Sans MS"/>
              <a:cs typeface="Comic Sans MS"/>
              <a:sym typeface="Comic Sans MS"/>
            </a:endParaRPr>
          </a:p>
        </p:txBody>
      </p:sp>
      <p:pic>
        <p:nvPicPr>
          <p:cNvPr descr="SCIENCE FOCUS" id="526" name="Google Shape;526;p50">
            <a:hlinkClick r:id="rId3"/>
          </p:cNvPr>
          <p:cNvPicPr preferRelativeResize="0"/>
          <p:nvPr/>
        </p:nvPicPr>
        <p:blipFill rotWithShape="1">
          <a:blip r:embed="rId4">
            <a:alphaModFix/>
          </a:blip>
          <a:srcRect b="0" l="0" r="0" t="0"/>
          <a:stretch/>
        </p:blipFill>
        <p:spPr>
          <a:xfrm>
            <a:off x="9229725" y="-2884488"/>
            <a:ext cx="1474788" cy="285750"/>
          </a:xfrm>
          <a:prstGeom prst="rect">
            <a:avLst/>
          </a:prstGeom>
          <a:noFill/>
          <a:ln>
            <a:noFill/>
          </a:ln>
        </p:spPr>
      </p:pic>
      <p:sp>
        <p:nvSpPr>
          <p:cNvPr descr="NASA" id="527" name="Google Shape;527;p50">
            <a:hlinkClick r:id="rId5"/>
          </p:cNvPr>
          <p:cNvSpPr/>
          <p:nvPr/>
        </p:nvSpPr>
        <p:spPr>
          <a:xfrm>
            <a:off x="4121150" y="6092826"/>
            <a:ext cx="560388" cy="5492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mic Sans MS"/>
              <a:ea typeface="Comic Sans MS"/>
              <a:cs typeface="Comic Sans MS"/>
              <a:sym typeface="Comic Sans MS"/>
            </a:endParaRPr>
          </a:p>
        </p:txBody>
      </p:sp>
      <p:sp>
        <p:nvSpPr>
          <p:cNvPr descr="The electromagnetic spectrum from largest wavelength (radio waves) to smallest (gamma rays)." id="528" name="Google Shape;528;p50"/>
          <p:cNvSpPr/>
          <p:nvPr/>
        </p:nvSpPr>
        <p:spPr>
          <a:xfrm>
            <a:off x="3078164" y="1343025"/>
            <a:ext cx="6035675" cy="41719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mic Sans MS"/>
              <a:ea typeface="Comic Sans MS"/>
              <a:cs typeface="Comic Sans MS"/>
              <a:sym typeface="Comic Sans MS"/>
            </a:endParaRPr>
          </a:p>
        </p:txBody>
      </p:sp>
      <p:grpSp>
        <p:nvGrpSpPr>
          <p:cNvPr id="529" name="Google Shape;529;p50"/>
          <p:cNvGrpSpPr/>
          <p:nvPr/>
        </p:nvGrpSpPr>
        <p:grpSpPr>
          <a:xfrm>
            <a:off x="1524000" y="438152"/>
            <a:ext cx="9144000" cy="1858963"/>
            <a:chOff x="0" y="3769"/>
            <a:chExt cx="5760" cy="1171"/>
          </a:xfrm>
        </p:grpSpPr>
        <p:sp>
          <p:nvSpPr>
            <p:cNvPr id="530" name="Google Shape;530;p50"/>
            <p:cNvSpPr/>
            <p:nvPr/>
          </p:nvSpPr>
          <p:spPr>
            <a:xfrm>
              <a:off x="0" y="3769"/>
              <a:ext cx="4050" cy="233"/>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mic Sans MS"/>
                <a:ea typeface="Comic Sans MS"/>
                <a:cs typeface="Comic Sans MS"/>
                <a:sym typeface="Comic Sans MS"/>
              </a:endParaRPr>
            </a:p>
          </p:txBody>
        </p:sp>
        <p:sp>
          <p:nvSpPr>
            <p:cNvPr id="531" name="Google Shape;531;p50"/>
            <p:cNvSpPr/>
            <p:nvPr/>
          </p:nvSpPr>
          <p:spPr>
            <a:xfrm>
              <a:off x="0" y="3769"/>
              <a:ext cx="5760" cy="1171"/>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GB" sz="2400">
                  <a:solidFill>
                    <a:schemeClr val="dk1"/>
                  </a:solidFill>
                  <a:latin typeface="Comic Sans MS"/>
                  <a:ea typeface="Comic Sans MS"/>
                  <a:cs typeface="Comic Sans MS"/>
                  <a:sym typeface="Comic Sans MS"/>
                </a:rPr>
                <a:t>  </a:t>
              </a:r>
              <a:r>
                <a:rPr lang="en-GB" sz="9200">
                  <a:solidFill>
                    <a:schemeClr val="dk1"/>
                  </a:solidFill>
                  <a:latin typeface="Comic Sans MS"/>
                  <a:ea typeface="Comic Sans MS"/>
                  <a:cs typeface="Comic Sans MS"/>
                  <a:sym typeface="Comic Sans MS"/>
                </a:rPr>
                <a:t> </a:t>
              </a:r>
              <a:r>
                <a:rPr lang="en-GB" sz="2400">
                  <a:solidFill>
                    <a:schemeClr val="dk1"/>
                  </a:solidFill>
                  <a:latin typeface="Comic Sans MS"/>
                  <a:ea typeface="Comic Sans MS"/>
                  <a:cs typeface="Comic Sans MS"/>
                  <a:sym typeface="Comic Sans MS"/>
                </a:rPr>
                <a:t>                       </a:t>
              </a:r>
              <a:endParaRPr/>
            </a:p>
            <a:p>
              <a:pPr indent="0" lvl="0" marL="0" marR="0" rtl="0" algn="ctr">
                <a:spcBef>
                  <a:spcPts val="0"/>
                </a:spcBef>
                <a:spcAft>
                  <a:spcPts val="0"/>
                </a:spcAft>
                <a:buNone/>
              </a:pPr>
              <a:r>
                <a:t/>
              </a:r>
              <a:endParaRPr sz="2400">
                <a:solidFill>
                  <a:schemeClr val="dk1"/>
                </a:solidFill>
                <a:latin typeface="Comic Sans MS"/>
                <a:ea typeface="Comic Sans MS"/>
                <a:cs typeface="Comic Sans MS"/>
                <a:sym typeface="Comic Sans MS"/>
              </a:endParaRPr>
            </a:p>
          </p:txBody>
        </p:sp>
      </p:grpSp>
      <p:pic>
        <p:nvPicPr>
          <p:cNvPr descr="footnboot" id="532" name="Google Shape;532;p50"/>
          <p:cNvPicPr preferRelativeResize="0"/>
          <p:nvPr/>
        </p:nvPicPr>
        <p:blipFill rotWithShape="1">
          <a:blip r:embed="rId6">
            <a:alphaModFix/>
          </a:blip>
          <a:srcRect b="0" l="0" r="0" t="0"/>
          <a:stretch/>
        </p:blipFill>
        <p:spPr>
          <a:xfrm>
            <a:off x="1919288" y="1125539"/>
            <a:ext cx="3200400" cy="2135187"/>
          </a:xfrm>
          <a:prstGeom prst="rect">
            <a:avLst/>
          </a:prstGeom>
          <a:noFill/>
          <a:ln>
            <a:noFill/>
          </a:ln>
        </p:spPr>
      </p:pic>
      <p:grpSp>
        <p:nvGrpSpPr>
          <p:cNvPr id="533" name="Google Shape;533;p50"/>
          <p:cNvGrpSpPr/>
          <p:nvPr/>
        </p:nvGrpSpPr>
        <p:grpSpPr>
          <a:xfrm>
            <a:off x="1524000" y="438151"/>
            <a:ext cx="9144000" cy="2560638"/>
            <a:chOff x="0" y="3769"/>
            <a:chExt cx="5760" cy="1613"/>
          </a:xfrm>
        </p:grpSpPr>
        <p:sp>
          <p:nvSpPr>
            <p:cNvPr id="534" name="Google Shape;534;p50"/>
            <p:cNvSpPr/>
            <p:nvPr/>
          </p:nvSpPr>
          <p:spPr>
            <a:xfrm>
              <a:off x="0" y="3769"/>
              <a:ext cx="4050" cy="233"/>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mic Sans MS"/>
                <a:ea typeface="Comic Sans MS"/>
                <a:cs typeface="Comic Sans MS"/>
                <a:sym typeface="Comic Sans MS"/>
              </a:endParaRPr>
            </a:p>
          </p:txBody>
        </p:sp>
        <p:sp>
          <p:nvSpPr>
            <p:cNvPr id="535" name="Google Shape;535;p50"/>
            <p:cNvSpPr/>
            <p:nvPr/>
          </p:nvSpPr>
          <p:spPr>
            <a:xfrm>
              <a:off x="0" y="3769"/>
              <a:ext cx="5760" cy="1613"/>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GB" sz="2400">
                  <a:solidFill>
                    <a:schemeClr val="dk1"/>
                  </a:solidFill>
                  <a:latin typeface="Comic Sans MS"/>
                  <a:ea typeface="Comic Sans MS"/>
                  <a:cs typeface="Comic Sans MS"/>
                  <a:sym typeface="Comic Sans MS"/>
                </a:rPr>
                <a:t>  </a:t>
              </a:r>
              <a:r>
                <a:rPr lang="en-GB" sz="13800">
                  <a:solidFill>
                    <a:schemeClr val="dk1"/>
                  </a:solidFill>
                  <a:latin typeface="Comic Sans MS"/>
                  <a:ea typeface="Comic Sans MS"/>
                  <a:cs typeface="Comic Sans MS"/>
                  <a:sym typeface="Comic Sans MS"/>
                </a:rPr>
                <a:t> </a:t>
              </a:r>
              <a:r>
                <a:rPr lang="en-GB" sz="2400">
                  <a:solidFill>
                    <a:schemeClr val="dk1"/>
                  </a:solidFill>
                  <a:latin typeface="Comic Sans MS"/>
                  <a:ea typeface="Comic Sans MS"/>
                  <a:cs typeface="Comic Sans MS"/>
                  <a:sym typeface="Comic Sans MS"/>
                </a:rPr>
                <a:t>                </a:t>
              </a:r>
              <a:endParaRPr/>
            </a:p>
            <a:p>
              <a:pPr indent="0" lvl="0" marL="0" marR="0" rtl="0" algn="ctr">
                <a:spcBef>
                  <a:spcPts val="0"/>
                </a:spcBef>
                <a:spcAft>
                  <a:spcPts val="0"/>
                </a:spcAft>
                <a:buNone/>
              </a:pPr>
              <a:r>
                <a:t/>
              </a:r>
              <a:endParaRPr sz="2400">
                <a:solidFill>
                  <a:schemeClr val="dk1"/>
                </a:solidFill>
                <a:latin typeface="Comic Sans MS"/>
                <a:ea typeface="Comic Sans MS"/>
                <a:cs typeface="Comic Sans MS"/>
                <a:sym typeface="Comic Sans MS"/>
              </a:endParaRPr>
            </a:p>
          </p:txBody>
        </p:sp>
      </p:grpSp>
      <p:pic>
        <p:nvPicPr>
          <p:cNvPr descr="hand3" id="536" name="Google Shape;536;p50"/>
          <p:cNvPicPr preferRelativeResize="0"/>
          <p:nvPr/>
        </p:nvPicPr>
        <p:blipFill rotWithShape="1">
          <a:blip r:embed="rId7">
            <a:alphaModFix/>
          </a:blip>
          <a:srcRect b="0" l="0" r="0" t="0"/>
          <a:stretch/>
        </p:blipFill>
        <p:spPr>
          <a:xfrm>
            <a:off x="7680325" y="981075"/>
            <a:ext cx="2389188" cy="3581400"/>
          </a:xfrm>
          <a:prstGeom prst="rect">
            <a:avLst/>
          </a:prstGeom>
          <a:noFill/>
          <a:ln>
            <a:noFill/>
          </a:ln>
        </p:spPr>
      </p:pic>
      <p:grpSp>
        <p:nvGrpSpPr>
          <p:cNvPr id="537" name="Google Shape;537;p50"/>
          <p:cNvGrpSpPr/>
          <p:nvPr/>
        </p:nvGrpSpPr>
        <p:grpSpPr>
          <a:xfrm>
            <a:off x="911225" y="-523877"/>
            <a:ext cx="9144000" cy="1812925"/>
            <a:chOff x="0" y="3592"/>
            <a:chExt cx="5760" cy="1142"/>
          </a:xfrm>
        </p:grpSpPr>
        <p:sp>
          <p:nvSpPr>
            <p:cNvPr id="538" name="Google Shape;538;p50"/>
            <p:cNvSpPr/>
            <p:nvPr/>
          </p:nvSpPr>
          <p:spPr>
            <a:xfrm>
              <a:off x="0" y="3769"/>
              <a:ext cx="4050" cy="233"/>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mic Sans MS"/>
                <a:ea typeface="Comic Sans MS"/>
                <a:cs typeface="Comic Sans MS"/>
                <a:sym typeface="Comic Sans MS"/>
              </a:endParaRPr>
            </a:p>
          </p:txBody>
        </p:sp>
        <p:sp>
          <p:nvSpPr>
            <p:cNvPr id="539" name="Google Shape;539;p50"/>
            <p:cNvSpPr/>
            <p:nvPr/>
          </p:nvSpPr>
          <p:spPr>
            <a:xfrm>
              <a:off x="0" y="3592"/>
              <a:ext cx="5760" cy="1142"/>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GB" sz="2400">
                  <a:solidFill>
                    <a:schemeClr val="dk1"/>
                  </a:solidFill>
                  <a:latin typeface="Comic Sans MS"/>
                  <a:ea typeface="Comic Sans MS"/>
                  <a:cs typeface="Comic Sans MS"/>
                  <a:sym typeface="Comic Sans MS"/>
                </a:rPr>
                <a:t>  </a:t>
              </a:r>
              <a:r>
                <a:rPr lang="en-GB" sz="8900">
                  <a:solidFill>
                    <a:schemeClr val="dk1"/>
                  </a:solidFill>
                  <a:latin typeface="Comic Sans MS"/>
                  <a:ea typeface="Comic Sans MS"/>
                  <a:cs typeface="Comic Sans MS"/>
                  <a:sym typeface="Comic Sans MS"/>
                </a:rPr>
                <a:t> </a:t>
              </a:r>
              <a:r>
                <a:rPr lang="en-GB" sz="2400">
                  <a:solidFill>
                    <a:schemeClr val="dk1"/>
                  </a:solidFill>
                  <a:latin typeface="Comic Sans MS"/>
                  <a:ea typeface="Comic Sans MS"/>
                  <a:cs typeface="Comic Sans MS"/>
                  <a:sym typeface="Comic Sans MS"/>
                </a:rPr>
                <a:t>         </a:t>
              </a:r>
              <a:r>
                <a:rPr lang="en-GB" sz="2400">
                  <a:solidFill>
                    <a:srgbClr val="FFFF00"/>
                  </a:solidFill>
                  <a:latin typeface="Comic Sans MS"/>
                  <a:ea typeface="Comic Sans MS"/>
                  <a:cs typeface="Comic Sans MS"/>
                  <a:sym typeface="Comic Sans MS"/>
                </a:rPr>
                <a:t>  </a:t>
              </a:r>
              <a:r>
                <a:rPr lang="en-GB" sz="4000">
                  <a:solidFill>
                    <a:srgbClr val="FFFF00"/>
                  </a:solidFill>
                  <a:latin typeface="Comic Sans MS"/>
                  <a:ea typeface="Comic Sans MS"/>
                  <a:cs typeface="Comic Sans MS"/>
                  <a:sym typeface="Comic Sans MS"/>
                </a:rPr>
                <a:t> The earliest X-ray images </a:t>
              </a:r>
              <a:r>
                <a:rPr lang="en-GB" sz="2400">
                  <a:solidFill>
                    <a:schemeClr val="dk1"/>
                  </a:solidFill>
                  <a:latin typeface="Comic Sans MS"/>
                  <a:ea typeface="Comic Sans MS"/>
                  <a:cs typeface="Comic Sans MS"/>
                  <a:sym typeface="Comic Sans MS"/>
                </a:rPr>
                <a:t>  </a:t>
              </a:r>
              <a:endParaRPr/>
            </a:p>
            <a:p>
              <a:pPr indent="0" lvl="0" marL="0" marR="0" rtl="0" algn="ctr">
                <a:spcBef>
                  <a:spcPts val="0"/>
                </a:spcBef>
                <a:spcAft>
                  <a:spcPts val="0"/>
                </a:spcAft>
                <a:buNone/>
              </a:pPr>
              <a:r>
                <a:t/>
              </a:r>
              <a:endParaRPr sz="2400">
                <a:solidFill>
                  <a:schemeClr val="dk1"/>
                </a:solidFill>
                <a:latin typeface="Comic Sans MS"/>
                <a:ea typeface="Comic Sans MS"/>
                <a:cs typeface="Comic Sans MS"/>
                <a:sym typeface="Comic Sans MS"/>
              </a:endParaRPr>
            </a:p>
          </p:txBody>
        </p:sp>
      </p:grpSp>
      <p:pic>
        <p:nvPicPr>
          <p:cNvPr descr="coininpurse1" id="540" name="Google Shape;540;p50"/>
          <p:cNvPicPr preferRelativeResize="0"/>
          <p:nvPr/>
        </p:nvPicPr>
        <p:blipFill rotWithShape="1">
          <a:blip r:embed="rId8">
            <a:alphaModFix/>
          </a:blip>
          <a:srcRect b="0" l="0" r="0" t="0"/>
          <a:stretch/>
        </p:blipFill>
        <p:spPr>
          <a:xfrm>
            <a:off x="5016500" y="3068639"/>
            <a:ext cx="2349500" cy="2408237"/>
          </a:xfrm>
          <a:prstGeom prst="rect">
            <a:avLst/>
          </a:prstGeom>
          <a:noFill/>
          <a:ln>
            <a:noFill/>
          </a:ln>
        </p:spPr>
      </p:pic>
      <p:sp>
        <p:nvSpPr>
          <p:cNvPr id="541" name="Google Shape;541;p50"/>
          <p:cNvSpPr txBox="1"/>
          <p:nvPr/>
        </p:nvSpPr>
        <p:spPr>
          <a:xfrm>
            <a:off x="685188" y="3478212"/>
            <a:ext cx="4277133" cy="30469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2400">
                <a:solidFill>
                  <a:srgbClr val="FFFF00"/>
                </a:solidFill>
                <a:latin typeface="Comic Sans MS"/>
                <a:ea typeface="Comic Sans MS"/>
                <a:cs typeface="Comic Sans MS"/>
                <a:sym typeface="Comic Sans MS"/>
              </a:rPr>
              <a:t>Early researchers did </a:t>
            </a:r>
            <a:endParaRPr/>
          </a:p>
          <a:p>
            <a:pPr indent="0" lvl="0" marL="0" marR="0" rtl="0" algn="l">
              <a:spcBef>
                <a:spcPts val="0"/>
              </a:spcBef>
              <a:spcAft>
                <a:spcPts val="0"/>
              </a:spcAft>
              <a:buNone/>
            </a:pPr>
            <a:r>
              <a:rPr b="1" lang="en-GB" sz="2400">
                <a:solidFill>
                  <a:srgbClr val="FFFF00"/>
                </a:solidFill>
                <a:latin typeface="Comic Sans MS"/>
                <a:ea typeface="Comic Sans MS"/>
                <a:cs typeface="Comic Sans MS"/>
                <a:sym typeface="Comic Sans MS"/>
              </a:rPr>
              <a:t>not know the dangers </a:t>
            </a:r>
            <a:endParaRPr/>
          </a:p>
          <a:p>
            <a:pPr indent="0" lvl="0" marL="0" marR="0" rtl="0" algn="l">
              <a:spcBef>
                <a:spcPts val="0"/>
              </a:spcBef>
              <a:spcAft>
                <a:spcPts val="0"/>
              </a:spcAft>
              <a:buNone/>
            </a:pPr>
            <a:r>
              <a:rPr b="1" lang="en-GB" sz="2400">
                <a:solidFill>
                  <a:srgbClr val="FFFF00"/>
                </a:solidFill>
                <a:latin typeface="Comic Sans MS"/>
                <a:ea typeface="Comic Sans MS"/>
                <a:cs typeface="Comic Sans MS"/>
                <a:sym typeface="Comic Sans MS"/>
              </a:rPr>
              <a:t>of x-ray radiation.</a:t>
            </a:r>
            <a:endParaRPr/>
          </a:p>
          <a:p>
            <a:pPr indent="0" lvl="0" marL="0" marR="0" rtl="0" algn="l">
              <a:spcBef>
                <a:spcPts val="0"/>
              </a:spcBef>
              <a:spcAft>
                <a:spcPts val="0"/>
              </a:spcAft>
              <a:buNone/>
            </a:pPr>
            <a:r>
              <a:rPr b="1" lang="en-GB" sz="2400">
                <a:solidFill>
                  <a:srgbClr val="FFFF00"/>
                </a:solidFill>
                <a:latin typeface="Comic Sans MS"/>
                <a:ea typeface="Comic Sans MS"/>
                <a:cs typeface="Comic Sans MS"/>
                <a:sym typeface="Comic Sans MS"/>
              </a:rPr>
              <a:t>they did countless </a:t>
            </a:r>
            <a:endParaRPr/>
          </a:p>
          <a:p>
            <a:pPr indent="0" lvl="0" marL="0" marR="0" rtl="0" algn="l">
              <a:spcBef>
                <a:spcPts val="0"/>
              </a:spcBef>
              <a:spcAft>
                <a:spcPts val="0"/>
              </a:spcAft>
              <a:buNone/>
            </a:pPr>
            <a:r>
              <a:rPr b="1" lang="en-GB" sz="2400">
                <a:solidFill>
                  <a:srgbClr val="FFFF00"/>
                </a:solidFill>
                <a:latin typeface="Comic Sans MS"/>
                <a:ea typeface="Comic Sans MS"/>
                <a:cs typeface="Comic Sans MS"/>
                <a:sym typeface="Comic Sans MS"/>
              </a:rPr>
              <a:t>experiments looking at</a:t>
            </a:r>
            <a:endParaRPr/>
          </a:p>
          <a:p>
            <a:pPr indent="0" lvl="0" marL="0" marR="0" rtl="0" algn="l">
              <a:spcBef>
                <a:spcPts val="0"/>
              </a:spcBef>
              <a:spcAft>
                <a:spcPts val="0"/>
              </a:spcAft>
              <a:buNone/>
            </a:pPr>
            <a:r>
              <a:rPr b="1" lang="en-GB" sz="2400">
                <a:solidFill>
                  <a:srgbClr val="FFFF00"/>
                </a:solidFill>
                <a:latin typeface="Comic Sans MS"/>
                <a:ea typeface="Comic Sans MS"/>
                <a:cs typeface="Comic Sans MS"/>
                <a:sym typeface="Comic Sans MS"/>
              </a:rPr>
              <a:t>body movement.</a:t>
            </a:r>
            <a:endParaRPr/>
          </a:p>
          <a:p>
            <a:pPr indent="0" lvl="0" marL="0" marR="0" rtl="0" algn="l">
              <a:spcBef>
                <a:spcPts val="0"/>
              </a:spcBef>
              <a:spcAft>
                <a:spcPts val="0"/>
              </a:spcAft>
              <a:buNone/>
            </a:pPr>
            <a:r>
              <a:rPr b="1" lang="en-GB" sz="2400">
                <a:solidFill>
                  <a:srgbClr val="FFFF00"/>
                </a:solidFill>
                <a:latin typeface="Comic Sans MS"/>
                <a:ea typeface="Comic Sans MS"/>
                <a:cs typeface="Comic Sans MS"/>
                <a:sym typeface="Comic Sans MS"/>
              </a:rPr>
              <a:t>even getting babies to</a:t>
            </a:r>
            <a:endParaRPr/>
          </a:p>
          <a:p>
            <a:pPr indent="0" lvl="0" marL="0" marR="0" rtl="0" algn="l">
              <a:spcBef>
                <a:spcPts val="0"/>
              </a:spcBef>
              <a:spcAft>
                <a:spcPts val="0"/>
              </a:spcAft>
              <a:buNone/>
            </a:pPr>
            <a:r>
              <a:rPr b="1" lang="en-GB" sz="2400">
                <a:solidFill>
                  <a:srgbClr val="FFFF00"/>
                </a:solidFill>
                <a:latin typeface="Comic Sans MS"/>
                <a:ea typeface="Comic Sans MS"/>
                <a:cs typeface="Comic Sans MS"/>
                <a:sym typeface="Comic Sans MS"/>
              </a:rPr>
              <a:t>walk in front of the screen</a:t>
            </a:r>
            <a:endParaRPr b="1" sz="2400">
              <a:solidFill>
                <a:srgbClr val="FFFF00"/>
              </a:solidFill>
              <a:latin typeface="Comic Sans MS"/>
              <a:ea typeface="Comic Sans MS"/>
              <a:cs typeface="Comic Sans MS"/>
              <a:sym typeface="Comic Sans MS"/>
            </a:endParaRPr>
          </a:p>
        </p:txBody>
      </p:sp>
      <p:sp>
        <p:nvSpPr>
          <p:cNvPr id="542" name="Google Shape;542;p50"/>
          <p:cNvSpPr txBox="1"/>
          <p:nvPr/>
        </p:nvSpPr>
        <p:spPr>
          <a:xfrm>
            <a:off x="7475539" y="4652963"/>
            <a:ext cx="4716461" cy="230832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GB" sz="2400" u="sng">
                <a:solidFill>
                  <a:srgbClr val="FFFF00"/>
                </a:solidFill>
                <a:latin typeface="Comic Sans MS"/>
                <a:ea typeface="Comic Sans MS"/>
                <a:cs typeface="Comic Sans MS"/>
                <a:sym typeface="Comic Sans MS"/>
              </a:rPr>
              <a:t>Duh!</a:t>
            </a:r>
            <a:endParaRPr/>
          </a:p>
          <a:p>
            <a:pPr indent="0" lvl="0" marL="0" marR="0" rtl="0" algn="l">
              <a:spcBef>
                <a:spcPts val="0"/>
              </a:spcBef>
              <a:spcAft>
                <a:spcPts val="0"/>
              </a:spcAft>
              <a:buNone/>
            </a:pPr>
            <a:r>
              <a:rPr b="1" lang="en-GB" sz="2400">
                <a:solidFill>
                  <a:srgbClr val="FFFF00"/>
                </a:solidFill>
                <a:latin typeface="Comic Sans MS"/>
                <a:ea typeface="Comic Sans MS"/>
                <a:cs typeface="Comic Sans MS"/>
                <a:sym typeface="Comic Sans MS"/>
              </a:rPr>
              <a:t>Consequently, many of </a:t>
            </a:r>
            <a:endParaRPr/>
          </a:p>
          <a:p>
            <a:pPr indent="0" lvl="0" marL="0" marR="0" rtl="0" algn="l">
              <a:spcBef>
                <a:spcPts val="0"/>
              </a:spcBef>
              <a:spcAft>
                <a:spcPts val="0"/>
              </a:spcAft>
              <a:buNone/>
            </a:pPr>
            <a:r>
              <a:rPr b="1" lang="en-GB" sz="2400">
                <a:solidFill>
                  <a:srgbClr val="FFFF00"/>
                </a:solidFill>
                <a:latin typeface="Comic Sans MS"/>
                <a:ea typeface="Comic Sans MS"/>
                <a:cs typeface="Comic Sans MS"/>
                <a:sym typeface="Comic Sans MS"/>
              </a:rPr>
              <a:t>the pioneers of this </a:t>
            </a:r>
            <a:endParaRPr/>
          </a:p>
          <a:p>
            <a:pPr indent="0" lvl="0" marL="0" marR="0" rtl="0" algn="l">
              <a:spcBef>
                <a:spcPts val="0"/>
              </a:spcBef>
              <a:spcAft>
                <a:spcPts val="0"/>
              </a:spcAft>
              <a:buNone/>
            </a:pPr>
            <a:r>
              <a:rPr b="1" lang="en-GB" sz="2400">
                <a:solidFill>
                  <a:srgbClr val="FFFF00"/>
                </a:solidFill>
                <a:latin typeface="Comic Sans MS"/>
                <a:ea typeface="Comic Sans MS"/>
                <a:cs typeface="Comic Sans MS"/>
                <a:sym typeface="Comic Sans MS"/>
              </a:rPr>
              <a:t>technology died </a:t>
            </a:r>
            <a:endParaRPr/>
          </a:p>
          <a:p>
            <a:pPr indent="0" lvl="0" marL="0" marR="0" rtl="0" algn="l">
              <a:spcBef>
                <a:spcPts val="0"/>
              </a:spcBef>
              <a:spcAft>
                <a:spcPts val="0"/>
              </a:spcAft>
              <a:buNone/>
            </a:pPr>
            <a:r>
              <a:rPr b="1" lang="en-GB" sz="2400">
                <a:solidFill>
                  <a:srgbClr val="FFFF00"/>
                </a:solidFill>
                <a:latin typeface="Comic Sans MS"/>
                <a:ea typeface="Comic Sans MS"/>
                <a:cs typeface="Comic Sans MS"/>
                <a:sym typeface="Comic Sans MS"/>
              </a:rPr>
              <a:t>prematurely of leukamia</a:t>
            </a:r>
            <a:endParaRPr b="1" sz="2400">
              <a:solidFill>
                <a:srgbClr val="FFFF00"/>
              </a:solidFill>
              <a:latin typeface="Comic Sans MS"/>
              <a:ea typeface="Comic Sans MS"/>
              <a:cs typeface="Comic Sans MS"/>
              <a:sym typeface="Comic Sans MS"/>
            </a:endParaRPr>
          </a:p>
          <a:p>
            <a:pPr indent="0" lvl="0" marL="0" marR="0" rtl="0" algn="l">
              <a:spcBef>
                <a:spcPts val="0"/>
              </a:spcBef>
              <a:spcAft>
                <a:spcPts val="0"/>
              </a:spcAft>
              <a:buNone/>
            </a:pPr>
            <a:r>
              <a:rPr b="1" lang="en-GB" sz="2400">
                <a:solidFill>
                  <a:srgbClr val="FFFF00"/>
                </a:solidFill>
                <a:latin typeface="Comic Sans MS"/>
                <a:ea typeface="Comic Sans MS"/>
                <a:cs typeface="Comic Sans MS"/>
                <a:sym typeface="Comic Sans MS"/>
              </a:rPr>
              <a:t>and cancers ☹ </a:t>
            </a:r>
            <a:endParaRPr b="1" sz="2400">
              <a:solidFill>
                <a:srgbClr val="FFFF00"/>
              </a:solidFill>
              <a:latin typeface="Comic Sans MS"/>
              <a:ea typeface="Comic Sans MS"/>
              <a:cs typeface="Comic Sans MS"/>
              <a:sym typeface="Comic Sans MS"/>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p51"/>
          <p:cNvSpPr txBox="1"/>
          <p:nvPr>
            <p:ph type="title"/>
          </p:nvPr>
        </p:nvSpPr>
        <p:spPr>
          <a:xfrm>
            <a:off x="753794" y="-215899"/>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omic Sans MS"/>
              <a:buNone/>
            </a:pPr>
            <a:r>
              <a:rPr lang="en-GB">
                <a:latin typeface="Comic Sans MS"/>
                <a:ea typeface="Comic Sans MS"/>
                <a:cs typeface="Comic Sans MS"/>
                <a:sym typeface="Comic Sans MS"/>
              </a:rPr>
              <a:t>How are X-ray images taken safely?</a:t>
            </a:r>
            <a:endParaRPr/>
          </a:p>
        </p:txBody>
      </p:sp>
      <p:sp>
        <p:nvSpPr>
          <p:cNvPr id="549" name="Google Shape;549;p51"/>
          <p:cNvSpPr txBox="1"/>
          <p:nvPr/>
        </p:nvSpPr>
        <p:spPr>
          <a:xfrm>
            <a:off x="200930" y="784225"/>
            <a:ext cx="10467072"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lang="en-GB" sz="2400">
                <a:solidFill>
                  <a:schemeClr val="dk1"/>
                </a:solidFill>
                <a:latin typeface="Comic Sans MS"/>
                <a:ea typeface="Comic Sans MS"/>
                <a:cs typeface="Comic Sans MS"/>
                <a:sym typeface="Comic Sans MS"/>
              </a:rPr>
              <a:t>Precautions must be used when X-ray images are taken.</a:t>
            </a:r>
            <a:endParaRPr/>
          </a:p>
        </p:txBody>
      </p:sp>
      <p:sp>
        <p:nvSpPr>
          <p:cNvPr id="550" name="Google Shape;550;p51"/>
          <p:cNvSpPr txBox="1"/>
          <p:nvPr/>
        </p:nvSpPr>
        <p:spPr>
          <a:xfrm>
            <a:off x="244120" y="4981575"/>
            <a:ext cx="6916335" cy="15696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lang="en-GB" sz="2400">
                <a:solidFill>
                  <a:schemeClr val="dk1"/>
                </a:solidFill>
                <a:latin typeface="Comic Sans MS"/>
                <a:ea typeface="Comic Sans MS"/>
                <a:cs typeface="Comic Sans MS"/>
                <a:sym typeface="Comic Sans MS"/>
              </a:rPr>
              <a:t>To minimise their exposure when an X-ray image is being taken, radiographers must wear a lead apron (shown), stand behind a screen that absorbs X-rays or even leave the room. </a:t>
            </a:r>
            <a:endParaRPr/>
          </a:p>
        </p:txBody>
      </p:sp>
      <p:sp>
        <p:nvSpPr>
          <p:cNvPr id="551" name="Google Shape;551;p51"/>
          <p:cNvSpPr txBox="1"/>
          <p:nvPr/>
        </p:nvSpPr>
        <p:spPr>
          <a:xfrm>
            <a:off x="200931" y="1330326"/>
            <a:ext cx="6690408" cy="15696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lang="en-GB" sz="2400">
                <a:solidFill>
                  <a:schemeClr val="dk1"/>
                </a:solidFill>
                <a:latin typeface="Comic Sans MS"/>
                <a:ea typeface="Comic Sans MS"/>
                <a:cs typeface="Comic Sans MS"/>
                <a:sym typeface="Comic Sans MS"/>
              </a:rPr>
              <a:t>Only the area of the body being examined is targeted with X-rays. Other areas are protected with lead shield, which is too dense </a:t>
            </a:r>
            <a:endParaRPr/>
          </a:p>
          <a:p>
            <a:pPr indent="0" lvl="0" marL="0" marR="0" rtl="0" algn="l">
              <a:lnSpc>
                <a:spcPct val="100000"/>
              </a:lnSpc>
              <a:spcBef>
                <a:spcPts val="0"/>
              </a:spcBef>
              <a:spcAft>
                <a:spcPts val="0"/>
              </a:spcAft>
              <a:buClr>
                <a:schemeClr val="dk1"/>
              </a:buClr>
              <a:buSzPts val="2400"/>
              <a:buFont typeface="Comic Sans MS"/>
              <a:buNone/>
            </a:pPr>
            <a:r>
              <a:rPr lang="en-GB" sz="2400">
                <a:solidFill>
                  <a:schemeClr val="dk1"/>
                </a:solidFill>
                <a:latin typeface="Comic Sans MS"/>
                <a:ea typeface="Comic Sans MS"/>
                <a:cs typeface="Comic Sans MS"/>
                <a:sym typeface="Comic Sans MS"/>
              </a:rPr>
              <a:t>for X-rays to pass through. </a:t>
            </a:r>
            <a:endParaRPr/>
          </a:p>
        </p:txBody>
      </p:sp>
      <p:pic>
        <p:nvPicPr>
          <p:cNvPr descr="m415361" id="552" name="Google Shape;552;p51"/>
          <p:cNvPicPr preferRelativeResize="0"/>
          <p:nvPr/>
        </p:nvPicPr>
        <p:blipFill rotWithShape="1">
          <a:blip r:embed="rId3">
            <a:alphaModFix/>
          </a:blip>
          <a:srcRect b="0" l="998" r="998" t="0"/>
          <a:stretch/>
        </p:blipFill>
        <p:spPr>
          <a:xfrm>
            <a:off x="7303846" y="1330326"/>
            <a:ext cx="4822507" cy="4493503"/>
          </a:xfrm>
          <a:prstGeom prst="rect">
            <a:avLst/>
          </a:prstGeom>
          <a:noFill/>
          <a:ln>
            <a:noFill/>
          </a:ln>
        </p:spPr>
      </p:pic>
      <p:sp>
        <p:nvSpPr>
          <p:cNvPr id="553" name="Google Shape;553;p51"/>
          <p:cNvSpPr/>
          <p:nvPr/>
        </p:nvSpPr>
        <p:spPr>
          <a:xfrm>
            <a:off x="241902" y="3179033"/>
            <a:ext cx="6608466" cy="1523494"/>
          </a:xfrm>
          <a:prstGeom prst="rect">
            <a:avLst/>
          </a:prstGeom>
          <a:noFill/>
          <a:ln>
            <a:noFill/>
          </a:ln>
        </p:spPr>
        <p:txBody>
          <a:bodyPr anchorCtr="0" anchor="t" bIns="0" lIns="91425" spcFirstLastPara="1" rIns="0" wrap="square" tIns="45700">
            <a:noAutofit/>
          </a:bodyPr>
          <a:lstStyle/>
          <a:p>
            <a:pPr indent="0" lvl="0" marL="0" marR="0" rtl="0" algn="l">
              <a:lnSpc>
                <a:spcPct val="100000"/>
              </a:lnSpc>
              <a:spcBef>
                <a:spcPts val="0"/>
              </a:spcBef>
              <a:spcAft>
                <a:spcPts val="0"/>
              </a:spcAft>
              <a:buClr>
                <a:schemeClr val="dk1"/>
              </a:buClr>
              <a:buSzPts val="2400"/>
              <a:buFont typeface="Comic Sans MS"/>
              <a:buNone/>
            </a:pPr>
            <a:r>
              <a:rPr lang="en-GB" sz="2400">
                <a:solidFill>
                  <a:schemeClr val="dk1"/>
                </a:solidFill>
                <a:latin typeface="Comic Sans MS"/>
                <a:ea typeface="Comic Sans MS"/>
                <a:cs typeface="Comic Sans MS"/>
                <a:sym typeface="Comic Sans MS"/>
              </a:rPr>
              <a:t>One-off X-rays do not pose much risk to health. Radiographers take several X-rays each day and their potential dose is much higher.</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1"/>
                                        </p:tgtEl>
                                        <p:attrNameLst>
                                          <p:attrName>style.visibility</p:attrName>
                                        </p:attrNameLst>
                                      </p:cBhvr>
                                      <p:to>
                                        <p:strVal val="visible"/>
                                      </p:to>
                                    </p:set>
                                    <p:animEffect filter="fade" transition="in">
                                      <p:cBhvr>
                                        <p:cTn dur="500"/>
                                        <p:tgtEl>
                                          <p:spTgt spid="551"/>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552"/>
                                        </p:tgtEl>
                                        <p:attrNameLst>
                                          <p:attrName>style.visibility</p:attrName>
                                        </p:attrNameLst>
                                      </p:cBhvr>
                                      <p:to>
                                        <p:strVal val="visible"/>
                                      </p:to>
                                    </p:set>
                                    <p:animEffect filter="fade" transition="in">
                                      <p:cBhvr>
                                        <p:cTn dur="500"/>
                                        <p:tgtEl>
                                          <p:spTgt spid="55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3"/>
                                        </p:tgtEl>
                                        <p:attrNameLst>
                                          <p:attrName>style.visibility</p:attrName>
                                        </p:attrNameLst>
                                      </p:cBhvr>
                                      <p:to>
                                        <p:strVal val="visible"/>
                                      </p:to>
                                    </p:set>
                                    <p:animEffect filter="fade" transition="in">
                                      <p:cBhvr>
                                        <p:cTn dur="500"/>
                                        <p:tgtEl>
                                          <p:spTgt spid="55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0"/>
                                        </p:tgtEl>
                                        <p:attrNameLst>
                                          <p:attrName>style.visibility</p:attrName>
                                        </p:attrNameLst>
                                      </p:cBhvr>
                                      <p:to>
                                        <p:strVal val="visible"/>
                                      </p:to>
                                    </p:set>
                                    <p:animEffect filter="fade" transition="in">
                                      <p:cBhvr>
                                        <p:cTn dur="500"/>
                                        <p:tgtEl>
                                          <p:spTgt spid="55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p52"/>
          <p:cNvSpPr txBox="1"/>
          <p:nvPr>
            <p:ph type="title"/>
          </p:nvPr>
        </p:nvSpPr>
        <p:spPr>
          <a:xfrm>
            <a:off x="3032761" y="2419643"/>
            <a:ext cx="7518009" cy="1732891"/>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6000"/>
              <a:buFont typeface="Comic Sans MS"/>
              <a:buNone/>
            </a:pPr>
            <a:r>
              <a:rPr lang="en-GB" sz="6000">
                <a:latin typeface="Comic Sans MS"/>
                <a:ea typeface="Comic Sans MS"/>
                <a:cs typeface="Comic Sans MS"/>
                <a:sym typeface="Comic Sans MS"/>
              </a:rPr>
              <a:t>7. Gamma Radiation</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3" name="Shape 563"/>
        <p:cNvGrpSpPr/>
        <p:nvPr/>
      </p:nvGrpSpPr>
      <p:grpSpPr>
        <a:xfrm>
          <a:off x="0" y="0"/>
          <a:ext cx="0" cy="0"/>
          <a:chOff x="0" y="0"/>
          <a:chExt cx="0" cy="0"/>
        </a:xfrm>
      </p:grpSpPr>
      <p:sp>
        <p:nvSpPr>
          <p:cNvPr id="564" name="Google Shape;564;p53"/>
          <p:cNvSpPr txBox="1"/>
          <p:nvPr>
            <p:ph type="title"/>
          </p:nvPr>
        </p:nvSpPr>
        <p:spPr>
          <a:xfrm>
            <a:off x="525463" y="-238160"/>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omic Sans MS"/>
              <a:buNone/>
            </a:pPr>
            <a:r>
              <a:rPr lang="en-GB">
                <a:latin typeface="Comic Sans MS"/>
                <a:ea typeface="Comic Sans MS"/>
                <a:cs typeface="Comic Sans MS"/>
                <a:sym typeface="Comic Sans MS"/>
              </a:rPr>
              <a:t>What are gamma rays?</a:t>
            </a:r>
            <a:endParaRPr/>
          </a:p>
        </p:txBody>
      </p:sp>
      <p:sp>
        <p:nvSpPr>
          <p:cNvPr id="565" name="Google Shape;565;p53"/>
          <p:cNvSpPr txBox="1"/>
          <p:nvPr/>
        </p:nvSpPr>
        <p:spPr>
          <a:xfrm>
            <a:off x="253219" y="784226"/>
            <a:ext cx="9917724"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Comic Sans MS"/>
              <a:buNone/>
            </a:pPr>
            <a:r>
              <a:rPr lang="en-GB" sz="2800">
                <a:solidFill>
                  <a:schemeClr val="dk1"/>
                </a:solidFill>
                <a:latin typeface="Comic Sans MS"/>
                <a:ea typeface="Comic Sans MS"/>
                <a:cs typeface="Comic Sans MS"/>
                <a:sym typeface="Comic Sans MS"/>
              </a:rPr>
              <a:t>Gamma rays are emitted by certain radioactive materials and have many uses in medicine.</a:t>
            </a:r>
            <a:endParaRPr/>
          </a:p>
        </p:txBody>
      </p:sp>
      <p:grpSp>
        <p:nvGrpSpPr>
          <p:cNvPr id="566" name="Google Shape;566;p53"/>
          <p:cNvGrpSpPr/>
          <p:nvPr/>
        </p:nvGrpSpPr>
        <p:grpSpPr>
          <a:xfrm>
            <a:off x="1866813" y="3037481"/>
            <a:ext cx="8955087" cy="2159000"/>
            <a:chOff x="65" y="1811"/>
            <a:chExt cx="5737" cy="1383"/>
          </a:xfrm>
        </p:grpSpPr>
        <p:sp>
          <p:nvSpPr>
            <p:cNvPr id="567" name="Google Shape;567;p53"/>
            <p:cNvSpPr/>
            <p:nvPr/>
          </p:nvSpPr>
          <p:spPr>
            <a:xfrm>
              <a:off x="66" y="1811"/>
              <a:ext cx="5736" cy="1383"/>
            </a:xfrm>
            <a:prstGeom prst="rect">
              <a:avLst/>
            </a:prstGeom>
            <a:solidFill>
              <a:srgbClr val="FFFFCC"/>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mic Sans MS"/>
                <a:ea typeface="Comic Sans MS"/>
                <a:cs typeface="Comic Sans MS"/>
                <a:sym typeface="Comic Sans MS"/>
              </a:endParaRPr>
            </a:p>
          </p:txBody>
        </p:sp>
        <p:pic>
          <p:nvPicPr>
            <p:cNvPr descr="PS_gfx_emscale" id="568" name="Google Shape;568;p53"/>
            <p:cNvPicPr preferRelativeResize="0"/>
            <p:nvPr/>
          </p:nvPicPr>
          <p:blipFill rotWithShape="1">
            <a:blip r:embed="rId3">
              <a:alphaModFix/>
            </a:blip>
            <a:srcRect b="0" l="13417" r="12047" t="0"/>
            <a:stretch/>
          </p:blipFill>
          <p:spPr>
            <a:xfrm>
              <a:off x="65" y="2009"/>
              <a:ext cx="5736" cy="918"/>
            </a:xfrm>
            <a:prstGeom prst="rect">
              <a:avLst/>
            </a:prstGeom>
            <a:noFill/>
            <a:ln>
              <a:noFill/>
            </a:ln>
          </p:spPr>
        </p:pic>
        <p:sp>
          <p:nvSpPr>
            <p:cNvPr id="569" name="Google Shape;569;p53"/>
            <p:cNvSpPr txBox="1"/>
            <p:nvPr/>
          </p:nvSpPr>
          <p:spPr>
            <a:xfrm>
              <a:off x="2148" y="1826"/>
              <a:ext cx="949" cy="497"/>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chemeClr val="dk1"/>
                </a:buClr>
                <a:buSzPts val="2800"/>
                <a:buFont typeface="Comic Sans MS"/>
                <a:buNone/>
              </a:pPr>
              <a:r>
                <a:rPr b="1" lang="en-GB" sz="2800">
                  <a:solidFill>
                    <a:schemeClr val="dk1"/>
                  </a:solidFill>
                  <a:latin typeface="Comic Sans MS"/>
                  <a:ea typeface="Comic Sans MS"/>
                  <a:cs typeface="Comic Sans MS"/>
                  <a:sym typeface="Comic Sans MS"/>
                </a:rPr>
                <a:t>ultra-violet</a:t>
              </a:r>
              <a:endParaRPr/>
            </a:p>
          </p:txBody>
        </p:sp>
        <p:sp>
          <p:nvSpPr>
            <p:cNvPr id="570" name="Google Shape;570;p53"/>
            <p:cNvSpPr txBox="1"/>
            <p:nvPr/>
          </p:nvSpPr>
          <p:spPr>
            <a:xfrm>
              <a:off x="940" y="1946"/>
              <a:ext cx="1033" cy="33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Comic Sans MS"/>
                <a:buNone/>
              </a:pPr>
              <a:r>
                <a:rPr b="1" lang="en-GB" sz="2800">
                  <a:solidFill>
                    <a:schemeClr val="dk1"/>
                  </a:solidFill>
                  <a:latin typeface="Comic Sans MS"/>
                  <a:ea typeface="Comic Sans MS"/>
                  <a:cs typeface="Comic Sans MS"/>
                  <a:sym typeface="Comic Sans MS"/>
                </a:rPr>
                <a:t>infrared</a:t>
              </a:r>
              <a:endParaRPr/>
            </a:p>
          </p:txBody>
        </p:sp>
        <p:sp>
          <p:nvSpPr>
            <p:cNvPr id="571" name="Google Shape;571;p53"/>
            <p:cNvSpPr txBox="1"/>
            <p:nvPr/>
          </p:nvSpPr>
          <p:spPr>
            <a:xfrm>
              <a:off x="3130" y="1948"/>
              <a:ext cx="1003" cy="33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Comic Sans MS"/>
                <a:buNone/>
              </a:pPr>
              <a:r>
                <a:rPr b="1" lang="en-GB" sz="2800">
                  <a:solidFill>
                    <a:schemeClr val="dk1"/>
                  </a:solidFill>
                  <a:latin typeface="Comic Sans MS"/>
                  <a:ea typeface="Comic Sans MS"/>
                  <a:cs typeface="Comic Sans MS"/>
                  <a:sym typeface="Comic Sans MS"/>
                </a:rPr>
                <a:t>X-rays </a:t>
              </a:r>
              <a:endParaRPr/>
            </a:p>
          </p:txBody>
        </p:sp>
        <p:sp>
          <p:nvSpPr>
            <p:cNvPr id="572" name="Google Shape;572;p53"/>
            <p:cNvSpPr txBox="1"/>
            <p:nvPr/>
          </p:nvSpPr>
          <p:spPr>
            <a:xfrm>
              <a:off x="559" y="2652"/>
              <a:ext cx="420" cy="2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9900CC"/>
                </a:buClr>
                <a:buSzPts val="1800"/>
                <a:buFont typeface="Comic Sans MS"/>
                <a:buNone/>
              </a:pPr>
              <a:r>
                <a:rPr b="1" lang="en-GB" sz="1800">
                  <a:solidFill>
                    <a:srgbClr val="9900CC"/>
                  </a:solidFill>
                  <a:latin typeface="Comic Sans MS"/>
                  <a:ea typeface="Comic Sans MS"/>
                  <a:cs typeface="Comic Sans MS"/>
                  <a:sym typeface="Comic Sans MS"/>
                </a:rPr>
                <a:t>10</a:t>
              </a:r>
              <a:r>
                <a:rPr b="1" baseline="30000" lang="en-GB" sz="1800">
                  <a:solidFill>
                    <a:srgbClr val="9900CC"/>
                  </a:solidFill>
                  <a:latin typeface="Comic Sans MS"/>
                  <a:ea typeface="Comic Sans MS"/>
                  <a:cs typeface="Comic Sans MS"/>
                  <a:sym typeface="Comic Sans MS"/>
                </a:rPr>
                <a:t>-3</a:t>
              </a:r>
              <a:endParaRPr b="1" sz="1800">
                <a:solidFill>
                  <a:srgbClr val="9900CC"/>
                </a:solidFill>
                <a:latin typeface="Comic Sans MS"/>
                <a:ea typeface="Comic Sans MS"/>
                <a:cs typeface="Comic Sans MS"/>
                <a:sym typeface="Comic Sans MS"/>
              </a:endParaRPr>
            </a:p>
          </p:txBody>
        </p:sp>
        <p:sp>
          <p:nvSpPr>
            <p:cNvPr id="573" name="Google Shape;573;p53"/>
            <p:cNvSpPr txBox="1"/>
            <p:nvPr/>
          </p:nvSpPr>
          <p:spPr>
            <a:xfrm>
              <a:off x="3319" y="2652"/>
              <a:ext cx="420" cy="2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9900CC"/>
                </a:buClr>
                <a:buSzPts val="1800"/>
                <a:buFont typeface="Comic Sans MS"/>
                <a:buNone/>
              </a:pPr>
              <a:r>
                <a:rPr b="1" lang="en-GB" sz="1800">
                  <a:solidFill>
                    <a:srgbClr val="9900CC"/>
                  </a:solidFill>
                  <a:latin typeface="Comic Sans MS"/>
                  <a:ea typeface="Comic Sans MS"/>
                  <a:cs typeface="Comic Sans MS"/>
                  <a:sym typeface="Comic Sans MS"/>
                </a:rPr>
                <a:t>10</a:t>
              </a:r>
              <a:r>
                <a:rPr b="1" baseline="30000" lang="en-GB" sz="1800">
                  <a:solidFill>
                    <a:srgbClr val="9900CC"/>
                  </a:solidFill>
                  <a:latin typeface="Comic Sans MS"/>
                  <a:ea typeface="Comic Sans MS"/>
                  <a:cs typeface="Comic Sans MS"/>
                  <a:sym typeface="Comic Sans MS"/>
                </a:rPr>
                <a:t>-9</a:t>
              </a:r>
              <a:endParaRPr b="1" sz="1800">
                <a:solidFill>
                  <a:srgbClr val="9900CC"/>
                </a:solidFill>
                <a:latin typeface="Comic Sans MS"/>
                <a:ea typeface="Comic Sans MS"/>
                <a:cs typeface="Comic Sans MS"/>
                <a:sym typeface="Comic Sans MS"/>
              </a:endParaRPr>
            </a:p>
          </p:txBody>
        </p:sp>
        <p:sp>
          <p:nvSpPr>
            <p:cNvPr id="574" name="Google Shape;574;p53"/>
            <p:cNvSpPr txBox="1"/>
            <p:nvPr/>
          </p:nvSpPr>
          <p:spPr>
            <a:xfrm>
              <a:off x="1784" y="2652"/>
              <a:ext cx="742" cy="23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9900CC"/>
                </a:buClr>
                <a:buSzPts val="1800"/>
                <a:buFont typeface="Comic Sans MS"/>
                <a:buNone/>
              </a:pPr>
              <a:r>
                <a:rPr b="1" lang="en-GB" sz="1800">
                  <a:solidFill>
                    <a:srgbClr val="9900CC"/>
                  </a:solidFill>
                  <a:latin typeface="Comic Sans MS"/>
                  <a:ea typeface="Comic Sans MS"/>
                  <a:cs typeface="Comic Sans MS"/>
                  <a:sym typeface="Comic Sans MS"/>
                </a:rPr>
                <a:t>10</a:t>
              </a:r>
              <a:r>
                <a:rPr b="1" baseline="30000" lang="en-GB" sz="1800">
                  <a:solidFill>
                    <a:srgbClr val="9900CC"/>
                  </a:solidFill>
                  <a:latin typeface="Comic Sans MS"/>
                  <a:ea typeface="Comic Sans MS"/>
                  <a:cs typeface="Comic Sans MS"/>
                  <a:sym typeface="Comic Sans MS"/>
                </a:rPr>
                <a:t>-6</a:t>
              </a:r>
              <a:endParaRPr b="1" sz="1800">
                <a:solidFill>
                  <a:srgbClr val="9900CC"/>
                </a:solidFill>
                <a:latin typeface="Comic Sans MS"/>
                <a:ea typeface="Comic Sans MS"/>
                <a:cs typeface="Comic Sans MS"/>
                <a:sym typeface="Comic Sans MS"/>
              </a:endParaRPr>
            </a:p>
          </p:txBody>
        </p:sp>
        <p:sp>
          <p:nvSpPr>
            <p:cNvPr id="575" name="Google Shape;575;p53"/>
            <p:cNvSpPr txBox="1"/>
            <p:nvPr/>
          </p:nvSpPr>
          <p:spPr>
            <a:xfrm>
              <a:off x="4706" y="2652"/>
              <a:ext cx="481" cy="2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9900CC"/>
                </a:buClr>
                <a:buSzPts val="1800"/>
                <a:buFont typeface="Comic Sans MS"/>
                <a:buNone/>
              </a:pPr>
              <a:r>
                <a:rPr b="1" lang="en-GB" sz="1800">
                  <a:solidFill>
                    <a:srgbClr val="9900CC"/>
                  </a:solidFill>
                  <a:latin typeface="Comic Sans MS"/>
                  <a:ea typeface="Comic Sans MS"/>
                  <a:cs typeface="Comic Sans MS"/>
                  <a:sym typeface="Comic Sans MS"/>
                </a:rPr>
                <a:t>10</a:t>
              </a:r>
              <a:r>
                <a:rPr b="1" baseline="30000" lang="en-GB" sz="1800">
                  <a:solidFill>
                    <a:srgbClr val="9900CC"/>
                  </a:solidFill>
                  <a:latin typeface="Comic Sans MS"/>
                  <a:ea typeface="Comic Sans MS"/>
                  <a:cs typeface="Comic Sans MS"/>
                  <a:sym typeface="Comic Sans MS"/>
                </a:rPr>
                <a:t>-12</a:t>
              </a:r>
              <a:endParaRPr b="1" sz="1800">
                <a:solidFill>
                  <a:srgbClr val="9900CC"/>
                </a:solidFill>
                <a:latin typeface="Comic Sans MS"/>
                <a:ea typeface="Comic Sans MS"/>
                <a:cs typeface="Comic Sans MS"/>
                <a:sym typeface="Comic Sans MS"/>
              </a:endParaRPr>
            </a:p>
          </p:txBody>
        </p:sp>
        <p:sp>
          <p:nvSpPr>
            <p:cNvPr id="576" name="Google Shape;576;p53"/>
            <p:cNvSpPr txBox="1"/>
            <p:nvPr/>
          </p:nvSpPr>
          <p:spPr>
            <a:xfrm>
              <a:off x="4055" y="1822"/>
              <a:ext cx="853" cy="501"/>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CC00CC"/>
                </a:buClr>
                <a:buSzPts val="2800"/>
                <a:buFont typeface="Comic Sans MS"/>
                <a:buNone/>
              </a:pPr>
              <a:r>
                <a:rPr b="1" lang="en-GB" sz="2800">
                  <a:solidFill>
                    <a:srgbClr val="CC00CC"/>
                  </a:solidFill>
                  <a:latin typeface="Comic Sans MS"/>
                  <a:ea typeface="Comic Sans MS"/>
                  <a:cs typeface="Comic Sans MS"/>
                  <a:sym typeface="Comic Sans MS"/>
                </a:rPr>
                <a:t>gamma</a:t>
              </a:r>
              <a:endParaRPr/>
            </a:p>
            <a:p>
              <a:pPr indent="0" lvl="0" marL="0" marR="0" rtl="0" algn="ctr">
                <a:lnSpc>
                  <a:spcPct val="80000"/>
                </a:lnSpc>
                <a:spcBef>
                  <a:spcPts val="0"/>
                </a:spcBef>
                <a:spcAft>
                  <a:spcPts val="0"/>
                </a:spcAft>
                <a:buClr>
                  <a:srgbClr val="CC00CC"/>
                </a:buClr>
                <a:buSzPts val="2800"/>
                <a:buFont typeface="Comic Sans MS"/>
                <a:buNone/>
              </a:pPr>
              <a:r>
                <a:rPr b="1" lang="en-GB" sz="2800">
                  <a:solidFill>
                    <a:srgbClr val="CC00CC"/>
                  </a:solidFill>
                  <a:latin typeface="Comic Sans MS"/>
                  <a:ea typeface="Comic Sans MS"/>
                  <a:cs typeface="Comic Sans MS"/>
                  <a:sym typeface="Comic Sans MS"/>
                </a:rPr>
                <a:t>rays</a:t>
              </a:r>
              <a:r>
                <a:rPr b="1" lang="en-GB" sz="2800">
                  <a:solidFill>
                    <a:schemeClr val="dk1"/>
                  </a:solidFill>
                  <a:latin typeface="Comic Sans MS"/>
                  <a:ea typeface="Comic Sans MS"/>
                  <a:cs typeface="Comic Sans MS"/>
                  <a:sym typeface="Comic Sans MS"/>
                </a:rPr>
                <a:t> </a:t>
              </a:r>
              <a:endParaRPr/>
            </a:p>
          </p:txBody>
        </p:sp>
        <p:sp>
          <p:nvSpPr>
            <p:cNvPr id="577" name="Google Shape;577;p53"/>
            <p:cNvSpPr txBox="1"/>
            <p:nvPr/>
          </p:nvSpPr>
          <p:spPr>
            <a:xfrm>
              <a:off x="1102" y="2900"/>
              <a:ext cx="2833" cy="2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9900CC"/>
                </a:buClr>
                <a:buSzPts val="1800"/>
                <a:buFont typeface="Comic Sans MS"/>
                <a:buNone/>
              </a:pPr>
              <a:r>
                <a:rPr b="1" lang="en-GB" sz="1800">
                  <a:solidFill>
                    <a:srgbClr val="9900CC"/>
                  </a:solidFill>
                  <a:latin typeface="Comic Sans MS"/>
                  <a:ea typeface="Comic Sans MS"/>
                  <a:cs typeface="Comic Sans MS"/>
                  <a:sym typeface="Comic Sans MS"/>
                </a:rPr>
                <a:t>wavelength of electromagnetic waves </a:t>
              </a:r>
              <a:endParaRPr/>
            </a:p>
          </p:txBody>
        </p:sp>
      </p:grpSp>
      <p:sp>
        <p:nvSpPr>
          <p:cNvPr id="578" name="Google Shape;578;p53"/>
          <p:cNvSpPr txBox="1"/>
          <p:nvPr/>
        </p:nvSpPr>
        <p:spPr>
          <a:xfrm>
            <a:off x="253219" y="1622425"/>
            <a:ext cx="9395520" cy="138499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Comic Sans MS"/>
              <a:buNone/>
            </a:pPr>
            <a:r>
              <a:rPr lang="en-GB" sz="2800">
                <a:solidFill>
                  <a:schemeClr val="dk1"/>
                </a:solidFill>
                <a:latin typeface="Comic Sans MS"/>
                <a:ea typeface="Comic Sans MS"/>
                <a:cs typeface="Comic Sans MS"/>
                <a:sym typeface="Comic Sans MS"/>
              </a:rPr>
              <a:t>Gamma rays are the highest-energy form of  electromagnetic radiation and are beside X-rays in the electromagnetic spectrum.</a:t>
            </a:r>
            <a:endParaRPr/>
          </a:p>
        </p:txBody>
      </p:sp>
      <p:pic>
        <p:nvPicPr>
          <p:cNvPr descr="radioActive" id="579" name="Google Shape;579;p53"/>
          <p:cNvPicPr preferRelativeResize="0"/>
          <p:nvPr/>
        </p:nvPicPr>
        <p:blipFill rotWithShape="1">
          <a:blip r:embed="rId4">
            <a:alphaModFix/>
          </a:blip>
          <a:srcRect b="0" l="0" r="0" t="0"/>
          <a:stretch/>
        </p:blipFill>
        <p:spPr>
          <a:xfrm>
            <a:off x="9648738" y="333970"/>
            <a:ext cx="2346325" cy="1865312"/>
          </a:xfrm>
          <a:prstGeom prst="rect">
            <a:avLst/>
          </a:prstGeom>
          <a:noFill/>
          <a:ln>
            <a:noFill/>
          </a:ln>
        </p:spPr>
      </p:pic>
      <p:sp>
        <p:nvSpPr>
          <p:cNvPr id="580" name="Google Shape;580;p53"/>
          <p:cNvSpPr txBox="1"/>
          <p:nvPr/>
        </p:nvSpPr>
        <p:spPr>
          <a:xfrm>
            <a:off x="104174" y="5262556"/>
            <a:ext cx="11890889" cy="181610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800">
                <a:solidFill>
                  <a:schemeClr val="dk1"/>
                </a:solidFill>
                <a:latin typeface="Comic Sans MS"/>
                <a:ea typeface="Comic Sans MS"/>
                <a:cs typeface="Comic Sans MS"/>
                <a:sym typeface="Comic Sans MS"/>
              </a:rPr>
              <a:t>Gamma rays have wavelengths between 0.001 and 0.1 nm (less than the size of an atom), which makes them the form of electromagnetic radiation with the shortest wavelengths.</a:t>
            </a:r>
            <a:endParaRPr/>
          </a:p>
          <a:p>
            <a:pPr indent="0" lvl="0" marL="0" marR="0" rtl="0" algn="l">
              <a:lnSpc>
                <a:spcPct val="100000"/>
              </a:lnSpc>
              <a:spcBef>
                <a:spcPts val="0"/>
              </a:spcBef>
              <a:spcAft>
                <a:spcPts val="0"/>
              </a:spcAft>
              <a:buClr>
                <a:schemeClr val="dk1"/>
              </a:buClr>
              <a:buSzPts val="2800"/>
              <a:buFont typeface="Calibri"/>
              <a:buNone/>
            </a:pPr>
            <a:r>
              <a:t/>
            </a:r>
            <a:endParaRPr sz="2800">
              <a:solidFill>
                <a:schemeClr val="dk1"/>
              </a:solidFill>
              <a:latin typeface="Comic Sans MS"/>
              <a:ea typeface="Comic Sans MS"/>
              <a:cs typeface="Comic Sans MS"/>
              <a:sym typeface="Comic Sans M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8"/>
                                        </p:tgtEl>
                                        <p:attrNameLst>
                                          <p:attrName>style.visibility</p:attrName>
                                        </p:attrNameLst>
                                      </p:cBhvr>
                                      <p:to>
                                        <p:strVal val="visible"/>
                                      </p:to>
                                    </p:set>
                                    <p:animEffect filter="fade" transition="in">
                                      <p:cBhvr>
                                        <p:cTn dur="500"/>
                                        <p:tgtEl>
                                          <p:spTgt spid="57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6"/>
                                        </p:tgtEl>
                                        <p:attrNameLst>
                                          <p:attrName>style.visibility</p:attrName>
                                        </p:attrNameLst>
                                      </p:cBhvr>
                                      <p:to>
                                        <p:strVal val="visible"/>
                                      </p:to>
                                    </p:set>
                                    <p:animEffect filter="fade" transition="in">
                                      <p:cBhvr>
                                        <p:cTn dur="500"/>
                                        <p:tgtEl>
                                          <p:spTgt spid="56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 name="Shape 585"/>
        <p:cNvGrpSpPr/>
        <p:nvPr/>
      </p:nvGrpSpPr>
      <p:grpSpPr>
        <a:xfrm>
          <a:off x="0" y="0"/>
          <a:ext cx="0" cy="0"/>
          <a:chOff x="0" y="0"/>
          <a:chExt cx="0" cy="0"/>
        </a:xfrm>
      </p:grpSpPr>
      <p:sp>
        <p:nvSpPr>
          <p:cNvPr id="586" name="Google Shape;586;p54"/>
          <p:cNvSpPr txBox="1"/>
          <p:nvPr>
            <p:ph type="title"/>
          </p:nvPr>
        </p:nvSpPr>
        <p:spPr>
          <a:xfrm>
            <a:off x="249606" y="-131240"/>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omic Sans MS"/>
              <a:buNone/>
            </a:pPr>
            <a:r>
              <a:rPr lang="en-GB">
                <a:latin typeface="Comic Sans MS"/>
                <a:ea typeface="Comic Sans MS"/>
                <a:cs typeface="Comic Sans MS"/>
                <a:sym typeface="Comic Sans MS"/>
              </a:rPr>
              <a:t>What are gamma rays used for?</a:t>
            </a:r>
            <a:endParaRPr/>
          </a:p>
        </p:txBody>
      </p:sp>
      <p:sp>
        <p:nvSpPr>
          <p:cNvPr id="587" name="Google Shape;587;p54"/>
          <p:cNvSpPr txBox="1"/>
          <p:nvPr/>
        </p:nvSpPr>
        <p:spPr>
          <a:xfrm>
            <a:off x="-1" y="781050"/>
            <a:ext cx="8918917" cy="1892826"/>
          </a:xfrm>
          <a:prstGeom prst="rect">
            <a:avLst/>
          </a:prstGeom>
          <a:noFill/>
          <a:ln>
            <a:noFill/>
          </a:ln>
        </p:spPr>
        <p:txBody>
          <a:bodyPr anchorCtr="0" anchor="t" bIns="0" lIns="91425" spcFirstLastPara="1" rIns="0" wrap="square" tIns="45700">
            <a:spAutoFit/>
          </a:bodyPr>
          <a:lstStyle/>
          <a:p>
            <a:pPr indent="-355600" lvl="0" marL="355600" marR="0" rtl="0" algn="l">
              <a:lnSpc>
                <a:spcPct val="100000"/>
              </a:lnSpc>
              <a:spcBef>
                <a:spcPts val="0"/>
              </a:spcBef>
              <a:spcAft>
                <a:spcPts val="0"/>
              </a:spcAft>
              <a:buNone/>
            </a:pPr>
            <a:r>
              <a:rPr b="1" lang="en-GB" sz="2400">
                <a:solidFill>
                  <a:srgbClr val="CC00CC"/>
                </a:solidFill>
                <a:latin typeface="Comic Sans MS"/>
                <a:ea typeface="Comic Sans MS"/>
                <a:cs typeface="Comic Sans MS"/>
                <a:sym typeface="Comic Sans MS"/>
              </a:rPr>
              <a:t>Medical imaging</a:t>
            </a:r>
            <a:endParaRPr/>
          </a:p>
          <a:p>
            <a:pPr indent="-355600" lvl="0" marL="355600" marR="0" rtl="0" algn="l">
              <a:lnSpc>
                <a:spcPct val="100000"/>
              </a:lnSpc>
              <a:spcBef>
                <a:spcPts val="0"/>
              </a:spcBef>
              <a:spcAft>
                <a:spcPts val="0"/>
              </a:spcAft>
              <a:buClr>
                <a:srgbClr val="000066"/>
              </a:buClr>
              <a:buSzPts val="2400"/>
              <a:buFont typeface="Noto Sans Symbols"/>
              <a:buNone/>
            </a:pPr>
            <a:r>
              <a:rPr lang="en-GB" sz="2400">
                <a:solidFill>
                  <a:srgbClr val="000066"/>
                </a:solidFill>
                <a:latin typeface="Comic Sans MS"/>
                <a:ea typeface="Comic Sans MS"/>
                <a:cs typeface="Comic Sans MS"/>
                <a:sym typeface="Comic Sans MS"/>
              </a:rPr>
              <a:t>    A gamma scan is obtained by injecting a radioactive tracer, which concentrates in the area of the body being investigated. Gamma rays emitted from this area are detected by a gamma camera.</a:t>
            </a:r>
            <a:endParaRPr/>
          </a:p>
        </p:txBody>
      </p:sp>
      <p:pic>
        <p:nvPicPr>
          <p:cNvPr descr="m134711" id="588" name="Google Shape;588;p54"/>
          <p:cNvPicPr preferRelativeResize="0"/>
          <p:nvPr/>
        </p:nvPicPr>
        <p:blipFill rotWithShape="1">
          <a:blip r:embed="rId3">
            <a:alphaModFix/>
          </a:blip>
          <a:srcRect b="0" l="0" r="0" t="0"/>
          <a:stretch/>
        </p:blipFill>
        <p:spPr>
          <a:xfrm>
            <a:off x="8918917" y="300099"/>
            <a:ext cx="3106518" cy="4659777"/>
          </a:xfrm>
          <a:prstGeom prst="rect">
            <a:avLst/>
          </a:prstGeom>
          <a:noFill/>
          <a:ln>
            <a:noFill/>
          </a:ln>
        </p:spPr>
      </p:pic>
      <p:sp>
        <p:nvSpPr>
          <p:cNvPr id="589" name="Google Shape;589;p54"/>
          <p:cNvSpPr txBox="1"/>
          <p:nvPr/>
        </p:nvSpPr>
        <p:spPr>
          <a:xfrm>
            <a:off x="249606" y="4718052"/>
            <a:ext cx="9808794" cy="1892300"/>
          </a:xfrm>
          <a:prstGeom prst="rect">
            <a:avLst/>
          </a:prstGeom>
          <a:noFill/>
          <a:ln>
            <a:noFill/>
          </a:ln>
        </p:spPr>
        <p:txBody>
          <a:bodyPr anchorCtr="0" anchor="t" bIns="0" lIns="91425" spcFirstLastPara="1" rIns="0" wrap="square" tIns="45700">
            <a:spAutoFit/>
          </a:bodyPr>
          <a:lstStyle/>
          <a:p>
            <a:pPr indent="-355600" lvl="0" marL="355600" marR="0" rtl="0" algn="l">
              <a:lnSpc>
                <a:spcPct val="100000"/>
              </a:lnSpc>
              <a:spcBef>
                <a:spcPts val="0"/>
              </a:spcBef>
              <a:spcAft>
                <a:spcPts val="0"/>
              </a:spcAft>
              <a:buNone/>
            </a:pPr>
            <a:r>
              <a:rPr b="1" lang="en-GB" sz="2400">
                <a:solidFill>
                  <a:srgbClr val="CC00CC"/>
                </a:solidFill>
                <a:latin typeface="Comic Sans MS"/>
                <a:ea typeface="Comic Sans MS"/>
                <a:cs typeface="Comic Sans MS"/>
                <a:sym typeface="Comic Sans MS"/>
              </a:rPr>
              <a:t>Industrial imaging</a:t>
            </a:r>
            <a:endParaRPr/>
          </a:p>
          <a:p>
            <a:pPr indent="-355600" lvl="0" marL="355600" marR="0" rtl="0" algn="l">
              <a:spcBef>
                <a:spcPts val="0"/>
              </a:spcBef>
              <a:spcAft>
                <a:spcPts val="0"/>
              </a:spcAft>
              <a:buNone/>
            </a:pPr>
            <a:r>
              <a:rPr lang="en-GB" sz="2400">
                <a:solidFill>
                  <a:srgbClr val="000066"/>
                </a:solidFill>
                <a:latin typeface="Comic Sans MS"/>
                <a:ea typeface="Comic Sans MS"/>
                <a:cs typeface="Comic Sans MS"/>
                <a:sym typeface="Comic Sans MS"/>
              </a:rPr>
              <a:t> 	Gamma rays are even more penetrating than X-rays and can pass through denser materials. They can be used to examine metal castings and welded structures. </a:t>
            </a:r>
            <a:endParaRPr/>
          </a:p>
          <a:p>
            <a:pPr indent="-355600" lvl="0" marL="355600" marR="0" rtl="0" algn="l">
              <a:lnSpc>
                <a:spcPct val="100000"/>
              </a:lnSpc>
              <a:spcBef>
                <a:spcPts val="0"/>
              </a:spcBef>
              <a:spcAft>
                <a:spcPts val="0"/>
              </a:spcAft>
              <a:buClr>
                <a:schemeClr val="dk1"/>
              </a:buClr>
              <a:buSzPts val="2400"/>
              <a:buFont typeface="Noto Sans Symbols"/>
              <a:buNone/>
            </a:pPr>
            <a:r>
              <a:t/>
            </a:r>
            <a:endParaRPr sz="2400">
              <a:solidFill>
                <a:srgbClr val="000066"/>
              </a:solidFill>
              <a:latin typeface="Comic Sans MS"/>
              <a:ea typeface="Comic Sans MS"/>
              <a:cs typeface="Comic Sans MS"/>
              <a:sym typeface="Comic Sans MS"/>
            </a:endParaRPr>
          </a:p>
        </p:txBody>
      </p:sp>
      <p:sp>
        <p:nvSpPr>
          <p:cNvPr id="590" name="Google Shape;590;p54"/>
          <p:cNvSpPr/>
          <p:nvPr/>
        </p:nvSpPr>
        <p:spPr>
          <a:xfrm>
            <a:off x="110462" y="2824419"/>
            <a:ext cx="8133206" cy="1523494"/>
          </a:xfrm>
          <a:prstGeom prst="rect">
            <a:avLst/>
          </a:prstGeom>
          <a:noFill/>
          <a:ln>
            <a:noFill/>
          </a:ln>
        </p:spPr>
        <p:txBody>
          <a:bodyPr anchorCtr="0" anchor="t" bIns="0" lIns="91425" spcFirstLastPara="1" rIns="0" wrap="square" tIns="45700">
            <a:noAutofit/>
          </a:bodyPr>
          <a:lstStyle/>
          <a:p>
            <a:pPr indent="-361950" lvl="0" marL="361950" marR="0" rtl="0" algn="l">
              <a:spcBef>
                <a:spcPts val="0"/>
              </a:spcBef>
              <a:spcAft>
                <a:spcPts val="0"/>
              </a:spcAft>
              <a:buNone/>
            </a:pPr>
            <a:r>
              <a:rPr b="1" lang="en-GB" sz="2400">
                <a:solidFill>
                  <a:srgbClr val="CC00CC"/>
                </a:solidFill>
                <a:latin typeface="Comic Sans MS"/>
                <a:ea typeface="Comic Sans MS"/>
                <a:cs typeface="Comic Sans MS"/>
                <a:sym typeface="Comic Sans MS"/>
              </a:rPr>
              <a:t>Sterilizing</a:t>
            </a:r>
            <a:endParaRPr/>
          </a:p>
          <a:p>
            <a:pPr indent="-361950" lvl="0" marL="361950" marR="0" rtl="0" algn="l">
              <a:spcBef>
                <a:spcPts val="0"/>
              </a:spcBef>
              <a:spcAft>
                <a:spcPts val="0"/>
              </a:spcAft>
              <a:buClr>
                <a:srgbClr val="000066"/>
              </a:buClr>
              <a:buSzPts val="2400"/>
              <a:buFont typeface="Noto Sans Symbols"/>
              <a:buNone/>
            </a:pPr>
            <a:r>
              <a:rPr lang="en-GB" sz="2400">
                <a:solidFill>
                  <a:srgbClr val="000066"/>
                </a:solidFill>
                <a:latin typeface="Comic Sans MS"/>
                <a:ea typeface="Comic Sans MS"/>
                <a:cs typeface="Comic Sans MS"/>
                <a:sym typeface="Comic Sans MS"/>
              </a:rPr>
              <a:t>	Gamma rays are used to sterilize </a:t>
            </a:r>
            <a:endParaRPr/>
          </a:p>
          <a:p>
            <a:pPr indent="-361950" lvl="0" marL="361950" marR="0" rtl="0" algn="l">
              <a:spcBef>
                <a:spcPts val="0"/>
              </a:spcBef>
              <a:spcAft>
                <a:spcPts val="0"/>
              </a:spcAft>
              <a:buClr>
                <a:srgbClr val="000066"/>
              </a:buClr>
              <a:buSzPts val="2400"/>
              <a:buFont typeface="Noto Sans Symbols"/>
              <a:buNone/>
            </a:pPr>
            <a:r>
              <a:rPr lang="en-GB" sz="2400">
                <a:solidFill>
                  <a:srgbClr val="000066"/>
                </a:solidFill>
                <a:latin typeface="Comic Sans MS"/>
                <a:ea typeface="Comic Sans MS"/>
                <a:cs typeface="Comic Sans MS"/>
                <a:sym typeface="Comic Sans MS"/>
              </a:rPr>
              <a:t>	medical equipment because they are highly penetrating and kill all living cells.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0"/>
                                        </p:tgtEl>
                                        <p:attrNameLst>
                                          <p:attrName>style.visibility</p:attrName>
                                        </p:attrNameLst>
                                      </p:cBhvr>
                                      <p:to>
                                        <p:strVal val="visible"/>
                                      </p:to>
                                    </p:set>
                                    <p:animEffect filter="fade" transition="in">
                                      <p:cBhvr>
                                        <p:cTn dur="500"/>
                                        <p:tgtEl>
                                          <p:spTgt spid="59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5" name="Shape 595"/>
        <p:cNvGrpSpPr/>
        <p:nvPr/>
      </p:nvGrpSpPr>
      <p:grpSpPr>
        <a:xfrm>
          <a:off x="0" y="0"/>
          <a:ext cx="0" cy="0"/>
          <a:chOff x="0" y="0"/>
          <a:chExt cx="0" cy="0"/>
        </a:xfrm>
      </p:grpSpPr>
      <p:sp>
        <p:nvSpPr>
          <p:cNvPr id="596" name="Google Shape;596;p55"/>
          <p:cNvSpPr txBox="1"/>
          <p:nvPr>
            <p:ph type="title"/>
          </p:nvPr>
        </p:nvSpPr>
        <p:spPr>
          <a:xfrm>
            <a:off x="490024" y="-311531"/>
            <a:ext cx="11592951"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omic Sans MS"/>
              <a:buNone/>
            </a:pPr>
            <a:r>
              <a:rPr lang="en-GB" sz="4000">
                <a:latin typeface="Comic Sans MS"/>
                <a:ea typeface="Comic Sans MS"/>
                <a:cs typeface="Comic Sans MS"/>
                <a:sym typeface="Comic Sans MS"/>
              </a:rPr>
              <a:t>How can gamma rays be used to treat cancer?</a:t>
            </a:r>
            <a:endParaRPr/>
          </a:p>
        </p:txBody>
      </p:sp>
      <p:sp>
        <p:nvSpPr>
          <p:cNvPr id="597" name="Google Shape;597;p55"/>
          <p:cNvSpPr txBox="1"/>
          <p:nvPr/>
        </p:nvSpPr>
        <p:spPr>
          <a:xfrm>
            <a:off x="171729" y="784226"/>
            <a:ext cx="11405982"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CC"/>
              </a:buClr>
              <a:buSzPts val="2400"/>
              <a:buFont typeface="Comic Sans MS"/>
              <a:buNone/>
            </a:pPr>
            <a:r>
              <a:rPr b="1" lang="en-GB" sz="2400">
                <a:solidFill>
                  <a:srgbClr val="CC00CC"/>
                </a:solidFill>
                <a:latin typeface="Comic Sans MS"/>
                <a:ea typeface="Comic Sans MS"/>
                <a:cs typeface="Comic Sans MS"/>
                <a:sym typeface="Comic Sans MS"/>
              </a:rPr>
              <a:t>Radiotherapy</a:t>
            </a:r>
            <a:r>
              <a:rPr lang="en-GB" sz="2400">
                <a:solidFill>
                  <a:schemeClr val="dk1"/>
                </a:solidFill>
                <a:latin typeface="Comic Sans MS"/>
                <a:ea typeface="Comic Sans MS"/>
                <a:cs typeface="Comic Sans MS"/>
                <a:sym typeface="Comic Sans MS"/>
              </a:rPr>
              <a:t> is the use of high-energy ionizing radiation, such as gamma rays, to kill cancer cells.</a:t>
            </a:r>
            <a:endParaRPr/>
          </a:p>
        </p:txBody>
      </p:sp>
      <p:sp>
        <p:nvSpPr>
          <p:cNvPr id="598" name="Google Shape;598;p55"/>
          <p:cNvSpPr txBox="1"/>
          <p:nvPr/>
        </p:nvSpPr>
        <p:spPr>
          <a:xfrm>
            <a:off x="171729" y="1788548"/>
            <a:ext cx="6114771" cy="15696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lang="en-GB" sz="2400">
                <a:solidFill>
                  <a:schemeClr val="dk1"/>
                </a:solidFill>
                <a:latin typeface="Comic Sans MS"/>
                <a:ea typeface="Comic Sans MS"/>
                <a:cs typeface="Comic Sans MS"/>
                <a:sym typeface="Comic Sans MS"/>
              </a:rPr>
              <a:t>The radiation dose may come from a radioactive source in a machine outside the body, which directs a beam of radiation at the cancer cells.</a:t>
            </a:r>
            <a:endParaRPr/>
          </a:p>
        </p:txBody>
      </p:sp>
      <p:pic>
        <p:nvPicPr>
          <p:cNvPr descr="m705044" id="599" name="Google Shape;599;p55"/>
          <p:cNvPicPr preferRelativeResize="0"/>
          <p:nvPr/>
        </p:nvPicPr>
        <p:blipFill rotWithShape="1">
          <a:blip r:embed="rId3">
            <a:alphaModFix/>
          </a:blip>
          <a:srcRect b="0" l="0" r="0" t="0"/>
          <a:stretch/>
        </p:blipFill>
        <p:spPr>
          <a:xfrm>
            <a:off x="6701253" y="1212160"/>
            <a:ext cx="5340692" cy="3663963"/>
          </a:xfrm>
          <a:prstGeom prst="rect">
            <a:avLst/>
          </a:prstGeom>
          <a:noFill/>
          <a:ln>
            <a:noFill/>
          </a:ln>
        </p:spPr>
      </p:pic>
      <p:sp>
        <p:nvSpPr>
          <p:cNvPr id="600" name="Google Shape;600;p55"/>
          <p:cNvSpPr txBox="1"/>
          <p:nvPr/>
        </p:nvSpPr>
        <p:spPr>
          <a:xfrm>
            <a:off x="171729" y="4848266"/>
            <a:ext cx="8394700" cy="2530476"/>
          </a:xfrm>
          <a:prstGeom prst="rect">
            <a:avLst/>
          </a:prstGeom>
          <a:noFill/>
          <a:ln>
            <a:noFill/>
          </a:ln>
        </p:spPr>
        <p:txBody>
          <a:bodyPr anchorCtr="0" anchor="t" bIns="45700" lIns="91425" spcFirstLastPara="1" rIns="91425" wrap="square" tIns="45700">
            <a:spAutoFit/>
          </a:bodyPr>
          <a:lstStyle/>
          <a:p>
            <a:pPr indent="-355600" lvl="0" marL="355600" marR="0" rtl="0" algn="l">
              <a:lnSpc>
                <a:spcPct val="100000"/>
              </a:lnSpc>
              <a:spcBef>
                <a:spcPts val="0"/>
              </a:spcBef>
              <a:spcAft>
                <a:spcPts val="0"/>
              </a:spcAft>
              <a:buClr>
                <a:srgbClr val="000066"/>
              </a:buClr>
              <a:buSzPts val="2400"/>
              <a:buFont typeface="Comic Sans MS"/>
              <a:buNone/>
            </a:pPr>
            <a:r>
              <a:rPr lang="en-GB" sz="2400">
                <a:solidFill>
                  <a:srgbClr val="000066"/>
                </a:solidFill>
                <a:latin typeface="Comic Sans MS"/>
                <a:ea typeface="Comic Sans MS"/>
                <a:cs typeface="Comic Sans MS"/>
                <a:sym typeface="Comic Sans MS"/>
              </a:rPr>
              <a:t>Steps to reduce the effects on healthy tissue include:</a:t>
            </a:r>
            <a:endParaRPr/>
          </a:p>
          <a:p>
            <a:pPr indent="-355600" lvl="0" marL="355600" marR="0" rtl="0" algn="l">
              <a:lnSpc>
                <a:spcPct val="100000"/>
              </a:lnSpc>
              <a:spcBef>
                <a:spcPts val="480"/>
              </a:spcBef>
              <a:spcAft>
                <a:spcPts val="0"/>
              </a:spcAft>
              <a:buNone/>
            </a:pPr>
            <a:r>
              <a:rPr b="1" lang="en-GB" sz="2400">
                <a:solidFill>
                  <a:srgbClr val="CC00CC"/>
                </a:solidFill>
                <a:latin typeface="Comic Sans MS"/>
                <a:ea typeface="Comic Sans MS"/>
                <a:cs typeface="Comic Sans MS"/>
                <a:sym typeface="Comic Sans MS"/>
              </a:rPr>
              <a:t>splitting the radiation dose</a:t>
            </a:r>
            <a:r>
              <a:rPr lang="en-GB" sz="2400">
                <a:solidFill>
                  <a:srgbClr val="000066"/>
                </a:solidFill>
                <a:latin typeface="Comic Sans MS"/>
                <a:ea typeface="Comic Sans MS"/>
                <a:cs typeface="Comic Sans MS"/>
                <a:sym typeface="Comic Sans MS"/>
              </a:rPr>
              <a:t> into a number of treatments; </a:t>
            </a:r>
            <a:endParaRPr/>
          </a:p>
          <a:p>
            <a:pPr indent="-355600" lvl="0" marL="355600" marR="0" rtl="0" algn="l">
              <a:spcBef>
                <a:spcPts val="480"/>
              </a:spcBef>
              <a:spcAft>
                <a:spcPts val="0"/>
              </a:spcAft>
              <a:buNone/>
            </a:pPr>
            <a:r>
              <a:rPr b="1" lang="en-GB" sz="2400">
                <a:solidFill>
                  <a:srgbClr val="CC00CC"/>
                </a:solidFill>
                <a:latin typeface="Comic Sans MS"/>
                <a:ea typeface="Comic Sans MS"/>
                <a:cs typeface="Comic Sans MS"/>
                <a:sym typeface="Comic Sans MS"/>
              </a:rPr>
              <a:t>rotating the beam</a:t>
            </a:r>
            <a:r>
              <a:rPr lang="en-GB" sz="2400">
                <a:solidFill>
                  <a:srgbClr val="000066"/>
                </a:solidFill>
                <a:latin typeface="Comic Sans MS"/>
                <a:ea typeface="Comic Sans MS"/>
                <a:cs typeface="Comic Sans MS"/>
                <a:sym typeface="Comic Sans MS"/>
              </a:rPr>
              <a:t> of radiation so that healthy cells receive a lower dose than the cancer cells. </a:t>
            </a:r>
            <a:endParaRPr/>
          </a:p>
          <a:p>
            <a:pPr indent="-355600" lvl="0" marL="355600" marR="0" rtl="0" algn="l">
              <a:lnSpc>
                <a:spcPct val="100000"/>
              </a:lnSpc>
              <a:spcBef>
                <a:spcPts val="480"/>
              </a:spcBef>
              <a:spcAft>
                <a:spcPts val="0"/>
              </a:spcAft>
              <a:buNone/>
            </a:pPr>
            <a:r>
              <a:t/>
            </a:r>
            <a:endParaRPr sz="2400">
              <a:solidFill>
                <a:srgbClr val="000066"/>
              </a:solidFill>
              <a:latin typeface="Comic Sans MS"/>
              <a:ea typeface="Comic Sans MS"/>
              <a:cs typeface="Comic Sans MS"/>
              <a:sym typeface="Comic Sans MS"/>
            </a:endParaRPr>
          </a:p>
        </p:txBody>
      </p:sp>
      <p:sp>
        <p:nvSpPr>
          <p:cNvPr id="601" name="Google Shape;601;p55"/>
          <p:cNvSpPr/>
          <p:nvPr/>
        </p:nvSpPr>
        <p:spPr>
          <a:xfrm>
            <a:off x="171730" y="3481388"/>
            <a:ext cx="6263996" cy="784830"/>
          </a:xfrm>
          <a:prstGeom prst="rect">
            <a:avLst/>
          </a:prstGeom>
          <a:noFill/>
          <a:ln>
            <a:noFill/>
          </a:ln>
        </p:spPr>
        <p:txBody>
          <a:bodyPr anchorCtr="0" anchor="t" bIns="0" lIns="91425" spcFirstLastPara="1" rIns="0" wrap="square" tIns="45700">
            <a:noAutofit/>
          </a:bodyPr>
          <a:lstStyle/>
          <a:p>
            <a:pPr indent="0" lvl="0" marL="0" marR="0" rtl="0" algn="l">
              <a:lnSpc>
                <a:spcPct val="100000"/>
              </a:lnSpc>
              <a:spcBef>
                <a:spcPts val="0"/>
              </a:spcBef>
              <a:spcAft>
                <a:spcPts val="0"/>
              </a:spcAft>
              <a:buClr>
                <a:schemeClr val="dk1"/>
              </a:buClr>
              <a:buSzPts val="2400"/>
              <a:buFont typeface="Comic Sans MS"/>
              <a:buNone/>
            </a:pPr>
            <a:r>
              <a:rPr lang="en-GB" sz="2400">
                <a:solidFill>
                  <a:schemeClr val="dk1"/>
                </a:solidFill>
                <a:latin typeface="Comic Sans MS"/>
                <a:ea typeface="Comic Sans MS"/>
                <a:cs typeface="Comic Sans MS"/>
                <a:sym typeface="Comic Sans MS"/>
              </a:rPr>
              <a:t>Healthy cells can also be affected by the radiation applied to the body.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8"/>
                                        </p:tgtEl>
                                        <p:attrNameLst>
                                          <p:attrName>style.visibility</p:attrName>
                                        </p:attrNameLst>
                                      </p:cBhvr>
                                      <p:to>
                                        <p:strVal val="visible"/>
                                      </p:to>
                                    </p:set>
                                    <p:animEffect filter="fade" transition="in">
                                      <p:cBhvr>
                                        <p:cTn dur="500"/>
                                        <p:tgtEl>
                                          <p:spTgt spid="598"/>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599"/>
                                        </p:tgtEl>
                                        <p:attrNameLst>
                                          <p:attrName>style.visibility</p:attrName>
                                        </p:attrNameLst>
                                      </p:cBhvr>
                                      <p:to>
                                        <p:strVal val="visible"/>
                                      </p:to>
                                    </p:set>
                                    <p:animEffect filter="fade" transition="in">
                                      <p:cBhvr>
                                        <p:cTn dur="500"/>
                                        <p:tgtEl>
                                          <p:spTgt spid="59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1"/>
                                        </p:tgtEl>
                                        <p:attrNameLst>
                                          <p:attrName>style.visibility</p:attrName>
                                        </p:attrNameLst>
                                      </p:cBhvr>
                                      <p:to>
                                        <p:strVal val="visible"/>
                                      </p:to>
                                    </p:set>
                                    <p:animEffect filter="fade" transition="in">
                                      <p:cBhvr>
                                        <p:cTn dur="500"/>
                                        <p:tgtEl>
                                          <p:spTgt spid="60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sp>
        <p:nvSpPr>
          <p:cNvPr id="608" name="Google Shape;608;p56"/>
          <p:cNvSpPr txBox="1"/>
          <p:nvPr>
            <p:ph type="title"/>
          </p:nvPr>
        </p:nvSpPr>
        <p:spPr>
          <a:xfrm>
            <a:off x="915474" y="-292716"/>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omic Sans MS"/>
              <a:buNone/>
            </a:pPr>
            <a:r>
              <a:rPr lang="en-GB">
                <a:latin typeface="Comic Sans MS"/>
                <a:ea typeface="Comic Sans MS"/>
                <a:cs typeface="Comic Sans MS"/>
                <a:sym typeface="Comic Sans MS"/>
              </a:rPr>
              <a:t>How do ionizing waves affect humans?</a:t>
            </a:r>
            <a:endParaRPr/>
          </a:p>
        </p:txBody>
      </p:sp>
      <p:sp>
        <p:nvSpPr>
          <p:cNvPr id="609" name="Google Shape;609;p56"/>
          <p:cNvSpPr txBox="1"/>
          <p:nvPr/>
        </p:nvSpPr>
        <p:spPr>
          <a:xfrm>
            <a:off x="231820" y="784226"/>
            <a:ext cx="11770412"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400">
                <a:solidFill>
                  <a:srgbClr val="010066"/>
                </a:solidFill>
                <a:latin typeface="Comic Sans MS"/>
                <a:ea typeface="Comic Sans MS"/>
                <a:cs typeface="Comic Sans MS"/>
                <a:sym typeface="Comic Sans MS"/>
              </a:rPr>
              <a:t>Ionizing waves</a:t>
            </a:r>
            <a:r>
              <a:rPr lang="en-GB" sz="2400">
                <a:solidFill>
                  <a:srgbClr val="000066"/>
                </a:solidFill>
                <a:latin typeface="Comic Sans MS"/>
                <a:ea typeface="Comic Sans MS"/>
                <a:cs typeface="Comic Sans MS"/>
                <a:sym typeface="Comic Sans MS"/>
              </a:rPr>
              <a:t> have enough energy to ionize the atoms in materials. These waves can have a severe effect on living tissue by killing cells or damaging DNA.</a:t>
            </a:r>
            <a:endParaRPr/>
          </a:p>
        </p:txBody>
      </p:sp>
      <p:pic>
        <p:nvPicPr>
          <p:cNvPr descr="PC4_gfx_X-ray" id="610" name="Google Shape;610;p56"/>
          <p:cNvPicPr preferRelativeResize="0"/>
          <p:nvPr/>
        </p:nvPicPr>
        <p:blipFill rotWithShape="1">
          <a:blip r:embed="rId3">
            <a:alphaModFix/>
          </a:blip>
          <a:srcRect b="0" l="0" r="0" t="0"/>
          <a:stretch/>
        </p:blipFill>
        <p:spPr>
          <a:xfrm>
            <a:off x="562825" y="3471864"/>
            <a:ext cx="1571625" cy="1666875"/>
          </a:xfrm>
          <a:prstGeom prst="rect">
            <a:avLst/>
          </a:prstGeom>
          <a:noFill/>
          <a:ln>
            <a:noFill/>
          </a:ln>
        </p:spPr>
      </p:pic>
      <p:pic>
        <p:nvPicPr>
          <p:cNvPr descr="radioActive" id="611" name="Google Shape;611;p56"/>
          <p:cNvPicPr preferRelativeResize="0"/>
          <p:nvPr/>
        </p:nvPicPr>
        <p:blipFill rotWithShape="1">
          <a:blip r:embed="rId4">
            <a:alphaModFix/>
          </a:blip>
          <a:srcRect b="0" l="0" r="0" t="0"/>
          <a:stretch/>
        </p:blipFill>
        <p:spPr>
          <a:xfrm>
            <a:off x="604100" y="5268914"/>
            <a:ext cx="1490663" cy="1184275"/>
          </a:xfrm>
          <a:prstGeom prst="rect">
            <a:avLst/>
          </a:prstGeom>
          <a:noFill/>
          <a:ln>
            <a:noFill/>
          </a:ln>
        </p:spPr>
      </p:pic>
      <p:pic>
        <p:nvPicPr>
          <p:cNvPr descr="PC7_tanningbed" id="612" name="Google Shape;612;p56"/>
          <p:cNvPicPr preferRelativeResize="0"/>
          <p:nvPr/>
        </p:nvPicPr>
        <p:blipFill rotWithShape="1">
          <a:blip r:embed="rId5">
            <a:alphaModFix/>
          </a:blip>
          <a:srcRect b="0" l="0" r="0" t="0"/>
          <a:stretch/>
        </p:blipFill>
        <p:spPr>
          <a:xfrm>
            <a:off x="697763" y="2035176"/>
            <a:ext cx="1303337" cy="1446213"/>
          </a:xfrm>
          <a:prstGeom prst="rect">
            <a:avLst/>
          </a:prstGeom>
          <a:noFill/>
          <a:ln>
            <a:noFill/>
          </a:ln>
        </p:spPr>
      </p:pic>
      <p:sp>
        <p:nvSpPr>
          <p:cNvPr id="613" name="Google Shape;613;p56"/>
          <p:cNvSpPr txBox="1"/>
          <p:nvPr/>
        </p:nvSpPr>
        <p:spPr>
          <a:xfrm>
            <a:off x="2440838" y="2030413"/>
            <a:ext cx="9561394" cy="1200329"/>
          </a:xfrm>
          <a:prstGeom prst="rect">
            <a:avLst/>
          </a:prstGeom>
          <a:noFill/>
          <a:ln>
            <a:noFill/>
          </a:ln>
        </p:spPr>
        <p:txBody>
          <a:bodyPr anchorCtr="0" anchor="t" bIns="45700" lIns="91425" spcFirstLastPara="1" rIns="91425" wrap="square" tIns="45700">
            <a:spAutoFit/>
          </a:bodyPr>
          <a:lstStyle/>
          <a:p>
            <a:pPr indent="-355600" lvl="0" marL="355600" marR="0" rtl="0" algn="l">
              <a:spcBef>
                <a:spcPts val="0"/>
              </a:spcBef>
              <a:spcAft>
                <a:spcPts val="0"/>
              </a:spcAft>
              <a:buClr>
                <a:srgbClr val="CC00CC"/>
              </a:buClr>
              <a:buSzPts val="2400"/>
              <a:buFont typeface="Noto Sans Symbols"/>
              <a:buChar char="●"/>
            </a:pPr>
            <a:r>
              <a:rPr b="1" lang="en-GB" sz="2400">
                <a:solidFill>
                  <a:srgbClr val="CC00CC"/>
                </a:solidFill>
                <a:latin typeface="Comic Sans MS"/>
                <a:ea typeface="Comic Sans MS"/>
                <a:cs typeface="Comic Sans MS"/>
                <a:sym typeface="Comic Sans MS"/>
              </a:rPr>
              <a:t>Ultraviolet rays</a:t>
            </a:r>
            <a:r>
              <a:rPr lang="en-GB" sz="2400">
                <a:solidFill>
                  <a:srgbClr val="000066"/>
                </a:solidFill>
                <a:latin typeface="Comic Sans MS"/>
                <a:ea typeface="Comic Sans MS"/>
                <a:cs typeface="Comic Sans MS"/>
                <a:sym typeface="Comic Sans MS"/>
              </a:rPr>
              <a:t> are absorbed by the body. Skin tissues can be ionized and damaged by the shortest-wavelength ultraviolet radiation causing skin cancer.</a:t>
            </a:r>
            <a:endParaRPr/>
          </a:p>
        </p:txBody>
      </p:sp>
      <p:sp>
        <p:nvSpPr>
          <p:cNvPr id="614" name="Google Shape;614;p56"/>
          <p:cNvSpPr txBox="1"/>
          <p:nvPr/>
        </p:nvSpPr>
        <p:spPr>
          <a:xfrm>
            <a:off x="2440838" y="3619500"/>
            <a:ext cx="9724619" cy="1200329"/>
          </a:xfrm>
          <a:prstGeom prst="rect">
            <a:avLst/>
          </a:prstGeom>
          <a:noFill/>
          <a:ln>
            <a:noFill/>
          </a:ln>
        </p:spPr>
        <p:txBody>
          <a:bodyPr anchorCtr="0" anchor="t" bIns="45700" lIns="91425" spcFirstLastPara="1" rIns="91425" wrap="square" tIns="45700">
            <a:spAutoFit/>
          </a:bodyPr>
          <a:lstStyle/>
          <a:p>
            <a:pPr indent="-355600" lvl="0" marL="355600" marR="0" rtl="0" algn="l">
              <a:spcBef>
                <a:spcPts val="0"/>
              </a:spcBef>
              <a:spcAft>
                <a:spcPts val="0"/>
              </a:spcAft>
              <a:buClr>
                <a:srgbClr val="CC00CC"/>
              </a:buClr>
              <a:buSzPts val="2400"/>
              <a:buFont typeface="Noto Sans Symbols"/>
              <a:buChar char="●"/>
            </a:pPr>
            <a:r>
              <a:rPr b="1" lang="en-GB" sz="2400">
                <a:solidFill>
                  <a:srgbClr val="CC00CC"/>
                </a:solidFill>
                <a:latin typeface="Comic Sans MS"/>
                <a:ea typeface="Comic Sans MS"/>
                <a:cs typeface="Comic Sans MS"/>
                <a:sym typeface="Comic Sans MS"/>
              </a:rPr>
              <a:t>X-rays</a:t>
            </a:r>
            <a:r>
              <a:rPr lang="en-GB" sz="2400">
                <a:solidFill>
                  <a:srgbClr val="000066"/>
                </a:solidFill>
                <a:latin typeface="Comic Sans MS"/>
                <a:ea typeface="Comic Sans MS"/>
                <a:cs typeface="Comic Sans MS"/>
                <a:sym typeface="Comic Sans MS"/>
              </a:rPr>
              <a:t> pass through soft body tissue, such as skin and muscle, without being absorbed. Denser tissue, such as bone, absorb some X-rays and can be ionized.</a:t>
            </a:r>
            <a:endParaRPr/>
          </a:p>
        </p:txBody>
      </p:sp>
      <p:sp>
        <p:nvSpPr>
          <p:cNvPr id="615" name="Google Shape;615;p56"/>
          <p:cNvSpPr txBox="1"/>
          <p:nvPr/>
        </p:nvSpPr>
        <p:spPr>
          <a:xfrm>
            <a:off x="2440838" y="5233989"/>
            <a:ext cx="9214542" cy="830997"/>
          </a:xfrm>
          <a:prstGeom prst="rect">
            <a:avLst/>
          </a:prstGeom>
          <a:noFill/>
          <a:ln>
            <a:noFill/>
          </a:ln>
        </p:spPr>
        <p:txBody>
          <a:bodyPr anchorCtr="0" anchor="t" bIns="45700" lIns="91425" spcFirstLastPara="1" rIns="91425" wrap="square" tIns="45700">
            <a:spAutoFit/>
          </a:bodyPr>
          <a:lstStyle/>
          <a:p>
            <a:pPr indent="-355600" lvl="0" marL="355600" marR="0" rtl="0" algn="l">
              <a:spcBef>
                <a:spcPts val="0"/>
              </a:spcBef>
              <a:spcAft>
                <a:spcPts val="0"/>
              </a:spcAft>
              <a:buClr>
                <a:srgbClr val="CC00CC"/>
              </a:buClr>
              <a:buSzPts val="2400"/>
              <a:buFont typeface="Noto Sans Symbols"/>
              <a:buChar char="●"/>
            </a:pPr>
            <a:r>
              <a:rPr b="1" lang="en-GB" sz="2400">
                <a:solidFill>
                  <a:srgbClr val="CC00CC"/>
                </a:solidFill>
                <a:latin typeface="Comic Sans MS"/>
                <a:ea typeface="Comic Sans MS"/>
                <a:cs typeface="Comic Sans MS"/>
                <a:sym typeface="Comic Sans MS"/>
              </a:rPr>
              <a:t>Gamma rays</a:t>
            </a:r>
            <a:r>
              <a:rPr lang="en-GB" sz="2400">
                <a:solidFill>
                  <a:srgbClr val="000066"/>
                </a:solidFill>
                <a:latin typeface="Comic Sans MS"/>
                <a:ea typeface="Comic Sans MS"/>
                <a:cs typeface="Comic Sans MS"/>
                <a:sym typeface="Comic Sans MS"/>
              </a:rPr>
              <a:t> pass through the body but very high energy waves can ionize atoms in living tissue.</a:t>
            </a:r>
            <a:endParaRPr/>
          </a:p>
        </p:txBody>
      </p:sp>
      <p:sp>
        <p:nvSpPr>
          <p:cNvPr id="616" name="Google Shape;616;p56"/>
          <p:cNvSpPr txBox="1"/>
          <p:nvPr/>
        </p:nvSpPr>
        <p:spPr>
          <a:xfrm>
            <a:off x="5693492" y="6064986"/>
            <a:ext cx="5961888" cy="646331"/>
          </a:xfrm>
          <a:prstGeom prst="rect">
            <a:avLst/>
          </a:prstGeom>
          <a:solidFill>
            <a:srgbClr val="FFFF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omic Sans MS"/>
                <a:ea typeface="Comic Sans MS"/>
                <a:cs typeface="Comic Sans MS"/>
                <a:sym typeface="Comic Sans MS"/>
              </a:rPr>
              <a:t>NOTE: We will look more closely at this LATER in the</a:t>
            </a:r>
            <a:endParaRPr/>
          </a:p>
          <a:p>
            <a:pPr indent="0" lvl="0" marL="0" marR="0" rtl="0" algn="l">
              <a:spcBef>
                <a:spcPts val="0"/>
              </a:spcBef>
              <a:spcAft>
                <a:spcPts val="0"/>
              </a:spcAft>
              <a:buNone/>
            </a:pPr>
            <a:r>
              <a:rPr lang="en-GB" sz="1800">
                <a:solidFill>
                  <a:schemeClr val="dk1"/>
                </a:solidFill>
                <a:latin typeface="Comic Sans MS"/>
                <a:ea typeface="Comic Sans MS"/>
                <a:cs typeface="Comic Sans MS"/>
                <a:sym typeface="Comic Sans MS"/>
              </a:rPr>
              <a:t>Term!!</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3"/>
                                        </p:tgtEl>
                                        <p:attrNameLst>
                                          <p:attrName>style.visibility</p:attrName>
                                        </p:attrNameLst>
                                      </p:cBhvr>
                                      <p:to>
                                        <p:strVal val="visible"/>
                                      </p:to>
                                    </p:set>
                                    <p:animEffect filter="fade" transition="in">
                                      <p:cBhvr>
                                        <p:cTn dur="500"/>
                                        <p:tgtEl>
                                          <p:spTgt spid="613"/>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612"/>
                                        </p:tgtEl>
                                        <p:attrNameLst>
                                          <p:attrName>style.visibility</p:attrName>
                                        </p:attrNameLst>
                                      </p:cBhvr>
                                      <p:to>
                                        <p:strVal val="visible"/>
                                      </p:to>
                                    </p:set>
                                    <p:animEffect filter="fade" transition="in">
                                      <p:cBhvr>
                                        <p:cTn dur="500"/>
                                        <p:tgtEl>
                                          <p:spTgt spid="61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4"/>
                                        </p:tgtEl>
                                        <p:attrNameLst>
                                          <p:attrName>style.visibility</p:attrName>
                                        </p:attrNameLst>
                                      </p:cBhvr>
                                      <p:to>
                                        <p:strVal val="visible"/>
                                      </p:to>
                                    </p:set>
                                    <p:animEffect filter="fade" transition="in">
                                      <p:cBhvr>
                                        <p:cTn dur="500"/>
                                        <p:tgtEl>
                                          <p:spTgt spid="614"/>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610"/>
                                        </p:tgtEl>
                                        <p:attrNameLst>
                                          <p:attrName>style.visibility</p:attrName>
                                        </p:attrNameLst>
                                      </p:cBhvr>
                                      <p:to>
                                        <p:strVal val="visible"/>
                                      </p:to>
                                    </p:set>
                                    <p:animEffect filter="fade" transition="in">
                                      <p:cBhvr>
                                        <p:cTn dur="500"/>
                                        <p:tgtEl>
                                          <p:spTgt spid="61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5"/>
                                        </p:tgtEl>
                                        <p:attrNameLst>
                                          <p:attrName>style.visibility</p:attrName>
                                        </p:attrNameLst>
                                      </p:cBhvr>
                                      <p:to>
                                        <p:strVal val="visible"/>
                                      </p:to>
                                    </p:set>
                                    <p:animEffect filter="fade" transition="in">
                                      <p:cBhvr>
                                        <p:cTn dur="500"/>
                                        <p:tgtEl>
                                          <p:spTgt spid="615"/>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611"/>
                                        </p:tgtEl>
                                        <p:attrNameLst>
                                          <p:attrName>style.visibility</p:attrName>
                                        </p:attrNameLst>
                                      </p:cBhvr>
                                      <p:to>
                                        <p:strVal val="visible"/>
                                      </p:to>
                                    </p:set>
                                    <p:animEffect filter="fade" transition="in">
                                      <p:cBhvr>
                                        <p:cTn dur="500"/>
                                        <p:tgtEl>
                                          <p:spTgt spid="61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