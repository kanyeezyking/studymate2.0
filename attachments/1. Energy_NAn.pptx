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5143500" cx="9144000"/>
  <p:notesSz cx="6858000" cy="9144000"/>
  <p:embeddedFontLst>
    <p:embeddedFont>
      <p:font typeface="Gill Sans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hPkH8MsTTRm1vthpf28MJ5zz1W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DCF47E-2375-4EFA-A240-717E78A366A4}">
  <a:tblStyle styleId="{87DCF47E-2375-4EFA-A240-717E78A366A4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EF2E7"/>
          </a:solidFill>
        </a:fill>
      </a:tcStyle>
    </a:wholeTbl>
    <a:band1H>
      <a:tcTxStyle b="off" i="off"/>
      <a:tcStyle>
        <a:fill>
          <a:solidFill>
            <a:srgbClr val="FCE4CB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CE4CB"/>
          </a:solidFill>
        </a:fill>
      </a:tcStyle>
    </a:band1V>
    <a:band2V>
      <a:tcTxStyle b="off" i="off"/>
    </a:band2V>
    <a:la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GillSans-regular.fntdata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customschemas.google.com/relationships/presentationmetadata" Target="metadata"/><Relationship Id="rId14" Type="http://schemas.openxmlformats.org/officeDocument/2006/relationships/slide" Target="slides/slide7.xml"/><Relationship Id="rId36" Type="http://schemas.openxmlformats.org/officeDocument/2006/relationships/font" Target="fonts/GillSans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b1c39d1f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light, kinetic, elastic potential, electrical</a:t>
            </a:r>
            <a:endParaRPr b="1" i="1"/>
          </a:p>
        </p:txBody>
      </p:sp>
      <p:sp>
        <p:nvSpPr>
          <p:cNvPr id="154" name="Google Shape;154;g39b1c39d1f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899882c0f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39899882c0f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d229c1d1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9d229c1d1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g39d229c1d1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9d229c1d1a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9d229c1d1a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g39d229c1d1a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accen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6" title="scalloped circle"/>
          <p:cNvSpPr/>
          <p:nvPr/>
        </p:nvSpPr>
        <p:spPr>
          <a:xfrm>
            <a:off x="2667763" y="473202"/>
            <a:ext cx="3926681" cy="3921919"/>
          </a:xfrm>
          <a:custGeom>
            <a:rect b="b" l="l" r="r" t="t"/>
            <a:pathLst>
              <a:path extrusionOk="0" h="3294" w="3298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19" name="Google Shape;19;p36"/>
          <p:cNvSpPr txBox="1"/>
          <p:nvPr>
            <p:ph type="ctrTitle"/>
          </p:nvPr>
        </p:nvSpPr>
        <p:spPr>
          <a:xfrm>
            <a:off x="808892" y="823791"/>
            <a:ext cx="7738814" cy="3296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Impact"/>
              <a:buNone/>
              <a:defRPr sz="7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6"/>
          <p:cNvSpPr txBox="1"/>
          <p:nvPr>
            <p:ph idx="1" type="subTitle"/>
          </p:nvPr>
        </p:nvSpPr>
        <p:spPr>
          <a:xfrm>
            <a:off x="1661284" y="4484398"/>
            <a:ext cx="6034030" cy="5567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500"/>
              <a:buNone/>
              <a:defRPr b="1" i="0" sz="1500" cap="none">
                <a:solidFill>
                  <a:schemeClr val="dk2"/>
                </a:solidFill>
              </a:defRPr>
            </a:lvl1pPr>
            <a:lvl2pPr lvl="1" algn="ctr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" name="Google Shape;21;p36"/>
          <p:cNvSpPr txBox="1"/>
          <p:nvPr>
            <p:ph idx="10" type="dt"/>
          </p:nvPr>
        </p:nvSpPr>
        <p:spPr>
          <a:xfrm>
            <a:off x="808892" y="4781759"/>
            <a:ext cx="1747292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5E0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6"/>
          <p:cNvSpPr txBox="1"/>
          <p:nvPr>
            <p:ph idx="11" type="ftr"/>
          </p:nvPr>
        </p:nvSpPr>
        <p:spPr>
          <a:xfrm>
            <a:off x="3135249" y="4781759"/>
            <a:ext cx="3086100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5E0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6"/>
          <p:cNvSpPr txBox="1"/>
          <p:nvPr>
            <p:ph idx="12" type="sldNum"/>
          </p:nvPr>
        </p:nvSpPr>
        <p:spPr>
          <a:xfrm>
            <a:off x="6800414" y="4781759"/>
            <a:ext cx="1747292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36" title="left edge border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7"/>
          <p:cNvSpPr txBox="1"/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7"/>
          <p:cNvSpPr txBox="1"/>
          <p:nvPr>
            <p:ph idx="1" type="body"/>
          </p:nvPr>
        </p:nvSpPr>
        <p:spPr>
          <a:xfrm>
            <a:off x="938758" y="1714501"/>
            <a:ext cx="7633742" cy="2695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7"/>
          <p:cNvSpPr txBox="1"/>
          <p:nvPr>
            <p:ph idx="10" type="dt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1" type="ftr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7"/>
          <p:cNvSpPr txBox="1"/>
          <p:nvPr>
            <p:ph idx="12" type="sldNum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/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1"/>
          <p:cNvSpPr txBox="1"/>
          <p:nvPr>
            <p:ph idx="10" type="dt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1"/>
          <p:cNvSpPr txBox="1"/>
          <p:nvPr>
            <p:ph idx="11" type="ftr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1"/>
          <p:cNvSpPr txBox="1"/>
          <p:nvPr>
            <p:ph idx="12" type="sldNum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2" title="right scallop background shape"/>
          <p:cNvSpPr/>
          <p:nvPr/>
        </p:nvSpPr>
        <p:spPr>
          <a:xfrm>
            <a:off x="5542359" y="0"/>
            <a:ext cx="3601641" cy="5143500"/>
          </a:xfrm>
          <a:custGeom>
            <a:rect b="b" l="l" r="r" t="t"/>
            <a:pathLst>
              <a:path extrusionOk="0" h="4320" w="3025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40" name="Google Shape;40;p42"/>
          <p:cNvSpPr txBox="1"/>
          <p:nvPr>
            <p:ph type="title"/>
          </p:nvPr>
        </p:nvSpPr>
        <p:spPr>
          <a:xfrm>
            <a:off x="6253414" y="342900"/>
            <a:ext cx="2319086" cy="8975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Font typeface="Gill Sans"/>
              <a:buNone/>
              <a:defRPr b="1" i="0" sz="1425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2"/>
          <p:cNvSpPr txBox="1"/>
          <p:nvPr>
            <p:ph idx="1" type="body"/>
          </p:nvPr>
        </p:nvSpPr>
        <p:spPr>
          <a:xfrm>
            <a:off x="573788" y="690283"/>
            <a:ext cx="4618814" cy="3738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6195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100"/>
              <a:buChar char="–"/>
              <a:defRPr sz="2100"/>
            </a:lvl2pPr>
            <a:lvl3pPr indent="-3429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2385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500"/>
              <a:buChar char="–"/>
              <a:defRPr sz="1500"/>
            </a:lvl4pPr>
            <a:lvl5pPr indent="-32385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500"/>
              <a:buChar char="•"/>
              <a:defRPr sz="1500"/>
            </a:lvl5pPr>
            <a:lvl6pPr indent="-32385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500"/>
              <a:buChar char="–"/>
              <a:defRPr sz="1500"/>
            </a:lvl6pPr>
            <a:lvl7pPr indent="-32385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500"/>
              <a:buChar char="•"/>
              <a:defRPr sz="1500"/>
            </a:lvl7pPr>
            <a:lvl8pPr indent="-32385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500"/>
              <a:buChar char="–"/>
              <a:defRPr sz="1500"/>
            </a:lvl8pPr>
            <a:lvl9pPr indent="-32385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500"/>
              <a:buChar char="•"/>
              <a:defRPr sz="1500"/>
            </a:lvl9pPr>
          </a:lstStyle>
          <a:p/>
        </p:txBody>
      </p:sp>
      <p:sp>
        <p:nvSpPr>
          <p:cNvPr id="42" name="Google Shape;42;p42"/>
          <p:cNvSpPr txBox="1"/>
          <p:nvPr>
            <p:ph idx="2" type="body"/>
          </p:nvPr>
        </p:nvSpPr>
        <p:spPr>
          <a:xfrm>
            <a:off x="6253414" y="1306002"/>
            <a:ext cx="2319086" cy="31231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050"/>
              <a:buNone/>
              <a:defRPr sz="1050"/>
            </a:lvl2pPr>
            <a:lvl3pPr indent="-2286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750"/>
              <a:buNone/>
              <a:defRPr sz="750"/>
            </a:lvl4pPr>
            <a:lvl5pPr indent="-22860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750"/>
              <a:buNone/>
              <a:defRPr sz="750"/>
            </a:lvl5pPr>
            <a:lvl6pPr indent="-22860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750"/>
              <a:buNone/>
              <a:defRPr sz="750"/>
            </a:lvl6pPr>
            <a:lvl7pPr indent="-22860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750"/>
              <a:buNone/>
              <a:defRPr sz="750"/>
            </a:lvl7pPr>
            <a:lvl8pPr indent="-22860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750"/>
              <a:buNone/>
              <a:defRPr sz="750"/>
            </a:lvl8pPr>
            <a:lvl9pPr indent="-22860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750"/>
              <a:buNone/>
              <a:defRPr sz="750"/>
            </a:lvl9pPr>
          </a:lstStyle>
          <a:p/>
        </p:txBody>
      </p:sp>
      <p:sp>
        <p:nvSpPr>
          <p:cNvPr id="43" name="Google Shape;43;p42"/>
          <p:cNvSpPr txBox="1"/>
          <p:nvPr>
            <p:ph idx="10" type="dt"/>
          </p:nvPr>
        </p:nvSpPr>
        <p:spPr>
          <a:xfrm>
            <a:off x="573789" y="4781759"/>
            <a:ext cx="925016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2"/>
          <p:cNvSpPr txBox="1"/>
          <p:nvPr>
            <p:ph idx="11" type="ftr"/>
          </p:nvPr>
        </p:nvSpPr>
        <p:spPr>
          <a:xfrm>
            <a:off x="1577716" y="4781759"/>
            <a:ext cx="2611634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2"/>
          <p:cNvSpPr txBox="1"/>
          <p:nvPr>
            <p:ph idx="12" type="sldNum"/>
          </p:nvPr>
        </p:nvSpPr>
        <p:spPr>
          <a:xfrm>
            <a:off x="4268261" y="4781759"/>
            <a:ext cx="924342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42" title="left edge border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69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dk2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9"/>
          <p:cNvSpPr txBox="1"/>
          <p:nvPr>
            <p:ph type="title"/>
          </p:nvPr>
        </p:nvSpPr>
        <p:spPr>
          <a:xfrm>
            <a:off x="2432197" y="805417"/>
            <a:ext cx="6140303" cy="30484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300"/>
              <a:buFont typeface="Impact"/>
              <a:buNone/>
              <a:defRPr sz="63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9"/>
          <p:cNvSpPr txBox="1"/>
          <p:nvPr>
            <p:ph idx="1" type="body"/>
          </p:nvPr>
        </p:nvSpPr>
        <p:spPr>
          <a:xfrm>
            <a:off x="2432198" y="3869836"/>
            <a:ext cx="5263116" cy="713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500"/>
              <a:buNone/>
              <a:defRPr b="1" i="0" sz="15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39"/>
          <p:cNvSpPr txBox="1"/>
          <p:nvPr>
            <p:ph idx="10" type="dt"/>
          </p:nvPr>
        </p:nvSpPr>
        <p:spPr>
          <a:xfrm>
            <a:off x="2427410" y="4781759"/>
            <a:ext cx="1120460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9"/>
          <p:cNvSpPr txBox="1"/>
          <p:nvPr>
            <p:ph idx="11" type="ftr"/>
          </p:nvPr>
        </p:nvSpPr>
        <p:spPr>
          <a:xfrm>
            <a:off x="3959298" y="4781759"/>
            <a:ext cx="3086100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9"/>
          <p:cNvSpPr txBox="1"/>
          <p:nvPr>
            <p:ph idx="12" type="sldNum"/>
          </p:nvPr>
        </p:nvSpPr>
        <p:spPr>
          <a:xfrm>
            <a:off x="7456825" y="4781759"/>
            <a:ext cx="1115675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3" name="Google Shape;53;p39" title="left scallop shape"/>
          <p:cNvGrpSpPr/>
          <p:nvPr/>
        </p:nvGrpSpPr>
        <p:grpSpPr>
          <a:xfrm>
            <a:off x="0" y="0"/>
            <a:ext cx="2110979" cy="5143500"/>
            <a:chOff x="0" y="0"/>
            <a:chExt cx="2814638" cy="6858000"/>
          </a:xfrm>
        </p:grpSpPr>
        <p:sp>
          <p:nvSpPr>
            <p:cNvPr id="54" name="Google Shape;54;p39" title="left scallop shape"/>
            <p:cNvSpPr/>
            <p:nvPr/>
          </p:nvSpPr>
          <p:spPr>
            <a:xfrm>
              <a:off x="0" y="0"/>
              <a:ext cx="2814638" cy="6858000"/>
            </a:xfrm>
            <a:custGeom>
              <a:rect b="b" l="l" r="r" t="t"/>
              <a:pathLst>
                <a:path extrusionOk="0" h="4320" w="1773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55" name="Google Shape;55;p39" title="left scallop inline"/>
            <p:cNvSpPr/>
            <p:nvPr/>
          </p:nvSpPr>
          <p:spPr>
            <a:xfrm>
              <a:off x="874382" y="0"/>
              <a:ext cx="1646238" cy="6858000"/>
            </a:xfrm>
            <a:custGeom>
              <a:rect b="b" l="l" r="r" t="t"/>
              <a:pathLst>
                <a:path extrusionOk="0" h="4320" w="1037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3"/>
          <p:cNvSpPr txBox="1"/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3"/>
          <p:cNvSpPr txBox="1"/>
          <p:nvPr>
            <p:ph idx="1" type="body"/>
          </p:nvPr>
        </p:nvSpPr>
        <p:spPr>
          <a:xfrm>
            <a:off x="942975" y="1714500"/>
            <a:ext cx="3600450" cy="2714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43"/>
          <p:cNvSpPr txBox="1"/>
          <p:nvPr>
            <p:ph idx="2" type="body"/>
          </p:nvPr>
        </p:nvSpPr>
        <p:spPr>
          <a:xfrm>
            <a:off x="4985847" y="1714500"/>
            <a:ext cx="3600450" cy="2714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43"/>
          <p:cNvSpPr txBox="1"/>
          <p:nvPr>
            <p:ph idx="10" type="dt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3"/>
          <p:cNvSpPr txBox="1"/>
          <p:nvPr>
            <p:ph idx="11" type="ftr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3"/>
          <p:cNvSpPr txBox="1"/>
          <p:nvPr>
            <p:ph idx="12" type="sldNum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4"/>
          <p:cNvSpPr txBox="1"/>
          <p:nvPr>
            <p:ph type="title"/>
          </p:nvPr>
        </p:nvSpPr>
        <p:spPr>
          <a:xfrm>
            <a:off x="939546" y="285750"/>
            <a:ext cx="7629525" cy="1120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4"/>
          <p:cNvSpPr txBox="1"/>
          <p:nvPr>
            <p:ph idx="1" type="body"/>
          </p:nvPr>
        </p:nvSpPr>
        <p:spPr>
          <a:xfrm>
            <a:off x="938759" y="1649725"/>
            <a:ext cx="3600450" cy="4743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425"/>
              <a:buNone/>
              <a:defRPr b="1" sz="1425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425"/>
              <a:buNone/>
              <a:defRPr b="1" sz="1425"/>
            </a:lvl2pPr>
            <a:lvl3pPr indent="-2286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350"/>
              <a:buNone/>
              <a:defRPr b="1" sz="1350"/>
            </a:lvl3pPr>
            <a:lvl4pPr indent="-22860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66" name="Google Shape;66;p44"/>
          <p:cNvSpPr txBox="1"/>
          <p:nvPr>
            <p:ph idx="2" type="body"/>
          </p:nvPr>
        </p:nvSpPr>
        <p:spPr>
          <a:xfrm>
            <a:off x="942975" y="2181826"/>
            <a:ext cx="3600450" cy="2247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44"/>
          <p:cNvSpPr txBox="1"/>
          <p:nvPr>
            <p:ph idx="3" type="body"/>
          </p:nvPr>
        </p:nvSpPr>
        <p:spPr>
          <a:xfrm>
            <a:off x="4975398" y="1649725"/>
            <a:ext cx="3600450" cy="4743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425"/>
              <a:buNone/>
              <a:defRPr b="1" sz="1425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425"/>
              <a:buNone/>
              <a:defRPr b="1" sz="1425"/>
            </a:lvl2pPr>
            <a:lvl3pPr indent="-2286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350"/>
              <a:buNone/>
              <a:defRPr b="1" sz="1350"/>
            </a:lvl3pPr>
            <a:lvl4pPr indent="-22860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68" name="Google Shape;68;p44"/>
          <p:cNvSpPr txBox="1"/>
          <p:nvPr>
            <p:ph idx="4" type="body"/>
          </p:nvPr>
        </p:nvSpPr>
        <p:spPr>
          <a:xfrm>
            <a:off x="4975398" y="2181826"/>
            <a:ext cx="3600450" cy="2247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44"/>
          <p:cNvSpPr txBox="1"/>
          <p:nvPr>
            <p:ph idx="10" type="dt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4"/>
          <p:cNvSpPr txBox="1"/>
          <p:nvPr>
            <p:ph idx="11" type="ftr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4"/>
          <p:cNvSpPr txBox="1"/>
          <p:nvPr>
            <p:ph idx="12" type="sldNum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5"/>
          <p:cNvSpPr txBox="1"/>
          <p:nvPr>
            <p:ph idx="10" type="dt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5"/>
          <p:cNvSpPr txBox="1"/>
          <p:nvPr>
            <p:ph idx="11" type="ftr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5"/>
          <p:cNvSpPr txBox="1"/>
          <p:nvPr>
            <p:ph idx="12" type="sldNum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6"/>
          <p:cNvSpPr/>
          <p:nvPr>
            <p:ph idx="2" type="pic"/>
          </p:nvPr>
        </p:nvSpPr>
        <p:spPr>
          <a:xfrm>
            <a:off x="212598" y="1"/>
            <a:ext cx="5516689" cy="5143499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46" title="right scallop background shape"/>
          <p:cNvSpPr/>
          <p:nvPr/>
        </p:nvSpPr>
        <p:spPr>
          <a:xfrm>
            <a:off x="5542359" y="0"/>
            <a:ext cx="3601641" cy="5143500"/>
          </a:xfrm>
          <a:custGeom>
            <a:rect b="b" l="l" r="r" t="t"/>
            <a:pathLst>
              <a:path extrusionOk="0" h="4320" w="3025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79" name="Google Shape;79;p46" title="left edge border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6"/>
          <p:cNvSpPr txBox="1"/>
          <p:nvPr>
            <p:ph type="title"/>
          </p:nvPr>
        </p:nvSpPr>
        <p:spPr>
          <a:xfrm>
            <a:off x="6253413" y="342900"/>
            <a:ext cx="2319088" cy="8975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5"/>
              <a:buFont typeface="Gill Sans"/>
              <a:buNone/>
              <a:defRPr b="1" i="0" sz="1425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6"/>
          <p:cNvSpPr txBox="1"/>
          <p:nvPr>
            <p:ph idx="1" type="body"/>
          </p:nvPr>
        </p:nvSpPr>
        <p:spPr>
          <a:xfrm>
            <a:off x="6253413" y="1306002"/>
            <a:ext cx="2319088" cy="31231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050"/>
              <a:buNone/>
              <a:defRPr sz="1050"/>
            </a:lvl2pPr>
            <a:lvl3pPr indent="-2286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750"/>
              <a:buNone/>
              <a:defRPr sz="750"/>
            </a:lvl4pPr>
            <a:lvl5pPr indent="-22860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750"/>
              <a:buNone/>
              <a:defRPr sz="750"/>
            </a:lvl5pPr>
            <a:lvl6pPr indent="-22860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750"/>
              <a:buNone/>
              <a:defRPr sz="750"/>
            </a:lvl6pPr>
            <a:lvl7pPr indent="-22860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750"/>
              <a:buNone/>
              <a:defRPr sz="750"/>
            </a:lvl7pPr>
            <a:lvl8pPr indent="-22860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750"/>
              <a:buNone/>
              <a:defRPr sz="750"/>
            </a:lvl8pPr>
            <a:lvl9pPr indent="-22860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750"/>
              <a:buNone/>
              <a:defRPr sz="750"/>
            </a:lvl9pPr>
          </a:lstStyle>
          <a:p/>
        </p:txBody>
      </p:sp>
      <p:sp>
        <p:nvSpPr>
          <p:cNvPr id="82" name="Google Shape;82;p46"/>
          <p:cNvSpPr txBox="1"/>
          <p:nvPr>
            <p:ph idx="10" type="dt"/>
          </p:nvPr>
        </p:nvSpPr>
        <p:spPr>
          <a:xfrm>
            <a:off x="574463" y="4781759"/>
            <a:ext cx="924342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6"/>
          <p:cNvSpPr txBox="1"/>
          <p:nvPr>
            <p:ph idx="11" type="ftr"/>
          </p:nvPr>
        </p:nvSpPr>
        <p:spPr>
          <a:xfrm>
            <a:off x="1577716" y="4781759"/>
            <a:ext cx="2611634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6"/>
          <p:cNvSpPr txBox="1"/>
          <p:nvPr>
            <p:ph idx="12" type="sldNum"/>
          </p:nvPr>
        </p:nvSpPr>
        <p:spPr>
          <a:xfrm>
            <a:off x="4265676" y="4781759"/>
            <a:ext cx="925830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7"/>
          <p:cNvSpPr txBox="1"/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7"/>
          <p:cNvSpPr txBox="1"/>
          <p:nvPr>
            <p:ph idx="1" type="body"/>
          </p:nvPr>
        </p:nvSpPr>
        <p:spPr>
          <a:xfrm rot="5400000">
            <a:off x="3408032" y="-754774"/>
            <a:ext cx="2695193" cy="7633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47"/>
          <p:cNvSpPr txBox="1"/>
          <p:nvPr>
            <p:ph idx="10" type="dt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7"/>
          <p:cNvSpPr txBox="1"/>
          <p:nvPr>
            <p:ph idx="11" type="ftr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7"/>
          <p:cNvSpPr txBox="1"/>
          <p:nvPr>
            <p:ph idx="12" type="sldNum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8"/>
          <p:cNvSpPr txBox="1"/>
          <p:nvPr>
            <p:ph type="title"/>
          </p:nvPr>
        </p:nvSpPr>
        <p:spPr>
          <a:xfrm rot="5400000">
            <a:off x="6009139" y="1827392"/>
            <a:ext cx="4200303" cy="111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8"/>
          <p:cNvSpPr txBox="1"/>
          <p:nvPr>
            <p:ph idx="1" type="body"/>
          </p:nvPr>
        </p:nvSpPr>
        <p:spPr>
          <a:xfrm rot="5400000">
            <a:off x="1990043" y="-760278"/>
            <a:ext cx="4200304" cy="6294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48"/>
          <p:cNvSpPr txBox="1"/>
          <p:nvPr>
            <p:ph idx="10" type="dt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8"/>
          <p:cNvSpPr txBox="1"/>
          <p:nvPr>
            <p:ph idx="11" type="ftr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8"/>
          <p:cNvSpPr txBox="1"/>
          <p:nvPr>
            <p:ph idx="12" type="sldNum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4">
  <p:cSld name="TITLE_4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5">
  <p:cSld name="TITLE_5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6">
  <p:cSld name="TITLE_6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dk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0"/>
          <p:cNvSpPr txBox="1"/>
          <p:nvPr>
            <p:ph type="title"/>
          </p:nvPr>
        </p:nvSpPr>
        <p:spPr>
          <a:xfrm>
            <a:off x="2432197" y="805417"/>
            <a:ext cx="6140303" cy="30484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300"/>
              <a:buFont typeface="Impact"/>
              <a:buNone/>
              <a:defRPr sz="63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0"/>
          <p:cNvSpPr txBox="1"/>
          <p:nvPr>
            <p:ph idx="1" type="body"/>
          </p:nvPr>
        </p:nvSpPr>
        <p:spPr>
          <a:xfrm>
            <a:off x="2432198" y="3869836"/>
            <a:ext cx="5263116" cy="713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500"/>
              <a:buNone/>
              <a:defRPr b="1" i="0" sz="15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40"/>
          <p:cNvSpPr txBox="1"/>
          <p:nvPr>
            <p:ph idx="10" type="dt"/>
          </p:nvPr>
        </p:nvSpPr>
        <p:spPr>
          <a:xfrm>
            <a:off x="2427410" y="4781759"/>
            <a:ext cx="1120460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0"/>
          <p:cNvSpPr txBox="1"/>
          <p:nvPr>
            <p:ph idx="11" type="ftr"/>
          </p:nvPr>
        </p:nvSpPr>
        <p:spPr>
          <a:xfrm>
            <a:off x="3959298" y="4781759"/>
            <a:ext cx="3086100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0"/>
          <p:cNvSpPr txBox="1"/>
          <p:nvPr>
            <p:ph idx="12" type="sldNum"/>
          </p:nvPr>
        </p:nvSpPr>
        <p:spPr>
          <a:xfrm>
            <a:off x="7456825" y="4781759"/>
            <a:ext cx="1115675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4" name="Google Shape;114;p40" title="left scallop shape"/>
          <p:cNvGrpSpPr/>
          <p:nvPr/>
        </p:nvGrpSpPr>
        <p:grpSpPr>
          <a:xfrm>
            <a:off x="0" y="0"/>
            <a:ext cx="2110979" cy="5143500"/>
            <a:chOff x="0" y="0"/>
            <a:chExt cx="2814638" cy="6858000"/>
          </a:xfrm>
        </p:grpSpPr>
        <p:sp>
          <p:nvSpPr>
            <p:cNvPr id="115" name="Google Shape;115;p40" title="left scallop shape"/>
            <p:cNvSpPr/>
            <p:nvPr/>
          </p:nvSpPr>
          <p:spPr>
            <a:xfrm>
              <a:off x="0" y="0"/>
              <a:ext cx="2814638" cy="6858000"/>
            </a:xfrm>
            <a:custGeom>
              <a:rect b="b" l="l" r="r" t="t"/>
              <a:pathLst>
                <a:path extrusionOk="0" h="4320" w="1773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16" name="Google Shape;116;p40" title="left scallop inline"/>
            <p:cNvSpPr/>
            <p:nvPr/>
          </p:nvSpPr>
          <p:spPr>
            <a:xfrm>
              <a:off x="874382" y="0"/>
              <a:ext cx="1646238" cy="6858000"/>
            </a:xfrm>
            <a:custGeom>
              <a:rect b="b" l="l" r="r" t="t"/>
              <a:pathLst>
                <a:path extrusionOk="0" h="4320" w="1037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25"/>
              <a:buFont typeface="Impact"/>
              <a:buNone/>
              <a:defRPr b="0" i="0" sz="3825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5"/>
          <p:cNvSpPr txBox="1"/>
          <p:nvPr>
            <p:ph idx="1" type="body"/>
          </p:nvPr>
        </p:nvSpPr>
        <p:spPr>
          <a:xfrm>
            <a:off x="938758" y="1714501"/>
            <a:ext cx="7633742" cy="2695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14325" lvl="1" marL="9144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Gill Sans"/>
              <a:buChar char="–"/>
              <a:defRPr b="0" i="0" sz="135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5275" lvl="3" marL="18288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dk2"/>
              </a:buClr>
              <a:buSzPts val="1050"/>
              <a:buFont typeface="Gill Sans"/>
              <a:buChar char="–"/>
              <a:defRPr b="0" i="0" sz="105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5275" lvl="4" marL="22860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5275" lvl="5" marL="27432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dk2"/>
              </a:buClr>
              <a:buSzPts val="1050"/>
              <a:buFont typeface="Gill Sans"/>
              <a:buChar char="–"/>
              <a:defRPr b="0" i="0" sz="105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dk2"/>
              </a:buClr>
              <a:buSzPts val="1050"/>
              <a:buFont typeface="Gill Sans"/>
              <a:buChar char="–"/>
              <a:defRPr b="0" i="0" sz="105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5275" lvl="8" marL="41148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35"/>
          <p:cNvSpPr txBox="1"/>
          <p:nvPr>
            <p:ph idx="10" type="dt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35"/>
          <p:cNvSpPr txBox="1"/>
          <p:nvPr>
            <p:ph idx="11" type="ftr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35" title="Left scallop edge"/>
          <p:cNvSpPr/>
          <p:nvPr/>
        </p:nvSpPr>
        <p:spPr>
          <a:xfrm>
            <a:off x="0" y="0"/>
            <a:ext cx="664369" cy="5143500"/>
          </a:xfrm>
          <a:custGeom>
            <a:rect b="b" l="l" r="r" t="t"/>
            <a:pathLst>
              <a:path extrusionOk="0" h="4320" w="558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6" name="Google Shape;16;p35" title="right edge border"/>
          <p:cNvSpPr/>
          <p:nvPr/>
        </p:nvSpPr>
        <p:spPr>
          <a:xfrm>
            <a:off x="8931402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8"/>
          <p:cNvSpPr txBox="1"/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25"/>
              <a:buFont typeface="Impact"/>
              <a:buNone/>
              <a:defRPr b="0" i="0" sz="3825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38"/>
          <p:cNvSpPr txBox="1"/>
          <p:nvPr>
            <p:ph idx="1" type="body"/>
          </p:nvPr>
        </p:nvSpPr>
        <p:spPr>
          <a:xfrm>
            <a:off x="938758" y="1714501"/>
            <a:ext cx="7633742" cy="2695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14325" lvl="1" marL="9144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Gill Sans"/>
              <a:buChar char="–"/>
              <a:defRPr b="0" i="0" sz="135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5275" lvl="3" marL="18288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lt2"/>
              </a:buClr>
              <a:buSzPts val="1050"/>
              <a:buFont typeface="Gill Sans"/>
              <a:buChar char="–"/>
              <a:defRPr b="0" i="0" sz="105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5275" lvl="4" marL="22860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5275" lvl="5" marL="27432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lt2"/>
              </a:buClr>
              <a:buSzPts val="1050"/>
              <a:buFont typeface="Gill Sans"/>
              <a:buChar char="–"/>
              <a:defRPr b="0" i="0" sz="105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lt2"/>
              </a:buClr>
              <a:buSzPts val="1050"/>
              <a:buFont typeface="Gill Sans"/>
              <a:buChar char="–"/>
              <a:defRPr b="0" i="0" sz="105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5275" lvl="8" marL="4114800" marR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3" name="Google Shape;103;p38"/>
          <p:cNvSpPr txBox="1"/>
          <p:nvPr>
            <p:ph idx="10" type="dt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4" name="Google Shape;104;p38"/>
          <p:cNvSpPr txBox="1"/>
          <p:nvPr>
            <p:ph idx="11" type="ftr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5" name="Google Shape;105;p38"/>
          <p:cNvSpPr txBox="1"/>
          <p:nvPr>
            <p:ph idx="12" type="sldNum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38" title="Left scallop edge"/>
          <p:cNvSpPr/>
          <p:nvPr/>
        </p:nvSpPr>
        <p:spPr>
          <a:xfrm>
            <a:off x="0" y="0"/>
            <a:ext cx="664369" cy="5143500"/>
          </a:xfrm>
          <a:custGeom>
            <a:rect b="b" l="l" r="r" t="t"/>
            <a:pathLst>
              <a:path extrusionOk="0" h="4320" w="558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107" name="Google Shape;107;p38" title="right edge border"/>
          <p:cNvSpPr/>
          <p:nvPr/>
        </p:nvSpPr>
        <p:spPr>
          <a:xfrm>
            <a:off x="8931402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phet.colorado.edu/en/simulations/energy-forms-and-changes" TargetMode="External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phet.colorado.edu/en/simulations/energy-skate-park-basics" TargetMode="Externa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"/>
          <p:cNvSpPr txBox="1"/>
          <p:nvPr>
            <p:ph type="ctrTitle"/>
          </p:nvPr>
        </p:nvSpPr>
        <p:spPr>
          <a:xfrm>
            <a:off x="808892" y="823791"/>
            <a:ext cx="7738814" cy="3296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Impact"/>
              <a:buNone/>
            </a:pPr>
            <a:r>
              <a:rPr lang="en-US" sz="4400"/>
              <a:t>ENERGY </a:t>
            </a:r>
            <a:br>
              <a:rPr lang="en-US" sz="4400"/>
            </a:br>
            <a:r>
              <a:rPr lang="en-US" sz="4400"/>
              <a:t>transfers and transformations</a:t>
            </a:r>
            <a:endParaRPr sz="44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Impact"/>
              <a:buNone/>
            </a:pPr>
            <a:r>
              <a:t/>
            </a:r>
            <a:endParaRPr sz="4400"/>
          </a:p>
        </p:txBody>
      </p:sp>
      <p:sp>
        <p:nvSpPr>
          <p:cNvPr id="122" name="Google Shape;122;p1"/>
          <p:cNvSpPr txBox="1"/>
          <p:nvPr>
            <p:ph idx="1" type="subTitle"/>
          </p:nvPr>
        </p:nvSpPr>
        <p:spPr>
          <a:xfrm>
            <a:off x="1661284" y="4484398"/>
            <a:ext cx="6034030" cy="5567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US"/>
              <a:t>YEAR 9 SCIENCE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500"/>
              <a:buNone/>
            </a:pPr>
            <a:r>
              <a:rPr lang="en-US"/>
              <a:t>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/>
          <p:cNvSpPr txBox="1"/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Impact"/>
              <a:buNone/>
            </a:pPr>
            <a:r>
              <a:rPr lang="en-US"/>
              <a:t>LEARNING INTENTIONS</a:t>
            </a:r>
            <a:endParaRPr/>
          </a:p>
        </p:txBody>
      </p:sp>
      <p:sp>
        <p:nvSpPr>
          <p:cNvPr id="128" name="Google Shape;128;p2"/>
          <p:cNvSpPr txBox="1"/>
          <p:nvPr>
            <p:ph idx="1" type="body"/>
          </p:nvPr>
        </p:nvSpPr>
        <p:spPr>
          <a:xfrm>
            <a:off x="938758" y="1714501"/>
            <a:ext cx="7633742" cy="2695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mpact"/>
              <a:buAutoNum type="arabicPeriod"/>
            </a:pPr>
            <a:r>
              <a:rPr lang="en-US" sz="2000">
                <a:solidFill>
                  <a:srgbClr val="7030A0"/>
                </a:solidFill>
              </a:rPr>
              <a:t>Classify energy types.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Font typeface="Impact"/>
              <a:buAutoNum type="arabicPeriod"/>
            </a:pPr>
            <a:r>
              <a:rPr lang="en-US" sz="2000">
                <a:solidFill>
                  <a:srgbClr val="7030A0"/>
                </a:solidFill>
              </a:rPr>
              <a:t>Identify and describe energy transformations.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Font typeface="Impact"/>
              <a:buAutoNum type="arabicPeriod"/>
            </a:pPr>
            <a:r>
              <a:rPr lang="en-US" sz="2000">
                <a:solidFill>
                  <a:srgbClr val="7030A0"/>
                </a:solidFill>
              </a:rPr>
              <a:t>Describe the 1</a:t>
            </a:r>
            <a:r>
              <a:rPr baseline="30000" lang="en-US" sz="2000">
                <a:solidFill>
                  <a:srgbClr val="7030A0"/>
                </a:solidFill>
              </a:rPr>
              <a:t>st</a:t>
            </a:r>
            <a:r>
              <a:rPr lang="en-US" sz="2000">
                <a:solidFill>
                  <a:srgbClr val="7030A0"/>
                </a:solidFill>
              </a:rPr>
              <a:t> Law of Thermodynamics </a:t>
            </a:r>
            <a:r>
              <a:rPr i="1" lang="en-US" sz="2000">
                <a:solidFill>
                  <a:srgbClr val="7030A0"/>
                </a:solidFill>
              </a:rPr>
              <a:t>(Law of Conservation of Energy).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Font typeface="Impact"/>
              <a:buAutoNum type="arabicPeriod"/>
            </a:pPr>
            <a:r>
              <a:rPr lang="en-US" sz="2000">
                <a:solidFill>
                  <a:srgbClr val="7030A0"/>
                </a:solidFill>
              </a:rPr>
              <a:t>Understand how energy can be transferred and/or transformed using simple scenarios.</a:t>
            </a:r>
            <a:endParaRPr sz="2000">
              <a:solidFill>
                <a:srgbClr val="7030A0"/>
              </a:solidFill>
            </a:endParaRPr>
          </a:p>
          <a:p>
            <a:pPr indent="-330200" lvl="0" marL="45720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Font typeface="Impact"/>
              <a:buNone/>
            </a:pPr>
            <a:r>
              <a:t/>
            </a:r>
            <a:endParaRPr sz="200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"/>
          <p:cNvSpPr txBox="1"/>
          <p:nvPr>
            <p:ph type="title"/>
          </p:nvPr>
        </p:nvSpPr>
        <p:spPr>
          <a:xfrm>
            <a:off x="2432197" y="805417"/>
            <a:ext cx="6140303" cy="30484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300"/>
              <a:buFont typeface="Impact"/>
              <a:buNone/>
            </a:pPr>
            <a:r>
              <a:rPr lang="en-US"/>
              <a:t>WHAT IS ENERGY?</a:t>
            </a:r>
            <a:endParaRPr/>
          </a:p>
        </p:txBody>
      </p:sp>
      <p:sp>
        <p:nvSpPr>
          <p:cNvPr id="134" name="Google Shape;134;p3"/>
          <p:cNvSpPr txBox="1"/>
          <p:nvPr>
            <p:ph idx="1" type="body"/>
          </p:nvPr>
        </p:nvSpPr>
        <p:spPr>
          <a:xfrm>
            <a:off x="2432198" y="3869836"/>
            <a:ext cx="5263116" cy="713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 txBox="1"/>
          <p:nvPr>
            <p:ph type="title"/>
          </p:nvPr>
        </p:nvSpPr>
        <p:spPr>
          <a:xfrm>
            <a:off x="938758" y="286789"/>
            <a:ext cx="4471442" cy="59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98050"/>
              <a:buFont typeface="Impact"/>
              <a:buNone/>
            </a:pPr>
            <a:r>
              <a:rPr lang="en-US"/>
              <a:t>DEFINITION OF ENERGY</a:t>
            </a:r>
            <a:endParaRPr/>
          </a:p>
        </p:txBody>
      </p:sp>
      <p:sp>
        <p:nvSpPr>
          <p:cNvPr id="140" name="Google Shape;140;p4"/>
          <p:cNvSpPr txBox="1"/>
          <p:nvPr>
            <p:ph idx="1" type="body"/>
          </p:nvPr>
        </p:nvSpPr>
        <p:spPr>
          <a:xfrm>
            <a:off x="838200" y="3714750"/>
            <a:ext cx="7633742" cy="1162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 sz="2000" u="sng">
                <a:solidFill>
                  <a:srgbClr val="002060"/>
                </a:solidFill>
              </a:rPr>
              <a:t>Energy</a:t>
            </a:r>
            <a:r>
              <a:rPr b="1" lang="en-US" sz="2000">
                <a:solidFill>
                  <a:srgbClr val="002060"/>
                </a:solidFill>
              </a:rPr>
              <a:t> is defined as the capacity to do work. </a:t>
            </a:r>
            <a:r>
              <a:rPr b="1" lang="en-US" sz="2000" u="sng">
                <a:solidFill>
                  <a:srgbClr val="00B0F0"/>
                </a:solidFill>
              </a:rPr>
              <a:t>Work</a:t>
            </a:r>
            <a:r>
              <a:rPr b="1" lang="en-US" sz="2000">
                <a:solidFill>
                  <a:srgbClr val="00B0F0"/>
                </a:solidFill>
              </a:rPr>
              <a:t> involves applying a </a:t>
            </a:r>
            <a:r>
              <a:rPr b="1" lang="en-US" sz="2000" u="sng">
                <a:solidFill>
                  <a:srgbClr val="00B0F0"/>
                </a:solidFill>
              </a:rPr>
              <a:t>force</a:t>
            </a:r>
            <a:r>
              <a:rPr b="1" lang="en-US" sz="2000">
                <a:solidFill>
                  <a:srgbClr val="00B0F0"/>
                </a:solidFill>
              </a:rPr>
              <a:t> on an object that causes movement across a distance. </a:t>
            </a:r>
            <a:r>
              <a:rPr b="1" lang="en-US" sz="2000">
                <a:solidFill>
                  <a:srgbClr val="00B050"/>
                </a:solidFill>
              </a:rPr>
              <a:t>Energy is measured in units called </a:t>
            </a:r>
            <a:r>
              <a:rPr b="1" lang="en-US" sz="2000" u="sng">
                <a:solidFill>
                  <a:srgbClr val="00B050"/>
                </a:solidFill>
              </a:rPr>
              <a:t>joules (J)</a:t>
            </a:r>
            <a:r>
              <a:rPr b="1" lang="en-US" sz="2000">
                <a:solidFill>
                  <a:srgbClr val="00B050"/>
                </a:solidFill>
              </a:rPr>
              <a:t>. </a:t>
            </a:r>
            <a:endParaRPr b="1" sz="2000">
              <a:solidFill>
                <a:srgbClr val="00B050"/>
              </a:solidFill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3262069" y="2123288"/>
            <a:ext cx="20183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Energy is defined as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1390374" y="2895866"/>
            <a:ext cx="12917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capacity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6247923" y="1523600"/>
            <a:ext cx="15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to do work. 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3308408" y="1042399"/>
            <a:ext cx="24967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Work involves applying a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5791200" y="2343150"/>
            <a:ext cx="12474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force on an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973013" y="1365749"/>
            <a:ext cx="18630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object that causes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6404400" y="966764"/>
            <a:ext cx="19882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movement across a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3566904" y="3017482"/>
            <a:ext cx="28480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distance. Energy is measured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1295400" y="2184633"/>
            <a:ext cx="14558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 units called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7635034" y="2136812"/>
            <a:ext cx="10518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joules (J).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5308617" y="332360"/>
            <a:ext cx="2667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( in 3 sentences )</a:t>
            </a:r>
            <a:endParaRPr b="1" i="0" sz="2400" u="none" cap="none" strike="noStrik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b1c39d1f6_0_0"/>
          <p:cNvSpPr txBox="1"/>
          <p:nvPr>
            <p:ph type="title"/>
          </p:nvPr>
        </p:nvSpPr>
        <p:spPr>
          <a:xfrm>
            <a:off x="938758" y="286789"/>
            <a:ext cx="7633800" cy="11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Impact"/>
              <a:buNone/>
            </a:pPr>
            <a:r>
              <a:rPr lang="en-US"/>
              <a:t>FORMS OF ENERGY</a:t>
            </a:r>
            <a:endParaRPr/>
          </a:p>
        </p:txBody>
      </p:sp>
      <p:sp>
        <p:nvSpPr>
          <p:cNvPr id="157" name="Google Shape;157;g39b1c39d1f6_0_0"/>
          <p:cNvSpPr txBox="1"/>
          <p:nvPr>
            <p:ph idx="1" type="body"/>
          </p:nvPr>
        </p:nvSpPr>
        <p:spPr>
          <a:xfrm>
            <a:off x="938758" y="1047750"/>
            <a:ext cx="77481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200"/>
              <a:buNone/>
            </a:pPr>
            <a:r>
              <a:rPr b="1" lang="en-US" sz="2200"/>
              <a:t>NUCLEAR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200"/>
              <a:buNone/>
            </a:pPr>
            <a:r>
              <a:rPr b="1" lang="en-US" sz="2200"/>
              <a:t>HEAT/thermal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200"/>
              <a:buNone/>
            </a:pPr>
            <a:r>
              <a:rPr b="1" lang="en-US" sz="2200"/>
              <a:t>CHEMICAL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200"/>
              <a:buNone/>
            </a:pPr>
            <a:r>
              <a:rPr b="1" lang="en-US" sz="2200"/>
              <a:t>SOUND/acoustic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1" sz="2200"/>
          </a:p>
          <a:p>
            <a:pPr indent="0" lvl="0" marL="0" rtl="0" algn="l"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/>
              <a:t>There are five energy forms missing…</a:t>
            </a:r>
            <a:endParaRPr/>
          </a:p>
          <a:p>
            <a:pPr indent="0" lvl="0" marL="0" rtl="0" algn="l">
              <a:spcBef>
                <a:spcPts val="525"/>
              </a:spcBef>
              <a:spcAft>
                <a:spcPts val="0"/>
              </a:spcAft>
              <a:buSzPts val="2200"/>
              <a:buNone/>
            </a:pPr>
            <a:r>
              <a:rPr lang="en-US" sz="2200"/>
              <a:t>Can you remember any of these?  </a:t>
            </a:r>
            <a:endParaRPr b="1"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 txBox="1"/>
          <p:nvPr>
            <p:ph idx="1" type="body"/>
          </p:nvPr>
        </p:nvSpPr>
        <p:spPr>
          <a:xfrm>
            <a:off x="762825" y="1082600"/>
            <a:ext cx="6034200" cy="39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-US" sz="2800">
                <a:solidFill>
                  <a:srgbClr val="002060"/>
                </a:solidFill>
              </a:rPr>
              <a:t>GRAVITATIONAL POTENTIAL</a:t>
            </a:r>
            <a:r>
              <a:rPr b="1" lang="en-US" sz="2800">
                <a:solidFill>
                  <a:srgbClr val="002060"/>
                </a:solidFill>
              </a:rPr>
              <a:t> ENERGY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 sz="2800"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ct val="100000"/>
              <a:buNone/>
            </a:pPr>
            <a:r>
              <a:rPr lang="en-US" sz="2000"/>
              <a:t>The energy due to position in a gravitational field</a:t>
            </a:r>
            <a:endParaRPr sz="2000"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ct val="100000"/>
              <a:buNone/>
            </a:pPr>
            <a:r>
              <a:rPr lang="en-US" sz="2000"/>
              <a:t>E</a:t>
            </a:r>
            <a:r>
              <a:rPr baseline="-25000" lang="en-US" sz="2000"/>
              <a:t>P</a:t>
            </a:r>
            <a:r>
              <a:rPr lang="en-US" sz="2000"/>
              <a:t> = mass x </a:t>
            </a:r>
            <a:r>
              <a:rPr lang="en-US" sz="2000"/>
              <a:t>acceleration</a:t>
            </a:r>
            <a:r>
              <a:rPr lang="en-US" sz="2000"/>
              <a:t> due to gravity x height</a:t>
            </a:r>
            <a:endParaRPr sz="2000"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ct val="100000"/>
              <a:buNone/>
            </a:pPr>
            <a:r>
              <a:rPr b="1" lang="en-US" sz="2000">
                <a:solidFill>
                  <a:schemeClr val="dk1"/>
                </a:solidFill>
              </a:rPr>
              <a:t>E</a:t>
            </a:r>
            <a:r>
              <a:rPr b="1" baseline="-25000" lang="en-US" sz="2000">
                <a:solidFill>
                  <a:schemeClr val="dk1"/>
                </a:solidFill>
              </a:rPr>
              <a:t>P</a:t>
            </a:r>
            <a:r>
              <a:rPr b="1" lang="en-US" sz="2000">
                <a:solidFill>
                  <a:schemeClr val="dk1"/>
                </a:solidFill>
              </a:rPr>
              <a:t> = mgh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ct val="100000"/>
              <a:buNone/>
            </a:pPr>
            <a:r>
              <a:rPr b="1" lang="en-US" sz="2000">
                <a:solidFill>
                  <a:schemeClr val="dk1"/>
                </a:solidFill>
              </a:rPr>
              <a:t>Q: What is the E</a:t>
            </a:r>
            <a:r>
              <a:rPr b="1" baseline="-25000" lang="en-US" sz="2000">
                <a:solidFill>
                  <a:schemeClr val="dk1"/>
                </a:solidFill>
              </a:rPr>
              <a:t>P</a:t>
            </a:r>
            <a:r>
              <a:rPr b="1" lang="en-US" sz="2000">
                <a:solidFill>
                  <a:schemeClr val="dk1"/>
                </a:solidFill>
              </a:rPr>
              <a:t> of a 200g apple that is on a branch 5m above the ground?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163" name="Google Shape;16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8650" y="-108200"/>
            <a:ext cx="4445349" cy="267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899882c0f_0_6"/>
          <p:cNvSpPr txBox="1"/>
          <p:nvPr>
            <p:ph idx="1" type="body"/>
          </p:nvPr>
        </p:nvSpPr>
        <p:spPr>
          <a:xfrm>
            <a:off x="609600" y="666750"/>
            <a:ext cx="3505200" cy="38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>
                <a:solidFill>
                  <a:srgbClr val="002060"/>
                </a:solidFill>
              </a:rPr>
              <a:t>KINETIC ENERGY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The energy of movement.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E</a:t>
            </a:r>
            <a:r>
              <a:rPr baseline="-25000" lang="en-US" sz="2000"/>
              <a:t>k</a:t>
            </a:r>
            <a:r>
              <a:rPr lang="en-US" sz="2000"/>
              <a:t> = ½ x mass x velocity</a:t>
            </a:r>
            <a:r>
              <a:rPr baseline="30000" lang="en-US" sz="2000"/>
              <a:t>2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E</a:t>
            </a:r>
            <a:r>
              <a:rPr b="1" baseline="-25000" lang="en-US" sz="2000">
                <a:solidFill>
                  <a:schemeClr val="dk1"/>
                </a:solidFill>
              </a:rPr>
              <a:t>k</a:t>
            </a:r>
            <a:r>
              <a:rPr b="1" lang="en-US" sz="2000">
                <a:solidFill>
                  <a:schemeClr val="dk1"/>
                </a:solidFill>
              </a:rPr>
              <a:t> = ½ mv</a:t>
            </a:r>
            <a:r>
              <a:rPr b="1" baseline="30000" lang="en-US" sz="2000">
                <a:solidFill>
                  <a:schemeClr val="dk1"/>
                </a:solidFill>
              </a:rPr>
              <a:t>2</a:t>
            </a:r>
            <a:endParaRPr sz="2000"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 baseline="30000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solidFill>
                  <a:schemeClr val="dk1"/>
                </a:solidFill>
              </a:rPr>
              <a:t>Q: What is the E</a:t>
            </a:r>
            <a:r>
              <a:rPr b="1" baseline="-25000" lang="en-US" sz="2000">
                <a:solidFill>
                  <a:schemeClr val="dk1"/>
                </a:solidFill>
              </a:rPr>
              <a:t>K</a:t>
            </a:r>
            <a:r>
              <a:rPr b="1" lang="en-US" sz="2000">
                <a:solidFill>
                  <a:schemeClr val="dk1"/>
                </a:solidFill>
              </a:rPr>
              <a:t>of a skateboarder with a mass of 75kg who is travelling at 15 kmh</a:t>
            </a:r>
            <a:r>
              <a:rPr b="1" baseline="30000" lang="en-US" sz="2000">
                <a:solidFill>
                  <a:schemeClr val="dk1"/>
                </a:solidFill>
              </a:rPr>
              <a:t>-1</a:t>
            </a:r>
            <a:r>
              <a:rPr b="1" lang="en-US" sz="2000">
                <a:solidFill>
                  <a:schemeClr val="dk1"/>
                </a:solidFill>
              </a:rPr>
              <a:t>?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169" name="Google Shape;169;g39899882c0f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9600" y="438150"/>
            <a:ext cx="3536499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/>
          <p:nvPr>
            <p:ph idx="1" type="body"/>
          </p:nvPr>
        </p:nvSpPr>
        <p:spPr>
          <a:xfrm>
            <a:off x="990600" y="3486150"/>
            <a:ext cx="7924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>
                <a:solidFill>
                  <a:srgbClr val="002060"/>
                </a:solidFill>
              </a:rPr>
              <a:t>ELECTRICAL ENERGY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The energy of electrons which are flowing.</a:t>
            </a:r>
            <a:endParaRPr sz="2000"/>
          </a:p>
        </p:txBody>
      </p:sp>
      <p:pic>
        <p:nvPicPr>
          <p:cNvPr id="175" name="Google Shape;17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57150"/>
            <a:ext cx="4760429" cy="326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 txBox="1"/>
          <p:nvPr>
            <p:ph idx="1" type="body"/>
          </p:nvPr>
        </p:nvSpPr>
        <p:spPr>
          <a:xfrm>
            <a:off x="1219200" y="3181350"/>
            <a:ext cx="73152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>
                <a:solidFill>
                  <a:srgbClr val="002060"/>
                </a:solidFill>
              </a:rPr>
              <a:t>ELASTIC POTENTIAL ENERGY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The energy stored </a:t>
            </a:r>
            <a:r>
              <a:rPr lang="en-US" sz="2000"/>
              <a:t>when an object is stretched or compressed</a:t>
            </a:r>
            <a:r>
              <a:rPr lang="en-US" sz="2000"/>
              <a:t>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(also known as stored elastic energy)</a:t>
            </a:r>
            <a:endParaRPr sz="2000"/>
          </a:p>
        </p:txBody>
      </p:sp>
      <p:pic>
        <p:nvPicPr>
          <p:cNvPr id="181" name="Google Shape;1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33350"/>
            <a:ext cx="4648200" cy="3059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"/>
          <p:cNvSpPr txBox="1"/>
          <p:nvPr>
            <p:ph idx="1" type="body"/>
          </p:nvPr>
        </p:nvSpPr>
        <p:spPr>
          <a:xfrm>
            <a:off x="1143000" y="3181350"/>
            <a:ext cx="7239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>
                <a:solidFill>
                  <a:srgbClr val="002060"/>
                </a:solidFill>
              </a:rPr>
              <a:t>LIGHT ENERGY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The energy given out by LUMINOUS OBJECTS.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e.g. light bulbs, the sun, fire</a:t>
            </a:r>
            <a:endParaRPr sz="2000"/>
          </a:p>
        </p:txBody>
      </p:sp>
      <p:pic>
        <p:nvPicPr>
          <p:cNvPr id="187" name="Google Shape;18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07632"/>
            <a:ext cx="4391025" cy="3073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/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98050"/>
              <a:buFont typeface="Impact"/>
              <a:buNone/>
            </a:pPr>
            <a:r>
              <a:rPr lang="en-US"/>
              <a:t>2 MAIN GROUPS </a:t>
            </a:r>
            <a:br>
              <a:rPr lang="en-US"/>
            </a:br>
            <a:r>
              <a:rPr lang="en-US"/>
              <a:t>– KINETIC &amp; POTENTIAL ENERGY</a:t>
            </a:r>
            <a:endParaRPr/>
          </a:p>
        </p:txBody>
      </p:sp>
      <p:graphicFrame>
        <p:nvGraphicFramePr>
          <p:cNvPr id="193" name="Google Shape;193;p12"/>
          <p:cNvGraphicFramePr/>
          <p:nvPr/>
        </p:nvGraphicFramePr>
        <p:xfrm>
          <a:off x="883438" y="1405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{87DCF47E-2375-4EFA-A240-717E78A366A4}</a:tableStyleId>
              </a:tblPr>
              <a:tblGrid>
                <a:gridCol w="3817150"/>
                <a:gridCol w="38171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sng" cap="none" strike="noStrike"/>
                        <a:t>Kinetic Energy </a:t>
                      </a:r>
                      <a:r>
                        <a:rPr lang="en-US" sz="1800" u="none" cap="none" strike="noStrike"/>
                        <a:t>– </a:t>
                      </a:r>
                      <a:r>
                        <a:rPr i="1" lang="en-US" sz="1800" u="none" cap="none" strike="noStrike"/>
                        <a:t>involves particles moving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sng" cap="none" strike="noStrike"/>
                        <a:t>Potential Energy </a:t>
                      </a:r>
                      <a:r>
                        <a:rPr lang="en-US" sz="1800" u="none" cap="none" strike="noStrike"/>
                        <a:t>– </a:t>
                      </a:r>
                      <a:r>
                        <a:rPr i="1" lang="en-US" sz="1800" u="none" cap="none" strike="noStrike"/>
                        <a:t>any energy that can be stored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kinetic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gravitational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heat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chemical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light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elastic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electrical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nuclear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sound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94" name="Google Shape;194;p12"/>
          <p:cNvSpPr/>
          <p:nvPr/>
        </p:nvSpPr>
        <p:spPr>
          <a:xfrm>
            <a:off x="898425" y="2070450"/>
            <a:ext cx="3786600" cy="216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4700600" y="2070450"/>
            <a:ext cx="3786600" cy="216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d229c1d1a_0_0"/>
          <p:cNvSpPr txBox="1"/>
          <p:nvPr>
            <p:ph type="title"/>
          </p:nvPr>
        </p:nvSpPr>
        <p:spPr>
          <a:xfrm>
            <a:off x="938758" y="286789"/>
            <a:ext cx="7633800" cy="11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Activity: Energy forms and changes</a:t>
            </a:r>
            <a:endParaRPr/>
          </a:p>
        </p:txBody>
      </p:sp>
      <p:sp>
        <p:nvSpPr>
          <p:cNvPr id="202" name="Google Shape;202;g39d229c1d1a_0_0"/>
          <p:cNvSpPr txBox="1"/>
          <p:nvPr>
            <p:ph idx="1" type="body"/>
          </p:nvPr>
        </p:nvSpPr>
        <p:spPr>
          <a:xfrm>
            <a:off x="938746" y="1036001"/>
            <a:ext cx="7633800" cy="26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None/>
            </a:pPr>
            <a:r>
              <a:rPr lang="en-US"/>
              <a:t>Use the </a:t>
            </a:r>
            <a:r>
              <a:rPr lang="en-US">
                <a:solidFill>
                  <a:schemeClr val="dk2"/>
                </a:solidFill>
              </a:rPr>
              <a:t>PhET Simulation - </a:t>
            </a:r>
            <a:r>
              <a:rPr lang="en-US" u="sng">
                <a:solidFill>
                  <a:schemeClr val="accent3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Energy Forms and Changes</a:t>
            </a:r>
            <a:r>
              <a:rPr lang="en-US"/>
              <a:t> to complete the </a:t>
            </a:r>
            <a:r>
              <a:rPr b="1" lang="en-US"/>
              <a:t>interactive activity</a:t>
            </a:r>
            <a:r>
              <a:rPr lang="en-US"/>
              <a:t>.</a:t>
            </a:r>
            <a:endParaRPr/>
          </a:p>
        </p:txBody>
      </p:sp>
      <p:pic>
        <p:nvPicPr>
          <p:cNvPr id="203" name="Google Shape;203;g39d229c1d1a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20174" y="1709325"/>
            <a:ext cx="6070948" cy="3240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"/>
          <p:cNvSpPr txBox="1"/>
          <p:nvPr>
            <p:ph type="title"/>
          </p:nvPr>
        </p:nvSpPr>
        <p:spPr>
          <a:xfrm>
            <a:off x="2432197" y="805417"/>
            <a:ext cx="6140303" cy="30484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300"/>
              <a:buFont typeface="Impact"/>
              <a:buNone/>
            </a:pPr>
            <a:r>
              <a:rPr lang="en-US"/>
              <a:t>SOURCE OF ENERGY?</a:t>
            </a:r>
            <a:endParaRPr/>
          </a:p>
        </p:txBody>
      </p:sp>
      <p:sp>
        <p:nvSpPr>
          <p:cNvPr id="209" name="Google Shape;209;p13"/>
          <p:cNvSpPr txBox="1"/>
          <p:nvPr>
            <p:ph idx="1" type="body"/>
          </p:nvPr>
        </p:nvSpPr>
        <p:spPr>
          <a:xfrm>
            <a:off x="2432198" y="3869836"/>
            <a:ext cx="5263116" cy="713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5251" y="1182863"/>
            <a:ext cx="4358759" cy="263981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4"/>
          <p:cNvSpPr txBox="1"/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Impact"/>
              <a:buNone/>
            </a:pPr>
            <a:r>
              <a:rPr lang="en-US"/>
              <a:t>SOURCES OF ENERGY</a:t>
            </a:r>
            <a:endParaRPr/>
          </a:p>
        </p:txBody>
      </p:sp>
      <p:sp>
        <p:nvSpPr>
          <p:cNvPr id="216" name="Google Shape;216;p14"/>
          <p:cNvSpPr txBox="1"/>
          <p:nvPr>
            <p:ph idx="1" type="body"/>
          </p:nvPr>
        </p:nvSpPr>
        <p:spPr>
          <a:xfrm>
            <a:off x="642375" y="846338"/>
            <a:ext cx="4495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“…the sun is the original source of most energy on Earth.”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Explain how this is true using driving a car (which uses petrol) as an example.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70C0"/>
                </a:solidFill>
              </a:rPr>
              <a:t>Cars run on oil (petrol)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70C0"/>
                </a:solidFill>
              </a:rPr>
              <a:t>Oil is made from millions of dead plants and animals (from thousands of years ago).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70C0"/>
                </a:solidFill>
              </a:rPr>
              <a:t>Plants get their energy from the sun.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70C0"/>
                </a:solidFill>
              </a:rPr>
              <a:t>Animals get their energy from plants (or other animals).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"/>
          <p:cNvSpPr txBox="1"/>
          <p:nvPr>
            <p:ph type="title"/>
          </p:nvPr>
        </p:nvSpPr>
        <p:spPr>
          <a:xfrm>
            <a:off x="2432197" y="805417"/>
            <a:ext cx="6140303" cy="30484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Impact"/>
              <a:buNone/>
            </a:pPr>
            <a:r>
              <a:rPr lang="en-US" sz="4400"/>
              <a:t>1</a:t>
            </a:r>
            <a:r>
              <a:rPr baseline="30000" lang="en-US" sz="4400"/>
              <a:t>ST</a:t>
            </a:r>
            <a:r>
              <a:rPr lang="en-US" sz="4400"/>
              <a:t> LAW OF THERMODYNAMICS &amp; ENERGY TRANSFORMATIONS</a:t>
            </a:r>
            <a:endParaRPr/>
          </a:p>
        </p:txBody>
      </p:sp>
      <p:sp>
        <p:nvSpPr>
          <p:cNvPr id="222" name="Google Shape;222;p15"/>
          <p:cNvSpPr txBox="1"/>
          <p:nvPr>
            <p:ph idx="1" type="body"/>
          </p:nvPr>
        </p:nvSpPr>
        <p:spPr>
          <a:xfrm>
            <a:off x="2432198" y="3869836"/>
            <a:ext cx="5263116" cy="713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"/>
          <p:cNvSpPr txBox="1"/>
          <p:nvPr>
            <p:ph type="title"/>
          </p:nvPr>
        </p:nvSpPr>
        <p:spPr>
          <a:xfrm>
            <a:off x="1143000" y="133350"/>
            <a:ext cx="7633742" cy="760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Impact"/>
              <a:buNone/>
            </a:pPr>
            <a:r>
              <a:rPr lang="en-US"/>
              <a:t>THE 1</a:t>
            </a:r>
            <a:r>
              <a:rPr baseline="30000" lang="en-US"/>
              <a:t>ST</a:t>
            </a:r>
            <a:r>
              <a:rPr lang="en-US"/>
              <a:t> LAW OF THERMODYNAMICS</a:t>
            </a:r>
            <a:endParaRPr/>
          </a:p>
        </p:txBody>
      </p:sp>
      <p:sp>
        <p:nvSpPr>
          <p:cNvPr id="228" name="Google Shape;228;p16"/>
          <p:cNvSpPr txBox="1"/>
          <p:nvPr>
            <p:ph idx="1" type="body"/>
          </p:nvPr>
        </p:nvSpPr>
        <p:spPr>
          <a:xfrm>
            <a:off x="938758" y="1714501"/>
            <a:ext cx="7633742" cy="2695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800"/>
              <a:buNone/>
            </a:pPr>
            <a:r>
              <a:rPr b="1" lang="en-US" sz="2800">
                <a:solidFill>
                  <a:srgbClr val="002060"/>
                </a:solidFill>
              </a:rPr>
              <a:t>“</a:t>
            </a:r>
            <a:r>
              <a:rPr b="1" lang="en-US" sz="2800" u="sng">
                <a:solidFill>
                  <a:srgbClr val="002060"/>
                </a:solidFill>
              </a:rPr>
              <a:t>The</a:t>
            </a:r>
            <a:r>
              <a:rPr b="1" lang="en-US" sz="2800">
                <a:solidFill>
                  <a:srgbClr val="002060"/>
                </a:solidFill>
              </a:rPr>
              <a:t> total </a:t>
            </a:r>
            <a:r>
              <a:rPr b="1" lang="en-US" sz="2800" u="sng">
                <a:solidFill>
                  <a:srgbClr val="002060"/>
                </a:solidFill>
              </a:rPr>
              <a:t>amount</a:t>
            </a:r>
            <a:r>
              <a:rPr b="1" lang="en-US" sz="2800">
                <a:solidFill>
                  <a:srgbClr val="002060"/>
                </a:solidFill>
              </a:rPr>
              <a:t> of </a:t>
            </a:r>
            <a:r>
              <a:rPr b="1" lang="en-US" sz="2800" u="sng">
                <a:solidFill>
                  <a:srgbClr val="002060"/>
                </a:solidFill>
              </a:rPr>
              <a:t>energy</a:t>
            </a:r>
            <a:r>
              <a:rPr b="1" lang="en-US" sz="2800">
                <a:solidFill>
                  <a:srgbClr val="002060"/>
                </a:solidFill>
              </a:rPr>
              <a:t> in the </a:t>
            </a:r>
            <a:r>
              <a:rPr b="1" lang="en-US" sz="2800" u="sng">
                <a:solidFill>
                  <a:srgbClr val="002060"/>
                </a:solidFill>
              </a:rPr>
              <a:t>universe</a:t>
            </a:r>
            <a:r>
              <a:rPr b="1" lang="en-US" sz="2800">
                <a:solidFill>
                  <a:srgbClr val="002060"/>
                </a:solidFill>
              </a:rPr>
              <a:t> is </a:t>
            </a:r>
            <a:r>
              <a:rPr b="1" lang="en-US" sz="2800" u="sng">
                <a:solidFill>
                  <a:srgbClr val="002060"/>
                </a:solidFill>
              </a:rPr>
              <a:t>constant</a:t>
            </a:r>
            <a:r>
              <a:rPr b="1" lang="en-US" sz="2800">
                <a:solidFill>
                  <a:srgbClr val="002060"/>
                </a:solidFill>
              </a:rPr>
              <a:t>.  </a:t>
            </a:r>
            <a:r>
              <a:rPr b="1" lang="en-US" sz="2800" u="sng">
                <a:solidFill>
                  <a:srgbClr val="002060"/>
                </a:solidFill>
              </a:rPr>
              <a:t>Energy</a:t>
            </a:r>
            <a:r>
              <a:rPr b="1" lang="en-US" sz="2800">
                <a:solidFill>
                  <a:srgbClr val="002060"/>
                </a:solidFill>
              </a:rPr>
              <a:t> </a:t>
            </a:r>
            <a:r>
              <a:rPr b="1" lang="en-US" sz="2800" u="sng">
                <a:solidFill>
                  <a:srgbClr val="002060"/>
                </a:solidFill>
              </a:rPr>
              <a:t>cannot</a:t>
            </a:r>
            <a:r>
              <a:rPr b="1" lang="en-US" sz="2800">
                <a:solidFill>
                  <a:srgbClr val="002060"/>
                </a:solidFill>
              </a:rPr>
              <a:t> be </a:t>
            </a:r>
            <a:r>
              <a:rPr b="1" lang="en-US" sz="2800" u="sng">
                <a:solidFill>
                  <a:srgbClr val="002060"/>
                </a:solidFill>
              </a:rPr>
              <a:t>created</a:t>
            </a:r>
            <a:r>
              <a:rPr b="1" lang="en-US" sz="2800">
                <a:solidFill>
                  <a:srgbClr val="002060"/>
                </a:solidFill>
              </a:rPr>
              <a:t> or </a:t>
            </a:r>
            <a:r>
              <a:rPr b="1" lang="en-US" sz="2800" u="sng">
                <a:solidFill>
                  <a:srgbClr val="002060"/>
                </a:solidFill>
              </a:rPr>
              <a:t>destroyed</a:t>
            </a:r>
            <a:r>
              <a:rPr b="1" lang="en-US" sz="2800">
                <a:solidFill>
                  <a:srgbClr val="002060"/>
                </a:solidFill>
              </a:rPr>
              <a:t>, it </a:t>
            </a:r>
            <a:r>
              <a:rPr b="1" lang="en-US" sz="2800" u="sng">
                <a:solidFill>
                  <a:srgbClr val="002060"/>
                </a:solidFill>
              </a:rPr>
              <a:t>can</a:t>
            </a:r>
            <a:r>
              <a:rPr b="1" lang="en-US" sz="2800">
                <a:solidFill>
                  <a:srgbClr val="002060"/>
                </a:solidFill>
              </a:rPr>
              <a:t> </a:t>
            </a:r>
            <a:r>
              <a:rPr b="1" lang="en-US" sz="2800" u="sng">
                <a:solidFill>
                  <a:srgbClr val="002060"/>
                </a:solidFill>
              </a:rPr>
              <a:t>only</a:t>
            </a:r>
            <a:r>
              <a:rPr b="1" lang="en-US" sz="2800">
                <a:solidFill>
                  <a:srgbClr val="002060"/>
                </a:solidFill>
              </a:rPr>
              <a:t> </a:t>
            </a:r>
            <a:r>
              <a:rPr b="1" lang="en-US" sz="2800" u="sng">
                <a:solidFill>
                  <a:srgbClr val="002060"/>
                </a:solidFill>
              </a:rPr>
              <a:t>change</a:t>
            </a:r>
            <a:r>
              <a:rPr b="1" lang="en-US" sz="2800">
                <a:solidFill>
                  <a:srgbClr val="002060"/>
                </a:solidFill>
              </a:rPr>
              <a:t> </a:t>
            </a:r>
            <a:r>
              <a:rPr b="1" lang="en-US" sz="2800" u="sng">
                <a:solidFill>
                  <a:srgbClr val="002060"/>
                </a:solidFill>
              </a:rPr>
              <a:t>place</a:t>
            </a:r>
            <a:r>
              <a:rPr b="1" lang="en-US" sz="2800">
                <a:solidFill>
                  <a:srgbClr val="002060"/>
                </a:solidFill>
              </a:rPr>
              <a:t> or </a:t>
            </a:r>
            <a:r>
              <a:rPr b="1" lang="en-US" sz="2800" u="sng">
                <a:solidFill>
                  <a:srgbClr val="002060"/>
                </a:solidFill>
              </a:rPr>
              <a:t>form</a:t>
            </a:r>
            <a:r>
              <a:rPr b="1" lang="en-US" sz="2800">
                <a:solidFill>
                  <a:srgbClr val="002060"/>
                </a:solidFill>
              </a:rPr>
              <a:t>.”</a:t>
            </a:r>
            <a:endParaRPr b="1" sz="2800">
              <a:solidFill>
                <a:srgbClr val="002060"/>
              </a:solidFill>
            </a:endParaRPr>
          </a:p>
        </p:txBody>
      </p:sp>
      <p:sp>
        <p:nvSpPr>
          <p:cNvPr id="229" name="Google Shape;229;p16"/>
          <p:cNvSpPr txBox="1"/>
          <p:nvPr/>
        </p:nvSpPr>
        <p:spPr>
          <a:xfrm>
            <a:off x="1138106" y="935074"/>
            <a:ext cx="67056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348587"/>
                </a:solidFill>
                <a:latin typeface="Gill Sans"/>
                <a:ea typeface="Gill Sans"/>
                <a:cs typeface="Gill Sans"/>
                <a:sym typeface="Gill Sans"/>
              </a:rPr>
              <a:t>= The Law of Conservation of Energy</a:t>
            </a:r>
            <a:endParaRPr b="0" i="0" sz="3200" u="none" cap="none" strike="noStrike">
              <a:solidFill>
                <a:srgbClr val="34858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"/>
          <p:cNvSpPr txBox="1"/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Impact"/>
              <a:buNone/>
            </a:pPr>
            <a:r>
              <a:rPr lang="en-US"/>
              <a:t>THE 1</a:t>
            </a:r>
            <a:r>
              <a:rPr baseline="30000" lang="en-US"/>
              <a:t>ST</a:t>
            </a:r>
            <a:r>
              <a:rPr lang="en-US"/>
              <a:t> LAW OF THERMODYNAMICS</a:t>
            </a:r>
            <a:endParaRPr/>
          </a:p>
        </p:txBody>
      </p:sp>
      <p:sp>
        <p:nvSpPr>
          <p:cNvPr id="235" name="Google Shape;235;p17"/>
          <p:cNvSpPr txBox="1"/>
          <p:nvPr>
            <p:ph idx="1" type="body"/>
          </p:nvPr>
        </p:nvSpPr>
        <p:spPr>
          <a:xfrm>
            <a:off x="938758" y="1047750"/>
            <a:ext cx="7633742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This could be written like this: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None/>
            </a:pPr>
            <a:r>
              <a:rPr b="1" lang="en-US" sz="2000"/>
              <a:t>Student in class: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Chemical energy (food) → kinetic energy + heat energy + sound energy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We call these </a:t>
            </a:r>
            <a:r>
              <a:rPr b="1" lang="en-US" sz="2000">
                <a:solidFill>
                  <a:srgbClr val="22595A"/>
                </a:solidFill>
              </a:rPr>
              <a:t>ENERGY TRANSFORMATIONS</a:t>
            </a:r>
            <a:r>
              <a:rPr lang="en-US" sz="2000"/>
              <a:t>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For the following slides,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What is the energy going in, what is the energy changing/transforming into?</a:t>
            </a:r>
            <a:endParaRPr sz="2000"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"/>
          <p:cNvSpPr txBox="1"/>
          <p:nvPr>
            <p:ph idx="1" type="body"/>
          </p:nvPr>
        </p:nvSpPr>
        <p:spPr>
          <a:xfrm>
            <a:off x="838200" y="514350"/>
            <a:ext cx="43434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400"/>
              <a:t>Electrical energy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400"/>
              <a:buNone/>
            </a:pPr>
            <a:r>
              <a:rPr lang="en-US" sz="2000"/>
              <a:t>→</a:t>
            </a:r>
            <a:r>
              <a:rPr b="1" lang="en-US" sz="2400"/>
              <a:t> kinetic energy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400"/>
              <a:buNone/>
            </a:pPr>
            <a:r>
              <a:rPr b="1" lang="en-US" sz="2400"/>
              <a:t>(+ heat energy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400"/>
              <a:buNone/>
            </a:pPr>
            <a:r>
              <a:rPr b="1" lang="en-US" sz="2400"/>
              <a:t>+ sound energy)</a:t>
            </a:r>
            <a:endParaRPr b="1" sz="2400"/>
          </a:p>
        </p:txBody>
      </p:sp>
      <p:pic>
        <p:nvPicPr>
          <p:cNvPr descr="http://www.o-digital.com/uploads/2227/2272-1/Electrical_Fan_KF_10F_253.jpg" id="241" name="Google Shape;2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133350"/>
            <a:ext cx="348615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"/>
          <p:cNvSpPr txBox="1"/>
          <p:nvPr>
            <p:ph idx="1" type="body"/>
          </p:nvPr>
        </p:nvSpPr>
        <p:spPr>
          <a:xfrm>
            <a:off x="1066800" y="3333750"/>
            <a:ext cx="7391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400"/>
              <a:t>Electrical energy </a:t>
            </a:r>
            <a:r>
              <a:rPr lang="en-US" sz="2000"/>
              <a:t>→</a:t>
            </a:r>
            <a:r>
              <a:rPr b="1" lang="en-US" sz="2400"/>
              <a:t> light energy (+ heat energy)</a:t>
            </a:r>
            <a:endParaRPr b="1" sz="2400"/>
          </a:p>
        </p:txBody>
      </p:sp>
      <p:pic>
        <p:nvPicPr>
          <p:cNvPr id="247" name="Google Shape;2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0094" y="133350"/>
            <a:ext cx="2330106" cy="3279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"/>
          <p:cNvSpPr txBox="1"/>
          <p:nvPr>
            <p:ph idx="1" type="body"/>
          </p:nvPr>
        </p:nvSpPr>
        <p:spPr>
          <a:xfrm>
            <a:off x="762000" y="514350"/>
            <a:ext cx="4419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400"/>
              <a:t>(kinetic energy) </a:t>
            </a:r>
            <a:r>
              <a:rPr lang="en-US" sz="2000"/>
              <a:t>→</a:t>
            </a:r>
            <a:r>
              <a:rPr b="1" lang="en-US" sz="2400"/>
              <a:t> Elastic potential energy </a:t>
            </a:r>
            <a:r>
              <a:rPr lang="en-US" sz="2000"/>
              <a:t>→</a:t>
            </a:r>
            <a:r>
              <a:rPr b="1" lang="en-US" sz="2400"/>
              <a:t> kinetic energy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400"/>
              <a:buNone/>
            </a:pPr>
            <a:r>
              <a:rPr b="1" lang="en-US" sz="2400"/>
              <a:t>(+ heat energy + sound energy)</a:t>
            </a:r>
            <a:endParaRPr b="1" sz="2400"/>
          </a:p>
        </p:txBody>
      </p:sp>
      <p:pic>
        <p:nvPicPr>
          <p:cNvPr id="253" name="Google Shape;25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1047750"/>
            <a:ext cx="3532341" cy="36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"/>
          <p:cNvSpPr txBox="1"/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Impact"/>
              <a:buNone/>
            </a:pPr>
            <a:r>
              <a:rPr lang="en-US"/>
              <a:t>NOW YOUR TURN!</a:t>
            </a:r>
            <a:endParaRPr/>
          </a:p>
        </p:txBody>
      </p:sp>
      <p:sp>
        <p:nvSpPr>
          <p:cNvPr id="259" name="Google Shape;259;p21"/>
          <p:cNvSpPr txBox="1"/>
          <p:nvPr>
            <p:ph idx="1" type="body"/>
          </p:nvPr>
        </p:nvSpPr>
        <p:spPr>
          <a:xfrm>
            <a:off x="838200" y="1200150"/>
            <a:ext cx="7633742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For the following energy changes,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Think of a new object or situation which has this energy change.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e.g.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Q: CHEMICAL ENERGY </a:t>
            </a:r>
            <a:r>
              <a:rPr lang="en-US" sz="2000"/>
              <a:t>→</a:t>
            </a:r>
            <a:r>
              <a:rPr lang="en-US" sz="2400"/>
              <a:t> HEAT ENERGY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A: You!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 txBox="1"/>
          <p:nvPr>
            <p:ph idx="1" type="body"/>
          </p:nvPr>
        </p:nvSpPr>
        <p:spPr>
          <a:xfrm>
            <a:off x="1066800" y="438150"/>
            <a:ext cx="7633742" cy="552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/>
              <a:t>Light energy </a:t>
            </a:r>
            <a:r>
              <a:rPr lang="en-US" sz="2000"/>
              <a:t>→</a:t>
            </a:r>
            <a:r>
              <a:rPr lang="en-US" sz="3200"/>
              <a:t> electrical energy</a:t>
            </a:r>
            <a:endParaRPr/>
          </a:p>
        </p:txBody>
      </p:sp>
      <p:pic>
        <p:nvPicPr>
          <p:cNvPr id="265" name="Google Shape;26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1733550"/>
            <a:ext cx="4676775" cy="2787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"/>
          <p:cNvSpPr txBox="1"/>
          <p:nvPr>
            <p:ph idx="1" type="body"/>
          </p:nvPr>
        </p:nvSpPr>
        <p:spPr>
          <a:xfrm>
            <a:off x="990600" y="514350"/>
            <a:ext cx="7633742" cy="857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Chemical energy → Kinetic energy → gravitational potential energy</a:t>
            </a:r>
            <a:endParaRPr/>
          </a:p>
        </p:txBody>
      </p:sp>
      <p:pic>
        <p:nvPicPr>
          <p:cNvPr id="271" name="Google Shape;27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1339411"/>
            <a:ext cx="3133725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"/>
          <p:cNvSpPr txBox="1"/>
          <p:nvPr>
            <p:ph idx="1" type="body"/>
          </p:nvPr>
        </p:nvSpPr>
        <p:spPr>
          <a:xfrm>
            <a:off x="793229" y="438150"/>
            <a:ext cx="7633742" cy="552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Light energy </a:t>
            </a:r>
            <a:r>
              <a:rPr lang="en-US" sz="2000"/>
              <a:t>→</a:t>
            </a:r>
            <a:r>
              <a:rPr lang="en-US" sz="2400"/>
              <a:t> chemical energy</a:t>
            </a:r>
            <a:endParaRPr/>
          </a:p>
        </p:txBody>
      </p:sp>
      <p:pic>
        <p:nvPicPr>
          <p:cNvPr id="277" name="Google Shape;27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812" y="1552575"/>
            <a:ext cx="6124575" cy="330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"/>
          <p:cNvSpPr txBox="1"/>
          <p:nvPr>
            <p:ph idx="1" type="body"/>
          </p:nvPr>
        </p:nvSpPr>
        <p:spPr>
          <a:xfrm>
            <a:off x="1143000" y="514351"/>
            <a:ext cx="763374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Chemical energy → heat energy → kinetic energy → electrical energy</a:t>
            </a:r>
            <a:endParaRPr/>
          </a:p>
        </p:txBody>
      </p:sp>
      <p:pic>
        <p:nvPicPr>
          <p:cNvPr id="283" name="Google Shape;28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173481"/>
            <a:ext cx="6543675" cy="38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"/>
          <p:cNvSpPr txBox="1"/>
          <p:nvPr>
            <p:ph idx="1" type="body"/>
          </p:nvPr>
        </p:nvSpPr>
        <p:spPr>
          <a:xfrm>
            <a:off x="762000" y="514350"/>
            <a:ext cx="7786142" cy="704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Chemical energy </a:t>
            </a:r>
            <a:r>
              <a:rPr lang="en-US" sz="2000"/>
              <a:t>→</a:t>
            </a:r>
            <a:r>
              <a:rPr lang="en-US" sz="2400"/>
              <a:t> electrical energy </a:t>
            </a:r>
            <a:r>
              <a:rPr lang="en-US" sz="2000"/>
              <a:t>→</a:t>
            </a:r>
            <a:r>
              <a:rPr lang="en-US" sz="2400"/>
              <a:t> sound + light energy</a:t>
            </a:r>
            <a:endParaRPr/>
          </a:p>
        </p:txBody>
      </p:sp>
      <p:pic>
        <p:nvPicPr>
          <p:cNvPr id="289" name="Google Shape;28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1352550"/>
            <a:ext cx="1876425" cy="37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9d229c1d1a_0_14"/>
          <p:cNvSpPr txBox="1"/>
          <p:nvPr>
            <p:ph type="title"/>
          </p:nvPr>
        </p:nvSpPr>
        <p:spPr>
          <a:xfrm>
            <a:off x="938758" y="286789"/>
            <a:ext cx="7633800" cy="11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Activity: Skate Park Basics</a:t>
            </a:r>
            <a:endParaRPr/>
          </a:p>
        </p:txBody>
      </p:sp>
      <p:sp>
        <p:nvSpPr>
          <p:cNvPr id="296" name="Google Shape;296;g39d229c1d1a_0_14"/>
          <p:cNvSpPr txBox="1"/>
          <p:nvPr>
            <p:ph idx="1" type="body"/>
          </p:nvPr>
        </p:nvSpPr>
        <p:spPr>
          <a:xfrm>
            <a:off x="938758" y="1224151"/>
            <a:ext cx="7633800" cy="26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525"/>
              </a:spcBef>
              <a:spcAft>
                <a:spcPts val="0"/>
              </a:spcAft>
              <a:buSzPts val="1800"/>
              <a:buNone/>
            </a:pPr>
            <a:r>
              <a:rPr lang="en-US"/>
              <a:t>Use the </a:t>
            </a:r>
            <a:r>
              <a:rPr lang="en-US">
                <a:solidFill>
                  <a:schemeClr val="dk2"/>
                </a:solidFill>
              </a:rPr>
              <a:t>PhET Simulation -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Skate Park Basics</a:t>
            </a:r>
            <a:r>
              <a:rPr lang="en-US"/>
              <a:t> to complete the </a:t>
            </a:r>
            <a:r>
              <a:rPr b="1" lang="en-US"/>
              <a:t>interactive activity</a:t>
            </a:r>
            <a:r>
              <a:rPr lang="en-US"/>
              <a:t>.</a:t>
            </a:r>
            <a:endParaRPr/>
          </a:p>
        </p:txBody>
      </p:sp>
      <p:pic>
        <p:nvPicPr>
          <p:cNvPr id="297" name="Google Shape;297;g39d229c1d1a_0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2162" y="1823375"/>
            <a:ext cx="5586975" cy="311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adge">
  <a:themeElements>
    <a:clrScheme name="Custom 1">
      <a:dk1>
        <a:srgbClr val="000000"/>
      </a:dk1>
      <a:lt1>
        <a:srgbClr val="FFFFFF"/>
      </a:lt1>
      <a:dk2>
        <a:srgbClr val="22595A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adge">
  <a:themeElements>
    <a:clrScheme name="Custom 1">
      <a:dk1>
        <a:srgbClr val="000000"/>
      </a:dk1>
      <a:lt1>
        <a:srgbClr val="FFFFFF"/>
      </a:lt1>
      <a:dk2>
        <a:srgbClr val="22595A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David Benton</dc:creator>
</cp:coreProperties>
</file>