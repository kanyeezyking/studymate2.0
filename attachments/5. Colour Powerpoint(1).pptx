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Corbel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rT0JHdqbYb8stbD+voUOgRKBW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regular.fntdata"/><Relationship Id="rId25" Type="http://schemas.openxmlformats.org/officeDocument/2006/relationships/slide" Target="slides/slide20.xml"/><Relationship Id="rId28" Type="http://schemas.openxmlformats.org/officeDocument/2006/relationships/font" Target="fonts/Corbel-italic.fntdata"/><Relationship Id="rId27" Type="http://schemas.openxmlformats.org/officeDocument/2006/relationships/font" Target="fonts/Corbe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rbel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/>
          <p:nvPr>
            <p:ph idx="1" type="subTitle"/>
          </p:nvPr>
        </p:nvSpPr>
        <p:spPr>
          <a:xfrm>
            <a:off x="352426" y="2895600"/>
            <a:ext cx="4572000" cy="1368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41"/>
          <p:cNvSpPr/>
          <p:nvPr/>
        </p:nvSpPr>
        <p:spPr>
          <a:xfrm>
            <a:off x="0" y="4743451"/>
            <a:ext cx="9144000" cy="2114550"/>
          </a:xfrm>
          <a:prstGeom prst="rect">
            <a:avLst/>
          </a:prstGeom>
          <a:solidFill>
            <a:schemeClr val="accent5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" name="Google Shape;14;p41"/>
          <p:cNvCxnSpPr/>
          <p:nvPr/>
        </p:nvCxnSpPr>
        <p:spPr>
          <a:xfrm>
            <a:off x="0" y="4714875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41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1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41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1"/>
          <p:cNvSpPr txBox="1"/>
          <p:nvPr>
            <p:ph type="title"/>
          </p:nvPr>
        </p:nvSpPr>
        <p:spPr>
          <a:xfrm>
            <a:off x="352426" y="457200"/>
            <a:ext cx="7680960" cy="2438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1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" name="Google Shape;21;p42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2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" name="Google Shape;25;p43"/>
          <p:cNvSpPr txBox="1"/>
          <p:nvPr>
            <p:ph idx="1" type="subTitle"/>
          </p:nvPr>
        </p:nvSpPr>
        <p:spPr>
          <a:xfrm>
            <a:off x="352426" y="4003302"/>
            <a:ext cx="4572000" cy="1178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3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43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chemeClr val="accent5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0" name="Google Shape;30;p43"/>
          <p:cNvCxnSpPr/>
          <p:nvPr/>
        </p:nvCxnSpPr>
        <p:spPr>
          <a:xfrm>
            <a:off x="-4439" y="182880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3"/>
          <p:cNvSpPr txBox="1"/>
          <p:nvPr>
            <p:ph type="title"/>
          </p:nvPr>
        </p:nvSpPr>
        <p:spPr>
          <a:xfrm>
            <a:off x="354366" y="1990078"/>
            <a:ext cx="8439912" cy="198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1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" name="Google Shape;34;p44"/>
          <p:cNvSpPr txBox="1"/>
          <p:nvPr>
            <p:ph idx="1" type="body"/>
          </p:nvPr>
        </p:nvSpPr>
        <p:spPr>
          <a:xfrm>
            <a:off x="4901184" y="1463040"/>
            <a:ext cx="3886200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2" type="body"/>
          </p:nvPr>
        </p:nvSpPr>
        <p:spPr>
          <a:xfrm>
            <a:off x="352426" y="1463040"/>
            <a:ext cx="3886200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4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352426" y="1463040"/>
            <a:ext cx="38862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45"/>
          <p:cNvSpPr txBox="1"/>
          <p:nvPr>
            <p:ph idx="2" type="body"/>
          </p:nvPr>
        </p:nvSpPr>
        <p:spPr>
          <a:xfrm>
            <a:off x="4900613" y="1463040"/>
            <a:ext cx="38862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45"/>
          <p:cNvSpPr txBox="1"/>
          <p:nvPr>
            <p:ph idx="3" type="body"/>
          </p:nvPr>
        </p:nvSpPr>
        <p:spPr>
          <a:xfrm>
            <a:off x="4900613" y="2011680"/>
            <a:ext cx="3886200" cy="37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5"/>
          <p:cNvSpPr txBox="1"/>
          <p:nvPr>
            <p:ph idx="4" type="body"/>
          </p:nvPr>
        </p:nvSpPr>
        <p:spPr>
          <a:xfrm>
            <a:off x="352426" y="2011680"/>
            <a:ext cx="3886200" cy="37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45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46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46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47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" name="Google Shape;63;p48"/>
          <p:cNvSpPr/>
          <p:nvPr/>
        </p:nvSpPr>
        <p:spPr>
          <a:xfrm>
            <a:off x="0" y="5734050"/>
            <a:ext cx="9144000" cy="1123950"/>
          </a:xfrm>
          <a:prstGeom prst="rect">
            <a:avLst/>
          </a:prstGeom>
          <a:solidFill>
            <a:schemeClr val="accent5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4" name="Google Shape;64;p48"/>
          <p:cNvCxnSpPr/>
          <p:nvPr/>
        </p:nvCxnSpPr>
        <p:spPr>
          <a:xfrm>
            <a:off x="0" y="569595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48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" type="body"/>
          </p:nvPr>
        </p:nvSpPr>
        <p:spPr>
          <a:xfrm>
            <a:off x="352426" y="1463040"/>
            <a:ext cx="3381375" cy="3967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0" i="1" sz="16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48"/>
          <p:cNvSpPr txBox="1"/>
          <p:nvPr>
            <p:ph idx="2" type="body"/>
          </p:nvPr>
        </p:nvSpPr>
        <p:spPr>
          <a:xfrm>
            <a:off x="4105275" y="1463040"/>
            <a:ext cx="4681538" cy="3968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8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8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48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" name="Google Shape;73;p49"/>
          <p:cNvSpPr/>
          <p:nvPr>
            <p:ph idx="2" type="pic"/>
          </p:nvPr>
        </p:nvSpPr>
        <p:spPr>
          <a:xfrm>
            <a:off x="5229224" y="0"/>
            <a:ext cx="3914775" cy="565785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49"/>
          <p:cNvSpPr txBox="1"/>
          <p:nvPr>
            <p:ph idx="1" type="body"/>
          </p:nvPr>
        </p:nvSpPr>
        <p:spPr>
          <a:xfrm>
            <a:off x="352426" y="1600199"/>
            <a:ext cx="4572000" cy="359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i="1"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9"/>
          <p:cNvSpPr/>
          <p:nvPr/>
        </p:nvSpPr>
        <p:spPr>
          <a:xfrm>
            <a:off x="0" y="5734050"/>
            <a:ext cx="9144000" cy="1123950"/>
          </a:xfrm>
          <a:prstGeom prst="rect">
            <a:avLst/>
          </a:prstGeom>
          <a:solidFill>
            <a:schemeClr val="accent5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6" name="Google Shape;76;p49"/>
          <p:cNvCxnSpPr/>
          <p:nvPr/>
        </p:nvCxnSpPr>
        <p:spPr>
          <a:xfrm>
            <a:off x="0" y="569595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9"/>
          <p:cNvSpPr txBox="1"/>
          <p:nvPr>
            <p:ph type="title"/>
          </p:nvPr>
        </p:nvSpPr>
        <p:spPr>
          <a:xfrm>
            <a:off x="352425" y="275208"/>
            <a:ext cx="4572000" cy="13249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49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" name="Google Shape;83;p50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0"/>
          <p:cNvSpPr txBox="1"/>
          <p:nvPr>
            <p:ph idx="1" type="body"/>
          </p:nvPr>
        </p:nvSpPr>
        <p:spPr>
          <a:xfrm rot="5400000">
            <a:off x="2021206" y="-205740"/>
            <a:ext cx="4343400" cy="768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50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0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0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5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51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1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1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52426" y="146304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" name="Google Shape;9;p40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0" name="Google Shape;10;p40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5pYnC-ONdXQ" TargetMode="External"/><Relationship Id="rId4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title"/>
          </p:nvPr>
        </p:nvSpPr>
        <p:spPr>
          <a:xfrm>
            <a:off x="347492" y="975733"/>
            <a:ext cx="3914774" cy="2438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</a:pPr>
            <a:r>
              <a:rPr lang="en-US">
                <a:solidFill>
                  <a:schemeClr val="lt1"/>
                </a:solidFill>
              </a:rPr>
              <a:t>Colour and Rainbows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80257"/>
            <a:ext cx="4572000" cy="460011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457200" y="4953000"/>
            <a:ext cx="822960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Learning intentions: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 make a rainbow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 understand how rainbows are created</a:t>
            </a:r>
            <a:r>
              <a:rPr b="0" i="0" lang="en-US" sz="1800" u="none" cap="none" strike="noStrike">
                <a:solidFill>
                  <a:srgbClr val="FFC1C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352426" y="1876424"/>
            <a:ext cx="3686174" cy="467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Who can make a rainbow?!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Use the light boxes and various objects to try and make a rainbow…</a:t>
            </a:r>
            <a:endParaRPr/>
          </a:p>
        </p:txBody>
      </p:sp>
      <p:sp>
        <p:nvSpPr>
          <p:cNvPr id="107" name="Google Shape;107;p2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Light and Colour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1896869"/>
            <a:ext cx="464820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352426" y="1463040"/>
            <a:ext cx="57435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orbel"/>
              <a:buAutoNum type="arabicPeriod"/>
            </a:pPr>
            <a:r>
              <a:rPr lang="en-US"/>
              <a:t>Using the prism (triangular shaped object),create a rainbow.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orbel"/>
              <a:buAutoNum type="arabicPeriod"/>
            </a:pPr>
            <a:r>
              <a:rPr lang="en-US"/>
              <a:t>Cut some A4 in half.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Corbel"/>
              <a:buAutoNum type="arabicPeriod"/>
            </a:pPr>
            <a:r>
              <a:rPr lang="en-US"/>
              <a:t>Draw the formation of the rainbow on your paper.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When finished, borrow another prism.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Can you combine the colours to create white light again?!</a:t>
            </a:r>
            <a:endParaRPr/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352426" y="228600"/>
            <a:ext cx="86391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Light and Colour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3065" y="228600"/>
            <a:ext cx="2619375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s.hswstatic.com/gif/prism.gif" id="116" name="Google Shape;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4241800"/>
            <a:ext cx="4604023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352426" y="115824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Order the steps below to explain how rainbows are formed.</a:t>
            </a:r>
            <a:endParaRPr/>
          </a:p>
        </p:txBody>
      </p:sp>
      <p:sp>
        <p:nvSpPr>
          <p:cNvPr id="122" name="Google Shape;122;p4"/>
          <p:cNvSpPr txBox="1"/>
          <p:nvPr>
            <p:ph type="title"/>
          </p:nvPr>
        </p:nvSpPr>
        <p:spPr>
          <a:xfrm>
            <a:off x="350567" y="228600"/>
            <a:ext cx="8639174" cy="7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Why does this happen?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228600" y="595884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E. White light is made up of many colours.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371600" y="52578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D. These colours have different wavelengths.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524000" y="34290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B. When white light is refracted by a prism,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228600" y="41910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C. the colours slow different amounts (because of their different wavelengths).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381000" y="24638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A. This causes the white light to split into its different colours.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Why does this happen?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276226" y="18288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E. White light is made up of many colours.</a:t>
            </a:r>
            <a:endParaRPr b="0" i="0" sz="28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276226" y="250698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A6F06"/>
                </a:solidFill>
                <a:latin typeface="Corbel"/>
                <a:ea typeface="Corbel"/>
                <a:cs typeface="Corbel"/>
                <a:sym typeface="Corbel"/>
              </a:rPr>
              <a:t>D. These colours have different wavelengths.</a:t>
            </a:r>
            <a:endParaRPr b="0" i="0" sz="2800" u="none" cap="none" strike="noStrike">
              <a:solidFill>
                <a:srgbClr val="FA6F06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276226" y="3234267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B. When white light is refracted by a prism,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276226" y="397764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C. the colours slow different amounts (because of their different wavelengths).</a:t>
            </a:r>
            <a:endParaRPr b="0" i="0" sz="2800" u="none" cap="none" strike="noStrike">
              <a:solidFill>
                <a:srgbClr val="00B05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228600" y="496824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B0F0"/>
                </a:solidFill>
                <a:latin typeface="Corbel"/>
                <a:ea typeface="Corbel"/>
                <a:cs typeface="Corbel"/>
                <a:sym typeface="Corbel"/>
              </a:rPr>
              <a:t>A. This causes the white light to split into its different colours.</a:t>
            </a:r>
            <a:endParaRPr b="0" i="0" sz="2800" u="none" cap="none" strike="noStrike">
              <a:solidFill>
                <a:srgbClr val="00B0F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954" y="838200"/>
            <a:ext cx="7100098" cy="541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13" y="1676400"/>
            <a:ext cx="798699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212" y="1593850"/>
            <a:ext cx="5181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Without looking at any books, try and remember what you just discovered.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Explain it to a partner.  Take it in turns.</a:t>
            </a:r>
            <a:endParaRPr/>
          </a:p>
        </p:txBody>
      </p:sp>
      <p:sp>
        <p:nvSpPr>
          <p:cNvPr id="158" name="Google Shape;158;p9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Now try and explain again…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For the following slides, decide true or false.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When I say “1, 2, 3 GO!!” you: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	Put your hand up if it is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	Keep your hand down if it is false.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Any hesitation or mind changing = OUT!!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Sit down if you are wrong.</a:t>
            </a:r>
            <a:endParaRPr/>
          </a:p>
        </p:txBody>
      </p:sp>
      <p:sp>
        <p:nvSpPr>
          <p:cNvPr id="164" name="Google Shape;164;p10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TRUE FALSE STAND UP SIT DOWN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White light is made up of many colours.</a:t>
            </a:r>
            <a:endParaRPr/>
          </a:p>
        </p:txBody>
      </p:sp>
      <p:sp>
        <p:nvSpPr>
          <p:cNvPr id="170" name="Google Shape;170;p11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TRUE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 rainbow is caused because of reflection only.</a:t>
            </a:r>
            <a:endParaRPr/>
          </a:p>
        </p:txBody>
      </p:sp>
      <p:sp>
        <p:nvSpPr>
          <p:cNvPr id="176" name="Google Shape;176;p12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 rainbow is caused because of refraction in a prison.</a:t>
            </a:r>
            <a:endParaRPr/>
          </a:p>
        </p:txBody>
      </p:sp>
      <p:sp>
        <p:nvSpPr>
          <p:cNvPr id="182" name="Google Shape;182;p13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 rainbow is caused because light speeds up in a prism.</a:t>
            </a:r>
            <a:endParaRPr/>
          </a:p>
        </p:txBody>
      </p:sp>
      <p:sp>
        <p:nvSpPr>
          <p:cNvPr id="188" name="Google Shape;188;p14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cience of Rainbows" id="193" name="Google Shape;193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738" y="974488"/>
            <a:ext cx="8688525" cy="490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idx="1" type="body"/>
          </p:nvPr>
        </p:nvSpPr>
        <p:spPr>
          <a:xfrm>
            <a:off x="352426" y="2209800"/>
            <a:ext cx="863917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Answer the following questions on your WBs.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2 minutes for each.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Light and Colour Quiz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Because light reflects off an object and we see that light.</a:t>
            </a:r>
            <a:endParaRPr/>
          </a:p>
        </p:txBody>
      </p:sp>
      <p:sp>
        <p:nvSpPr>
          <p:cNvPr id="205" name="Google Shape;205;p18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1. Why can we see objects?</a:t>
            </a:r>
            <a:endParaRPr/>
          </a:p>
        </p:txBody>
      </p:sp>
      <p:pic>
        <p:nvPicPr>
          <p:cNvPr id="206" name="Google Shape;2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2819400"/>
            <a:ext cx="285750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52426" y="4191000"/>
            <a:ext cx="8639174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White objects reflect all light, black objects absorb most light (we see the absence of light = a gap in the light).</a:t>
            </a:r>
            <a:endParaRPr/>
          </a:p>
        </p:txBody>
      </p:sp>
      <p:sp>
        <p:nvSpPr>
          <p:cNvPr id="212" name="Google Shape;212;p19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2. What is the difference between white and black objects?</a:t>
            </a:r>
            <a:endParaRPr/>
          </a:p>
        </p:txBody>
      </p:sp>
      <p:pic>
        <p:nvPicPr>
          <p:cNvPr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524000"/>
            <a:ext cx="593407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352425" y="2582894"/>
            <a:ext cx="52101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Mostly green light, but also a little light either side of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So some yellow and blue light too.</a:t>
            </a:r>
            <a:endParaRPr/>
          </a:p>
        </p:txBody>
      </p:sp>
      <p:sp>
        <p:nvSpPr>
          <p:cNvPr id="219" name="Google Shape;219;p20"/>
          <p:cNvSpPr txBox="1"/>
          <p:nvPr>
            <p:ph type="title"/>
          </p:nvPr>
        </p:nvSpPr>
        <p:spPr>
          <a:xfrm>
            <a:off x="352426" y="604950"/>
            <a:ext cx="8639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3. In reality, what colour light will a green object reflect?</a:t>
            </a:r>
            <a:endParaRPr/>
          </a:p>
        </p:txBody>
      </p:sp>
      <p:pic>
        <p:nvPicPr>
          <p:cNvPr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8750" y="2582900"/>
            <a:ext cx="315277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idx="1" type="body"/>
          </p:nvPr>
        </p:nvSpPr>
        <p:spPr>
          <a:xfrm>
            <a:off x="352426" y="3429000"/>
            <a:ext cx="8486774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Plants evolved from green algae?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To avoid overheating?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While green light does penetrate deeper into leaves to the spongy mesophyll, in higher flux densities it can cause photodestruction.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Sunlight consists of primarily blue and red light mixed together, which are exactly the colors that chlorophyll molecules like to absorb. Light is a form of energy, so the chlorophyll is able to harvest the sunlight with little waste.</a:t>
            </a:r>
            <a:endParaRPr/>
          </a:p>
          <a:p>
            <a:pPr indent="-319405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6" name="Google Shape;226;p16"/>
          <p:cNvSpPr txBox="1"/>
          <p:nvPr>
            <p:ph type="title"/>
          </p:nvPr>
        </p:nvSpPr>
        <p:spPr>
          <a:xfrm>
            <a:off x="352426" y="152400"/>
            <a:ext cx="8639174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rbel"/>
              <a:buNone/>
            </a:pPr>
            <a:r>
              <a:rPr lang="en-US" sz="3200"/>
              <a:t>Extension: Why are plants green? (and not black?)</a:t>
            </a:r>
            <a:endParaRPr/>
          </a:p>
        </p:txBody>
      </p: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14400"/>
            <a:ext cx="8493552" cy="2060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ylar">
  <a:themeElements>
    <a:clrScheme name="Mylar">
      <a:dk1>
        <a:srgbClr val="000000"/>
      </a:dk1>
      <a:lt1>
        <a:srgbClr val="FFFFFF"/>
      </a:lt1>
      <a:dk2>
        <a:srgbClr val="656162"/>
      </a:dk2>
      <a:lt2>
        <a:srgbClr val="E0DACC"/>
      </a:lt2>
      <a:accent1>
        <a:srgbClr val="4A5A7A"/>
      </a:accent1>
      <a:accent2>
        <a:srgbClr val="F7BD40"/>
      </a:accent2>
      <a:accent3>
        <a:srgbClr val="975C00"/>
      </a:accent3>
      <a:accent4>
        <a:srgbClr val="754D41"/>
      </a:accent4>
      <a:accent5>
        <a:srgbClr val="838995"/>
      </a:accent5>
      <a:accent6>
        <a:srgbClr val="687B66"/>
      </a:accent6>
      <a:hlink>
        <a:srgbClr val="B5740B"/>
      </a:hlink>
      <a:folHlink>
        <a:srgbClr val="7483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David Benton</dc:creator>
</cp:coreProperties>
</file>