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Gill Sans"/>
      <p:regular r:id="rId32"/>
      <p:bold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gp7JXq6t85/lOdkjlRtGeZSl36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GillSans-bold.fntdata"/><Relationship Id="rId10" Type="http://schemas.openxmlformats.org/officeDocument/2006/relationships/slide" Target="slides/slide5.xml"/><Relationship Id="rId32" Type="http://schemas.openxmlformats.org/officeDocument/2006/relationships/font" Target="fonts/GillSans-regular.fntdata"/><Relationship Id="rId13" Type="http://schemas.openxmlformats.org/officeDocument/2006/relationships/slide" Target="slides/slide8.xml"/><Relationship Id="rId35" Type="http://schemas.openxmlformats.org/officeDocument/2006/relationships/font" Target="fonts/OpenSans-bold.fntdata"/><Relationship Id="rId12" Type="http://schemas.openxmlformats.org/officeDocument/2006/relationships/slide" Target="slides/slide7.xml"/><Relationship Id="rId34" Type="http://schemas.openxmlformats.org/officeDocument/2006/relationships/font" Target="fonts/OpenSans-regular.fntdata"/><Relationship Id="rId15" Type="http://schemas.openxmlformats.org/officeDocument/2006/relationships/slide" Target="slides/slide10.xml"/><Relationship Id="rId37" Type="http://schemas.openxmlformats.org/officeDocument/2006/relationships/font" Target="fonts/OpenSans-boldItalic.fntdata"/><Relationship Id="rId14" Type="http://schemas.openxmlformats.org/officeDocument/2006/relationships/slide" Target="slides/slide9.xml"/><Relationship Id="rId36" Type="http://schemas.openxmlformats.org/officeDocument/2006/relationships/font" Target="fonts/OpenSans-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b9b9d445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b9b9d44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b9b9d4458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b9b9d445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716f23c258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g3716f23c25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8" name="Google Shape;478;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0" name="Google Shape;490;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1" name="Google Shape;511;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7" name="Google Shape;517;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9b9b9d4458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9b9b9d445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716f23c258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g3716f23c258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6"/>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6"/>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4" name="Google Shape;14;p2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6"/>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27"/>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7"/>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26" name="Google Shape;26;p2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7"/>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Opacity">
  <p:cSld name="90% Opacity">
    <p:spTree>
      <p:nvGrpSpPr>
        <p:cNvPr id="29" name="Shape 29"/>
        <p:cNvGrpSpPr/>
        <p:nvPr/>
      </p:nvGrpSpPr>
      <p:grpSpPr>
        <a:xfrm>
          <a:off x="0" y="0"/>
          <a:ext cx="0" cy="0"/>
          <a:chOff x="0" y="0"/>
          <a:chExt cx="0" cy="0"/>
        </a:xfrm>
      </p:grpSpPr>
      <p:pic>
        <p:nvPicPr>
          <p:cNvPr id="30" name="Google Shape;30;p28"/>
          <p:cNvPicPr preferRelativeResize="0"/>
          <p:nvPr/>
        </p:nvPicPr>
        <p:blipFill rotWithShape="1">
          <a:blip r:embed="rId2">
            <a:alphaModFix/>
          </a:blip>
          <a:srcRect b="0" l="0" r="0" t="0"/>
          <a:stretch/>
        </p:blipFill>
        <p:spPr>
          <a:xfrm>
            <a:off x="4054" y="0"/>
            <a:ext cx="12183893"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 name="Shape 31"/>
        <p:cNvGrpSpPr/>
        <p:nvPr/>
      </p:nvGrpSpPr>
      <p:grpSpPr>
        <a:xfrm>
          <a:off x="0" y="0"/>
          <a:ext cx="0" cy="0"/>
          <a:chOff x="0" y="0"/>
          <a:chExt cx="0" cy="0"/>
        </a:xfrm>
      </p:grpSpPr>
      <p:sp>
        <p:nvSpPr>
          <p:cNvPr id="32" name="Google Shape;32;p2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9"/>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25"/>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38" name="Google Shape;38;p2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30"/>
          <p:cNvSpPr txBox="1"/>
          <p:nvPr>
            <p:ph type="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0"/>
          <p:cNvSpPr txBox="1"/>
          <p:nvPr>
            <p:ph idx="1" type="body"/>
          </p:nvPr>
        </p:nvSpPr>
        <p:spPr>
          <a:xfrm>
            <a:off x="2695194" y="4352465"/>
            <a:ext cx="6801612" cy="126508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2000"/>
              <a:buNone/>
              <a:defRPr sz="20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44" name="Google Shape;44;p3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0"/>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31"/>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1"/>
          <p:cNvSpPr txBox="1"/>
          <p:nvPr>
            <p:ph idx="1" type="body"/>
          </p:nvPr>
        </p:nvSpPr>
        <p:spPr>
          <a:xfrm>
            <a:off x="1581912" y="2638044"/>
            <a:ext cx="4271771"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0" name="Google Shape;50;p31"/>
          <p:cNvSpPr txBox="1"/>
          <p:nvPr>
            <p:ph idx="2" type="body"/>
          </p:nvPr>
        </p:nvSpPr>
        <p:spPr>
          <a:xfrm>
            <a:off x="6338315" y="2638044"/>
            <a:ext cx="4270247"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1" name="Google Shape;51;p3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1"/>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32"/>
          <p:cNvSpPr txBox="1"/>
          <p:nvPr>
            <p:ph idx="1" type="body"/>
          </p:nvPr>
        </p:nvSpPr>
        <p:spPr>
          <a:xfrm>
            <a:off x="158343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6" name="Google Shape;56;p32"/>
          <p:cNvSpPr txBox="1"/>
          <p:nvPr>
            <p:ph idx="2" type="body"/>
          </p:nvPr>
        </p:nvSpPr>
        <p:spPr>
          <a:xfrm>
            <a:off x="1583436" y="3143250"/>
            <a:ext cx="4270248"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7" name="Google Shape;57;p32"/>
          <p:cNvSpPr txBox="1"/>
          <p:nvPr>
            <p:ph idx="3" type="body"/>
          </p:nvPr>
        </p:nvSpPr>
        <p:spPr>
          <a:xfrm>
            <a:off x="6338316" y="3143250"/>
            <a:ext cx="4253484"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8" name="Google Shape;58;p32"/>
          <p:cNvSpPr txBox="1"/>
          <p:nvPr>
            <p:ph idx="4" type="body"/>
          </p:nvPr>
        </p:nvSpPr>
        <p:spPr>
          <a:xfrm>
            <a:off x="633831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9" name="Google Shape;59;p3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2"/>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
        <p:nvSpPr>
          <p:cNvPr id="62" name="Google Shape;62;p32"/>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33"/>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3"/>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34"/>
          <p:cNvSpPr/>
          <p:nvPr/>
        </p:nvSpPr>
        <p:spPr>
          <a:xfrm>
            <a:off x="0" y="0"/>
            <a:ext cx="6096000"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4"/>
          <p:cNvSpPr txBox="1"/>
          <p:nvPr>
            <p:ph type="title"/>
          </p:nvPr>
        </p:nvSpPr>
        <p:spPr>
          <a:xfrm>
            <a:off x="804672" y="2243828"/>
            <a:ext cx="4486656"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4"/>
          <p:cNvSpPr txBox="1"/>
          <p:nvPr>
            <p:ph idx="1" type="body"/>
          </p:nvPr>
        </p:nvSpPr>
        <p:spPr>
          <a:xfrm>
            <a:off x="6736080" y="804672"/>
            <a:ext cx="4815840" cy="5248656"/>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72" name="Google Shape;72;p34"/>
          <p:cNvSpPr txBox="1"/>
          <p:nvPr>
            <p:ph idx="2" type="body"/>
          </p:nvPr>
        </p:nvSpPr>
        <p:spPr>
          <a:xfrm>
            <a:off x="1115568" y="3549918"/>
            <a:ext cx="3794760" cy="2194036"/>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73" name="Google Shape;73;p3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4"/>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4"/>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35"/>
          <p:cNvSpPr/>
          <p:nvPr/>
        </p:nvSpPr>
        <p:spPr>
          <a:xfrm>
            <a:off x="0" y="0"/>
            <a:ext cx="6095999"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5"/>
          <p:cNvSpPr txBox="1"/>
          <p:nvPr>
            <p:ph type="title"/>
          </p:nvPr>
        </p:nvSpPr>
        <p:spPr>
          <a:xfrm>
            <a:off x="808523" y="2243828"/>
            <a:ext cx="4494998"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5"/>
          <p:cNvSpPr/>
          <p:nvPr>
            <p:ph idx="2" type="pic"/>
          </p:nvPr>
        </p:nvSpPr>
        <p:spPr>
          <a:xfrm>
            <a:off x="6095999" y="0"/>
            <a:ext cx="6102097" cy="6858000"/>
          </a:xfrm>
          <a:prstGeom prst="rect">
            <a:avLst/>
          </a:prstGeom>
          <a:solidFill>
            <a:srgbClr val="BFBFBF"/>
          </a:solidFill>
          <a:ln>
            <a:noFill/>
          </a:ln>
        </p:spPr>
      </p:sp>
      <p:sp>
        <p:nvSpPr>
          <p:cNvPr id="80" name="Google Shape;80;p35"/>
          <p:cNvSpPr txBox="1"/>
          <p:nvPr>
            <p:ph idx="1" type="body"/>
          </p:nvPr>
        </p:nvSpPr>
        <p:spPr>
          <a:xfrm>
            <a:off x="1115568" y="3549918"/>
            <a:ext cx="3794760" cy="219403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81" name="Google Shape;81;p3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5"/>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5"/>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36"/>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6"/>
          <p:cNvSpPr txBox="1"/>
          <p:nvPr>
            <p:ph idx="1" type="body"/>
          </p:nvPr>
        </p:nvSpPr>
        <p:spPr>
          <a:xfrm rot="5400000">
            <a:off x="4545009" y="324172"/>
            <a:ext cx="3101983" cy="772972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87" name="Google Shape;87;p3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6"/>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37"/>
          <p:cNvSpPr txBox="1"/>
          <p:nvPr>
            <p:ph type="title"/>
          </p:nvPr>
        </p:nvSpPr>
        <p:spPr>
          <a:xfrm rot="5400000">
            <a:off x="6810676" y="2779696"/>
            <a:ext cx="4983480" cy="129860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7"/>
          <p:cNvSpPr txBox="1"/>
          <p:nvPr>
            <p:ph idx="1" type="body"/>
          </p:nvPr>
        </p:nvSpPr>
        <p:spPr>
          <a:xfrm rot="5400000">
            <a:off x="2838641" y="329756"/>
            <a:ext cx="4983480" cy="619848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3" name="Google Shape;93;p3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7"/>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theme" Target="../theme/theme3.xml"/><Relationship Id="rId12" Type="http://schemas.openxmlformats.org/officeDocument/2006/relationships/slideLayout" Target="../slideLayouts/slideLayout13.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9E7"/>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9pPr>
          </a:lstStyle>
          <a:p/>
        </p:txBody>
      </p:sp>
      <p:sp>
        <p:nvSpPr>
          <p:cNvPr id="8" name="Google Shape;8;p2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9pPr>
          </a:lstStyle>
          <a:p/>
        </p:txBody>
      </p:sp>
      <p:sp>
        <p:nvSpPr>
          <p:cNvPr id="9" name="Google Shape;9;p2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9pPr>
          </a:lstStyle>
          <a:p/>
        </p:txBody>
      </p:sp>
      <p:sp>
        <p:nvSpPr>
          <p:cNvPr id="10" name="Google Shape;10;p24"/>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9E7"/>
        </a:solidFill>
      </p:bgPr>
    </p:bg>
    <p:spTree>
      <p:nvGrpSpPr>
        <p:cNvPr id="17" name="Shape 17"/>
        <p:cNvGrpSpPr/>
        <p:nvPr/>
      </p:nvGrpSpPr>
      <p:grpSpPr>
        <a:xfrm>
          <a:off x="0" y="0"/>
          <a:ext cx="0" cy="0"/>
          <a:chOff x="0" y="0"/>
          <a:chExt cx="0" cy="0"/>
        </a:xfrm>
      </p:grpSpPr>
      <p:sp>
        <p:nvSpPr>
          <p:cNvPr id="18" name="Google Shape;18;p23"/>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23"/>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9pPr>
          </a:lstStyle>
          <a:p/>
        </p:txBody>
      </p:sp>
      <p:sp>
        <p:nvSpPr>
          <p:cNvPr id="20" name="Google Shape;20;p2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21" name="Google Shape;21;p2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22" name="Google Shape;22;p23"/>
          <p:cNvSpPr/>
          <p:nvPr>
            <p:ph idx="12" type="sldNum"/>
          </p:nvPr>
        </p:nvSpPr>
        <p:spPr>
          <a:xfrm>
            <a:off x="10758922" y="6217920"/>
            <a:ext cx="365760" cy="365760"/>
          </a:xfrm>
          <a:prstGeom prst="ellipse">
            <a:avLst/>
          </a:prstGeom>
          <a:solidFill>
            <a:srgbClr val="1D1D1D">
              <a:alpha val="69019"/>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www.youtube.com/watch?v=xjY5p-1CDr8" TargetMode="Externa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www.youtube.com/watch?v=UYvx0O8itMA" TargetMode="Externa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s://www.youtube.com/watch?v=TJgc28csgV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hyperlink" Target="http://www.youtube.com/watch?v=fx3BqQ44zDE" TargetMode="External"/><Relationship Id="rId4" Type="http://schemas.openxmlformats.org/officeDocument/2006/relationships/image" Target="../media/image12.jpg"/><Relationship Id="rId5" Type="http://schemas.openxmlformats.org/officeDocument/2006/relationships/hyperlink" Target="http://www.youtube.com/watch?v=Kcuz1JiMk9k" TargetMode="External"/><Relationship Id="rId6"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1600200" y="1306148"/>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6600"/>
              <a:buFont typeface="Gill Sans"/>
              <a:buNone/>
            </a:pPr>
            <a:r>
              <a:rPr lang="en-US" sz="6600"/>
              <a:t>RADIOACTIVITY</a:t>
            </a:r>
            <a:endParaRPr/>
          </a:p>
        </p:txBody>
      </p:sp>
      <p:sp>
        <p:nvSpPr>
          <p:cNvPr id="101" name="Google Shape;101;p1"/>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200"/>
              <a:buNone/>
            </a:pPr>
            <a:r>
              <a:rPr lang="en-US" sz="3200">
                <a:solidFill>
                  <a:srgbClr val="0070C0"/>
                </a:solidFill>
              </a:rPr>
              <a:t>Year 9 Science 2025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996043" y="43553"/>
            <a:ext cx="9780814"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4000"/>
              <a:buFont typeface="Gill Sans"/>
              <a:buNone/>
            </a:pPr>
            <a:r>
              <a:rPr lang="en-US" sz="4000"/>
              <a:t>ATOMIC MASS AND NEUTRONS</a:t>
            </a:r>
            <a:endParaRPr/>
          </a:p>
        </p:txBody>
      </p:sp>
      <p:sp>
        <p:nvSpPr>
          <p:cNvPr id="107" name="Google Shape;107;p2"/>
          <p:cNvSpPr txBox="1"/>
          <p:nvPr>
            <p:ph idx="1" type="body"/>
          </p:nvPr>
        </p:nvSpPr>
        <p:spPr>
          <a:xfrm>
            <a:off x="75661" y="1355271"/>
            <a:ext cx="8594810" cy="5502729"/>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2400"/>
              <a:buChar char="•"/>
            </a:pPr>
            <a:r>
              <a:rPr lang="en-US" sz="2400"/>
              <a:t>The  Atomic Mass (Mass Number) is the bottom number for every element on the Periodic Table.</a:t>
            </a:r>
            <a:endParaRPr/>
          </a:p>
          <a:p>
            <a:pPr indent="0" lvl="0" marL="0" rtl="0" algn="l">
              <a:lnSpc>
                <a:spcPct val="100000"/>
              </a:lnSpc>
              <a:spcBef>
                <a:spcPts val="1000"/>
              </a:spcBef>
              <a:spcAft>
                <a:spcPts val="0"/>
              </a:spcAft>
              <a:buSzPts val="1800"/>
              <a:buNone/>
            </a:pPr>
            <a:r>
              <a:t/>
            </a:r>
            <a:endParaRPr/>
          </a:p>
          <a:p>
            <a:pPr indent="-228600" lvl="0" marL="228600" rtl="0" algn="l">
              <a:lnSpc>
                <a:spcPct val="100000"/>
              </a:lnSpc>
              <a:spcBef>
                <a:spcPts val="1000"/>
              </a:spcBef>
              <a:spcAft>
                <a:spcPts val="0"/>
              </a:spcAft>
              <a:buSzPts val="2400"/>
              <a:buChar char="•"/>
            </a:pPr>
            <a:r>
              <a:rPr lang="en-US" sz="2400"/>
              <a:t>By knowing the Atomic Number (top number) and the Atomic Mass (bottom number), the number of neutrons can be calculated.</a:t>
            </a:r>
            <a:endParaRPr sz="2400"/>
          </a:p>
          <a:p>
            <a:pPr indent="0" lvl="0" marL="0" rtl="0" algn="l">
              <a:lnSpc>
                <a:spcPct val="100000"/>
              </a:lnSpc>
              <a:spcBef>
                <a:spcPts val="1000"/>
              </a:spcBef>
              <a:spcAft>
                <a:spcPts val="0"/>
              </a:spcAft>
              <a:buSzPts val="1800"/>
              <a:buNone/>
            </a:pPr>
            <a:r>
              <a:t/>
            </a:r>
            <a:endParaRPr sz="2400"/>
          </a:p>
          <a:p>
            <a:pPr indent="-381000" lvl="0" marL="457200" rtl="0" algn="l">
              <a:lnSpc>
                <a:spcPct val="100000"/>
              </a:lnSpc>
              <a:spcBef>
                <a:spcPts val="1000"/>
              </a:spcBef>
              <a:spcAft>
                <a:spcPts val="0"/>
              </a:spcAft>
              <a:buSzPts val="2400"/>
              <a:buChar char="●"/>
            </a:pPr>
            <a:r>
              <a:rPr lang="en-US" sz="2400"/>
              <a:t>Atomic Mass = protons + neutrons </a:t>
            </a:r>
            <a:endParaRPr sz="2400"/>
          </a:p>
          <a:p>
            <a:pPr indent="-381000" lvl="0" marL="457200" rtl="0" algn="l">
              <a:lnSpc>
                <a:spcPct val="100000"/>
              </a:lnSpc>
              <a:spcBef>
                <a:spcPts val="0"/>
              </a:spcBef>
              <a:spcAft>
                <a:spcPts val="0"/>
              </a:spcAft>
              <a:buSzPts val="2400"/>
              <a:buChar char="●"/>
            </a:pPr>
            <a:r>
              <a:rPr lang="en-US" sz="2400"/>
              <a:t>Neutrons = Atomic Number - Atomic Mass</a:t>
            </a:r>
            <a:endParaRPr sz="2400"/>
          </a:p>
          <a:p>
            <a:pPr indent="0" lvl="0" marL="0" rtl="0" algn="l">
              <a:lnSpc>
                <a:spcPct val="100000"/>
              </a:lnSpc>
              <a:spcBef>
                <a:spcPts val="1000"/>
              </a:spcBef>
              <a:spcAft>
                <a:spcPts val="0"/>
              </a:spcAft>
              <a:buSzPts val="1800"/>
              <a:buNone/>
            </a:pPr>
            <a:r>
              <a:t/>
            </a:r>
            <a:endParaRPr sz="2400"/>
          </a:p>
          <a:p>
            <a:pPr indent="0" lvl="0" marL="457200" rtl="0" algn="l">
              <a:lnSpc>
                <a:spcPct val="100000"/>
              </a:lnSpc>
              <a:spcBef>
                <a:spcPts val="1000"/>
              </a:spcBef>
              <a:spcAft>
                <a:spcPts val="0"/>
              </a:spcAft>
              <a:buSzPts val="1800"/>
              <a:buNone/>
            </a:pPr>
            <a:r>
              <a:t/>
            </a:r>
            <a:endParaRPr/>
          </a:p>
        </p:txBody>
      </p:sp>
      <p:pic>
        <p:nvPicPr>
          <p:cNvPr id="108" name="Google Shape;108;p2"/>
          <p:cNvPicPr preferRelativeResize="0"/>
          <p:nvPr/>
        </p:nvPicPr>
        <p:blipFill rotWithShape="1">
          <a:blip r:embed="rId3">
            <a:alphaModFix/>
          </a:blip>
          <a:srcRect b="0" l="0" r="0" t="0"/>
          <a:stretch/>
        </p:blipFill>
        <p:spPr>
          <a:xfrm>
            <a:off x="8890278" y="1355715"/>
            <a:ext cx="3226061" cy="3101983"/>
          </a:xfrm>
          <a:prstGeom prst="rect">
            <a:avLst/>
          </a:prstGeom>
          <a:noFill/>
          <a:ln>
            <a:noFill/>
          </a:ln>
        </p:spPr>
      </p:pic>
      <p:sp>
        <p:nvSpPr>
          <p:cNvPr id="109" name="Google Shape;109;p2"/>
          <p:cNvSpPr txBox="1"/>
          <p:nvPr/>
        </p:nvSpPr>
        <p:spPr>
          <a:xfrm>
            <a:off x="9017408" y="4751615"/>
            <a:ext cx="2971800"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Gill Sans"/>
              <a:buNone/>
            </a:pPr>
            <a:r>
              <a:rPr b="0" i="0" lang="en-US" sz="3600" u="none" cap="none" strike="noStrike">
                <a:solidFill>
                  <a:srgbClr val="000000"/>
                </a:solidFill>
                <a:latin typeface="Gill Sans"/>
                <a:ea typeface="Gill Sans"/>
                <a:cs typeface="Gill Sans"/>
                <a:sym typeface="Gill Sans"/>
              </a:rPr>
              <a:t>8 Protons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Gill Sans"/>
              <a:buNone/>
            </a:pPr>
            <a:r>
              <a:rPr b="0" i="0" lang="en-US" sz="3600" u="none" cap="none" strike="noStrike">
                <a:solidFill>
                  <a:srgbClr val="000000"/>
                </a:solidFill>
                <a:latin typeface="Gill Sans"/>
                <a:ea typeface="Gill Sans"/>
                <a:cs typeface="Gill Sans"/>
                <a:sym typeface="Gill Sans"/>
              </a:rPr>
              <a:t>8 Electrons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Gill Sans"/>
              <a:buNone/>
            </a:pPr>
            <a:r>
              <a:rPr b="0" i="0" lang="en-US" sz="3600" u="none" cap="none" strike="noStrike">
                <a:solidFill>
                  <a:srgbClr val="000000"/>
                </a:solidFill>
                <a:latin typeface="Gill Sans"/>
                <a:ea typeface="Gill Sans"/>
                <a:cs typeface="Gill Sans"/>
                <a:sym typeface="Gill Sans"/>
              </a:rPr>
              <a:t>8 Neutrons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2231136" y="131935"/>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3600"/>
              <a:buFont typeface="Gill Sans"/>
              <a:buNone/>
            </a:pPr>
            <a:r>
              <a:rPr lang="en-US" sz="3600"/>
              <a:t>REPRESENTING ATOMS</a:t>
            </a:r>
            <a:endParaRPr/>
          </a:p>
        </p:txBody>
      </p:sp>
      <p:grpSp>
        <p:nvGrpSpPr>
          <p:cNvPr id="115" name="Google Shape;115;p5"/>
          <p:cNvGrpSpPr/>
          <p:nvPr/>
        </p:nvGrpSpPr>
        <p:grpSpPr>
          <a:xfrm>
            <a:off x="8772703" y="3282587"/>
            <a:ext cx="2775857" cy="3213691"/>
            <a:chOff x="6440556" y="4214191"/>
            <a:chExt cx="1759706" cy="1977887"/>
          </a:xfrm>
        </p:grpSpPr>
        <p:sp>
          <p:nvSpPr>
            <p:cNvPr id="116" name="Google Shape;116;p5"/>
            <p:cNvSpPr/>
            <p:nvPr/>
          </p:nvSpPr>
          <p:spPr>
            <a:xfrm>
              <a:off x="6440556" y="4214191"/>
              <a:ext cx="1759705" cy="1977887"/>
            </a:xfrm>
            <a:prstGeom prst="rect">
              <a:avLst/>
            </a:prstGeom>
            <a:noFill/>
            <a:ln cap="flat" cmpd="sng" w="12700">
              <a:solidFill>
                <a:srgbClr val="964D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117" name="Google Shape;117;p5"/>
            <p:cNvSpPr txBox="1"/>
            <p:nvPr/>
          </p:nvSpPr>
          <p:spPr>
            <a:xfrm>
              <a:off x="6632705" y="4356928"/>
              <a:ext cx="1461053"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Open Sans"/>
                <a:buNone/>
              </a:pPr>
              <a:r>
                <a:rPr b="1" i="0" lang="en-US" sz="1600" u="none" cap="none" strike="noStrike">
                  <a:solidFill>
                    <a:srgbClr val="000000"/>
                  </a:solidFill>
                  <a:latin typeface="Open Sans"/>
                  <a:ea typeface="Open Sans"/>
                  <a:cs typeface="Open Sans"/>
                  <a:sym typeface="Open Sans"/>
                </a:rPr>
                <a:t>For 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Open Sans"/>
                <a:buNone/>
              </a:pPr>
              <a:br>
                <a:rPr b="1" i="0" lang="en-US" sz="1600" u="none" cap="none" strike="noStrike">
                  <a:solidFill>
                    <a:srgbClr val="000000"/>
                  </a:solidFill>
                  <a:latin typeface="Open Sans"/>
                  <a:ea typeface="Open Sans"/>
                  <a:cs typeface="Open Sans"/>
                  <a:sym typeface="Open Sans"/>
                </a:rPr>
              </a:br>
              <a:endParaRPr b="1" i="0" sz="1600" u="none" cap="none" strike="noStrike">
                <a:solidFill>
                  <a:srgbClr val="000000"/>
                </a:solidFill>
                <a:latin typeface="Open Sans"/>
                <a:ea typeface="Open Sans"/>
                <a:cs typeface="Open Sans"/>
                <a:sym typeface="Open Sans"/>
              </a:endParaRPr>
            </a:p>
          </p:txBody>
        </p:sp>
        <p:grpSp>
          <p:nvGrpSpPr>
            <p:cNvPr id="118" name="Google Shape;118;p5"/>
            <p:cNvGrpSpPr/>
            <p:nvPr/>
          </p:nvGrpSpPr>
          <p:grpSpPr>
            <a:xfrm>
              <a:off x="6718852" y="4833924"/>
              <a:ext cx="1481410" cy="1358154"/>
              <a:chOff x="6612348" y="4799081"/>
              <a:chExt cx="1481410" cy="1358154"/>
            </a:xfrm>
          </p:grpSpPr>
          <p:sp>
            <p:nvSpPr>
              <p:cNvPr id="119" name="Google Shape;119;p5"/>
              <p:cNvSpPr txBox="1"/>
              <p:nvPr/>
            </p:nvSpPr>
            <p:spPr>
              <a:xfrm>
                <a:off x="6905554" y="5525844"/>
                <a:ext cx="1188204" cy="631391"/>
              </a:xfrm>
              <a:prstGeom prst="rect">
                <a:avLst/>
              </a:prstGeom>
              <a:noFill/>
              <a:ln>
                <a:noFill/>
              </a:ln>
            </p:spPr>
            <p:txBody>
              <a:bodyPr anchorCtr="0" anchor="t" bIns="45700" lIns="0" spcFirstLastPara="1" rIns="0" wrap="square" tIns="45700">
                <a:spAutoFit/>
              </a:bodyPr>
              <a:lstStyle/>
              <a:p>
                <a:pPr indent="0" lvl="0" marL="0" marR="0" rtl="0" algn="l">
                  <a:lnSpc>
                    <a:spcPct val="23958"/>
                  </a:lnSpc>
                  <a:spcBef>
                    <a:spcPts val="0"/>
                  </a:spcBef>
                  <a:spcAft>
                    <a:spcPts val="0"/>
                  </a:spcAft>
                  <a:buClr>
                    <a:srgbClr val="262626"/>
                  </a:buClr>
                  <a:buSzPts val="9600"/>
                  <a:buFont typeface="Open Sans"/>
                  <a:buNone/>
                </a:pPr>
                <a:r>
                  <a:rPr b="0" i="0" lang="en-US" sz="9600" u="none" cap="none" strike="noStrike">
                    <a:solidFill>
                      <a:srgbClr val="262626"/>
                    </a:solidFill>
                    <a:latin typeface="Open Sans"/>
                    <a:ea typeface="Open Sans"/>
                    <a:cs typeface="Open Sans"/>
                    <a:sym typeface="Open Sans"/>
                  </a:rPr>
                  <a:t>C</a:t>
                </a:r>
                <a:endParaRPr b="0" i="0" sz="9600" u="none" cap="none" strike="noStrike">
                  <a:solidFill>
                    <a:srgbClr val="262626"/>
                  </a:solidFill>
                  <a:latin typeface="Open Sans"/>
                  <a:ea typeface="Open Sans"/>
                  <a:cs typeface="Open Sans"/>
                  <a:sym typeface="Open Sans"/>
                </a:endParaRPr>
              </a:p>
            </p:txBody>
          </p:sp>
          <p:sp>
            <p:nvSpPr>
              <p:cNvPr id="120" name="Google Shape;120;p5"/>
              <p:cNvSpPr txBox="1"/>
              <p:nvPr/>
            </p:nvSpPr>
            <p:spPr>
              <a:xfrm>
                <a:off x="6612348" y="4799081"/>
                <a:ext cx="543826" cy="406265"/>
              </a:xfrm>
              <a:prstGeom prst="rect">
                <a:avLst/>
              </a:prstGeom>
              <a:noFill/>
              <a:ln>
                <a:noFill/>
              </a:ln>
            </p:spPr>
            <p:txBody>
              <a:bodyPr anchorCtr="0" anchor="t" bIns="45700" lIns="0" spcFirstLastPara="1" rIns="0" wrap="square" tIns="45700">
                <a:spAutoFit/>
              </a:bodyPr>
              <a:lstStyle/>
              <a:p>
                <a:pPr indent="0" lvl="0" marL="0" marR="0" rtl="0" algn="l">
                  <a:lnSpc>
                    <a:spcPct val="95833"/>
                  </a:lnSpc>
                  <a:spcBef>
                    <a:spcPts val="0"/>
                  </a:spcBef>
                  <a:spcAft>
                    <a:spcPts val="0"/>
                  </a:spcAft>
                  <a:buClr>
                    <a:srgbClr val="262626"/>
                  </a:buClr>
                  <a:buSzPts val="2400"/>
                  <a:buFont typeface="Open Sans"/>
                  <a:buNone/>
                </a:pPr>
                <a:r>
                  <a:rPr b="1" i="0" lang="en-US" sz="2400" u="none" cap="none" strike="noStrike">
                    <a:solidFill>
                      <a:srgbClr val="262626"/>
                    </a:solidFill>
                    <a:latin typeface="Open Sans"/>
                    <a:ea typeface="Open Sans"/>
                    <a:cs typeface="Open Sans"/>
                    <a:sym typeface="Open Sans"/>
                  </a:rPr>
                  <a:t>12</a:t>
                </a:r>
                <a:endParaRPr b="1" i="0" sz="2400" u="none" cap="none" strike="noStrike">
                  <a:solidFill>
                    <a:srgbClr val="262626"/>
                  </a:solidFill>
                  <a:latin typeface="Open Sans"/>
                  <a:ea typeface="Open Sans"/>
                  <a:cs typeface="Open Sans"/>
                  <a:sym typeface="Open Sans"/>
                </a:endParaRPr>
              </a:p>
            </p:txBody>
          </p:sp>
          <p:sp>
            <p:nvSpPr>
              <p:cNvPr id="121" name="Google Shape;121;p5"/>
              <p:cNvSpPr txBox="1"/>
              <p:nvPr/>
            </p:nvSpPr>
            <p:spPr>
              <a:xfrm>
                <a:off x="6718852" y="5569682"/>
                <a:ext cx="543826" cy="406265"/>
              </a:xfrm>
              <a:prstGeom prst="rect">
                <a:avLst/>
              </a:prstGeom>
              <a:noFill/>
              <a:ln>
                <a:noFill/>
              </a:ln>
            </p:spPr>
            <p:txBody>
              <a:bodyPr anchorCtr="0" anchor="t" bIns="45700" lIns="0" spcFirstLastPara="1" rIns="0" wrap="square" tIns="45700">
                <a:spAutoFit/>
              </a:bodyPr>
              <a:lstStyle/>
              <a:p>
                <a:pPr indent="0" lvl="0" marL="0" marR="0" rtl="0" algn="l">
                  <a:lnSpc>
                    <a:spcPct val="95833"/>
                  </a:lnSpc>
                  <a:spcBef>
                    <a:spcPts val="0"/>
                  </a:spcBef>
                  <a:spcAft>
                    <a:spcPts val="0"/>
                  </a:spcAft>
                  <a:buClr>
                    <a:srgbClr val="262626"/>
                  </a:buClr>
                  <a:buSzPts val="2400"/>
                  <a:buFont typeface="Open Sans"/>
                  <a:buNone/>
                </a:pPr>
                <a:r>
                  <a:rPr b="1" i="0" lang="en-US" sz="2400" u="none" cap="none" strike="noStrike">
                    <a:solidFill>
                      <a:srgbClr val="262626"/>
                    </a:solidFill>
                    <a:latin typeface="Open Sans"/>
                    <a:ea typeface="Open Sans"/>
                    <a:cs typeface="Open Sans"/>
                    <a:sym typeface="Open Sans"/>
                  </a:rPr>
                  <a:t>6</a:t>
                </a:r>
                <a:endParaRPr b="1" i="0" sz="2400" u="none" cap="none" strike="noStrike">
                  <a:solidFill>
                    <a:srgbClr val="262626"/>
                  </a:solidFill>
                  <a:latin typeface="Open Sans"/>
                  <a:ea typeface="Open Sans"/>
                  <a:cs typeface="Open Sans"/>
                  <a:sym typeface="Open Sans"/>
                </a:endParaRPr>
              </a:p>
            </p:txBody>
          </p:sp>
        </p:grpSp>
      </p:grpSp>
      <p:grpSp>
        <p:nvGrpSpPr>
          <p:cNvPr id="122" name="Google Shape;122;p5"/>
          <p:cNvGrpSpPr/>
          <p:nvPr/>
        </p:nvGrpSpPr>
        <p:grpSpPr>
          <a:xfrm>
            <a:off x="3933291" y="2960343"/>
            <a:ext cx="1636646" cy="2743560"/>
            <a:chOff x="2935352" y="3314284"/>
            <a:chExt cx="1636646" cy="2743560"/>
          </a:xfrm>
        </p:grpSpPr>
        <p:sp>
          <p:nvSpPr>
            <p:cNvPr id="123" name="Google Shape;123;p5"/>
            <p:cNvSpPr txBox="1"/>
            <p:nvPr/>
          </p:nvSpPr>
          <p:spPr>
            <a:xfrm>
              <a:off x="3697354" y="4751140"/>
              <a:ext cx="874644" cy="1306704"/>
            </a:xfrm>
            <a:prstGeom prst="rect">
              <a:avLst/>
            </a:prstGeom>
            <a:noFill/>
            <a:ln>
              <a:noFill/>
            </a:ln>
          </p:spPr>
          <p:txBody>
            <a:bodyPr anchorCtr="0" anchor="t" bIns="45700" lIns="0" spcFirstLastPara="1" rIns="0" wrap="square" tIns="45700">
              <a:spAutoFit/>
            </a:bodyPr>
            <a:lstStyle/>
            <a:p>
              <a:pPr indent="0" lvl="0" marL="0" marR="0" rtl="0" algn="l">
                <a:lnSpc>
                  <a:spcPct val="7666"/>
                </a:lnSpc>
                <a:spcBef>
                  <a:spcPts val="0"/>
                </a:spcBef>
                <a:spcAft>
                  <a:spcPts val="0"/>
                </a:spcAft>
                <a:buClr>
                  <a:srgbClr val="262626"/>
                </a:buClr>
                <a:buSzPts val="30000"/>
                <a:buFont typeface="Open Sans"/>
                <a:buNone/>
              </a:pPr>
              <a:r>
                <a:rPr b="0" i="0" lang="en-US" sz="30000" u="none" cap="none" strike="noStrike">
                  <a:solidFill>
                    <a:srgbClr val="262626"/>
                  </a:solidFill>
                  <a:latin typeface="Open Sans"/>
                  <a:ea typeface="Open Sans"/>
                  <a:cs typeface="Open Sans"/>
                  <a:sym typeface="Open Sans"/>
                </a:rPr>
                <a:t>x</a:t>
              </a:r>
              <a:endParaRPr b="0" i="0" sz="30000" u="none" cap="none" strike="noStrike">
                <a:solidFill>
                  <a:srgbClr val="262626"/>
                </a:solidFill>
                <a:latin typeface="Open Sans"/>
                <a:ea typeface="Open Sans"/>
                <a:cs typeface="Open Sans"/>
                <a:sym typeface="Open Sans"/>
              </a:endParaRPr>
            </a:p>
          </p:txBody>
        </p:sp>
        <p:sp>
          <p:nvSpPr>
            <p:cNvPr id="124" name="Google Shape;124;p5"/>
            <p:cNvSpPr txBox="1"/>
            <p:nvPr/>
          </p:nvSpPr>
          <p:spPr>
            <a:xfrm>
              <a:off x="2955233" y="3314284"/>
              <a:ext cx="874644" cy="604846"/>
            </a:xfrm>
            <a:prstGeom prst="rect">
              <a:avLst/>
            </a:prstGeom>
            <a:noFill/>
            <a:ln>
              <a:noFill/>
            </a:ln>
          </p:spPr>
          <p:txBody>
            <a:bodyPr anchorCtr="0" anchor="t" bIns="45700" lIns="0" spcFirstLastPara="1" rIns="0" wrap="square" tIns="45700">
              <a:spAutoFit/>
            </a:bodyPr>
            <a:lstStyle/>
            <a:p>
              <a:pPr indent="0" lvl="0" marL="0" marR="0" rtl="0" algn="l">
                <a:lnSpc>
                  <a:spcPct val="26136"/>
                </a:lnSpc>
                <a:spcBef>
                  <a:spcPts val="0"/>
                </a:spcBef>
                <a:spcAft>
                  <a:spcPts val="0"/>
                </a:spcAft>
                <a:buClr>
                  <a:srgbClr val="262626"/>
                </a:buClr>
                <a:buSzPts val="8800"/>
                <a:buFont typeface="Open Sans"/>
                <a:buNone/>
              </a:pPr>
              <a:r>
                <a:rPr b="0" i="0" lang="en-US" sz="8800" u="none" cap="none" strike="noStrike">
                  <a:solidFill>
                    <a:srgbClr val="262626"/>
                  </a:solidFill>
                  <a:latin typeface="Open Sans"/>
                  <a:ea typeface="Open Sans"/>
                  <a:cs typeface="Open Sans"/>
                  <a:sym typeface="Open Sans"/>
                </a:rPr>
                <a:t>A</a:t>
              </a:r>
              <a:endParaRPr b="0" i="0" sz="8800" u="none" cap="none" strike="noStrike">
                <a:solidFill>
                  <a:srgbClr val="262626"/>
                </a:solidFill>
                <a:latin typeface="Open Sans"/>
                <a:ea typeface="Open Sans"/>
                <a:cs typeface="Open Sans"/>
                <a:sym typeface="Open Sans"/>
              </a:endParaRPr>
            </a:p>
          </p:txBody>
        </p:sp>
        <p:sp>
          <p:nvSpPr>
            <p:cNvPr id="125" name="Google Shape;125;p5"/>
            <p:cNvSpPr txBox="1"/>
            <p:nvPr/>
          </p:nvSpPr>
          <p:spPr>
            <a:xfrm>
              <a:off x="2935352" y="4987371"/>
              <a:ext cx="874644" cy="604846"/>
            </a:xfrm>
            <a:prstGeom prst="rect">
              <a:avLst/>
            </a:prstGeom>
            <a:noFill/>
            <a:ln>
              <a:noFill/>
            </a:ln>
          </p:spPr>
          <p:txBody>
            <a:bodyPr anchorCtr="0" anchor="t" bIns="45700" lIns="0" spcFirstLastPara="1" rIns="0" wrap="square" tIns="45700">
              <a:spAutoFit/>
            </a:bodyPr>
            <a:lstStyle/>
            <a:p>
              <a:pPr indent="0" lvl="0" marL="0" marR="0" rtl="0" algn="l">
                <a:lnSpc>
                  <a:spcPct val="26136"/>
                </a:lnSpc>
                <a:spcBef>
                  <a:spcPts val="0"/>
                </a:spcBef>
                <a:spcAft>
                  <a:spcPts val="0"/>
                </a:spcAft>
                <a:buClr>
                  <a:srgbClr val="262626"/>
                </a:buClr>
                <a:buSzPts val="8800"/>
                <a:buFont typeface="Open Sans"/>
                <a:buNone/>
              </a:pPr>
              <a:r>
                <a:rPr b="0" i="0" lang="en-US" sz="8800" u="none" cap="none" strike="noStrike">
                  <a:solidFill>
                    <a:srgbClr val="262626"/>
                  </a:solidFill>
                  <a:latin typeface="Open Sans"/>
                  <a:ea typeface="Open Sans"/>
                  <a:cs typeface="Open Sans"/>
                  <a:sym typeface="Open Sans"/>
                </a:rPr>
                <a:t>Z</a:t>
              </a:r>
              <a:endParaRPr b="0" i="0" sz="8800" u="none" cap="none" strike="noStrike">
                <a:solidFill>
                  <a:srgbClr val="262626"/>
                </a:solidFill>
                <a:latin typeface="Open Sans"/>
                <a:ea typeface="Open Sans"/>
                <a:cs typeface="Open Sans"/>
                <a:sym typeface="Open Sans"/>
              </a:endParaRPr>
            </a:p>
          </p:txBody>
        </p:sp>
      </p:grpSp>
      <p:sp>
        <p:nvSpPr>
          <p:cNvPr id="126" name="Google Shape;126;p5"/>
          <p:cNvSpPr txBox="1"/>
          <p:nvPr/>
        </p:nvSpPr>
        <p:spPr>
          <a:xfrm>
            <a:off x="259493" y="1855425"/>
            <a:ext cx="1628946" cy="2138278"/>
          </a:xfrm>
          <a:prstGeom prst="rect">
            <a:avLst/>
          </a:prstGeom>
          <a:noFill/>
          <a:ln>
            <a:noFill/>
          </a:ln>
        </p:spPr>
        <p:txBody>
          <a:bodyPr anchorCtr="0" anchor="t" bIns="45700" lIns="0" spcFirstLastPara="1" rIns="0" wrap="square" tIns="45700">
            <a:spAutoFit/>
          </a:bodyPr>
          <a:lstStyle/>
          <a:p>
            <a:pPr indent="0" lvl="0" marL="0" marR="0" rtl="0" algn="l">
              <a:lnSpc>
                <a:spcPct val="127777"/>
              </a:lnSpc>
              <a:spcBef>
                <a:spcPts val="0"/>
              </a:spcBef>
              <a:spcAft>
                <a:spcPts val="0"/>
              </a:spcAft>
              <a:buClr>
                <a:srgbClr val="262626"/>
              </a:buClr>
              <a:buSzPts val="1800"/>
              <a:buFont typeface="Gill Sans"/>
              <a:buNone/>
            </a:pPr>
            <a:r>
              <a:rPr b="1" i="0" lang="en-US" sz="1800" u="none" cap="none" strike="noStrike">
                <a:solidFill>
                  <a:srgbClr val="262626"/>
                </a:solidFill>
                <a:latin typeface="Gill Sans"/>
                <a:ea typeface="Gill Sans"/>
                <a:cs typeface="Gill Sans"/>
                <a:sym typeface="Gill Sans"/>
              </a:rPr>
              <a:t>Atomic mass or Mass number (number of protons + number of neutrons)</a:t>
            </a:r>
            <a:endParaRPr b="0" i="0" sz="1400" u="none" cap="none" strike="noStrike">
              <a:solidFill>
                <a:srgbClr val="000000"/>
              </a:solidFill>
              <a:latin typeface="Arial"/>
              <a:ea typeface="Arial"/>
              <a:cs typeface="Arial"/>
              <a:sym typeface="Arial"/>
            </a:endParaRPr>
          </a:p>
        </p:txBody>
      </p:sp>
      <p:sp>
        <p:nvSpPr>
          <p:cNvPr id="127" name="Google Shape;127;p5"/>
          <p:cNvSpPr txBox="1"/>
          <p:nvPr/>
        </p:nvSpPr>
        <p:spPr>
          <a:xfrm>
            <a:off x="326579" y="5254619"/>
            <a:ext cx="2052909" cy="958468"/>
          </a:xfrm>
          <a:prstGeom prst="rect">
            <a:avLst/>
          </a:prstGeom>
          <a:noFill/>
          <a:ln>
            <a:noFill/>
          </a:ln>
        </p:spPr>
        <p:txBody>
          <a:bodyPr anchorCtr="0" anchor="t" bIns="45700" lIns="0" spcFirstLastPara="1" rIns="0" wrap="square" tIns="45700">
            <a:spAutoFit/>
          </a:bodyPr>
          <a:lstStyle/>
          <a:p>
            <a:pPr indent="0" lvl="0" marL="0" marR="0" rtl="0" algn="l">
              <a:lnSpc>
                <a:spcPct val="127777"/>
              </a:lnSpc>
              <a:spcBef>
                <a:spcPts val="0"/>
              </a:spcBef>
              <a:spcAft>
                <a:spcPts val="0"/>
              </a:spcAft>
              <a:buClr>
                <a:srgbClr val="262626"/>
              </a:buClr>
              <a:buSzPts val="1800"/>
              <a:buFont typeface="Gill Sans"/>
              <a:buNone/>
            </a:pPr>
            <a:r>
              <a:rPr b="1" i="0" lang="en-US" sz="1800" u="none" cap="none" strike="noStrike">
                <a:solidFill>
                  <a:srgbClr val="262626"/>
                </a:solidFill>
                <a:latin typeface="Gill Sans"/>
                <a:ea typeface="Gill Sans"/>
                <a:cs typeface="Gill Sans"/>
                <a:sym typeface="Gill Sans"/>
              </a:rPr>
              <a:t>Atomic number (number of protons)</a:t>
            </a:r>
            <a:endParaRPr b="0" i="0" sz="1400" u="none" cap="none" strike="noStrike">
              <a:solidFill>
                <a:srgbClr val="000000"/>
              </a:solidFill>
              <a:latin typeface="Arial"/>
              <a:ea typeface="Arial"/>
              <a:cs typeface="Arial"/>
              <a:sym typeface="Arial"/>
            </a:endParaRPr>
          </a:p>
        </p:txBody>
      </p:sp>
      <p:sp>
        <p:nvSpPr>
          <p:cNvPr id="128" name="Google Shape;128;p5"/>
          <p:cNvSpPr txBox="1"/>
          <p:nvPr/>
        </p:nvSpPr>
        <p:spPr>
          <a:xfrm>
            <a:off x="8449677" y="1984750"/>
            <a:ext cx="995337" cy="661528"/>
          </a:xfrm>
          <a:prstGeom prst="rect">
            <a:avLst/>
          </a:prstGeom>
          <a:noFill/>
          <a:ln>
            <a:noFill/>
          </a:ln>
        </p:spPr>
        <p:txBody>
          <a:bodyPr anchorCtr="0" anchor="t" bIns="45700" lIns="0" spcFirstLastPara="1" rIns="0" wrap="square" tIns="45700">
            <a:spAutoFit/>
          </a:bodyPr>
          <a:lstStyle/>
          <a:p>
            <a:pPr indent="0" lvl="0" marL="0" marR="0" rtl="0" algn="l">
              <a:lnSpc>
                <a:spcPct val="127777"/>
              </a:lnSpc>
              <a:spcBef>
                <a:spcPts val="0"/>
              </a:spcBef>
              <a:spcAft>
                <a:spcPts val="0"/>
              </a:spcAft>
              <a:buClr>
                <a:srgbClr val="262626"/>
              </a:buClr>
              <a:buSzPts val="1800"/>
              <a:buFont typeface="Gill Sans"/>
              <a:buNone/>
            </a:pPr>
            <a:r>
              <a:rPr b="1" i="0" lang="en-US" sz="1800" u="none" cap="none" strike="noStrike">
                <a:solidFill>
                  <a:srgbClr val="262626"/>
                </a:solidFill>
                <a:latin typeface="Gill Sans"/>
                <a:ea typeface="Gill Sans"/>
                <a:cs typeface="Gill Sans"/>
                <a:sym typeface="Gill Sans"/>
              </a:rPr>
              <a:t>Element symbol</a:t>
            </a:r>
            <a:endParaRPr b="0" i="0" sz="1400" u="none" cap="none" strike="noStrike">
              <a:solidFill>
                <a:srgbClr val="000000"/>
              </a:solidFill>
              <a:latin typeface="Arial"/>
              <a:ea typeface="Arial"/>
              <a:cs typeface="Arial"/>
              <a:sym typeface="Arial"/>
            </a:endParaRPr>
          </a:p>
        </p:txBody>
      </p:sp>
      <p:cxnSp>
        <p:nvCxnSpPr>
          <p:cNvPr id="129" name="Google Shape;129;p5"/>
          <p:cNvCxnSpPr/>
          <p:nvPr/>
        </p:nvCxnSpPr>
        <p:spPr>
          <a:xfrm>
            <a:off x="1888438" y="2535652"/>
            <a:ext cx="2064734" cy="315623"/>
          </a:xfrm>
          <a:prstGeom prst="straightConnector1">
            <a:avLst/>
          </a:prstGeom>
          <a:noFill/>
          <a:ln cap="flat" cmpd="sng" w="38100">
            <a:solidFill>
              <a:srgbClr val="964D24"/>
            </a:solidFill>
            <a:prstDash val="solid"/>
            <a:round/>
            <a:headEnd len="sm" w="sm" type="none"/>
            <a:tailEnd len="med" w="med" type="triangle"/>
          </a:ln>
        </p:spPr>
      </p:cxnSp>
      <p:cxnSp>
        <p:nvCxnSpPr>
          <p:cNvPr id="130" name="Google Shape;130;p5"/>
          <p:cNvCxnSpPr/>
          <p:nvPr/>
        </p:nvCxnSpPr>
        <p:spPr>
          <a:xfrm flipH="1" rot="10800000">
            <a:off x="2379490" y="4633430"/>
            <a:ext cx="1484723" cy="735612"/>
          </a:xfrm>
          <a:prstGeom prst="straightConnector1">
            <a:avLst/>
          </a:prstGeom>
          <a:noFill/>
          <a:ln cap="flat" cmpd="sng" w="38100">
            <a:solidFill>
              <a:srgbClr val="964D24"/>
            </a:solidFill>
            <a:prstDash val="solid"/>
            <a:round/>
            <a:headEnd len="sm" w="sm" type="none"/>
            <a:tailEnd len="med" w="med" type="triangle"/>
          </a:ln>
        </p:spPr>
      </p:cxnSp>
      <p:cxnSp>
        <p:nvCxnSpPr>
          <p:cNvPr id="131" name="Google Shape;131;p5"/>
          <p:cNvCxnSpPr/>
          <p:nvPr/>
        </p:nvCxnSpPr>
        <p:spPr>
          <a:xfrm flipH="1">
            <a:off x="6384943" y="2315514"/>
            <a:ext cx="1853887" cy="770586"/>
          </a:xfrm>
          <a:prstGeom prst="straightConnector1">
            <a:avLst/>
          </a:prstGeom>
          <a:noFill/>
          <a:ln cap="flat" cmpd="sng" w="38100">
            <a:solidFill>
              <a:srgbClr val="964D24"/>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What are Isotopes? | Properties of Matter | Chemistry | FuseSchool&#10;&#10;What are Isotopes? Find out in this video!&#10;&#10;In a previous video we learnt about Isotopes. Here are a few more examples:&#10;&#10;There are two isotopic forms of Chlorine: Chlorine 35 and Chlorine 37. Remember isotopes have the SAME number of protons, but a different number of neutrons. So, how many neutrons are in each of these isotopic forms of Chlorine?&#10;&#10;Remember: Mass Number = Number of Protons + Number of Neutrons, and the number of protons for each isotope forms of elements is the same, so we can rearrange this formula to calculate the number of neutrons in each form: Neutrons = Mass Number - Protons&#10;&#10;When we look at Chlorine on the periodic table, it has an atomic number of 17. Therefore it has 17 protons. Chlorine-35 has a mass of 35. Neutrons = Mass Number - Protons = 35 -17 = 18&#10;18 neutrons. Chlorine-37 has a mass of 37. Neutrons = Mass Number - Protons = 37 -17 = 20. 20 neutrons. Chlorine-35 has 18 neutrons and Chlorine 37 has 20 neutrons.&#10;&#10;Another example of an isotope is Lithium. Lithium has two stable isotopic forms.&#10;&#10;The atomic number of Lithium is 3, therefore it has 3 protons.&#10;&#10;The isotopes of Lithium have 3 neutrons and 4 neutrons respectively. How do we calculate each of the isotopes mass number? Remember, Mass Number = Number of Protons + Number of Neutrons. So for one isotopic form the mass number would be: 3 + 3 = 6. So, we would have Li-6. And for the other form, the mass number would be 3 + 4 = 7. So we would have Li- 7.&#10;&#10;&#10;SUPPORT US ON PATREON&#10;https://www.patreon.com/fuseschool &#10;&#10;SUBSCRIBE to the FuseSchool YouTube channel for many more educational videos. Our teachers and animators come together to make fun &amp; easy-to-understand videos in Chemistry, Biology, Physics, Maths &amp; ICT.&#10;&#10;VISIT us at www.fuseschool.org, where all of our videos are carefully organised into topics and specific orders, and to see what else we have on offer. Comment, like and share with other learners. You can both ask and answer questions, and teachers will get back to you.&#10;&#10;These videos can be used in a flipped classroom model or as a revision aid. &#10;&#10;Find all of our Chemistry videos here: https://www.youtube.com/playlist?list=PLW0gavSzhMlReKGMVfUt6YuNQsO0bqSMV&#10;&#10;Find all of our Biology videos here: https://www.youtube.com/playlist?list=PLW0gavSzhMlQYSpKryVcEr3ERup5SxHl0&#10;&#10;Find all of our Physics videos here: https://www.youtube.com/playlist?list=PLW0gavSzhMlTWm6Sr5uN2Uv5TXHiZUq8b&#10;&#10;Find all of our Maths videos here: https://www.youtube.com/playlist?list=PLW0gavSzhMlTKBNbHH5u1SNnsrOaacKLu&#10;&#10;Instagram: https://www.instagram.com/fuseschool/&#10;Facebook: https://www.facebook.com/fuseschool/&#10;Twitter: https://twitter.com/fuseSchool&#10;&#10;Access a deeper Learning Experience in the FuseSchool platform and app: www.fuseschool.org&#10;Follow us: http://www.youtube.com/fuseschool&#10;Befriend us: http://www.facebook.com/fuseschool&#10;&#10;This is an Open Educational Resource. If you would like to use the video, please contact us: info@fuseschool.org" id="136" name="Google Shape;136;g39b9b9d4458_0_0" title="What are Isotopes? | Properties of Matter | Chemistry | FuseSchool">
            <a:hlinkClick r:id="rId3"/>
          </p:cNvPr>
          <p:cNvPicPr preferRelativeResize="0"/>
          <p:nvPr/>
        </p:nvPicPr>
        <p:blipFill>
          <a:blip r:embed="rId4">
            <a:alphaModFix/>
          </a:blip>
          <a:stretch>
            <a:fillRect/>
          </a:stretch>
        </p:blipFill>
        <p:spPr>
          <a:xfrm>
            <a:off x="251375" y="141400"/>
            <a:ext cx="11689250" cy="6575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4"/>
          <p:cNvSpPr txBox="1"/>
          <p:nvPr>
            <p:ph idx="4294967295" type="ctrTitle"/>
          </p:nvPr>
        </p:nvSpPr>
        <p:spPr>
          <a:xfrm>
            <a:off x="1524000" y="412574"/>
            <a:ext cx="9144000" cy="923568"/>
          </a:xfrm>
          <a:prstGeom prst="rect">
            <a:avLst/>
          </a:prstGeom>
          <a:no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marR="0" rtl="0" algn="ctr">
              <a:lnSpc>
                <a:spcPct val="90000"/>
              </a:lnSpc>
              <a:spcBef>
                <a:spcPts val="0"/>
              </a:spcBef>
              <a:spcAft>
                <a:spcPts val="0"/>
              </a:spcAft>
              <a:buClr>
                <a:schemeClr val="dk1"/>
              </a:buClr>
              <a:buSzPts val="3600"/>
              <a:buFont typeface="Open Sans"/>
              <a:buNone/>
            </a:pPr>
            <a:r>
              <a:rPr b="0" i="0" lang="en-US" sz="3600" u="none" cap="none" strike="noStrike">
                <a:solidFill>
                  <a:schemeClr val="dk1"/>
                </a:solidFill>
                <a:latin typeface="Open Sans"/>
                <a:ea typeface="Open Sans"/>
                <a:cs typeface="Open Sans"/>
                <a:sym typeface="Open Sans"/>
              </a:rPr>
              <a:t>ISOTOPES</a:t>
            </a:r>
            <a:endParaRPr b="0" i="0" sz="2800" u="none" cap="none" strike="noStrike">
              <a:solidFill>
                <a:srgbClr val="262626"/>
              </a:solidFill>
              <a:latin typeface="Gill Sans"/>
              <a:ea typeface="Gill Sans"/>
              <a:cs typeface="Gill Sans"/>
              <a:sym typeface="Gill Sans"/>
            </a:endParaRPr>
          </a:p>
        </p:txBody>
      </p:sp>
      <p:grpSp>
        <p:nvGrpSpPr>
          <p:cNvPr id="142" name="Google Shape;142;p4"/>
          <p:cNvGrpSpPr/>
          <p:nvPr/>
        </p:nvGrpSpPr>
        <p:grpSpPr>
          <a:xfrm>
            <a:off x="3535019" y="4079031"/>
            <a:ext cx="2428462" cy="1988929"/>
            <a:chOff x="2011019" y="4079030"/>
            <a:chExt cx="2428462" cy="1988929"/>
          </a:xfrm>
        </p:grpSpPr>
        <p:sp>
          <p:nvSpPr>
            <p:cNvPr id="143" name="Google Shape;143;p4"/>
            <p:cNvSpPr txBox="1"/>
            <p:nvPr/>
          </p:nvSpPr>
          <p:spPr>
            <a:xfrm>
              <a:off x="2461594" y="5257801"/>
              <a:ext cx="1977887" cy="810158"/>
            </a:xfrm>
            <a:prstGeom prst="rect">
              <a:avLst/>
            </a:prstGeom>
            <a:noFill/>
            <a:ln>
              <a:noFill/>
            </a:ln>
          </p:spPr>
          <p:txBody>
            <a:bodyPr anchorCtr="0" anchor="t" bIns="45700" lIns="0" spcFirstLastPara="1" rIns="0" wrap="square" tIns="45700">
              <a:spAutoFit/>
            </a:bodyPr>
            <a:lstStyle/>
            <a:p>
              <a:pPr indent="0" lvl="0" marL="0" marR="0" rtl="0" algn="l">
                <a:lnSpc>
                  <a:spcPct val="15333"/>
                </a:lnSpc>
                <a:spcBef>
                  <a:spcPts val="0"/>
                </a:spcBef>
                <a:spcAft>
                  <a:spcPts val="0"/>
                </a:spcAft>
                <a:buClr>
                  <a:srgbClr val="262626"/>
                </a:buClr>
                <a:buSzPts val="15000"/>
                <a:buFont typeface="Open Sans"/>
                <a:buNone/>
              </a:pPr>
              <a:r>
                <a:rPr b="0" i="0" lang="en-US" sz="15000" u="none" cap="none" strike="noStrike">
                  <a:solidFill>
                    <a:srgbClr val="262626"/>
                  </a:solidFill>
                  <a:latin typeface="Open Sans"/>
                  <a:ea typeface="Open Sans"/>
                  <a:cs typeface="Open Sans"/>
                  <a:sym typeface="Open Sans"/>
                </a:rPr>
                <a:t>C</a:t>
              </a:r>
              <a:endParaRPr b="0" i="0" sz="15000" u="none" cap="none" strike="noStrike">
                <a:solidFill>
                  <a:srgbClr val="262626"/>
                </a:solidFill>
                <a:latin typeface="Open Sans"/>
                <a:ea typeface="Open Sans"/>
                <a:cs typeface="Open Sans"/>
                <a:sym typeface="Open Sans"/>
              </a:endParaRPr>
            </a:p>
          </p:txBody>
        </p:sp>
        <p:sp>
          <p:nvSpPr>
            <p:cNvPr id="144" name="Google Shape;144;p4"/>
            <p:cNvSpPr txBox="1"/>
            <p:nvPr/>
          </p:nvSpPr>
          <p:spPr>
            <a:xfrm>
              <a:off x="2011019" y="4079030"/>
              <a:ext cx="662608" cy="419474"/>
            </a:xfrm>
            <a:prstGeom prst="rect">
              <a:avLst/>
            </a:prstGeom>
            <a:noFill/>
            <a:ln>
              <a:noFill/>
            </a:ln>
          </p:spPr>
          <p:txBody>
            <a:bodyPr anchorCtr="0" anchor="t" bIns="45700" lIns="0" spcFirstLastPara="1" rIns="0" wrap="square" tIns="45700">
              <a:spAutoFit/>
            </a:bodyPr>
            <a:lstStyle/>
            <a:p>
              <a:pPr indent="0" lvl="0" marL="0" marR="0" rtl="0" algn="l">
                <a:lnSpc>
                  <a:spcPct val="71875"/>
                </a:lnSpc>
                <a:spcBef>
                  <a:spcPts val="0"/>
                </a:spcBef>
                <a:spcAft>
                  <a:spcPts val="0"/>
                </a:spcAft>
                <a:buClr>
                  <a:srgbClr val="262626"/>
                </a:buClr>
                <a:buSzPts val="3200"/>
                <a:buFont typeface="Open Sans"/>
                <a:buNone/>
              </a:pPr>
              <a:r>
                <a:rPr b="1" i="0" lang="en-US" sz="3200" u="none" cap="none" strike="noStrike">
                  <a:solidFill>
                    <a:srgbClr val="262626"/>
                  </a:solidFill>
                  <a:latin typeface="Open Sans"/>
                  <a:ea typeface="Open Sans"/>
                  <a:cs typeface="Open Sans"/>
                  <a:sym typeface="Open Sans"/>
                </a:rPr>
                <a:t>12</a:t>
              </a:r>
              <a:endParaRPr b="1" i="0" sz="3200" u="none" cap="none" strike="noStrike">
                <a:solidFill>
                  <a:srgbClr val="262626"/>
                </a:solidFill>
                <a:latin typeface="Open Sans"/>
                <a:ea typeface="Open Sans"/>
                <a:cs typeface="Open Sans"/>
                <a:sym typeface="Open Sans"/>
              </a:endParaRPr>
            </a:p>
          </p:txBody>
        </p:sp>
        <p:sp>
          <p:nvSpPr>
            <p:cNvPr id="145" name="Google Shape;145;p4"/>
            <p:cNvSpPr txBox="1"/>
            <p:nvPr/>
          </p:nvSpPr>
          <p:spPr>
            <a:xfrm>
              <a:off x="2130290" y="5257801"/>
              <a:ext cx="662608" cy="419474"/>
            </a:xfrm>
            <a:prstGeom prst="rect">
              <a:avLst/>
            </a:prstGeom>
            <a:noFill/>
            <a:ln>
              <a:noFill/>
            </a:ln>
          </p:spPr>
          <p:txBody>
            <a:bodyPr anchorCtr="0" anchor="t" bIns="45700" lIns="0" spcFirstLastPara="1" rIns="0" wrap="square" tIns="45700">
              <a:spAutoFit/>
            </a:bodyPr>
            <a:lstStyle/>
            <a:p>
              <a:pPr indent="0" lvl="0" marL="0" marR="0" rtl="0" algn="l">
                <a:lnSpc>
                  <a:spcPct val="71875"/>
                </a:lnSpc>
                <a:spcBef>
                  <a:spcPts val="0"/>
                </a:spcBef>
                <a:spcAft>
                  <a:spcPts val="0"/>
                </a:spcAft>
                <a:buClr>
                  <a:srgbClr val="262626"/>
                </a:buClr>
                <a:buSzPts val="3200"/>
                <a:buFont typeface="Open Sans"/>
                <a:buNone/>
              </a:pPr>
              <a:r>
                <a:rPr b="1" i="0" lang="en-US" sz="3200" u="none" cap="none" strike="noStrike">
                  <a:solidFill>
                    <a:srgbClr val="262626"/>
                  </a:solidFill>
                  <a:latin typeface="Open Sans"/>
                  <a:ea typeface="Open Sans"/>
                  <a:cs typeface="Open Sans"/>
                  <a:sym typeface="Open Sans"/>
                </a:rPr>
                <a:t>6</a:t>
              </a:r>
              <a:endParaRPr b="1" i="0" sz="3200" u="none" cap="none" strike="noStrike">
                <a:solidFill>
                  <a:srgbClr val="262626"/>
                </a:solidFill>
                <a:latin typeface="Open Sans"/>
                <a:ea typeface="Open Sans"/>
                <a:cs typeface="Open Sans"/>
                <a:sym typeface="Open Sans"/>
              </a:endParaRPr>
            </a:p>
          </p:txBody>
        </p:sp>
      </p:grpSp>
      <p:sp>
        <p:nvSpPr>
          <p:cNvPr id="146" name="Google Shape;146;p4"/>
          <p:cNvSpPr/>
          <p:nvPr/>
        </p:nvSpPr>
        <p:spPr>
          <a:xfrm>
            <a:off x="3457663" y="5061637"/>
            <a:ext cx="640572" cy="639086"/>
          </a:xfrm>
          <a:prstGeom prst="ellipse">
            <a:avLst/>
          </a:prstGeom>
          <a:noFill/>
          <a:ln cap="flat" cmpd="sng" w="12700">
            <a:solidFill>
              <a:srgbClr val="964D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cxnSp>
        <p:nvCxnSpPr>
          <p:cNvPr id="147" name="Google Shape;147;p4"/>
          <p:cNvCxnSpPr/>
          <p:nvPr/>
        </p:nvCxnSpPr>
        <p:spPr>
          <a:xfrm>
            <a:off x="2891054" y="5158409"/>
            <a:ext cx="560562" cy="99392"/>
          </a:xfrm>
          <a:prstGeom prst="straightConnector1">
            <a:avLst/>
          </a:prstGeom>
          <a:noFill/>
          <a:ln cap="flat" cmpd="sng" w="28575">
            <a:solidFill>
              <a:srgbClr val="964D24"/>
            </a:solidFill>
            <a:prstDash val="solid"/>
            <a:round/>
            <a:headEnd len="sm" w="sm" type="none"/>
            <a:tailEnd len="med" w="med" type="triangle"/>
          </a:ln>
        </p:spPr>
      </p:cxnSp>
      <p:sp>
        <p:nvSpPr>
          <p:cNvPr id="148" name="Google Shape;148;p4"/>
          <p:cNvSpPr txBox="1"/>
          <p:nvPr/>
        </p:nvSpPr>
        <p:spPr>
          <a:xfrm>
            <a:off x="2110623" y="4666928"/>
            <a:ext cx="1033670" cy="963084"/>
          </a:xfrm>
          <a:prstGeom prst="rect">
            <a:avLst/>
          </a:prstGeom>
          <a:noFill/>
          <a:ln>
            <a:noFill/>
          </a:ln>
        </p:spPr>
        <p:txBody>
          <a:bodyPr anchorCtr="0" anchor="t" bIns="45700" lIns="0" spcFirstLastPara="1" rIns="0" wrap="square" tIns="45700">
            <a:spAutoFit/>
          </a:bodyPr>
          <a:lstStyle/>
          <a:p>
            <a:pPr indent="0" lvl="0" marL="0" marR="0" rtl="0" algn="l">
              <a:lnSpc>
                <a:spcPct val="143750"/>
              </a:lnSpc>
              <a:spcBef>
                <a:spcPts val="0"/>
              </a:spcBef>
              <a:spcAft>
                <a:spcPts val="0"/>
              </a:spcAft>
              <a:buClr>
                <a:srgbClr val="262626"/>
              </a:buClr>
              <a:buSzPts val="1600"/>
              <a:buFont typeface="Open Sans"/>
              <a:buNone/>
            </a:pPr>
            <a:r>
              <a:rPr b="0" i="0" lang="en-US" sz="1600" u="none" cap="none" strike="noStrike">
                <a:solidFill>
                  <a:srgbClr val="262626"/>
                </a:solidFill>
                <a:latin typeface="Open Sans"/>
                <a:ea typeface="Open Sans"/>
                <a:cs typeface="Open Sans"/>
                <a:sym typeface="Open Sans"/>
              </a:rPr>
              <a:t>Carbon has six protons.</a:t>
            </a:r>
            <a:endParaRPr b="0" i="0" sz="1400" u="none" cap="none" strike="noStrike">
              <a:solidFill>
                <a:srgbClr val="000000"/>
              </a:solidFill>
              <a:latin typeface="Arial"/>
              <a:ea typeface="Arial"/>
              <a:cs typeface="Arial"/>
              <a:sym typeface="Arial"/>
            </a:endParaRPr>
          </a:p>
        </p:txBody>
      </p:sp>
      <p:grpSp>
        <p:nvGrpSpPr>
          <p:cNvPr id="149" name="Google Shape;149;p4"/>
          <p:cNvGrpSpPr/>
          <p:nvPr/>
        </p:nvGrpSpPr>
        <p:grpSpPr>
          <a:xfrm>
            <a:off x="7807737" y="4116874"/>
            <a:ext cx="2428462" cy="1988929"/>
            <a:chOff x="6283737" y="4116873"/>
            <a:chExt cx="2428462" cy="1988929"/>
          </a:xfrm>
        </p:grpSpPr>
        <p:sp>
          <p:nvSpPr>
            <p:cNvPr id="150" name="Google Shape;150;p4"/>
            <p:cNvSpPr txBox="1"/>
            <p:nvPr/>
          </p:nvSpPr>
          <p:spPr>
            <a:xfrm>
              <a:off x="6734312" y="5295644"/>
              <a:ext cx="1977887" cy="810158"/>
            </a:xfrm>
            <a:prstGeom prst="rect">
              <a:avLst/>
            </a:prstGeom>
            <a:noFill/>
            <a:ln>
              <a:noFill/>
            </a:ln>
          </p:spPr>
          <p:txBody>
            <a:bodyPr anchorCtr="0" anchor="t" bIns="45700" lIns="0" spcFirstLastPara="1" rIns="0" wrap="square" tIns="45700">
              <a:spAutoFit/>
            </a:bodyPr>
            <a:lstStyle/>
            <a:p>
              <a:pPr indent="0" lvl="0" marL="0" marR="0" rtl="0" algn="l">
                <a:lnSpc>
                  <a:spcPct val="15333"/>
                </a:lnSpc>
                <a:spcBef>
                  <a:spcPts val="0"/>
                </a:spcBef>
                <a:spcAft>
                  <a:spcPts val="0"/>
                </a:spcAft>
                <a:buClr>
                  <a:srgbClr val="262626"/>
                </a:buClr>
                <a:buSzPts val="15000"/>
                <a:buFont typeface="Open Sans"/>
                <a:buNone/>
              </a:pPr>
              <a:r>
                <a:rPr b="0" i="0" lang="en-US" sz="15000" u="none" cap="none" strike="noStrike">
                  <a:solidFill>
                    <a:srgbClr val="262626"/>
                  </a:solidFill>
                  <a:latin typeface="Open Sans"/>
                  <a:ea typeface="Open Sans"/>
                  <a:cs typeface="Open Sans"/>
                  <a:sym typeface="Open Sans"/>
                </a:rPr>
                <a:t>C</a:t>
              </a:r>
              <a:endParaRPr b="0" i="0" sz="15000" u="none" cap="none" strike="noStrike">
                <a:solidFill>
                  <a:srgbClr val="262626"/>
                </a:solidFill>
                <a:latin typeface="Open Sans"/>
                <a:ea typeface="Open Sans"/>
                <a:cs typeface="Open Sans"/>
                <a:sym typeface="Open Sans"/>
              </a:endParaRPr>
            </a:p>
          </p:txBody>
        </p:sp>
        <p:sp>
          <p:nvSpPr>
            <p:cNvPr id="151" name="Google Shape;151;p4"/>
            <p:cNvSpPr txBox="1"/>
            <p:nvPr/>
          </p:nvSpPr>
          <p:spPr>
            <a:xfrm>
              <a:off x="6283737" y="4116873"/>
              <a:ext cx="662608" cy="419474"/>
            </a:xfrm>
            <a:prstGeom prst="rect">
              <a:avLst/>
            </a:prstGeom>
            <a:noFill/>
            <a:ln>
              <a:noFill/>
            </a:ln>
          </p:spPr>
          <p:txBody>
            <a:bodyPr anchorCtr="0" anchor="t" bIns="45700" lIns="0" spcFirstLastPara="1" rIns="0" wrap="square" tIns="45700">
              <a:spAutoFit/>
            </a:bodyPr>
            <a:lstStyle/>
            <a:p>
              <a:pPr indent="0" lvl="0" marL="0" marR="0" rtl="0" algn="l">
                <a:lnSpc>
                  <a:spcPct val="71875"/>
                </a:lnSpc>
                <a:spcBef>
                  <a:spcPts val="0"/>
                </a:spcBef>
                <a:spcAft>
                  <a:spcPts val="0"/>
                </a:spcAft>
                <a:buClr>
                  <a:srgbClr val="262626"/>
                </a:buClr>
                <a:buSzPts val="3200"/>
                <a:buFont typeface="Open Sans"/>
                <a:buNone/>
              </a:pPr>
              <a:r>
                <a:rPr b="1" i="0" lang="en-US" sz="3200" u="none" cap="none" strike="noStrike">
                  <a:solidFill>
                    <a:srgbClr val="262626"/>
                  </a:solidFill>
                  <a:latin typeface="Open Sans"/>
                  <a:ea typeface="Open Sans"/>
                  <a:cs typeface="Open Sans"/>
                  <a:sym typeface="Open Sans"/>
                </a:rPr>
                <a:t>14</a:t>
              </a:r>
              <a:endParaRPr b="1" i="0" sz="3200" u="none" cap="none" strike="noStrike">
                <a:solidFill>
                  <a:srgbClr val="262626"/>
                </a:solidFill>
                <a:latin typeface="Open Sans"/>
                <a:ea typeface="Open Sans"/>
                <a:cs typeface="Open Sans"/>
                <a:sym typeface="Open Sans"/>
              </a:endParaRPr>
            </a:p>
          </p:txBody>
        </p:sp>
        <p:sp>
          <p:nvSpPr>
            <p:cNvPr id="152" name="Google Shape;152;p4"/>
            <p:cNvSpPr txBox="1"/>
            <p:nvPr/>
          </p:nvSpPr>
          <p:spPr>
            <a:xfrm>
              <a:off x="6403008" y="5295644"/>
              <a:ext cx="662608" cy="419474"/>
            </a:xfrm>
            <a:prstGeom prst="rect">
              <a:avLst/>
            </a:prstGeom>
            <a:noFill/>
            <a:ln>
              <a:noFill/>
            </a:ln>
          </p:spPr>
          <p:txBody>
            <a:bodyPr anchorCtr="0" anchor="t" bIns="45700" lIns="0" spcFirstLastPara="1" rIns="0" wrap="square" tIns="45700">
              <a:spAutoFit/>
            </a:bodyPr>
            <a:lstStyle/>
            <a:p>
              <a:pPr indent="0" lvl="0" marL="0" marR="0" rtl="0" algn="l">
                <a:lnSpc>
                  <a:spcPct val="71875"/>
                </a:lnSpc>
                <a:spcBef>
                  <a:spcPts val="0"/>
                </a:spcBef>
                <a:spcAft>
                  <a:spcPts val="0"/>
                </a:spcAft>
                <a:buClr>
                  <a:srgbClr val="262626"/>
                </a:buClr>
                <a:buSzPts val="3200"/>
                <a:buFont typeface="Open Sans"/>
                <a:buNone/>
              </a:pPr>
              <a:r>
                <a:rPr b="1" i="0" lang="en-US" sz="3200" u="none" cap="none" strike="noStrike">
                  <a:solidFill>
                    <a:srgbClr val="262626"/>
                  </a:solidFill>
                  <a:latin typeface="Open Sans"/>
                  <a:ea typeface="Open Sans"/>
                  <a:cs typeface="Open Sans"/>
                  <a:sym typeface="Open Sans"/>
                </a:rPr>
                <a:t>6</a:t>
              </a:r>
              <a:endParaRPr b="1" i="0" sz="3200" u="none" cap="none" strike="noStrike">
                <a:solidFill>
                  <a:srgbClr val="262626"/>
                </a:solidFill>
                <a:latin typeface="Open Sans"/>
                <a:ea typeface="Open Sans"/>
                <a:cs typeface="Open Sans"/>
                <a:sym typeface="Open Sans"/>
              </a:endParaRPr>
            </a:p>
          </p:txBody>
        </p:sp>
      </p:grpSp>
      <p:sp>
        <p:nvSpPr>
          <p:cNvPr id="153" name="Google Shape;153;p4"/>
          <p:cNvSpPr/>
          <p:nvPr/>
        </p:nvSpPr>
        <p:spPr>
          <a:xfrm>
            <a:off x="7730381" y="3895348"/>
            <a:ext cx="640572" cy="639086"/>
          </a:xfrm>
          <a:prstGeom prst="ellipse">
            <a:avLst/>
          </a:prstGeom>
          <a:noFill/>
          <a:ln cap="flat" cmpd="sng" w="12700">
            <a:solidFill>
              <a:srgbClr val="964D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cxnSp>
        <p:nvCxnSpPr>
          <p:cNvPr id="154" name="Google Shape;154;p4"/>
          <p:cNvCxnSpPr/>
          <p:nvPr/>
        </p:nvCxnSpPr>
        <p:spPr>
          <a:xfrm flipH="1" rot="10800000">
            <a:off x="7050157" y="4408611"/>
            <a:ext cx="641546" cy="595685"/>
          </a:xfrm>
          <a:prstGeom prst="straightConnector1">
            <a:avLst/>
          </a:prstGeom>
          <a:noFill/>
          <a:ln cap="flat" cmpd="sng" w="28575">
            <a:solidFill>
              <a:srgbClr val="964D24"/>
            </a:solidFill>
            <a:prstDash val="solid"/>
            <a:round/>
            <a:headEnd len="sm" w="sm" type="none"/>
            <a:tailEnd len="med" w="med" type="triangle"/>
          </a:ln>
        </p:spPr>
      </p:cxnSp>
      <p:sp>
        <p:nvSpPr>
          <p:cNvPr id="155" name="Google Shape;155;p4"/>
          <p:cNvSpPr txBox="1"/>
          <p:nvPr/>
        </p:nvSpPr>
        <p:spPr>
          <a:xfrm>
            <a:off x="5713817" y="5004296"/>
            <a:ext cx="1977886" cy="1251433"/>
          </a:xfrm>
          <a:prstGeom prst="rect">
            <a:avLst/>
          </a:prstGeom>
          <a:noFill/>
          <a:ln>
            <a:noFill/>
          </a:ln>
        </p:spPr>
        <p:txBody>
          <a:bodyPr anchorCtr="0" anchor="t" bIns="45700" lIns="0" spcFirstLastPara="1" rIns="0" wrap="square" tIns="45700">
            <a:spAutoFit/>
          </a:bodyPr>
          <a:lstStyle/>
          <a:p>
            <a:pPr indent="0" lvl="0" marL="0" marR="0" rtl="0" algn="l">
              <a:lnSpc>
                <a:spcPct val="143750"/>
              </a:lnSpc>
              <a:spcBef>
                <a:spcPts val="0"/>
              </a:spcBef>
              <a:spcAft>
                <a:spcPts val="0"/>
              </a:spcAft>
              <a:buClr>
                <a:srgbClr val="262626"/>
              </a:buClr>
              <a:buSzPts val="1600"/>
              <a:buFont typeface="Open Sans"/>
              <a:buNone/>
            </a:pPr>
            <a:r>
              <a:rPr b="0" i="0" lang="en-US" sz="1600" u="none" cap="none" strike="noStrike">
                <a:solidFill>
                  <a:srgbClr val="262626"/>
                </a:solidFill>
                <a:latin typeface="Open Sans"/>
                <a:ea typeface="Open Sans"/>
                <a:cs typeface="Open Sans"/>
                <a:sym typeface="Open Sans"/>
              </a:rPr>
              <a:t>This carbon has two more neutrons increasing its mass from 12 to 14.</a:t>
            </a:r>
            <a:endParaRPr b="0" i="0" sz="1400" u="none" cap="none" strike="noStrike">
              <a:solidFill>
                <a:srgbClr val="000000"/>
              </a:solidFill>
              <a:latin typeface="Arial"/>
              <a:ea typeface="Arial"/>
              <a:cs typeface="Arial"/>
              <a:sym typeface="Arial"/>
            </a:endParaRPr>
          </a:p>
        </p:txBody>
      </p:sp>
      <p:sp>
        <p:nvSpPr>
          <p:cNvPr id="156" name="Google Shape;156;p4"/>
          <p:cNvSpPr/>
          <p:nvPr/>
        </p:nvSpPr>
        <p:spPr>
          <a:xfrm>
            <a:off x="881743" y="1818828"/>
            <a:ext cx="3027585" cy="1500906"/>
          </a:xfrm>
          <a:prstGeom prst="rect">
            <a:avLst/>
          </a:prstGeom>
          <a:noFill/>
          <a:ln cap="flat" cmpd="sng" w="12700">
            <a:solidFill>
              <a:srgbClr val="964D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Open Sans"/>
                <a:cs typeface="Open Sans"/>
                <a:sym typeface="Open Sans"/>
              </a:rPr>
              <a:t>An element’s identity is based on the number of protons in its nucleus. </a:t>
            </a:r>
            <a:endParaRPr b="0" i="0" sz="1800" u="none" cap="none" strike="noStrike">
              <a:solidFill>
                <a:srgbClr val="000000"/>
              </a:solidFill>
              <a:latin typeface="Open Sans"/>
              <a:ea typeface="Open Sans"/>
              <a:cs typeface="Open Sans"/>
              <a:sym typeface="Open Sans"/>
            </a:endParaRPr>
          </a:p>
        </p:txBody>
      </p:sp>
      <p:sp>
        <p:nvSpPr>
          <p:cNvPr id="157" name="Google Shape;157;p4"/>
          <p:cNvSpPr/>
          <p:nvPr/>
        </p:nvSpPr>
        <p:spPr>
          <a:xfrm>
            <a:off x="8470345" y="1845772"/>
            <a:ext cx="3027585" cy="1583227"/>
          </a:xfrm>
          <a:prstGeom prst="rect">
            <a:avLst/>
          </a:prstGeom>
          <a:noFill/>
          <a:ln cap="flat" cmpd="sng" w="12700">
            <a:solidFill>
              <a:srgbClr val="964D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0" i="0" lang="en-US" sz="2000" u="none" cap="none" strike="noStrike">
                <a:solidFill>
                  <a:srgbClr val="000000"/>
                </a:solidFill>
                <a:latin typeface="Open Sans"/>
                <a:ea typeface="Open Sans"/>
                <a:cs typeface="Open Sans"/>
                <a:sym typeface="Open Sans"/>
              </a:rPr>
              <a:t>An isotope is an element with a different number of neutrons. </a:t>
            </a:r>
            <a:endParaRPr b="0" i="0" sz="2000" u="none" cap="none" strike="noStrike">
              <a:solidFill>
                <a:srgbClr val="000000"/>
              </a:solidFill>
              <a:latin typeface="Open Sans"/>
              <a:ea typeface="Open Sans"/>
              <a:cs typeface="Open Sans"/>
              <a:sym typeface="Open Sans"/>
            </a:endParaRPr>
          </a:p>
        </p:txBody>
      </p:sp>
      <p:sp>
        <p:nvSpPr>
          <p:cNvPr id="158" name="Google Shape;158;p4"/>
          <p:cNvSpPr/>
          <p:nvPr/>
        </p:nvSpPr>
        <p:spPr>
          <a:xfrm>
            <a:off x="4913243" y="2881963"/>
            <a:ext cx="2379314" cy="969097"/>
          </a:xfrm>
          <a:prstGeom prst="rect">
            <a:avLst/>
          </a:prstGeom>
          <a:solidFill>
            <a:srgbClr val="964D24"/>
          </a:solidFill>
          <a:ln cap="flat" cmpd="sng" w="12700">
            <a:solidFill>
              <a:srgbClr val="964D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Open Sans"/>
              <a:buNone/>
            </a:pPr>
            <a:r>
              <a:rPr b="1" i="0" lang="en-US" sz="1600" u="none" cap="none" strike="noStrike">
                <a:solidFill>
                  <a:srgbClr val="FFFFFF"/>
                </a:solidFill>
                <a:latin typeface="Open Sans"/>
                <a:ea typeface="Open Sans"/>
                <a:cs typeface="Open Sans"/>
                <a:sym typeface="Open Sans"/>
              </a:rPr>
              <a:t>carbon-12 and carbon-14 are isotopes of carbon. </a:t>
            </a:r>
            <a:endParaRPr b="0" i="0" sz="1600" u="none" cap="none" strike="noStrike">
              <a:solidFill>
                <a:srgbClr val="FFFFFF"/>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6"/>
          <p:cNvSpPr txBox="1"/>
          <p:nvPr>
            <p:ph type="title"/>
          </p:nvPr>
        </p:nvSpPr>
        <p:spPr>
          <a:xfrm>
            <a:off x="2051522" y="115607"/>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4000"/>
              <a:buFont typeface="Gill Sans"/>
              <a:buNone/>
            </a:pPr>
            <a:r>
              <a:rPr lang="en-US" sz="4000"/>
              <a:t>EXAMPLES OF ISOTOPES</a:t>
            </a:r>
            <a:endParaRPr/>
          </a:p>
        </p:txBody>
      </p:sp>
      <p:pic>
        <p:nvPicPr>
          <p:cNvPr descr="isotopes" id="164" name="Google Shape;164;p6"/>
          <p:cNvPicPr preferRelativeResize="0"/>
          <p:nvPr>
            <p:ph idx="1" type="body"/>
          </p:nvPr>
        </p:nvPicPr>
        <p:blipFill rotWithShape="1">
          <a:blip r:embed="rId3">
            <a:alphaModFix/>
          </a:blip>
          <a:srcRect b="0" l="0" r="0" t="0"/>
          <a:stretch/>
        </p:blipFill>
        <p:spPr>
          <a:xfrm>
            <a:off x="3215177" y="1469571"/>
            <a:ext cx="5603587" cy="52728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7"/>
          <p:cNvSpPr txBox="1"/>
          <p:nvPr>
            <p:ph type="title"/>
          </p:nvPr>
        </p:nvSpPr>
        <p:spPr>
          <a:xfrm>
            <a:off x="2231136" y="1645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4400"/>
              <a:buFont typeface="Gill Sans"/>
              <a:buNone/>
            </a:pPr>
            <a:r>
              <a:rPr lang="en-US" sz="4400"/>
              <a:t>ISOTOPE STABILITY</a:t>
            </a:r>
            <a:endParaRPr/>
          </a:p>
        </p:txBody>
      </p:sp>
      <p:sp>
        <p:nvSpPr>
          <p:cNvPr id="170" name="Google Shape;170;p7"/>
          <p:cNvSpPr txBox="1"/>
          <p:nvPr>
            <p:ph idx="1" type="body"/>
          </p:nvPr>
        </p:nvSpPr>
        <p:spPr>
          <a:xfrm>
            <a:off x="0" y="1632857"/>
            <a:ext cx="11674929" cy="1968592"/>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2800"/>
              <a:buChar char="•"/>
            </a:pPr>
            <a:r>
              <a:rPr lang="en-US" sz="2800"/>
              <a:t>All elements have more than one isotope.  </a:t>
            </a:r>
            <a:endParaRPr/>
          </a:p>
          <a:p>
            <a:pPr indent="-228600" lvl="0" marL="228600" rtl="0" algn="l">
              <a:lnSpc>
                <a:spcPct val="100000"/>
              </a:lnSpc>
              <a:spcBef>
                <a:spcPts val="1000"/>
              </a:spcBef>
              <a:spcAft>
                <a:spcPts val="0"/>
              </a:spcAft>
              <a:buSzPts val="2800"/>
              <a:buChar char="•"/>
            </a:pPr>
            <a:r>
              <a:rPr lang="en-US" sz="2800"/>
              <a:t>A </a:t>
            </a:r>
            <a:r>
              <a:rPr b="1" lang="en-US" sz="2800"/>
              <a:t>stable</a:t>
            </a:r>
            <a:r>
              <a:rPr lang="en-US" sz="2800"/>
              <a:t> isotope is one in which the nucleus is unlikely to break apart.</a:t>
            </a:r>
            <a:endParaRPr/>
          </a:p>
          <a:p>
            <a:pPr indent="-228600" lvl="0" marL="228600" rtl="0" algn="l">
              <a:lnSpc>
                <a:spcPct val="100000"/>
              </a:lnSpc>
              <a:spcBef>
                <a:spcPts val="1000"/>
              </a:spcBef>
              <a:spcAft>
                <a:spcPts val="0"/>
              </a:spcAft>
              <a:buSzPts val="2800"/>
              <a:buChar char="•"/>
            </a:pPr>
            <a:r>
              <a:rPr lang="en-US" sz="2800"/>
              <a:t>An </a:t>
            </a:r>
            <a:r>
              <a:rPr b="1" lang="en-US" sz="2800"/>
              <a:t>unstable</a:t>
            </a:r>
            <a:r>
              <a:rPr lang="en-US" sz="2800"/>
              <a:t> isotope is one in which the nucleus is likely to break apart.</a:t>
            </a:r>
            <a:endParaRPr/>
          </a:p>
        </p:txBody>
      </p:sp>
      <p:pic>
        <p:nvPicPr>
          <p:cNvPr id="171" name="Google Shape;171;p7"/>
          <p:cNvPicPr preferRelativeResize="0"/>
          <p:nvPr/>
        </p:nvPicPr>
        <p:blipFill rotWithShape="1">
          <a:blip r:embed="rId3">
            <a:alphaModFix/>
          </a:blip>
          <a:srcRect b="0" l="0" r="0" t="0"/>
          <a:stretch/>
        </p:blipFill>
        <p:spPr>
          <a:xfrm>
            <a:off x="0" y="3935775"/>
            <a:ext cx="8405502" cy="2922225"/>
          </a:xfrm>
          <a:prstGeom prst="rect">
            <a:avLst/>
          </a:prstGeom>
          <a:noFill/>
          <a:ln>
            <a:noFill/>
          </a:ln>
        </p:spPr>
      </p:pic>
      <p:sp>
        <p:nvSpPr>
          <p:cNvPr id="172" name="Google Shape;172;p7"/>
          <p:cNvSpPr txBox="1"/>
          <p:nvPr/>
        </p:nvSpPr>
        <p:spPr>
          <a:xfrm>
            <a:off x="8848598" y="3561627"/>
            <a:ext cx="334489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Gill Sans"/>
              <a:buNone/>
            </a:pPr>
            <a:r>
              <a:rPr b="0" i="0" lang="en-US" sz="2800" u="sng" cap="none" strike="noStrike">
                <a:solidFill>
                  <a:srgbClr val="000000"/>
                </a:solidFill>
                <a:latin typeface="Gill Sans"/>
                <a:ea typeface="Gill Sans"/>
                <a:cs typeface="Gill Sans"/>
                <a:sym typeface="Gill Sans"/>
              </a:rPr>
              <a:t>Isotopes of Hydrogen</a:t>
            </a:r>
            <a:endParaRPr b="0" i="0" sz="1400" u="none" cap="none" strike="noStrike">
              <a:solidFill>
                <a:srgbClr val="000000"/>
              </a:solidFill>
              <a:latin typeface="Arial"/>
              <a:ea typeface="Arial"/>
              <a:cs typeface="Arial"/>
              <a:sym typeface="Arial"/>
            </a:endParaRPr>
          </a:p>
        </p:txBody>
      </p:sp>
      <p:sp>
        <p:nvSpPr>
          <p:cNvPr id="173" name="Google Shape;173;p7"/>
          <p:cNvSpPr txBox="1"/>
          <p:nvPr/>
        </p:nvSpPr>
        <p:spPr>
          <a:xfrm>
            <a:off x="8848602" y="4259850"/>
            <a:ext cx="35247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Gill Sans"/>
              <a:buNone/>
            </a:pPr>
            <a:r>
              <a:rPr b="0" i="0" lang="en-US" sz="2800" u="none" cap="none" strike="noStrike">
                <a:solidFill>
                  <a:srgbClr val="000000"/>
                </a:solidFill>
                <a:latin typeface="Gill Sans"/>
                <a:ea typeface="Gill Sans"/>
                <a:cs typeface="Gill Sans"/>
                <a:sym typeface="Gill Sans"/>
              </a:rPr>
              <a:t>Protium – stable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Gill Sans"/>
              <a:buNone/>
            </a:pPr>
            <a:r>
              <a:rPr b="0" i="0" lang="en-US" sz="2800" u="none" cap="none" strike="noStrike">
                <a:solidFill>
                  <a:srgbClr val="000000"/>
                </a:solidFill>
                <a:latin typeface="Gill Sans"/>
                <a:ea typeface="Gill Sans"/>
                <a:cs typeface="Gill Sans"/>
                <a:sym typeface="Gill Sans"/>
              </a:rPr>
              <a:t>Deuterium - stable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Gill Sans"/>
              <a:buNone/>
            </a:pPr>
            <a:r>
              <a:rPr b="0" i="0" lang="en-US" sz="2800" u="none" cap="none" strike="noStrike">
                <a:solidFill>
                  <a:srgbClr val="000000"/>
                </a:solidFill>
                <a:latin typeface="Gill Sans"/>
                <a:ea typeface="Gill Sans"/>
                <a:cs typeface="Gill Sans"/>
                <a:sym typeface="Gill Sans"/>
              </a:rPr>
              <a:t>Tritium - 	</a:t>
            </a:r>
            <a:r>
              <a:rPr b="1" i="0" lang="en-US" sz="2800" u="none" cap="none" strike="noStrike">
                <a:solidFill>
                  <a:srgbClr val="000000"/>
                </a:solidFill>
                <a:latin typeface="Gill Sans"/>
                <a:ea typeface="Gill Sans"/>
                <a:cs typeface="Gill Sans"/>
                <a:sym typeface="Gill Sans"/>
              </a:rPr>
              <a:t>unstable</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8"/>
          <p:cNvSpPr txBox="1"/>
          <p:nvPr>
            <p:ph type="title"/>
          </p:nvPr>
        </p:nvSpPr>
        <p:spPr>
          <a:xfrm>
            <a:off x="2231136" y="195943"/>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3600"/>
              <a:buFont typeface="Gill Sans"/>
              <a:buNone/>
            </a:pPr>
            <a:r>
              <a:rPr lang="en-US" sz="3600"/>
              <a:t>ISOTOPE STABILITY</a:t>
            </a:r>
            <a:endParaRPr/>
          </a:p>
        </p:txBody>
      </p:sp>
      <p:sp>
        <p:nvSpPr>
          <p:cNvPr id="179" name="Google Shape;179;p8"/>
          <p:cNvSpPr txBox="1"/>
          <p:nvPr>
            <p:ph idx="1" type="body"/>
          </p:nvPr>
        </p:nvSpPr>
        <p:spPr>
          <a:xfrm>
            <a:off x="234778" y="1730830"/>
            <a:ext cx="11957221" cy="5127170"/>
          </a:xfrm>
          <a:prstGeom prst="rect">
            <a:avLst/>
          </a:prstGeom>
          <a:noFill/>
          <a:ln>
            <a:noFill/>
          </a:ln>
        </p:spPr>
        <p:txBody>
          <a:bodyPr anchorCtr="0" anchor="t" bIns="45700" lIns="91425" spcFirstLastPara="1" rIns="91425" wrap="square" tIns="45700">
            <a:normAutofit/>
          </a:bodyPr>
          <a:lstStyle/>
          <a:p>
            <a:pPr indent="-203200" lvl="0" marL="228600" rtl="0" algn="l">
              <a:lnSpc>
                <a:spcPct val="100000"/>
              </a:lnSpc>
              <a:spcBef>
                <a:spcPts val="0"/>
              </a:spcBef>
              <a:spcAft>
                <a:spcPts val="0"/>
              </a:spcAft>
              <a:buSzPts val="3200"/>
              <a:buChar char="•"/>
            </a:pPr>
            <a:r>
              <a:rPr lang="en-US" sz="3200"/>
              <a:t>The </a:t>
            </a:r>
            <a:r>
              <a:rPr lang="en-US" sz="3200">
                <a:solidFill>
                  <a:srgbClr val="0070C0"/>
                </a:solidFill>
              </a:rPr>
              <a:t>‘</a:t>
            </a:r>
            <a:r>
              <a:rPr b="1" lang="en-US" sz="3200">
                <a:solidFill>
                  <a:srgbClr val="0070C0"/>
                </a:solidFill>
              </a:rPr>
              <a:t>nuclear forces’ </a:t>
            </a:r>
            <a:r>
              <a:rPr lang="en-US" sz="3200"/>
              <a:t>hold the nucleus together.</a:t>
            </a:r>
            <a:br>
              <a:rPr lang="en-US" sz="3200"/>
            </a:br>
            <a:endParaRPr sz="3200"/>
          </a:p>
          <a:p>
            <a:pPr indent="-203200" lvl="0" marL="228600" rtl="0" algn="l">
              <a:lnSpc>
                <a:spcPct val="100000"/>
              </a:lnSpc>
              <a:spcBef>
                <a:spcPts val="1000"/>
              </a:spcBef>
              <a:spcAft>
                <a:spcPts val="0"/>
              </a:spcAft>
              <a:buSzPts val="3200"/>
              <a:buChar char="•"/>
            </a:pPr>
            <a:r>
              <a:rPr b="1" lang="en-US" sz="3200">
                <a:solidFill>
                  <a:srgbClr val="0070C0"/>
                </a:solidFill>
              </a:rPr>
              <a:t>Neutrons</a:t>
            </a:r>
            <a:r>
              <a:rPr lang="en-US" sz="3200"/>
              <a:t> help hold the </a:t>
            </a:r>
            <a:r>
              <a:rPr b="1" lang="en-US" sz="3200">
                <a:solidFill>
                  <a:srgbClr val="0070C0"/>
                </a:solidFill>
              </a:rPr>
              <a:t>protons</a:t>
            </a:r>
            <a:r>
              <a:rPr lang="en-US" sz="3200">
                <a:solidFill>
                  <a:schemeClr val="accent2"/>
                </a:solidFill>
              </a:rPr>
              <a:t> </a:t>
            </a:r>
            <a:r>
              <a:rPr lang="en-US" sz="3200"/>
              <a:t>the right distance apart from each other to maintain nuclear </a:t>
            </a:r>
            <a:r>
              <a:rPr b="1" lang="en-US" sz="3200">
                <a:solidFill>
                  <a:srgbClr val="0070C0"/>
                </a:solidFill>
              </a:rPr>
              <a:t>stability</a:t>
            </a:r>
            <a:r>
              <a:rPr lang="en-US" sz="3200"/>
              <a:t>.</a:t>
            </a:r>
            <a:br>
              <a:rPr lang="en-US" sz="3200"/>
            </a:br>
            <a:endParaRPr sz="3200"/>
          </a:p>
          <a:p>
            <a:pPr indent="-203200" lvl="0" marL="228600" rtl="0" algn="l">
              <a:lnSpc>
                <a:spcPct val="100000"/>
              </a:lnSpc>
              <a:spcBef>
                <a:spcPts val="1000"/>
              </a:spcBef>
              <a:spcAft>
                <a:spcPts val="0"/>
              </a:spcAft>
              <a:buSzPts val="3200"/>
              <a:buChar char="•"/>
            </a:pPr>
            <a:r>
              <a:rPr lang="en-US" sz="3200"/>
              <a:t>Some isotopes are unstable because:</a:t>
            </a:r>
            <a:endParaRPr sz="3200"/>
          </a:p>
          <a:p>
            <a:pPr indent="-228600" lvl="1" marL="457200" rtl="0" algn="l">
              <a:lnSpc>
                <a:spcPct val="100000"/>
              </a:lnSpc>
              <a:spcBef>
                <a:spcPts val="1000"/>
              </a:spcBef>
              <a:spcAft>
                <a:spcPts val="0"/>
              </a:spcAft>
              <a:buSzPts val="3200"/>
              <a:buChar char="•"/>
            </a:pPr>
            <a:r>
              <a:rPr b="1" lang="en-US" sz="3200">
                <a:solidFill>
                  <a:srgbClr val="AA2B1E"/>
                </a:solidFill>
              </a:rPr>
              <a:t>Too many neutrons </a:t>
            </a:r>
            <a:r>
              <a:rPr lang="en-US" sz="3200"/>
              <a:t>for the number of protons</a:t>
            </a:r>
            <a:endParaRPr sz="3200"/>
          </a:p>
          <a:p>
            <a:pPr indent="-228600" lvl="1" marL="457200" rtl="0" algn="l">
              <a:lnSpc>
                <a:spcPct val="100000"/>
              </a:lnSpc>
              <a:spcBef>
                <a:spcPts val="1000"/>
              </a:spcBef>
              <a:spcAft>
                <a:spcPts val="0"/>
              </a:spcAft>
              <a:buSzPts val="3200"/>
              <a:buChar char="•"/>
            </a:pPr>
            <a:r>
              <a:rPr b="1" lang="en-US" sz="3200">
                <a:solidFill>
                  <a:srgbClr val="AA2B1E"/>
                </a:solidFill>
              </a:rPr>
              <a:t>Too many protons </a:t>
            </a:r>
            <a:r>
              <a:rPr lang="en-US" sz="3200"/>
              <a:t>for the number of neutrons </a:t>
            </a:r>
            <a:endParaRPr sz="3200"/>
          </a:p>
          <a:p>
            <a:pPr indent="-228600" lvl="1" marL="457200" rtl="0" algn="l">
              <a:lnSpc>
                <a:spcPct val="100000"/>
              </a:lnSpc>
              <a:spcBef>
                <a:spcPts val="1000"/>
              </a:spcBef>
              <a:spcAft>
                <a:spcPts val="0"/>
              </a:spcAft>
              <a:buSzPts val="3200"/>
              <a:buChar char="•"/>
            </a:pPr>
            <a:r>
              <a:rPr lang="en-US" sz="3200"/>
              <a:t>Too many protons and neutrons (the nucleus is </a:t>
            </a:r>
            <a:r>
              <a:rPr b="1" lang="en-US" sz="3200">
                <a:solidFill>
                  <a:srgbClr val="AA2B1E"/>
                </a:solidFill>
              </a:rPr>
              <a:t>too heavy</a:t>
            </a:r>
            <a:r>
              <a:rPr lang="en-US" sz="3200"/>
              <a:t>).</a:t>
            </a:r>
            <a:endParaRPr sz="3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ph type="title"/>
          </p:nvPr>
        </p:nvSpPr>
        <p:spPr>
          <a:xfrm>
            <a:off x="2231136" y="148264"/>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4000"/>
              <a:buFont typeface="Gill Sans"/>
              <a:buNone/>
            </a:pPr>
            <a:r>
              <a:rPr lang="en-US" sz="4000"/>
              <a:t>RADIOACTIVE DECAY</a:t>
            </a:r>
            <a:endParaRPr/>
          </a:p>
        </p:txBody>
      </p:sp>
      <p:sp>
        <p:nvSpPr>
          <p:cNvPr id="185" name="Google Shape;185;p9"/>
          <p:cNvSpPr txBox="1"/>
          <p:nvPr>
            <p:ph idx="1" type="body"/>
          </p:nvPr>
        </p:nvSpPr>
        <p:spPr>
          <a:xfrm>
            <a:off x="293914" y="1845129"/>
            <a:ext cx="11430000" cy="4555671"/>
          </a:xfrm>
          <a:prstGeom prst="rect">
            <a:avLst/>
          </a:prstGeom>
          <a:noFill/>
          <a:ln>
            <a:noFill/>
          </a:ln>
        </p:spPr>
        <p:txBody>
          <a:bodyPr anchorCtr="0" anchor="t" bIns="45700" lIns="91425" spcFirstLastPara="1" rIns="91425" wrap="square" tIns="45700">
            <a:normAutofit fontScale="92500" lnSpcReduction="10000"/>
          </a:bodyPr>
          <a:lstStyle/>
          <a:p>
            <a:pPr indent="-258445" lvl="0" marL="228600" rtl="0" algn="l">
              <a:lnSpc>
                <a:spcPct val="100000"/>
              </a:lnSpc>
              <a:spcBef>
                <a:spcPts val="0"/>
              </a:spcBef>
              <a:spcAft>
                <a:spcPts val="0"/>
              </a:spcAft>
              <a:buSzPct val="100000"/>
              <a:buChar char="•"/>
            </a:pPr>
            <a:r>
              <a:rPr lang="en-US" sz="4400"/>
              <a:t>Isotopes break down (</a:t>
            </a:r>
            <a:r>
              <a:rPr b="1" lang="en-US" sz="4400">
                <a:solidFill>
                  <a:srgbClr val="0070C0"/>
                </a:solidFill>
              </a:rPr>
              <a:t>decay</a:t>
            </a:r>
            <a:r>
              <a:rPr lang="en-US" sz="4400"/>
              <a:t>) when they are unstable.</a:t>
            </a:r>
            <a:endParaRPr/>
          </a:p>
          <a:p>
            <a:pPr indent="-258445" lvl="0" marL="228600" rtl="0" algn="l">
              <a:lnSpc>
                <a:spcPct val="100000"/>
              </a:lnSpc>
              <a:spcBef>
                <a:spcPts val="1000"/>
              </a:spcBef>
              <a:spcAft>
                <a:spcPts val="0"/>
              </a:spcAft>
              <a:buSzPct val="100000"/>
              <a:buChar char="•"/>
            </a:pPr>
            <a:r>
              <a:rPr lang="en-US" sz="4400"/>
              <a:t> When they break down they </a:t>
            </a:r>
            <a:r>
              <a:rPr b="1" lang="en-US" sz="4400">
                <a:solidFill>
                  <a:srgbClr val="AA2B1E"/>
                </a:solidFill>
              </a:rPr>
              <a:t>emit particles or electromagnetic radiation </a:t>
            </a:r>
            <a:r>
              <a:rPr lang="en-US" sz="4400"/>
              <a:t>from their nucleus (called </a:t>
            </a:r>
            <a:r>
              <a:rPr b="1" lang="en-US" sz="4400">
                <a:solidFill>
                  <a:srgbClr val="0070C0"/>
                </a:solidFill>
              </a:rPr>
              <a:t>radiation</a:t>
            </a:r>
            <a:r>
              <a:rPr lang="en-US" sz="4400"/>
              <a:t>).</a:t>
            </a:r>
            <a:endParaRPr/>
          </a:p>
          <a:p>
            <a:pPr indent="-258445" lvl="0" marL="228600" rtl="0" algn="l">
              <a:lnSpc>
                <a:spcPct val="100000"/>
              </a:lnSpc>
              <a:spcBef>
                <a:spcPts val="1000"/>
              </a:spcBef>
              <a:spcAft>
                <a:spcPts val="0"/>
              </a:spcAft>
              <a:buSzPct val="100000"/>
              <a:buChar char="•"/>
            </a:pPr>
            <a:r>
              <a:rPr lang="en-US" sz="4400"/>
              <a:t> This turns them into a </a:t>
            </a:r>
            <a:r>
              <a:rPr b="1" lang="en-US" sz="4400">
                <a:solidFill>
                  <a:srgbClr val="AA2B1E"/>
                </a:solidFill>
              </a:rPr>
              <a:t>different </a:t>
            </a:r>
            <a:r>
              <a:rPr b="1" lang="en-US" sz="4400" u="sng">
                <a:solidFill>
                  <a:srgbClr val="AA2B1E"/>
                </a:solidFill>
              </a:rPr>
              <a:t>stable</a:t>
            </a:r>
            <a:r>
              <a:rPr b="1" lang="en-US" sz="4400">
                <a:solidFill>
                  <a:srgbClr val="AA2B1E"/>
                </a:solidFill>
              </a:rPr>
              <a:t> element</a:t>
            </a:r>
            <a:endParaRPr/>
          </a:p>
          <a:p>
            <a:pPr indent="-17145" lvl="0" marL="228600" rtl="0" algn="l">
              <a:lnSpc>
                <a:spcPct val="100000"/>
              </a:lnSpc>
              <a:spcBef>
                <a:spcPts val="1000"/>
              </a:spcBef>
              <a:spcAft>
                <a:spcPts val="0"/>
              </a:spcAft>
              <a:buSzPct val="100000"/>
              <a:buNone/>
            </a:pPr>
            <a:r>
              <a:t/>
            </a:r>
            <a:endParaRPr sz="3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txBox="1"/>
          <p:nvPr>
            <p:ph type="title"/>
          </p:nvPr>
        </p:nvSpPr>
        <p:spPr>
          <a:xfrm>
            <a:off x="2060655" y="112285"/>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EXAMPLE – CARBON</a:t>
            </a:r>
            <a:endParaRPr/>
          </a:p>
        </p:txBody>
      </p:sp>
      <p:pic>
        <p:nvPicPr>
          <p:cNvPr id="191" name="Google Shape;191;p10"/>
          <p:cNvPicPr preferRelativeResize="0"/>
          <p:nvPr>
            <p:ph idx="1" type="body"/>
          </p:nvPr>
        </p:nvPicPr>
        <p:blipFill rotWithShape="1">
          <a:blip r:embed="rId3">
            <a:alphaModFix/>
          </a:blip>
          <a:srcRect b="0" l="0" r="0" t="0"/>
          <a:stretch/>
        </p:blipFill>
        <p:spPr>
          <a:xfrm>
            <a:off x="1464371" y="1455967"/>
            <a:ext cx="8932701" cy="3946065"/>
          </a:xfrm>
          <a:prstGeom prst="rect">
            <a:avLst/>
          </a:prstGeom>
          <a:noFill/>
          <a:ln>
            <a:noFill/>
          </a:ln>
        </p:spPr>
      </p:pic>
      <p:sp>
        <p:nvSpPr>
          <p:cNvPr id="192" name="Google Shape;192;p10"/>
          <p:cNvSpPr txBox="1"/>
          <p:nvPr/>
        </p:nvSpPr>
        <p:spPr>
          <a:xfrm>
            <a:off x="1794928" y="5402032"/>
            <a:ext cx="8336417"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Gill Sans"/>
              <a:buNone/>
            </a:pPr>
            <a:r>
              <a:rPr b="0" i="0" lang="en-US" sz="2800" u="none" cap="none" strike="noStrike">
                <a:solidFill>
                  <a:srgbClr val="000000"/>
                </a:solidFill>
                <a:latin typeface="Gill Sans"/>
                <a:ea typeface="Gill Sans"/>
                <a:cs typeface="Gill Sans"/>
                <a:sym typeface="Gill Sans"/>
              </a:rPr>
              <a:t>Carbon-12 is stable; it has 6 protons and 6 neutrons.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Gill Sans"/>
              <a:buNone/>
            </a:pPr>
            <a:r>
              <a:t/>
            </a:r>
            <a:endParaRPr b="0" i="0" sz="28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2800"/>
              <a:buFont typeface="Gill Sans"/>
              <a:buNone/>
            </a:pPr>
            <a:r>
              <a:rPr b="0" i="0" lang="en-US" sz="2800" u="none" cap="none" strike="noStrike">
                <a:solidFill>
                  <a:srgbClr val="000000"/>
                </a:solidFill>
                <a:latin typeface="Gill Sans"/>
                <a:ea typeface="Gill Sans"/>
                <a:cs typeface="Gill Sans"/>
                <a:sym typeface="Gill Sans"/>
              </a:rPr>
              <a:t>Carbon-14 is unstable; it has 6 protons and 8 neutrons.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Learn the basics about radioactive isotopes.&#10;&#10;The identity and chemical properties of any atom are determined by the number of protons in its nucleus. As atoms get bigger and heavier, the nuclei get bigger and heavier and the protons need a “nuclear glue” to help hold them together.&#10;&#10;Neutrons provide this glue and prevent the positive charges of protons from repelling each other, thanks to something called the strong nuclear force.&#10;&#10;Elements can exist with slightly different numbers of neutrons. We call these isotopes of an element. &#10;&#10;The number of protons in isotopes of one element will always be the same; this means that the element is unchanged and so will react chemically in exactly the same way.&#10;&#10;There is often more than one stable isotope of an element. Much of the world around us is made up of stable isotopes. However, sometimes there aren’t enough neutrons in a nucleus or there are too many for it to be stable.&#10;&#10;Nuclei will try to stabilise themselves. If there are too many protons or too many neutrons, the nucleus can spontaneously rearrange itself and throw out particles in the process. This is essentially what happens in radioactive decay. &#10;&#10;Isotopes that have unstable nuclei are known as radioactive isotopes or radioisotopes. The more unstable a nucleus, the faster it will try to rearrange itself into a more stable state. This is known as radioactive decay. &#10;&#10;Radioisotopes are often used in medicine to trace aspects of body chemistry or blood flow. Atoms of radioisotopes can act as “markers”, allowing chemists to follow how a reaction sequence occurs. Radioisotopes are also used in radiotherapy to kill malignant cancer cells.&#10;&#10;SUBSCRIBE to the Fuse School YouTube channel for many more educational videos. Our teachers and animators come together to make fun &amp; easy-to-understand videos in Chemistry, Biology, Physics, Maths &amp; ICT.&#10;&#10;JOIN our platform at www.fuseschool.org&#10;&#10;This video is part of 'Chemistry for All' - a Chemistry Education project by our Charity Fuse Foundation - the organisation behind FuseSchool. These videos can be used in a flipped classroom model or as a revision aid. Find our other Chemistry videos here: &#10;&#10;https://www.youtube.com/playlist?list=PLW0gavSzhMlReKGMVfUt6YuNQsO0bqSMV&#10;&#10;Twitter: https://twitter.com/fuseSchool&#10;Access a deeper Learning Experience in the Fuse School platform and app: www.fuseschool.org&#10;Follow us: http://www.youtube.com/fuseschool&#10;Friend us: http://www.facebook.com/fuseschool&#10;&#10;This Open Educational Resource is free of charge, under a Creative Commons License: Attribution-NonCommercial CC BY-NC ( View License Deed: http://creativecommons.org/licenses/by-nc/4.0/ ).  You are allowed to download the video for nonprofit, educational use. If you would like to modify the video, please contact us: info@fuseschool.org" id="197" name="Google Shape;197;g39b9b9d4458_0_4" title="What Are Radioactive Isotopes? | Properties of Matter | Chemistry | FuseSchool">
            <a:hlinkClick r:id="rId3"/>
          </p:cNvPr>
          <p:cNvPicPr preferRelativeResize="0"/>
          <p:nvPr/>
        </p:nvPicPr>
        <p:blipFill>
          <a:blip r:embed="rId4">
            <a:alphaModFix/>
          </a:blip>
          <a:stretch>
            <a:fillRect/>
          </a:stretch>
        </p:blipFill>
        <p:spPr>
          <a:xfrm>
            <a:off x="279738" y="157350"/>
            <a:ext cx="11632525" cy="6543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1"/>
          <p:cNvSpPr txBox="1"/>
          <p:nvPr>
            <p:ph type="title"/>
          </p:nvPr>
        </p:nvSpPr>
        <p:spPr>
          <a:xfrm>
            <a:off x="2176117" y="82708"/>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4000"/>
              <a:buFont typeface="Gill Sans"/>
              <a:buNone/>
            </a:pPr>
            <a:r>
              <a:rPr lang="en-US" sz="4000"/>
              <a:t>TYPES OF RADIATION</a:t>
            </a:r>
            <a:endParaRPr/>
          </a:p>
        </p:txBody>
      </p:sp>
      <p:sp>
        <p:nvSpPr>
          <p:cNvPr id="203" name="Google Shape;203;p11"/>
          <p:cNvSpPr txBox="1"/>
          <p:nvPr>
            <p:ph idx="1" type="body"/>
          </p:nvPr>
        </p:nvSpPr>
        <p:spPr>
          <a:xfrm>
            <a:off x="119664" y="1359472"/>
            <a:ext cx="4463162" cy="310198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600"/>
              <a:buNone/>
            </a:pPr>
            <a:r>
              <a:rPr lang="en-US" sz="3600"/>
              <a:t>Three types:</a:t>
            </a:r>
            <a:endParaRPr/>
          </a:p>
          <a:p>
            <a:pPr indent="-228600" lvl="1" marL="457200" rtl="0" algn="l">
              <a:lnSpc>
                <a:spcPct val="100000"/>
              </a:lnSpc>
              <a:spcBef>
                <a:spcPts val="1000"/>
              </a:spcBef>
              <a:spcAft>
                <a:spcPts val="0"/>
              </a:spcAft>
              <a:buSzPts val="3200"/>
              <a:buChar char="•"/>
            </a:pPr>
            <a:r>
              <a:rPr lang="en-US" sz="3200"/>
              <a:t> Alpha particles α</a:t>
            </a:r>
            <a:endParaRPr/>
          </a:p>
          <a:p>
            <a:pPr indent="-228600" lvl="1" marL="457200" rtl="0" algn="l">
              <a:lnSpc>
                <a:spcPct val="100000"/>
              </a:lnSpc>
              <a:spcBef>
                <a:spcPts val="1000"/>
              </a:spcBef>
              <a:spcAft>
                <a:spcPts val="0"/>
              </a:spcAft>
              <a:buSzPts val="3200"/>
              <a:buChar char="•"/>
            </a:pPr>
            <a:r>
              <a:rPr lang="en-US" sz="3200"/>
              <a:t> Beta particles β</a:t>
            </a:r>
            <a:endParaRPr/>
          </a:p>
          <a:p>
            <a:pPr indent="-228600" lvl="1" marL="457200" rtl="0" algn="l">
              <a:lnSpc>
                <a:spcPct val="100000"/>
              </a:lnSpc>
              <a:spcBef>
                <a:spcPts val="1000"/>
              </a:spcBef>
              <a:spcAft>
                <a:spcPts val="0"/>
              </a:spcAft>
              <a:buSzPts val="3200"/>
              <a:buChar char="•"/>
            </a:pPr>
            <a:r>
              <a:rPr lang="en-US" sz="3200"/>
              <a:t> Gamma radiation γ</a:t>
            </a:r>
            <a:endParaRPr sz="3200"/>
          </a:p>
        </p:txBody>
      </p:sp>
      <p:sp>
        <p:nvSpPr>
          <p:cNvPr id="204" name="Google Shape;204;p11"/>
          <p:cNvSpPr txBox="1"/>
          <p:nvPr/>
        </p:nvSpPr>
        <p:spPr>
          <a:xfrm>
            <a:off x="5521456" y="4142910"/>
            <a:ext cx="1039050" cy="1323439"/>
          </a:xfrm>
          <a:prstGeom prst="rect">
            <a:avLst/>
          </a:prstGeom>
          <a:solidFill>
            <a:schemeClr val="lt1"/>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Gill Sans"/>
              <a:buNone/>
            </a:pPr>
            <a:r>
              <a:rPr b="0" i="0" lang="en-US" sz="1600" u="none" cap="none" strike="noStrike">
                <a:solidFill>
                  <a:srgbClr val="000000"/>
                </a:solidFill>
                <a:latin typeface="Gill Sans"/>
                <a:ea typeface="Gill Sans"/>
                <a:cs typeface="Gill Sans"/>
                <a:sym typeface="Gill Sans"/>
              </a:rPr>
              <a:t>A</a:t>
            </a:r>
            <a:endParaRPr b="0" i="0" sz="14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Clr>
                <a:srgbClr val="000000"/>
              </a:buClr>
              <a:buSzPts val="4000"/>
              <a:buFont typeface="Gill Sans"/>
              <a:buNone/>
            </a:pPr>
            <a:r>
              <a:rPr b="0" i="0" lang="en-US" sz="4000" u="none" cap="none" strike="noStrike">
                <a:solidFill>
                  <a:srgbClr val="000000"/>
                </a:solidFill>
                <a:latin typeface="Gill Sans"/>
                <a:ea typeface="Gill Sans"/>
                <a:cs typeface="Gill Sans"/>
                <a:sym typeface="Gill Sans"/>
              </a:rPr>
              <a:t>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Gill Sans"/>
              <a:buNone/>
            </a:pPr>
            <a:r>
              <a:rPr b="0" i="0" lang="en-US" sz="1600" u="none" cap="none" strike="noStrike">
                <a:solidFill>
                  <a:srgbClr val="000000"/>
                </a:solidFill>
                <a:latin typeface="Gill Sans"/>
                <a:ea typeface="Gill Sans"/>
                <a:cs typeface="Gill Sans"/>
                <a:sym typeface="Gill Sans"/>
              </a:rPr>
              <a:t>Z</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AA2B1E"/>
              </a:buClr>
              <a:buSzPts val="1600"/>
              <a:buFont typeface="Gill Sans"/>
              <a:buNone/>
            </a:pPr>
            <a:r>
              <a:rPr b="1" i="1" lang="en-US" sz="1600" u="none" cap="none" strike="noStrike">
                <a:solidFill>
                  <a:srgbClr val="AA2B1E"/>
                </a:solidFill>
                <a:latin typeface="Gill Sans"/>
                <a:ea typeface="Gill Sans"/>
                <a:cs typeface="Gill Sans"/>
                <a:sym typeface="Gill Sans"/>
              </a:rPr>
              <a:t>Unstable</a:t>
            </a:r>
            <a:endParaRPr b="0" i="0" sz="1400" u="none" cap="none" strike="noStrike">
              <a:solidFill>
                <a:srgbClr val="000000"/>
              </a:solidFill>
              <a:latin typeface="Arial"/>
              <a:ea typeface="Arial"/>
              <a:cs typeface="Arial"/>
              <a:sym typeface="Arial"/>
            </a:endParaRPr>
          </a:p>
        </p:txBody>
      </p:sp>
      <p:sp>
        <p:nvSpPr>
          <p:cNvPr id="205" name="Google Shape;205;p11"/>
          <p:cNvSpPr/>
          <p:nvPr/>
        </p:nvSpPr>
        <p:spPr>
          <a:xfrm rot="-316437">
            <a:off x="7370785" y="5048041"/>
            <a:ext cx="2581872" cy="780210"/>
          </a:xfrm>
          <a:prstGeom prst="lightningBolt">
            <a:avLst/>
          </a:prstGeom>
          <a:gradFill>
            <a:gsLst>
              <a:gs pos="0">
                <a:srgbClr val="F6A83E"/>
              </a:gs>
              <a:gs pos="50000">
                <a:srgbClr val="F9A218"/>
              </a:gs>
              <a:gs pos="100000">
                <a:srgbClr val="F79C0E"/>
              </a:gs>
            </a:gsLst>
            <a:lin ang="5400000" scaled="0"/>
          </a:gra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206" name="Google Shape;206;p11"/>
          <p:cNvSpPr/>
          <p:nvPr/>
        </p:nvSpPr>
        <p:spPr>
          <a:xfrm>
            <a:off x="3905156" y="5786525"/>
            <a:ext cx="158744" cy="158734"/>
          </a:xfrm>
          <a:prstGeom prst="ellipse">
            <a:avLst/>
          </a:prstGeom>
          <a:gradFill>
            <a:gsLst>
              <a:gs pos="0">
                <a:srgbClr val="F6A83E"/>
              </a:gs>
              <a:gs pos="50000">
                <a:srgbClr val="F9A218"/>
              </a:gs>
              <a:gs pos="100000">
                <a:srgbClr val="F79C0E"/>
              </a:gs>
            </a:gsLst>
            <a:lin ang="5400000" scaled="0"/>
          </a:gra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grpSp>
        <p:nvGrpSpPr>
          <p:cNvPr id="207" name="Google Shape;207;p11"/>
          <p:cNvGrpSpPr/>
          <p:nvPr/>
        </p:nvGrpSpPr>
        <p:grpSpPr>
          <a:xfrm>
            <a:off x="3441612" y="4291620"/>
            <a:ext cx="463544" cy="432915"/>
            <a:chOff x="2248105" y="4374144"/>
            <a:chExt cx="463544" cy="432915"/>
          </a:xfrm>
        </p:grpSpPr>
        <p:sp>
          <p:nvSpPr>
            <p:cNvPr id="208" name="Google Shape;208;p11"/>
            <p:cNvSpPr/>
            <p:nvPr/>
          </p:nvSpPr>
          <p:spPr>
            <a:xfrm>
              <a:off x="2273798" y="4386811"/>
              <a:ext cx="266102" cy="267848"/>
            </a:xfrm>
            <a:prstGeom prst="ellipse">
              <a:avLst/>
            </a:prstGeom>
            <a:gradFill>
              <a:gsLst>
                <a:gs pos="0">
                  <a:srgbClr val="ACA395"/>
                </a:gs>
                <a:gs pos="100000">
                  <a:srgbClr val="A9A08F"/>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09" name="Google Shape;209;p11"/>
            <p:cNvSpPr/>
            <p:nvPr/>
          </p:nvSpPr>
          <p:spPr>
            <a:xfrm>
              <a:off x="2248105" y="4520735"/>
              <a:ext cx="266102" cy="267848"/>
            </a:xfrm>
            <a:prstGeom prst="ellipse">
              <a:avLst/>
            </a:prstGeom>
            <a:gradFill>
              <a:gsLst>
                <a:gs pos="0">
                  <a:srgbClr val="B9BEA9"/>
                </a:gs>
                <a:gs pos="100000">
                  <a:srgbClr val="B7BCA6"/>
                </a:gs>
              </a:gsLst>
              <a:lin ang="5400000" scaled="0"/>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10" name="Google Shape;210;p11"/>
            <p:cNvSpPr/>
            <p:nvPr/>
          </p:nvSpPr>
          <p:spPr>
            <a:xfrm>
              <a:off x="2426198" y="4539211"/>
              <a:ext cx="266102" cy="267848"/>
            </a:xfrm>
            <a:prstGeom prst="ellipse">
              <a:avLst/>
            </a:prstGeom>
            <a:gradFill>
              <a:gsLst>
                <a:gs pos="0">
                  <a:srgbClr val="ACA395"/>
                </a:gs>
                <a:gs pos="100000">
                  <a:srgbClr val="A9A08F"/>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11" name="Google Shape;211;p11"/>
            <p:cNvSpPr/>
            <p:nvPr/>
          </p:nvSpPr>
          <p:spPr>
            <a:xfrm>
              <a:off x="2445547" y="4374144"/>
              <a:ext cx="266102" cy="267848"/>
            </a:xfrm>
            <a:prstGeom prst="ellipse">
              <a:avLst/>
            </a:prstGeom>
            <a:gradFill>
              <a:gsLst>
                <a:gs pos="0">
                  <a:srgbClr val="B9BEA9"/>
                </a:gs>
                <a:gs pos="100000">
                  <a:srgbClr val="B7BCA6"/>
                </a:gs>
              </a:gsLst>
              <a:lin ang="5400000" scaled="0"/>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sp>
        <p:nvSpPr>
          <p:cNvPr id="212" name="Google Shape;212;p11"/>
          <p:cNvSpPr/>
          <p:nvPr/>
        </p:nvSpPr>
        <p:spPr>
          <a:xfrm>
            <a:off x="4136055" y="4304286"/>
            <a:ext cx="1255518" cy="267848"/>
          </a:xfrm>
          <a:prstGeom prst="leftArrow">
            <a:avLst>
              <a:gd fmla="val 50000" name="adj1"/>
              <a:gd fmla="val 50000" name="adj2"/>
            </a:avLst>
          </a:prstGeom>
          <a:solidFill>
            <a:schemeClr val="accent5"/>
          </a:solidFill>
          <a:ln cap="flat" cmpd="sng" w="317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213" name="Google Shape;213;p11"/>
          <p:cNvSpPr/>
          <p:nvPr/>
        </p:nvSpPr>
        <p:spPr>
          <a:xfrm rot="-1183283">
            <a:off x="4216300" y="5491154"/>
            <a:ext cx="1255518" cy="267848"/>
          </a:xfrm>
          <a:prstGeom prst="leftArrow">
            <a:avLst>
              <a:gd fmla="val 50000" name="adj1"/>
              <a:gd fmla="val 50000" name="adj2"/>
            </a:avLst>
          </a:prstGeom>
          <a:solidFill>
            <a:schemeClr val="accent5"/>
          </a:solidFill>
          <a:ln cap="flat" cmpd="sng" w="317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214" name="Google Shape;214;p11"/>
          <p:cNvSpPr/>
          <p:nvPr/>
        </p:nvSpPr>
        <p:spPr>
          <a:xfrm rot="-9635312">
            <a:off x="6552667" y="4709262"/>
            <a:ext cx="1255518" cy="267848"/>
          </a:xfrm>
          <a:prstGeom prst="leftArrow">
            <a:avLst>
              <a:gd fmla="val 50000" name="adj1"/>
              <a:gd fmla="val 50000" name="adj2"/>
            </a:avLst>
          </a:prstGeom>
          <a:solidFill>
            <a:schemeClr val="accent5"/>
          </a:solidFill>
          <a:ln cap="flat" cmpd="sng" w="317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215" name="Google Shape;215;p11"/>
          <p:cNvSpPr/>
          <p:nvPr/>
        </p:nvSpPr>
        <p:spPr>
          <a:xfrm>
            <a:off x="2481946" y="4123503"/>
            <a:ext cx="632666" cy="707886"/>
          </a:xfrm>
          <a:prstGeom prst="rect">
            <a:avLst/>
          </a:prstGeom>
          <a:noFill/>
          <a:ln>
            <a:noFill/>
          </a:ln>
        </p:spPr>
        <p:txBody>
          <a:bodyPr anchorCtr="0" anchor="t" bIns="45700" lIns="91425" spcFirstLastPara="1" rIns="91425" wrap="square" tIns="45700">
            <a:spAutoFit/>
          </a:bodyPr>
          <a:lstStyle/>
          <a:p>
            <a:pPr indent="0" lvl="1" marL="457200" marR="0" rtl="0" algn="l">
              <a:lnSpc>
                <a:spcPct val="100000"/>
              </a:lnSpc>
              <a:spcBef>
                <a:spcPts val="0"/>
              </a:spcBef>
              <a:spcAft>
                <a:spcPts val="0"/>
              </a:spcAft>
              <a:buClr>
                <a:srgbClr val="000000"/>
              </a:buClr>
              <a:buSzPts val="4000"/>
              <a:buFont typeface="Gill Sans"/>
              <a:buNone/>
            </a:pPr>
            <a:r>
              <a:rPr b="0" i="0" lang="en-US" sz="4000" u="none" cap="none" strike="noStrike">
                <a:solidFill>
                  <a:srgbClr val="000000"/>
                </a:solidFill>
                <a:latin typeface="Gill Sans"/>
                <a:ea typeface="Gill Sans"/>
                <a:cs typeface="Gill Sans"/>
                <a:sym typeface="Gill Sans"/>
              </a:rPr>
              <a:t>α</a:t>
            </a:r>
            <a:endParaRPr b="0" i="0" sz="1400" u="none" cap="none" strike="noStrike">
              <a:solidFill>
                <a:srgbClr val="000000"/>
              </a:solidFill>
              <a:latin typeface="Arial"/>
              <a:ea typeface="Arial"/>
              <a:cs typeface="Arial"/>
              <a:sym typeface="Arial"/>
            </a:endParaRPr>
          </a:p>
        </p:txBody>
      </p:sp>
      <p:sp>
        <p:nvSpPr>
          <p:cNvPr id="216" name="Google Shape;216;p11"/>
          <p:cNvSpPr/>
          <p:nvPr/>
        </p:nvSpPr>
        <p:spPr>
          <a:xfrm>
            <a:off x="2964030" y="5504136"/>
            <a:ext cx="918841" cy="707886"/>
          </a:xfrm>
          <a:prstGeom prst="rect">
            <a:avLst/>
          </a:prstGeom>
          <a:noFill/>
          <a:ln>
            <a:noFill/>
          </a:ln>
        </p:spPr>
        <p:txBody>
          <a:bodyPr anchorCtr="0" anchor="t" bIns="45700" lIns="91425" spcFirstLastPara="1" rIns="91425" wrap="square" tIns="45700">
            <a:spAutoFit/>
          </a:bodyPr>
          <a:lstStyle/>
          <a:p>
            <a:pPr indent="0" lvl="1" marL="457200" marR="0" rtl="0" algn="l">
              <a:lnSpc>
                <a:spcPct val="100000"/>
              </a:lnSpc>
              <a:spcBef>
                <a:spcPts val="0"/>
              </a:spcBef>
              <a:spcAft>
                <a:spcPts val="0"/>
              </a:spcAft>
              <a:buClr>
                <a:srgbClr val="000000"/>
              </a:buClr>
              <a:buSzPts val="4000"/>
              <a:buFont typeface="Gill Sans"/>
              <a:buNone/>
            </a:pPr>
            <a:r>
              <a:rPr b="0" i="0" lang="en-US" sz="4000" u="none" cap="none" strike="noStrike">
                <a:solidFill>
                  <a:srgbClr val="000000"/>
                </a:solidFill>
                <a:latin typeface="Gill Sans"/>
                <a:ea typeface="Gill Sans"/>
                <a:cs typeface="Gill Sans"/>
                <a:sym typeface="Gill Sans"/>
              </a:rPr>
              <a:t>β</a:t>
            </a:r>
            <a:endParaRPr b="0" i="0" sz="1400" u="none" cap="none" strike="noStrike">
              <a:solidFill>
                <a:srgbClr val="000000"/>
              </a:solidFill>
              <a:latin typeface="Arial"/>
              <a:ea typeface="Arial"/>
              <a:cs typeface="Arial"/>
              <a:sym typeface="Arial"/>
            </a:endParaRPr>
          </a:p>
        </p:txBody>
      </p:sp>
      <p:sp>
        <p:nvSpPr>
          <p:cNvPr id="217" name="Google Shape;217;p11"/>
          <p:cNvSpPr/>
          <p:nvPr/>
        </p:nvSpPr>
        <p:spPr>
          <a:xfrm>
            <a:off x="8436531" y="4572134"/>
            <a:ext cx="875561" cy="707886"/>
          </a:xfrm>
          <a:prstGeom prst="rect">
            <a:avLst/>
          </a:prstGeom>
          <a:noFill/>
          <a:ln>
            <a:noFill/>
          </a:ln>
        </p:spPr>
        <p:txBody>
          <a:bodyPr anchorCtr="0" anchor="t" bIns="45700" lIns="91425" spcFirstLastPara="1" rIns="91425" wrap="square" tIns="45700">
            <a:spAutoFit/>
          </a:bodyPr>
          <a:lstStyle/>
          <a:p>
            <a:pPr indent="0" lvl="1" marL="457200" marR="0" rtl="0" algn="l">
              <a:lnSpc>
                <a:spcPct val="100000"/>
              </a:lnSpc>
              <a:spcBef>
                <a:spcPts val="0"/>
              </a:spcBef>
              <a:spcAft>
                <a:spcPts val="0"/>
              </a:spcAft>
              <a:buClr>
                <a:srgbClr val="000000"/>
              </a:buClr>
              <a:buSzPts val="4000"/>
              <a:buFont typeface="Gill Sans"/>
              <a:buNone/>
            </a:pPr>
            <a:r>
              <a:rPr b="0" i="0" lang="en-US" sz="4000" u="none" cap="none" strike="noStrike">
                <a:solidFill>
                  <a:srgbClr val="000000"/>
                </a:solidFill>
                <a:latin typeface="Gill Sans"/>
                <a:ea typeface="Gill Sans"/>
                <a:cs typeface="Gill Sans"/>
                <a:sym typeface="Gill Sans"/>
              </a:rPr>
              <a:t>γ</a:t>
            </a:r>
            <a:endParaRPr b="0" i="0" sz="4000" u="none" cap="none" strike="noStrike">
              <a:solidFill>
                <a:srgbClr val="000000"/>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2"/>
          <p:cNvSpPr txBox="1"/>
          <p:nvPr>
            <p:ph type="title"/>
          </p:nvPr>
        </p:nvSpPr>
        <p:spPr>
          <a:xfrm>
            <a:off x="2231136" y="82651"/>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4000"/>
              <a:buFont typeface="Gill Sans"/>
              <a:buNone/>
            </a:pPr>
            <a:r>
              <a:rPr lang="en-US" sz="4000"/>
              <a:t>ALPHA DECAY</a:t>
            </a:r>
            <a:endParaRPr/>
          </a:p>
        </p:txBody>
      </p:sp>
      <p:sp>
        <p:nvSpPr>
          <p:cNvPr id="223" name="Google Shape;223;p12"/>
          <p:cNvSpPr txBox="1"/>
          <p:nvPr>
            <p:ph idx="1" type="body"/>
          </p:nvPr>
        </p:nvSpPr>
        <p:spPr>
          <a:xfrm>
            <a:off x="148281" y="1391484"/>
            <a:ext cx="11526647" cy="3954917"/>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3200"/>
              <a:buChar char="•"/>
            </a:pPr>
            <a:r>
              <a:rPr lang="en-US" sz="3200"/>
              <a:t> Two </a:t>
            </a:r>
            <a:r>
              <a:rPr lang="en-US" sz="3200">
                <a:solidFill>
                  <a:srgbClr val="0070C0"/>
                </a:solidFill>
              </a:rPr>
              <a:t>protons</a:t>
            </a:r>
            <a:r>
              <a:rPr lang="en-US" sz="3200"/>
              <a:t> and two </a:t>
            </a:r>
            <a:r>
              <a:rPr lang="en-US" sz="3200">
                <a:solidFill>
                  <a:srgbClr val="0070C0"/>
                </a:solidFill>
              </a:rPr>
              <a:t>neutrons</a:t>
            </a:r>
            <a:r>
              <a:rPr lang="en-US" sz="3200"/>
              <a:t> are lost from a nucleus when it emits an alpha particle. This means that:</a:t>
            </a:r>
            <a:endParaRPr/>
          </a:p>
          <a:p>
            <a:pPr indent="-228600" lvl="1" marL="457200" rtl="0" algn="l">
              <a:lnSpc>
                <a:spcPct val="100000"/>
              </a:lnSpc>
              <a:spcBef>
                <a:spcPts val="1000"/>
              </a:spcBef>
              <a:spcAft>
                <a:spcPts val="0"/>
              </a:spcAft>
              <a:buSzPts val="2800"/>
              <a:buChar char="•"/>
            </a:pPr>
            <a:r>
              <a:rPr lang="en-US" sz="2800"/>
              <a:t>The atomic mass number decreases by 4</a:t>
            </a:r>
            <a:endParaRPr/>
          </a:p>
          <a:p>
            <a:pPr indent="-228600" lvl="1" marL="457200" rtl="0" algn="l">
              <a:lnSpc>
                <a:spcPct val="100000"/>
              </a:lnSpc>
              <a:spcBef>
                <a:spcPts val="1000"/>
              </a:spcBef>
              <a:spcAft>
                <a:spcPts val="0"/>
              </a:spcAft>
              <a:buSzPts val="2800"/>
              <a:buChar char="•"/>
            </a:pPr>
            <a:r>
              <a:rPr lang="en-US" sz="2800"/>
              <a:t>The atomic number decreases by 2</a:t>
            </a:r>
            <a:endParaRPr/>
          </a:p>
          <a:p>
            <a:pPr indent="-228600" lvl="0" marL="228600" rtl="0" algn="l">
              <a:lnSpc>
                <a:spcPct val="100000"/>
              </a:lnSpc>
              <a:spcBef>
                <a:spcPts val="1000"/>
              </a:spcBef>
              <a:spcAft>
                <a:spcPts val="0"/>
              </a:spcAft>
              <a:buSzPts val="3200"/>
              <a:buChar char="•"/>
            </a:pPr>
            <a:r>
              <a:rPr lang="en-US" sz="3200"/>
              <a:t>A new element is formed that is two places lower in the Periodic Table than the original element.</a:t>
            </a:r>
            <a:endParaRPr/>
          </a:p>
        </p:txBody>
      </p:sp>
      <p:pic>
        <p:nvPicPr>
          <p:cNvPr id="224" name="Google Shape;224;p12"/>
          <p:cNvPicPr preferRelativeResize="0"/>
          <p:nvPr/>
        </p:nvPicPr>
        <p:blipFill rotWithShape="1">
          <a:blip r:embed="rId3">
            <a:alphaModFix/>
          </a:blip>
          <a:srcRect b="0" l="0" r="0" t="0"/>
          <a:stretch/>
        </p:blipFill>
        <p:spPr>
          <a:xfrm>
            <a:off x="2231136" y="5346401"/>
            <a:ext cx="7249298" cy="14289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type="title"/>
          </p:nvPr>
        </p:nvSpPr>
        <p:spPr>
          <a:xfrm>
            <a:off x="2231136" y="117128"/>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3600"/>
              <a:buFont typeface="Gill Sans"/>
              <a:buNone/>
            </a:pPr>
            <a:r>
              <a:rPr lang="en-US" sz="3600"/>
              <a:t>BETA DECAY</a:t>
            </a:r>
            <a:endParaRPr/>
          </a:p>
        </p:txBody>
      </p:sp>
      <p:sp>
        <p:nvSpPr>
          <p:cNvPr id="230" name="Google Shape;230;p13"/>
          <p:cNvSpPr txBox="1"/>
          <p:nvPr>
            <p:ph idx="1" type="body"/>
          </p:nvPr>
        </p:nvSpPr>
        <p:spPr>
          <a:xfrm>
            <a:off x="123568" y="1616530"/>
            <a:ext cx="12068431" cy="362494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SzPts val="3200"/>
              <a:buChar char="•"/>
            </a:pPr>
            <a:r>
              <a:rPr lang="en-US" sz="3200"/>
              <a:t>In beta decay, a neutron changes into a </a:t>
            </a:r>
            <a:r>
              <a:rPr lang="en-US" sz="3200">
                <a:solidFill>
                  <a:srgbClr val="0070C0"/>
                </a:solidFill>
              </a:rPr>
              <a:t>proton</a:t>
            </a:r>
            <a:r>
              <a:rPr lang="en-US" sz="3200"/>
              <a:t> plus an </a:t>
            </a:r>
            <a:r>
              <a:rPr lang="en-US" sz="3200">
                <a:solidFill>
                  <a:srgbClr val="0070C0"/>
                </a:solidFill>
              </a:rPr>
              <a:t>electron</a:t>
            </a:r>
            <a:r>
              <a:rPr lang="en-US" sz="3200"/>
              <a:t>. The proton stays in the nucleus. The electron leaves the atom with high energy as a beta particle.</a:t>
            </a:r>
            <a:endParaRPr/>
          </a:p>
          <a:p>
            <a:pPr indent="-228600" lvl="0" marL="228600" rtl="0" algn="l">
              <a:lnSpc>
                <a:spcPct val="100000"/>
              </a:lnSpc>
              <a:spcBef>
                <a:spcPts val="1000"/>
              </a:spcBef>
              <a:spcAft>
                <a:spcPts val="0"/>
              </a:spcAft>
              <a:buSzPts val="3200"/>
              <a:buChar char="•"/>
            </a:pPr>
            <a:r>
              <a:rPr lang="en-US" sz="3200"/>
              <a:t>The nucleus has one more proton and one less neutron. This means that:</a:t>
            </a:r>
            <a:endParaRPr/>
          </a:p>
          <a:p>
            <a:pPr indent="-228600" lvl="1" marL="457200" rtl="0" algn="l">
              <a:lnSpc>
                <a:spcPct val="100000"/>
              </a:lnSpc>
              <a:spcBef>
                <a:spcPts val="1000"/>
              </a:spcBef>
              <a:spcAft>
                <a:spcPts val="0"/>
              </a:spcAft>
              <a:buSzPts val="2800"/>
              <a:buChar char="•"/>
            </a:pPr>
            <a:r>
              <a:rPr lang="en-US" sz="2800"/>
              <a:t>The atomic mass number stays the same</a:t>
            </a:r>
            <a:endParaRPr/>
          </a:p>
          <a:p>
            <a:pPr indent="-228600" lvl="1" marL="457200" rtl="0" algn="l">
              <a:lnSpc>
                <a:spcPct val="100000"/>
              </a:lnSpc>
              <a:spcBef>
                <a:spcPts val="1000"/>
              </a:spcBef>
              <a:spcAft>
                <a:spcPts val="0"/>
              </a:spcAft>
              <a:buSzPts val="2800"/>
              <a:buChar char="•"/>
            </a:pPr>
            <a:r>
              <a:rPr lang="en-US" sz="2800"/>
              <a:t>The atomic number increases by 1</a:t>
            </a:r>
            <a:endParaRPr/>
          </a:p>
        </p:txBody>
      </p:sp>
      <p:pic>
        <p:nvPicPr>
          <p:cNvPr id="231" name="Google Shape;231;p13"/>
          <p:cNvPicPr preferRelativeResize="0"/>
          <p:nvPr/>
        </p:nvPicPr>
        <p:blipFill rotWithShape="1">
          <a:blip r:embed="rId3">
            <a:alphaModFix/>
          </a:blip>
          <a:srcRect b="0" l="0" r="0" t="0"/>
          <a:stretch/>
        </p:blipFill>
        <p:spPr>
          <a:xfrm>
            <a:off x="2977659" y="5241470"/>
            <a:ext cx="6180460" cy="149940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4"/>
          <p:cNvSpPr txBox="1"/>
          <p:nvPr>
            <p:ph type="title"/>
          </p:nvPr>
        </p:nvSpPr>
        <p:spPr>
          <a:xfrm>
            <a:off x="2231136" y="166138"/>
            <a:ext cx="7729800" cy="1188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4000"/>
              <a:buFont typeface="Gill Sans"/>
              <a:buNone/>
            </a:pPr>
            <a:r>
              <a:rPr lang="en-US" sz="4000"/>
              <a:t>GAMMA RADIATION</a:t>
            </a:r>
            <a:endParaRPr/>
          </a:p>
        </p:txBody>
      </p:sp>
      <p:sp>
        <p:nvSpPr>
          <p:cNvPr id="237" name="Google Shape;237;p14"/>
          <p:cNvSpPr txBox="1"/>
          <p:nvPr>
            <p:ph idx="1" type="body"/>
          </p:nvPr>
        </p:nvSpPr>
        <p:spPr>
          <a:xfrm>
            <a:off x="111211" y="1877786"/>
            <a:ext cx="11936627" cy="2768355"/>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3600"/>
              <a:buChar char="•"/>
            </a:pPr>
            <a:r>
              <a:rPr lang="en-US" sz="3600"/>
              <a:t> An unstable isotope kicks out a photon and releases some of its energy</a:t>
            </a:r>
            <a:endParaRPr/>
          </a:p>
          <a:p>
            <a:pPr indent="-228600" lvl="0" marL="228600" rtl="0" algn="l">
              <a:lnSpc>
                <a:spcPct val="100000"/>
              </a:lnSpc>
              <a:spcBef>
                <a:spcPts val="1000"/>
              </a:spcBef>
              <a:spcAft>
                <a:spcPts val="0"/>
              </a:spcAft>
              <a:buSzPts val="3600"/>
              <a:buChar char="•"/>
            </a:pPr>
            <a:r>
              <a:rPr lang="en-US" sz="3600"/>
              <a:t> The atom’s nucleus stays the same, it just loses energy </a:t>
            </a:r>
            <a:endParaRPr/>
          </a:p>
        </p:txBody>
      </p:sp>
      <p:pic>
        <p:nvPicPr>
          <p:cNvPr id="238" name="Google Shape;238;p14"/>
          <p:cNvPicPr preferRelativeResize="0"/>
          <p:nvPr/>
        </p:nvPicPr>
        <p:blipFill rotWithShape="1">
          <a:blip r:embed="rId3">
            <a:alphaModFix/>
          </a:blip>
          <a:srcRect b="0" l="0" r="0" t="0"/>
          <a:stretch/>
        </p:blipFill>
        <p:spPr>
          <a:xfrm>
            <a:off x="1508258" y="5277078"/>
            <a:ext cx="8926727" cy="13406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grpSp>
        <p:nvGrpSpPr>
          <p:cNvPr id="243" name="Google Shape;243;p15"/>
          <p:cNvGrpSpPr/>
          <p:nvPr/>
        </p:nvGrpSpPr>
        <p:grpSpPr>
          <a:xfrm>
            <a:off x="2978150" y="2384425"/>
            <a:ext cx="350838" cy="400050"/>
            <a:chOff x="4128" y="192"/>
            <a:chExt cx="239" cy="281"/>
          </a:xfrm>
        </p:grpSpPr>
        <p:sp>
          <p:nvSpPr>
            <p:cNvPr id="244" name="Google Shape;244;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45" name="Google Shape;245;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46" name="Google Shape;246;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47" name="Google Shape;247;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248" name="Google Shape;248;p15"/>
          <p:cNvGrpSpPr/>
          <p:nvPr/>
        </p:nvGrpSpPr>
        <p:grpSpPr>
          <a:xfrm>
            <a:off x="3090864" y="2384425"/>
            <a:ext cx="350837" cy="400050"/>
            <a:chOff x="4128" y="192"/>
            <a:chExt cx="239" cy="281"/>
          </a:xfrm>
        </p:grpSpPr>
        <p:sp>
          <p:nvSpPr>
            <p:cNvPr id="249" name="Google Shape;249;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50" name="Google Shape;250;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51" name="Google Shape;251;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52" name="Google Shape;252;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253" name="Google Shape;253;p15"/>
          <p:cNvGrpSpPr/>
          <p:nvPr/>
        </p:nvGrpSpPr>
        <p:grpSpPr>
          <a:xfrm>
            <a:off x="3205164" y="2384425"/>
            <a:ext cx="350837" cy="400050"/>
            <a:chOff x="4128" y="192"/>
            <a:chExt cx="239" cy="281"/>
          </a:xfrm>
        </p:grpSpPr>
        <p:sp>
          <p:nvSpPr>
            <p:cNvPr id="254" name="Google Shape;254;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55" name="Google Shape;255;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56" name="Google Shape;256;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57" name="Google Shape;257;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258" name="Google Shape;258;p15"/>
          <p:cNvGrpSpPr/>
          <p:nvPr/>
        </p:nvGrpSpPr>
        <p:grpSpPr>
          <a:xfrm>
            <a:off x="3432175" y="2384425"/>
            <a:ext cx="350838" cy="400050"/>
            <a:chOff x="4128" y="192"/>
            <a:chExt cx="239" cy="281"/>
          </a:xfrm>
        </p:grpSpPr>
        <p:sp>
          <p:nvSpPr>
            <p:cNvPr id="259" name="Google Shape;259;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60" name="Google Shape;260;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61" name="Google Shape;261;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62" name="Google Shape;262;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263" name="Google Shape;263;p15"/>
          <p:cNvGrpSpPr/>
          <p:nvPr/>
        </p:nvGrpSpPr>
        <p:grpSpPr>
          <a:xfrm>
            <a:off x="3319464" y="2384425"/>
            <a:ext cx="350837" cy="400050"/>
            <a:chOff x="4128" y="192"/>
            <a:chExt cx="239" cy="281"/>
          </a:xfrm>
        </p:grpSpPr>
        <p:sp>
          <p:nvSpPr>
            <p:cNvPr id="264" name="Google Shape;264;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65" name="Google Shape;265;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66" name="Google Shape;266;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67" name="Google Shape;267;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268" name="Google Shape;268;p15"/>
          <p:cNvGrpSpPr/>
          <p:nvPr/>
        </p:nvGrpSpPr>
        <p:grpSpPr>
          <a:xfrm>
            <a:off x="4841875" y="2384425"/>
            <a:ext cx="331788" cy="400050"/>
            <a:chOff x="4128" y="192"/>
            <a:chExt cx="239" cy="281"/>
          </a:xfrm>
        </p:grpSpPr>
        <p:sp>
          <p:nvSpPr>
            <p:cNvPr id="269" name="Google Shape;269;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70" name="Google Shape;270;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71" name="Google Shape;271;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72" name="Google Shape;272;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273" name="Google Shape;273;p15"/>
          <p:cNvGrpSpPr/>
          <p:nvPr/>
        </p:nvGrpSpPr>
        <p:grpSpPr>
          <a:xfrm>
            <a:off x="4935539" y="2384425"/>
            <a:ext cx="333375" cy="400050"/>
            <a:chOff x="4128" y="192"/>
            <a:chExt cx="239" cy="281"/>
          </a:xfrm>
        </p:grpSpPr>
        <p:sp>
          <p:nvSpPr>
            <p:cNvPr id="274" name="Google Shape;274;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75" name="Google Shape;275;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76" name="Google Shape;276;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77" name="Google Shape;277;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sp>
        <p:nvSpPr>
          <p:cNvPr id="278" name="Google Shape;278;p15"/>
          <p:cNvSpPr/>
          <p:nvPr/>
        </p:nvSpPr>
        <p:spPr>
          <a:xfrm>
            <a:off x="3343276" y="3302001"/>
            <a:ext cx="106363"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79" name="Google Shape;279;p15"/>
          <p:cNvSpPr/>
          <p:nvPr/>
        </p:nvSpPr>
        <p:spPr>
          <a:xfrm>
            <a:off x="2357439" y="3308351"/>
            <a:ext cx="115887"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nvGrpSpPr>
          <p:cNvPr id="280" name="Google Shape;280;p15"/>
          <p:cNvGrpSpPr/>
          <p:nvPr/>
        </p:nvGrpSpPr>
        <p:grpSpPr>
          <a:xfrm>
            <a:off x="2408239" y="2384425"/>
            <a:ext cx="350837" cy="400050"/>
            <a:chOff x="4128" y="192"/>
            <a:chExt cx="239" cy="281"/>
          </a:xfrm>
        </p:grpSpPr>
        <p:sp>
          <p:nvSpPr>
            <p:cNvPr id="281" name="Google Shape;281;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82" name="Google Shape;282;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83" name="Google Shape;283;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84" name="Google Shape;284;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sp>
        <p:nvSpPr>
          <p:cNvPr id="285" name="Google Shape;285;p15"/>
          <p:cNvSpPr/>
          <p:nvPr/>
        </p:nvSpPr>
        <p:spPr>
          <a:xfrm>
            <a:off x="2322513" y="4048126"/>
            <a:ext cx="1174750" cy="434975"/>
          </a:xfrm>
          <a:custGeom>
            <a:rect b="b" l="l" r="r" t="t"/>
            <a:pathLst>
              <a:path extrusionOk="0" h="305" w="800">
                <a:moveTo>
                  <a:pt x="0" y="11"/>
                </a:moveTo>
                <a:cubicBezTo>
                  <a:pt x="103" y="155"/>
                  <a:pt x="207" y="299"/>
                  <a:pt x="318" y="302"/>
                </a:cubicBezTo>
                <a:cubicBezTo>
                  <a:pt x="429" y="305"/>
                  <a:pt x="584" y="58"/>
                  <a:pt x="664" y="29"/>
                </a:cubicBezTo>
                <a:cubicBezTo>
                  <a:pt x="744" y="0"/>
                  <a:pt x="772" y="64"/>
                  <a:pt x="800" y="129"/>
                </a:cubicBezTo>
              </a:path>
            </a:pathLst>
          </a:cu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86" name="Google Shape;286;p15"/>
          <p:cNvSpPr txBox="1"/>
          <p:nvPr/>
        </p:nvSpPr>
        <p:spPr>
          <a:xfrm>
            <a:off x="2654301" y="5783264"/>
            <a:ext cx="1312863"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BAFB5"/>
              </a:buClr>
              <a:buSzPts val="2000"/>
              <a:buFont typeface="Comic Sans MS"/>
              <a:buNone/>
            </a:pPr>
            <a:r>
              <a:rPr b="0" i="0" lang="en-US" sz="2000" u="none" cap="none" strike="noStrike">
                <a:solidFill>
                  <a:srgbClr val="9BAFB5"/>
                </a:solidFill>
                <a:latin typeface="Comic Sans MS"/>
                <a:ea typeface="Comic Sans MS"/>
                <a:cs typeface="Comic Sans MS"/>
                <a:sym typeface="Comic Sans MS"/>
              </a:rPr>
              <a:t>Thin mica</a:t>
            </a:r>
            <a:endParaRPr b="0" i="0" sz="1400" u="none" cap="none" strike="noStrike">
              <a:solidFill>
                <a:srgbClr val="000000"/>
              </a:solidFill>
              <a:latin typeface="Arial"/>
              <a:ea typeface="Arial"/>
              <a:cs typeface="Arial"/>
              <a:sym typeface="Arial"/>
            </a:endParaRPr>
          </a:p>
        </p:txBody>
      </p:sp>
      <p:sp>
        <p:nvSpPr>
          <p:cNvPr id="287" name="Google Shape;287;p15"/>
          <p:cNvSpPr txBox="1"/>
          <p:nvPr/>
        </p:nvSpPr>
        <p:spPr>
          <a:xfrm>
            <a:off x="6235700" y="5707064"/>
            <a:ext cx="19177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BAFB5"/>
              </a:buClr>
              <a:buSzPts val="2000"/>
              <a:buFont typeface="Comic Sans MS"/>
              <a:buNone/>
            </a:pPr>
            <a:r>
              <a:rPr b="0" i="0" lang="en-US" sz="2000" u="none" cap="none" strike="noStrike">
                <a:solidFill>
                  <a:srgbClr val="9BAFB5"/>
                </a:solidFill>
                <a:latin typeface="Comic Sans MS"/>
                <a:ea typeface="Comic Sans MS"/>
                <a:cs typeface="Comic Sans MS"/>
                <a:sym typeface="Comic Sans MS"/>
              </a:rPr>
              <a:t>Thin aluminium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9BAFB5"/>
              </a:buClr>
              <a:buSzPts val="2000"/>
              <a:buFont typeface="Comic Sans MS"/>
              <a:buNone/>
            </a:pPr>
            <a:r>
              <a:rPr b="0" i="0" lang="en-US" sz="2000" u="none" cap="none" strike="noStrike">
                <a:solidFill>
                  <a:srgbClr val="9BAFB5"/>
                </a:solidFill>
                <a:latin typeface="Comic Sans MS"/>
                <a:ea typeface="Comic Sans MS"/>
                <a:cs typeface="Comic Sans MS"/>
                <a:sym typeface="Comic Sans MS"/>
              </a:rPr>
              <a:t>stops BETA</a:t>
            </a:r>
            <a:endParaRPr b="0" i="0" sz="1400" u="none" cap="none" strike="noStrike">
              <a:solidFill>
                <a:srgbClr val="000000"/>
              </a:solidFill>
              <a:latin typeface="Arial"/>
              <a:ea typeface="Arial"/>
              <a:cs typeface="Arial"/>
              <a:sym typeface="Arial"/>
            </a:endParaRPr>
          </a:p>
        </p:txBody>
      </p:sp>
      <p:sp>
        <p:nvSpPr>
          <p:cNvPr id="288" name="Google Shape;288;p15"/>
          <p:cNvSpPr txBox="1"/>
          <p:nvPr/>
        </p:nvSpPr>
        <p:spPr>
          <a:xfrm>
            <a:off x="8293100" y="5707064"/>
            <a:ext cx="222885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BAFB5"/>
              </a:buClr>
              <a:buSzPts val="2000"/>
              <a:buFont typeface="Comic Sans MS"/>
              <a:buNone/>
            </a:pPr>
            <a:r>
              <a:rPr b="0" i="0" lang="en-US" sz="2000" u="none" cap="none" strike="noStrike">
                <a:solidFill>
                  <a:srgbClr val="9BAFB5"/>
                </a:solidFill>
                <a:latin typeface="Comic Sans MS"/>
                <a:ea typeface="Comic Sans MS"/>
                <a:cs typeface="Comic Sans MS"/>
                <a:sym typeface="Comic Sans MS"/>
              </a:rPr>
              <a:t>Thick lead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9BAFB5"/>
              </a:buClr>
              <a:buSzPts val="2000"/>
              <a:buFont typeface="Comic Sans MS"/>
              <a:buNone/>
            </a:pPr>
            <a:r>
              <a:rPr b="0" i="0" lang="en-US" sz="2000" u="none" cap="none" strike="noStrike">
                <a:solidFill>
                  <a:srgbClr val="9BAFB5"/>
                </a:solidFill>
                <a:latin typeface="Comic Sans MS"/>
                <a:ea typeface="Comic Sans MS"/>
                <a:cs typeface="Comic Sans MS"/>
                <a:sym typeface="Comic Sans MS"/>
              </a:rPr>
              <a:t>reduces GAMMA</a:t>
            </a:r>
            <a:endParaRPr b="0" i="0" sz="1400" u="none" cap="none" strike="noStrike">
              <a:solidFill>
                <a:srgbClr val="000000"/>
              </a:solidFill>
              <a:latin typeface="Arial"/>
              <a:ea typeface="Arial"/>
              <a:cs typeface="Arial"/>
              <a:sym typeface="Arial"/>
            </a:endParaRPr>
          </a:p>
        </p:txBody>
      </p:sp>
      <p:sp>
        <p:nvSpPr>
          <p:cNvPr id="289" name="Google Shape;289;p15"/>
          <p:cNvSpPr txBox="1"/>
          <p:nvPr/>
        </p:nvSpPr>
        <p:spPr>
          <a:xfrm>
            <a:off x="4330700" y="5707064"/>
            <a:ext cx="1811338"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BAFB5"/>
              </a:buClr>
              <a:buSzPts val="2000"/>
              <a:buFont typeface="Comic Sans MS"/>
              <a:buNone/>
            </a:pPr>
            <a:r>
              <a:rPr b="0" i="0" lang="en-US" sz="2000" u="none" cap="none" strike="noStrike">
                <a:solidFill>
                  <a:srgbClr val="9BAFB5"/>
                </a:solidFill>
                <a:latin typeface="Comic Sans MS"/>
                <a:ea typeface="Comic Sans MS"/>
                <a:cs typeface="Comic Sans MS"/>
                <a:sym typeface="Comic Sans MS"/>
              </a:rPr>
              <a:t>Skin or paper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9BAFB5"/>
              </a:buClr>
              <a:buSzPts val="2000"/>
              <a:buFont typeface="Comic Sans MS"/>
              <a:buNone/>
            </a:pPr>
            <a:r>
              <a:rPr b="0" i="0" lang="en-US" sz="2000" u="none" cap="none" strike="noStrike">
                <a:solidFill>
                  <a:srgbClr val="9BAFB5"/>
                </a:solidFill>
                <a:latin typeface="Comic Sans MS"/>
                <a:ea typeface="Comic Sans MS"/>
                <a:cs typeface="Comic Sans MS"/>
                <a:sym typeface="Comic Sans MS"/>
              </a:rPr>
              <a:t> stops ALPHA</a:t>
            </a:r>
            <a:endParaRPr b="0" i="0" sz="1400" u="none" cap="none" strike="noStrike">
              <a:solidFill>
                <a:srgbClr val="000000"/>
              </a:solidFill>
              <a:latin typeface="Arial"/>
              <a:ea typeface="Arial"/>
              <a:cs typeface="Arial"/>
              <a:sym typeface="Arial"/>
            </a:endParaRPr>
          </a:p>
        </p:txBody>
      </p:sp>
      <p:sp>
        <p:nvSpPr>
          <p:cNvPr id="290" name="Google Shape;290;p15"/>
          <p:cNvSpPr/>
          <p:nvPr/>
        </p:nvSpPr>
        <p:spPr>
          <a:xfrm>
            <a:off x="8629650" y="2049463"/>
            <a:ext cx="966788" cy="3606800"/>
          </a:xfrm>
          <a:prstGeom prst="rect">
            <a:avLst/>
          </a:prstGeom>
          <a:solidFill>
            <a:srgbClr val="77777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91" name="Google Shape;291;p15"/>
          <p:cNvSpPr/>
          <p:nvPr/>
        </p:nvSpPr>
        <p:spPr>
          <a:xfrm>
            <a:off x="6805613" y="2122488"/>
            <a:ext cx="74612" cy="3549650"/>
          </a:xfrm>
          <a:prstGeom prst="rect">
            <a:avLst/>
          </a:prstGeom>
          <a:gradFill>
            <a:gsLst>
              <a:gs pos="0">
                <a:srgbClr val="969696"/>
              </a:gs>
              <a:gs pos="50000">
                <a:srgbClr val="C0C0C0"/>
              </a:gs>
              <a:gs pos="100000">
                <a:srgbClr val="969696"/>
              </a:gs>
            </a:gsLst>
            <a:lin ang="27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cxnSp>
        <p:nvCxnSpPr>
          <p:cNvPr id="292" name="Google Shape;292;p15"/>
          <p:cNvCxnSpPr/>
          <p:nvPr/>
        </p:nvCxnSpPr>
        <p:spPr>
          <a:xfrm>
            <a:off x="3290888" y="2168526"/>
            <a:ext cx="0" cy="3478213"/>
          </a:xfrm>
          <a:prstGeom prst="straightConnector1">
            <a:avLst/>
          </a:prstGeom>
          <a:noFill/>
          <a:ln cap="flat" cmpd="sng" w="9525">
            <a:solidFill>
              <a:srgbClr val="D1D1D1">
                <a:alpha val="49019"/>
              </a:srgbClr>
            </a:solidFill>
            <a:prstDash val="solid"/>
            <a:round/>
            <a:headEnd len="sm" w="sm" type="none"/>
            <a:tailEnd len="sm" w="sm" type="none"/>
          </a:ln>
        </p:spPr>
      </p:cxnSp>
      <p:sp>
        <p:nvSpPr>
          <p:cNvPr id="293" name="Google Shape;293;p15"/>
          <p:cNvSpPr/>
          <p:nvPr/>
        </p:nvSpPr>
        <p:spPr>
          <a:xfrm>
            <a:off x="2635251" y="3308351"/>
            <a:ext cx="112713"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94" name="Google Shape;294;p15"/>
          <p:cNvSpPr/>
          <p:nvPr/>
        </p:nvSpPr>
        <p:spPr>
          <a:xfrm>
            <a:off x="2914650" y="3308351"/>
            <a:ext cx="115888"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95" name="Google Shape;295;p15"/>
          <p:cNvSpPr/>
          <p:nvPr/>
        </p:nvSpPr>
        <p:spPr>
          <a:xfrm>
            <a:off x="3151188" y="3319463"/>
            <a:ext cx="106362" cy="112712"/>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96" name="Google Shape;296;p15"/>
          <p:cNvSpPr/>
          <p:nvPr/>
        </p:nvSpPr>
        <p:spPr>
          <a:xfrm>
            <a:off x="3644901" y="3303588"/>
            <a:ext cx="106363" cy="112712"/>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97" name="Google Shape;297;p15"/>
          <p:cNvSpPr/>
          <p:nvPr/>
        </p:nvSpPr>
        <p:spPr>
          <a:xfrm>
            <a:off x="3992563" y="3311526"/>
            <a:ext cx="106362"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98" name="Google Shape;298;p15"/>
          <p:cNvSpPr/>
          <p:nvPr/>
        </p:nvSpPr>
        <p:spPr>
          <a:xfrm>
            <a:off x="4310063" y="3308351"/>
            <a:ext cx="106362"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299" name="Google Shape;299;p15"/>
          <p:cNvSpPr/>
          <p:nvPr/>
        </p:nvSpPr>
        <p:spPr>
          <a:xfrm>
            <a:off x="4587876" y="3308351"/>
            <a:ext cx="106363"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00" name="Google Shape;300;p15"/>
          <p:cNvSpPr/>
          <p:nvPr/>
        </p:nvSpPr>
        <p:spPr>
          <a:xfrm>
            <a:off x="4867276" y="3308351"/>
            <a:ext cx="106363"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01" name="Google Shape;301;p15"/>
          <p:cNvSpPr/>
          <p:nvPr/>
        </p:nvSpPr>
        <p:spPr>
          <a:xfrm>
            <a:off x="5146676" y="3308351"/>
            <a:ext cx="106363"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02" name="Google Shape;302;p15"/>
          <p:cNvSpPr/>
          <p:nvPr/>
        </p:nvSpPr>
        <p:spPr>
          <a:xfrm>
            <a:off x="5983288" y="3308351"/>
            <a:ext cx="106362"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03" name="Google Shape;303;p15"/>
          <p:cNvSpPr/>
          <p:nvPr/>
        </p:nvSpPr>
        <p:spPr>
          <a:xfrm>
            <a:off x="6262688" y="3308351"/>
            <a:ext cx="106362"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04" name="Google Shape;304;p15"/>
          <p:cNvSpPr/>
          <p:nvPr/>
        </p:nvSpPr>
        <p:spPr>
          <a:xfrm>
            <a:off x="6542088" y="3308351"/>
            <a:ext cx="106362"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nvGrpSpPr>
          <p:cNvPr id="305" name="Google Shape;305;p15"/>
          <p:cNvGrpSpPr/>
          <p:nvPr/>
        </p:nvGrpSpPr>
        <p:grpSpPr>
          <a:xfrm>
            <a:off x="2522539" y="2384425"/>
            <a:ext cx="350837" cy="400050"/>
            <a:chOff x="4128" y="192"/>
            <a:chExt cx="239" cy="281"/>
          </a:xfrm>
        </p:grpSpPr>
        <p:sp>
          <p:nvSpPr>
            <p:cNvPr id="306" name="Google Shape;306;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07" name="Google Shape;307;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08" name="Google Shape;308;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09" name="Google Shape;309;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10" name="Google Shape;310;p15"/>
          <p:cNvGrpSpPr/>
          <p:nvPr/>
        </p:nvGrpSpPr>
        <p:grpSpPr>
          <a:xfrm>
            <a:off x="2636839" y="2384425"/>
            <a:ext cx="350837" cy="400050"/>
            <a:chOff x="4128" y="192"/>
            <a:chExt cx="239" cy="281"/>
          </a:xfrm>
        </p:grpSpPr>
        <p:sp>
          <p:nvSpPr>
            <p:cNvPr id="311" name="Google Shape;311;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12" name="Google Shape;312;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13" name="Google Shape;313;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14" name="Google Shape;314;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15" name="Google Shape;315;p15"/>
          <p:cNvGrpSpPr/>
          <p:nvPr/>
        </p:nvGrpSpPr>
        <p:grpSpPr>
          <a:xfrm>
            <a:off x="2749550" y="2384425"/>
            <a:ext cx="350838" cy="400050"/>
            <a:chOff x="4128" y="192"/>
            <a:chExt cx="239" cy="281"/>
          </a:xfrm>
        </p:grpSpPr>
        <p:sp>
          <p:nvSpPr>
            <p:cNvPr id="316" name="Google Shape;316;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17" name="Google Shape;317;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18" name="Google Shape;318;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19" name="Google Shape;319;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20" name="Google Shape;320;p15"/>
          <p:cNvGrpSpPr/>
          <p:nvPr/>
        </p:nvGrpSpPr>
        <p:grpSpPr>
          <a:xfrm>
            <a:off x="2863850" y="2384425"/>
            <a:ext cx="350838" cy="400050"/>
            <a:chOff x="4128" y="192"/>
            <a:chExt cx="239" cy="281"/>
          </a:xfrm>
        </p:grpSpPr>
        <p:sp>
          <p:nvSpPr>
            <p:cNvPr id="321" name="Google Shape;321;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22" name="Google Shape;322;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23" name="Google Shape;323;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24" name="Google Shape;324;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25" name="Google Shape;325;p15"/>
          <p:cNvGrpSpPr/>
          <p:nvPr/>
        </p:nvGrpSpPr>
        <p:grpSpPr>
          <a:xfrm>
            <a:off x="3546475" y="2384425"/>
            <a:ext cx="350838" cy="400050"/>
            <a:chOff x="4128" y="192"/>
            <a:chExt cx="239" cy="281"/>
          </a:xfrm>
        </p:grpSpPr>
        <p:sp>
          <p:nvSpPr>
            <p:cNvPr id="326" name="Google Shape;326;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27" name="Google Shape;327;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28" name="Google Shape;328;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29" name="Google Shape;329;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30" name="Google Shape;330;p15"/>
          <p:cNvGrpSpPr/>
          <p:nvPr/>
        </p:nvGrpSpPr>
        <p:grpSpPr>
          <a:xfrm>
            <a:off x="3660775" y="2384425"/>
            <a:ext cx="350838" cy="400050"/>
            <a:chOff x="4128" y="192"/>
            <a:chExt cx="239" cy="281"/>
          </a:xfrm>
        </p:grpSpPr>
        <p:sp>
          <p:nvSpPr>
            <p:cNvPr id="331" name="Google Shape;331;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32" name="Google Shape;332;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33" name="Google Shape;333;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34" name="Google Shape;334;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35" name="Google Shape;335;p15"/>
          <p:cNvGrpSpPr/>
          <p:nvPr/>
        </p:nvGrpSpPr>
        <p:grpSpPr>
          <a:xfrm>
            <a:off x="3773489" y="2384425"/>
            <a:ext cx="350837" cy="400050"/>
            <a:chOff x="4128" y="192"/>
            <a:chExt cx="239" cy="281"/>
          </a:xfrm>
        </p:grpSpPr>
        <p:sp>
          <p:nvSpPr>
            <p:cNvPr id="336" name="Google Shape;336;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37" name="Google Shape;337;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38" name="Google Shape;338;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39" name="Google Shape;339;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40" name="Google Shape;340;p15"/>
          <p:cNvGrpSpPr/>
          <p:nvPr/>
        </p:nvGrpSpPr>
        <p:grpSpPr>
          <a:xfrm>
            <a:off x="3887789" y="2384425"/>
            <a:ext cx="350837" cy="400050"/>
            <a:chOff x="4128" y="192"/>
            <a:chExt cx="239" cy="281"/>
          </a:xfrm>
        </p:grpSpPr>
        <p:sp>
          <p:nvSpPr>
            <p:cNvPr id="341" name="Google Shape;341;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42" name="Google Shape;342;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43" name="Google Shape;343;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44" name="Google Shape;344;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45" name="Google Shape;345;p15"/>
          <p:cNvGrpSpPr/>
          <p:nvPr/>
        </p:nvGrpSpPr>
        <p:grpSpPr>
          <a:xfrm>
            <a:off x="4002089" y="2384425"/>
            <a:ext cx="350837" cy="400050"/>
            <a:chOff x="4128" y="192"/>
            <a:chExt cx="239" cy="281"/>
          </a:xfrm>
        </p:grpSpPr>
        <p:sp>
          <p:nvSpPr>
            <p:cNvPr id="346" name="Google Shape;346;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47" name="Google Shape;347;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48" name="Google Shape;348;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49" name="Google Shape;349;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50" name="Google Shape;350;p15"/>
          <p:cNvGrpSpPr/>
          <p:nvPr/>
        </p:nvGrpSpPr>
        <p:grpSpPr>
          <a:xfrm>
            <a:off x="4114800" y="2384425"/>
            <a:ext cx="350838" cy="400050"/>
            <a:chOff x="4128" y="192"/>
            <a:chExt cx="239" cy="281"/>
          </a:xfrm>
        </p:grpSpPr>
        <p:sp>
          <p:nvSpPr>
            <p:cNvPr id="351" name="Google Shape;351;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52" name="Google Shape;352;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53" name="Google Shape;353;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54" name="Google Shape;354;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55" name="Google Shape;355;p15"/>
          <p:cNvGrpSpPr/>
          <p:nvPr/>
        </p:nvGrpSpPr>
        <p:grpSpPr>
          <a:xfrm>
            <a:off x="4229100" y="2384425"/>
            <a:ext cx="350838" cy="400050"/>
            <a:chOff x="4128" y="192"/>
            <a:chExt cx="239" cy="281"/>
          </a:xfrm>
        </p:grpSpPr>
        <p:sp>
          <p:nvSpPr>
            <p:cNvPr id="356" name="Google Shape;356;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57" name="Google Shape;357;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58" name="Google Shape;358;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59" name="Google Shape;359;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60" name="Google Shape;360;p15"/>
          <p:cNvGrpSpPr/>
          <p:nvPr/>
        </p:nvGrpSpPr>
        <p:grpSpPr>
          <a:xfrm>
            <a:off x="4343400" y="2384425"/>
            <a:ext cx="350838" cy="400050"/>
            <a:chOff x="4128" y="192"/>
            <a:chExt cx="239" cy="281"/>
          </a:xfrm>
        </p:grpSpPr>
        <p:sp>
          <p:nvSpPr>
            <p:cNvPr id="361" name="Google Shape;361;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62" name="Google Shape;362;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63" name="Google Shape;363;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64" name="Google Shape;364;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65" name="Google Shape;365;p15"/>
          <p:cNvGrpSpPr/>
          <p:nvPr/>
        </p:nvGrpSpPr>
        <p:grpSpPr>
          <a:xfrm>
            <a:off x="4456113" y="2384425"/>
            <a:ext cx="342900" cy="400050"/>
            <a:chOff x="4128" y="192"/>
            <a:chExt cx="239" cy="281"/>
          </a:xfrm>
        </p:grpSpPr>
        <p:sp>
          <p:nvSpPr>
            <p:cNvPr id="366" name="Google Shape;366;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67" name="Google Shape;367;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68" name="Google Shape;368;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69" name="Google Shape;369;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sp>
        <p:nvSpPr>
          <p:cNvPr id="370" name="Google Shape;370;p15"/>
          <p:cNvSpPr/>
          <p:nvPr/>
        </p:nvSpPr>
        <p:spPr>
          <a:xfrm>
            <a:off x="5186363" y="2044700"/>
            <a:ext cx="74612" cy="3549650"/>
          </a:xfrm>
          <a:prstGeom prst="rect">
            <a:avLst/>
          </a:prstGeom>
          <a:gradFill>
            <a:gsLst>
              <a:gs pos="0">
                <a:srgbClr val="FFFFCC"/>
              </a:gs>
              <a:gs pos="100000">
                <a:srgbClr val="FFFFCC"/>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71" name="Google Shape;371;p15"/>
          <p:cNvSpPr/>
          <p:nvPr/>
        </p:nvSpPr>
        <p:spPr>
          <a:xfrm>
            <a:off x="5408614" y="4111626"/>
            <a:ext cx="1387475" cy="430213"/>
          </a:xfrm>
          <a:custGeom>
            <a:rect b="b" l="l" r="r" t="t"/>
            <a:pathLst>
              <a:path extrusionOk="0" h="302" w="945">
                <a:moveTo>
                  <a:pt x="0" y="276"/>
                </a:moveTo>
                <a:cubicBezTo>
                  <a:pt x="117" y="138"/>
                  <a:pt x="235" y="0"/>
                  <a:pt x="345" y="3"/>
                </a:cubicBezTo>
                <a:cubicBezTo>
                  <a:pt x="455" y="6"/>
                  <a:pt x="563" y="286"/>
                  <a:pt x="663" y="294"/>
                </a:cubicBezTo>
                <a:cubicBezTo>
                  <a:pt x="763" y="302"/>
                  <a:pt x="854" y="175"/>
                  <a:pt x="945" y="49"/>
                </a:cubicBezTo>
              </a:path>
            </a:pathLst>
          </a:cu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nvGrpSpPr>
          <p:cNvPr id="372" name="Google Shape;372;p15"/>
          <p:cNvGrpSpPr/>
          <p:nvPr/>
        </p:nvGrpSpPr>
        <p:grpSpPr>
          <a:xfrm>
            <a:off x="2379663" y="3416301"/>
            <a:ext cx="4291012" cy="112713"/>
            <a:chOff x="700" y="2297"/>
            <a:chExt cx="2703" cy="71"/>
          </a:xfrm>
        </p:grpSpPr>
        <p:sp>
          <p:nvSpPr>
            <p:cNvPr id="373" name="Google Shape;373;p15"/>
            <p:cNvSpPr/>
            <p:nvPr/>
          </p:nvSpPr>
          <p:spPr>
            <a:xfrm>
              <a:off x="700"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74" name="Google Shape;374;p15"/>
            <p:cNvSpPr/>
            <p:nvPr/>
          </p:nvSpPr>
          <p:spPr>
            <a:xfrm>
              <a:off x="852"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75" name="Google Shape;375;p15"/>
            <p:cNvSpPr/>
            <p:nvPr/>
          </p:nvSpPr>
          <p:spPr>
            <a:xfrm>
              <a:off x="992"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76" name="Google Shape;376;p15"/>
            <p:cNvSpPr/>
            <p:nvPr/>
          </p:nvSpPr>
          <p:spPr>
            <a:xfrm>
              <a:off x="1138"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77" name="Google Shape;377;p15"/>
            <p:cNvSpPr/>
            <p:nvPr/>
          </p:nvSpPr>
          <p:spPr>
            <a:xfrm>
              <a:off x="1516"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78" name="Google Shape;378;p15"/>
            <p:cNvSpPr/>
            <p:nvPr/>
          </p:nvSpPr>
          <p:spPr>
            <a:xfrm>
              <a:off x="1682"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79" name="Google Shape;379;p15"/>
            <p:cNvSpPr/>
            <p:nvPr/>
          </p:nvSpPr>
          <p:spPr>
            <a:xfrm>
              <a:off x="1844"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80" name="Google Shape;380;p15"/>
            <p:cNvSpPr/>
            <p:nvPr/>
          </p:nvSpPr>
          <p:spPr>
            <a:xfrm>
              <a:off x="2006"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81" name="Google Shape;381;p15"/>
            <p:cNvSpPr/>
            <p:nvPr/>
          </p:nvSpPr>
          <p:spPr>
            <a:xfrm>
              <a:off x="2172"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82" name="Google Shape;382;p15"/>
            <p:cNvSpPr/>
            <p:nvPr/>
          </p:nvSpPr>
          <p:spPr>
            <a:xfrm>
              <a:off x="2328"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83" name="Google Shape;383;p15"/>
            <p:cNvSpPr/>
            <p:nvPr/>
          </p:nvSpPr>
          <p:spPr>
            <a:xfrm>
              <a:off x="2726"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84" name="Google Shape;384;p15"/>
            <p:cNvSpPr/>
            <p:nvPr/>
          </p:nvSpPr>
          <p:spPr>
            <a:xfrm>
              <a:off x="2888"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85" name="Google Shape;385;p15"/>
            <p:cNvSpPr/>
            <p:nvPr/>
          </p:nvSpPr>
          <p:spPr>
            <a:xfrm>
              <a:off x="3040"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86" name="Google Shape;386;p15"/>
            <p:cNvSpPr/>
            <p:nvPr/>
          </p:nvSpPr>
          <p:spPr>
            <a:xfrm>
              <a:off x="3194"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87" name="Google Shape;387;p15"/>
            <p:cNvSpPr/>
            <p:nvPr/>
          </p:nvSpPr>
          <p:spPr>
            <a:xfrm>
              <a:off x="3336" y="2297"/>
              <a:ext cx="67" cy="71"/>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sp>
        <p:nvSpPr>
          <p:cNvPr id="388" name="Google Shape;388;p15"/>
          <p:cNvSpPr/>
          <p:nvPr/>
        </p:nvSpPr>
        <p:spPr>
          <a:xfrm>
            <a:off x="3667126" y="4065589"/>
            <a:ext cx="1501775" cy="496887"/>
          </a:xfrm>
          <a:custGeom>
            <a:rect b="b" l="l" r="r" t="t"/>
            <a:pathLst>
              <a:path extrusionOk="0" h="348" w="809">
                <a:moveTo>
                  <a:pt x="0" y="18"/>
                </a:moveTo>
                <a:cubicBezTo>
                  <a:pt x="114" y="180"/>
                  <a:pt x="229" y="342"/>
                  <a:pt x="336" y="345"/>
                </a:cubicBezTo>
                <a:cubicBezTo>
                  <a:pt x="443" y="348"/>
                  <a:pt x="566" y="72"/>
                  <a:pt x="645" y="36"/>
                </a:cubicBezTo>
                <a:cubicBezTo>
                  <a:pt x="724" y="0"/>
                  <a:pt x="766" y="63"/>
                  <a:pt x="809" y="127"/>
                </a:cubicBezTo>
              </a:path>
            </a:pathLst>
          </a:cu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89" name="Google Shape;389;p15"/>
          <p:cNvSpPr/>
          <p:nvPr/>
        </p:nvSpPr>
        <p:spPr>
          <a:xfrm>
            <a:off x="5426076" y="3308351"/>
            <a:ext cx="106363"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90" name="Google Shape;390;p15"/>
          <p:cNvSpPr/>
          <p:nvPr/>
        </p:nvSpPr>
        <p:spPr>
          <a:xfrm>
            <a:off x="5703888" y="3308351"/>
            <a:ext cx="106362" cy="112713"/>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nvGrpSpPr>
          <p:cNvPr id="391" name="Google Shape;391;p15"/>
          <p:cNvGrpSpPr/>
          <p:nvPr/>
        </p:nvGrpSpPr>
        <p:grpSpPr>
          <a:xfrm>
            <a:off x="4562475" y="2384425"/>
            <a:ext cx="319088" cy="400050"/>
            <a:chOff x="4128" y="192"/>
            <a:chExt cx="239" cy="281"/>
          </a:xfrm>
        </p:grpSpPr>
        <p:sp>
          <p:nvSpPr>
            <p:cNvPr id="392" name="Google Shape;392;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93" name="Google Shape;393;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94" name="Google Shape;394;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95" name="Google Shape;395;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396" name="Google Shape;396;p15"/>
          <p:cNvGrpSpPr/>
          <p:nvPr/>
        </p:nvGrpSpPr>
        <p:grpSpPr>
          <a:xfrm>
            <a:off x="4645026" y="2384425"/>
            <a:ext cx="334963" cy="400050"/>
            <a:chOff x="4128" y="192"/>
            <a:chExt cx="239" cy="281"/>
          </a:xfrm>
        </p:grpSpPr>
        <p:sp>
          <p:nvSpPr>
            <p:cNvPr id="397" name="Google Shape;397;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98" name="Google Shape;398;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399" name="Google Shape;399;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00" name="Google Shape;400;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401" name="Google Shape;401;p15"/>
          <p:cNvGrpSpPr/>
          <p:nvPr/>
        </p:nvGrpSpPr>
        <p:grpSpPr>
          <a:xfrm>
            <a:off x="4741863" y="2384425"/>
            <a:ext cx="336550" cy="400050"/>
            <a:chOff x="4128" y="192"/>
            <a:chExt cx="239" cy="281"/>
          </a:xfrm>
        </p:grpSpPr>
        <p:sp>
          <p:nvSpPr>
            <p:cNvPr id="402" name="Google Shape;402;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03" name="Google Shape;403;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04" name="Google Shape;404;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05" name="Google Shape;405;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406" name="Google Shape;406;p15"/>
          <p:cNvGrpSpPr/>
          <p:nvPr/>
        </p:nvGrpSpPr>
        <p:grpSpPr>
          <a:xfrm>
            <a:off x="2573339" y="2386013"/>
            <a:ext cx="2598737" cy="412750"/>
            <a:chOff x="767" y="1283"/>
            <a:chExt cx="1637" cy="260"/>
          </a:xfrm>
        </p:grpSpPr>
        <p:grpSp>
          <p:nvGrpSpPr>
            <p:cNvPr id="407" name="Google Shape;407;p15"/>
            <p:cNvGrpSpPr/>
            <p:nvPr/>
          </p:nvGrpSpPr>
          <p:grpSpPr>
            <a:xfrm>
              <a:off x="1509" y="1283"/>
              <a:ext cx="221" cy="252"/>
              <a:chOff x="4128" y="192"/>
              <a:chExt cx="239" cy="281"/>
            </a:xfrm>
          </p:grpSpPr>
          <p:sp>
            <p:nvSpPr>
              <p:cNvPr id="408" name="Google Shape;408;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09" name="Google Shape;409;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10" name="Google Shape;410;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11" name="Google Shape;411;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412" name="Google Shape;412;p15"/>
            <p:cNvGrpSpPr/>
            <p:nvPr/>
          </p:nvGrpSpPr>
          <p:grpSpPr>
            <a:xfrm>
              <a:off x="767" y="1291"/>
              <a:ext cx="221" cy="252"/>
              <a:chOff x="4128" y="192"/>
              <a:chExt cx="239" cy="281"/>
            </a:xfrm>
          </p:grpSpPr>
          <p:sp>
            <p:nvSpPr>
              <p:cNvPr id="413" name="Google Shape;413;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14" name="Google Shape;414;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15" name="Google Shape;415;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16" name="Google Shape;416;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417" name="Google Shape;417;p15"/>
            <p:cNvGrpSpPr/>
            <p:nvPr/>
          </p:nvGrpSpPr>
          <p:grpSpPr>
            <a:xfrm>
              <a:off x="971" y="1283"/>
              <a:ext cx="221" cy="252"/>
              <a:chOff x="4128" y="192"/>
              <a:chExt cx="239" cy="281"/>
            </a:xfrm>
          </p:grpSpPr>
          <p:sp>
            <p:nvSpPr>
              <p:cNvPr id="418" name="Google Shape;418;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19" name="Google Shape;419;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20" name="Google Shape;420;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21" name="Google Shape;421;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422" name="Google Shape;422;p15"/>
            <p:cNvGrpSpPr/>
            <p:nvPr/>
          </p:nvGrpSpPr>
          <p:grpSpPr>
            <a:xfrm>
              <a:off x="1716" y="1283"/>
              <a:ext cx="221" cy="252"/>
              <a:chOff x="4128" y="192"/>
              <a:chExt cx="239" cy="281"/>
            </a:xfrm>
          </p:grpSpPr>
          <p:sp>
            <p:nvSpPr>
              <p:cNvPr id="423" name="Google Shape;423;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24" name="Google Shape;424;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25" name="Google Shape;425;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26" name="Google Shape;426;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427" name="Google Shape;427;p15"/>
            <p:cNvGrpSpPr/>
            <p:nvPr/>
          </p:nvGrpSpPr>
          <p:grpSpPr>
            <a:xfrm>
              <a:off x="1907" y="1291"/>
              <a:ext cx="221" cy="252"/>
              <a:chOff x="4128" y="192"/>
              <a:chExt cx="239" cy="281"/>
            </a:xfrm>
          </p:grpSpPr>
          <p:sp>
            <p:nvSpPr>
              <p:cNvPr id="428" name="Google Shape;428;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29" name="Google Shape;429;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30" name="Google Shape;430;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31" name="Google Shape;431;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nvGrpSpPr>
            <p:cNvPr id="432" name="Google Shape;432;p15"/>
            <p:cNvGrpSpPr/>
            <p:nvPr/>
          </p:nvGrpSpPr>
          <p:grpSpPr>
            <a:xfrm>
              <a:off x="2188" y="1291"/>
              <a:ext cx="216" cy="252"/>
              <a:chOff x="4128" y="192"/>
              <a:chExt cx="239" cy="281"/>
            </a:xfrm>
          </p:grpSpPr>
          <p:sp>
            <p:nvSpPr>
              <p:cNvPr id="433" name="Google Shape;433;p15"/>
              <p:cNvSpPr/>
              <p:nvPr/>
            </p:nvSpPr>
            <p:spPr>
              <a:xfrm>
                <a:off x="4128" y="336"/>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34" name="Google Shape;434;p15"/>
              <p:cNvSpPr/>
              <p:nvPr/>
            </p:nvSpPr>
            <p:spPr>
              <a:xfrm>
                <a:off x="4224" y="192"/>
                <a:ext cx="143" cy="137"/>
              </a:xfrm>
              <a:prstGeom prst="ellipse">
                <a:avLst/>
              </a:prstGeom>
              <a:gradFill>
                <a:gsLst>
                  <a:gs pos="0">
                    <a:schemeClr val="lt1"/>
                  </a:gs>
                  <a:gs pos="100000">
                    <a:srgbClr val="00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35" name="Google Shape;435;p15"/>
              <p:cNvSpPr/>
              <p:nvPr/>
            </p:nvSpPr>
            <p:spPr>
              <a:xfrm>
                <a:off x="4224" y="288"/>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36" name="Google Shape;436;p15"/>
              <p:cNvSpPr/>
              <p:nvPr/>
            </p:nvSpPr>
            <p:spPr>
              <a:xfrm>
                <a:off x="4176" y="240"/>
                <a:ext cx="123" cy="122"/>
              </a:xfrm>
              <a:prstGeom prst="ellipse">
                <a:avLst/>
              </a:prstGeom>
              <a:gradFill>
                <a:gsLst>
                  <a:gs pos="0">
                    <a:srgbClr val="FFDCDC"/>
                  </a:gs>
                  <a:gs pos="100000">
                    <a:srgbClr val="FF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grpSp>
      </p:grpSp>
      <p:sp>
        <p:nvSpPr>
          <p:cNvPr id="437" name="Google Shape;437;p15"/>
          <p:cNvSpPr/>
          <p:nvPr/>
        </p:nvSpPr>
        <p:spPr>
          <a:xfrm>
            <a:off x="1739901" y="2338388"/>
            <a:ext cx="409575"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BAFB5"/>
              </a:buClr>
              <a:buSzPts val="2800"/>
              <a:buFont typeface="Comic Sans MS"/>
              <a:buNone/>
            </a:pPr>
            <a:r>
              <a:rPr b="1" i="0" lang="en-US" sz="2800" u="none" cap="none" strike="noStrike">
                <a:solidFill>
                  <a:srgbClr val="9BAFB5"/>
                </a:solidFill>
                <a:latin typeface="Comic Sans MS"/>
                <a:ea typeface="Comic Sans MS"/>
                <a:cs typeface="Comic Sans MS"/>
                <a:sym typeface="Comic Sans MS"/>
              </a:rPr>
              <a:t>α</a:t>
            </a:r>
            <a:endParaRPr b="0" i="0" sz="1400" u="none" cap="none" strike="noStrike">
              <a:solidFill>
                <a:srgbClr val="000000"/>
              </a:solidFill>
              <a:latin typeface="Arial"/>
              <a:ea typeface="Arial"/>
              <a:cs typeface="Arial"/>
              <a:sym typeface="Arial"/>
            </a:endParaRPr>
          </a:p>
        </p:txBody>
      </p:sp>
      <p:sp>
        <p:nvSpPr>
          <p:cNvPr id="438" name="Google Shape;438;p15"/>
          <p:cNvSpPr/>
          <p:nvPr/>
        </p:nvSpPr>
        <p:spPr>
          <a:xfrm>
            <a:off x="1754188" y="3162301"/>
            <a:ext cx="379412"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BAFB5"/>
              </a:buClr>
              <a:buSzPts val="2800"/>
              <a:buFont typeface="Comic Sans MS"/>
              <a:buNone/>
            </a:pPr>
            <a:r>
              <a:rPr b="1" i="0" lang="en-US" sz="2800" u="none" cap="none" strike="noStrike">
                <a:solidFill>
                  <a:srgbClr val="9BAFB5"/>
                </a:solidFill>
                <a:latin typeface="Comic Sans MS"/>
                <a:ea typeface="Comic Sans MS"/>
                <a:cs typeface="Comic Sans MS"/>
                <a:sym typeface="Comic Sans MS"/>
              </a:rPr>
              <a:t>β</a:t>
            </a:r>
            <a:endParaRPr b="0" i="0" sz="1400" u="none" cap="none" strike="noStrike">
              <a:solidFill>
                <a:srgbClr val="000000"/>
              </a:solidFill>
              <a:latin typeface="Arial"/>
              <a:ea typeface="Arial"/>
              <a:cs typeface="Arial"/>
              <a:sym typeface="Arial"/>
            </a:endParaRPr>
          </a:p>
        </p:txBody>
      </p:sp>
      <p:sp>
        <p:nvSpPr>
          <p:cNvPr id="439" name="Google Shape;439;p15"/>
          <p:cNvSpPr/>
          <p:nvPr/>
        </p:nvSpPr>
        <p:spPr>
          <a:xfrm>
            <a:off x="1797050" y="3956051"/>
            <a:ext cx="330200"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BAFB5"/>
              </a:buClr>
              <a:buSzPts val="2800"/>
              <a:buFont typeface="Comic Sans MS"/>
              <a:buNone/>
            </a:pPr>
            <a:r>
              <a:rPr b="1" i="0" lang="en-US" sz="2800" u="none" cap="none" strike="noStrike">
                <a:solidFill>
                  <a:srgbClr val="9BAFB5"/>
                </a:solidFill>
                <a:latin typeface="Comic Sans MS"/>
                <a:ea typeface="Comic Sans MS"/>
                <a:cs typeface="Comic Sans MS"/>
                <a:sym typeface="Comic Sans MS"/>
              </a:rPr>
              <a:t>γ</a:t>
            </a:r>
            <a:endParaRPr b="0" i="0" sz="1400" u="none" cap="none" strike="noStrike">
              <a:solidFill>
                <a:srgbClr val="000000"/>
              </a:solidFill>
              <a:latin typeface="Arial"/>
              <a:ea typeface="Arial"/>
              <a:cs typeface="Arial"/>
              <a:sym typeface="Arial"/>
            </a:endParaRPr>
          </a:p>
        </p:txBody>
      </p:sp>
      <p:sp>
        <p:nvSpPr>
          <p:cNvPr id="440" name="Google Shape;440;p15"/>
          <p:cNvSpPr/>
          <p:nvPr/>
        </p:nvSpPr>
        <p:spPr>
          <a:xfrm>
            <a:off x="7127875" y="4117975"/>
            <a:ext cx="1466850" cy="450850"/>
          </a:xfrm>
          <a:custGeom>
            <a:rect b="b" l="l" r="r" t="t"/>
            <a:pathLst>
              <a:path extrusionOk="0" h="316" w="1146">
                <a:moveTo>
                  <a:pt x="0" y="107"/>
                </a:moveTo>
                <a:cubicBezTo>
                  <a:pt x="34" y="197"/>
                  <a:pt x="69" y="288"/>
                  <a:pt x="146" y="271"/>
                </a:cubicBezTo>
                <a:cubicBezTo>
                  <a:pt x="223" y="254"/>
                  <a:pt x="352" y="0"/>
                  <a:pt x="464" y="7"/>
                </a:cubicBezTo>
                <a:cubicBezTo>
                  <a:pt x="576" y="14"/>
                  <a:pt x="704" y="316"/>
                  <a:pt x="818" y="316"/>
                </a:cubicBezTo>
                <a:cubicBezTo>
                  <a:pt x="932" y="316"/>
                  <a:pt x="1039" y="161"/>
                  <a:pt x="1146" y="7"/>
                </a:cubicBezTo>
              </a:path>
            </a:pathLst>
          </a:cu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41" name="Google Shape;441;p15"/>
          <p:cNvSpPr/>
          <p:nvPr/>
        </p:nvSpPr>
        <p:spPr>
          <a:xfrm>
            <a:off x="9664700" y="4183063"/>
            <a:ext cx="1466850" cy="450850"/>
          </a:xfrm>
          <a:custGeom>
            <a:rect b="b" l="l" r="r" t="t"/>
            <a:pathLst>
              <a:path extrusionOk="0" h="316" w="1146">
                <a:moveTo>
                  <a:pt x="0" y="107"/>
                </a:moveTo>
                <a:cubicBezTo>
                  <a:pt x="34" y="197"/>
                  <a:pt x="69" y="288"/>
                  <a:pt x="146" y="271"/>
                </a:cubicBezTo>
                <a:cubicBezTo>
                  <a:pt x="223" y="254"/>
                  <a:pt x="352" y="0"/>
                  <a:pt x="464" y="7"/>
                </a:cubicBezTo>
                <a:cubicBezTo>
                  <a:pt x="576" y="14"/>
                  <a:pt x="704" y="316"/>
                  <a:pt x="818" y="316"/>
                </a:cubicBezTo>
                <a:cubicBezTo>
                  <a:pt x="932" y="316"/>
                  <a:pt x="1039" y="161"/>
                  <a:pt x="1146" y="7"/>
                </a:cubicBezTo>
              </a:path>
            </a:pathLst>
          </a:custGeom>
          <a:noFill/>
          <a:ln cap="flat" cmpd="sng" w="57150">
            <a:solidFill>
              <a:srgbClr val="FF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442" name="Google Shape;442;p15"/>
          <p:cNvSpPr/>
          <p:nvPr/>
        </p:nvSpPr>
        <p:spPr>
          <a:xfrm>
            <a:off x="2466975" y="6305550"/>
            <a:ext cx="5686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Gill Sans"/>
              <a:buNone/>
            </a:pPr>
            <a:r>
              <a:rPr b="0" i="0" lang="en-US" sz="1800" u="sng" cap="none" strike="noStrike">
                <a:solidFill>
                  <a:srgbClr val="000000"/>
                </a:solidFill>
                <a:latin typeface="Gill Sans"/>
                <a:ea typeface="Gill Sans"/>
                <a:cs typeface="Gill Sans"/>
                <a:sym typeface="Gill Sans"/>
                <a:hlinkClick r:id="rId3">
                  <a:extLst>
                    <a:ext uri="{A12FA001-AC4F-418D-AE19-62706E023703}">
                      <ahyp:hlinkClr val="tx"/>
                    </a:ext>
                  </a:extLst>
                </a:hlinkClick>
              </a:rPr>
              <a:t>https://www.youtube.com/watch?v=TJgc28csgV0</a:t>
            </a:r>
            <a:endParaRPr b="0" i="0" sz="1800" u="none" cap="none" strike="noStrike">
              <a:solidFill>
                <a:srgbClr val="000000"/>
              </a:solidFill>
              <a:latin typeface="Gill Sans"/>
              <a:ea typeface="Gill Sans"/>
              <a:cs typeface="Gill Sans"/>
              <a:sym typeface="Gill Sans"/>
            </a:endParaRPr>
          </a:p>
        </p:txBody>
      </p:sp>
      <p:sp>
        <p:nvSpPr>
          <p:cNvPr id="443" name="Google Shape;443;p15"/>
          <p:cNvSpPr txBox="1"/>
          <p:nvPr/>
        </p:nvSpPr>
        <p:spPr>
          <a:xfrm>
            <a:off x="2224786" y="148895"/>
            <a:ext cx="7729728" cy="118872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262626"/>
              </a:buClr>
              <a:buSzPts val="3600"/>
              <a:buFont typeface="Gill Sans"/>
              <a:buNone/>
            </a:pPr>
            <a:r>
              <a:rPr b="0" i="0" lang="en-US" sz="3600" u="none" cap="none" strike="noStrike">
                <a:solidFill>
                  <a:srgbClr val="262626"/>
                </a:solidFill>
                <a:latin typeface="Gill Sans"/>
                <a:ea typeface="Gill Sans"/>
                <a:cs typeface="Gill Sans"/>
                <a:sym typeface="Gill Sans"/>
              </a:rPr>
              <a:t>PENETRATING POWER OF RADIATION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par>
                          <p:cTn fill="hold">
                            <p:stCondLst>
                              <p:cond delay="10500"/>
                            </p:stCondLst>
                            <p:childTnLst>
                              <p:par>
                                <p:cTn fill="hold" nodeType="after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par>
                          <p:cTn fill="hold">
                            <p:stCondLst>
                              <p:cond delay="10501"/>
                            </p:stCondLst>
                            <p:childTnLst>
                              <p:par>
                                <p:cTn fill="hold" nodeType="after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par>
                          <p:cTn fill="hold">
                            <p:stCondLst>
                              <p:cond delay="11001"/>
                            </p:stCondLst>
                            <p:childTnLst>
                              <p:par>
                                <p:cTn fill="hold" nodeType="after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par>
                          <p:cTn fill="hold">
                            <p:stCondLst>
                              <p:cond delay="11501"/>
                            </p:stCondLst>
                            <p:childTnLst>
                              <p:par>
                                <p:cTn fill="hold" nodeType="after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childTnLst>
                          </p:cTn>
                        </p:par>
                        <p:par>
                          <p:cTn fill="hold">
                            <p:stCondLst>
                              <p:cond delay="12001"/>
                            </p:stCondLst>
                            <p:childTnLst>
                              <p:par>
                                <p:cTn fill="hold" nodeType="after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childTnLst>
                          </p:cTn>
                        </p:par>
                        <p:par>
                          <p:cTn fill="hold">
                            <p:stCondLst>
                              <p:cond delay="12501"/>
                            </p:stCondLst>
                            <p:childTnLst>
                              <p:par>
                                <p:cTn fill="hold" nodeType="after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childTnLst>
                          </p:cTn>
                        </p:par>
                        <p:par>
                          <p:cTn fill="hold">
                            <p:stCondLst>
                              <p:cond delay="13001"/>
                            </p:stCondLst>
                            <p:childTnLst>
                              <p:par>
                                <p:cTn fill="hold" nodeType="after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par>
                          <p:cTn fill="hold">
                            <p:stCondLst>
                              <p:cond delay="13501"/>
                            </p:stCondLst>
                            <p:childTnLst>
                              <p:par>
                                <p:cTn fill="hold" nodeType="after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par>
                          <p:cTn fill="hold">
                            <p:stCondLst>
                              <p:cond delay="14001"/>
                            </p:stCondLst>
                            <p:childTnLst>
                              <p:par>
                                <p:cTn fill="hold" nodeType="after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par>
                          <p:cTn fill="hold">
                            <p:stCondLst>
                              <p:cond delay="14501"/>
                            </p:stCondLst>
                            <p:childTnLst>
                              <p:par>
                                <p:cTn fill="hold" nodeType="after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childTnLst>
                          </p:cTn>
                        </p:par>
                        <p:par>
                          <p:cTn fill="hold">
                            <p:stCondLst>
                              <p:cond delay="15001"/>
                            </p:stCondLst>
                            <p:childTnLst>
                              <p:par>
                                <p:cTn fill="hold" nodeType="after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par>
                          <p:cTn fill="hold">
                            <p:stCondLst>
                              <p:cond delay="15501"/>
                            </p:stCondLst>
                            <p:childTnLst>
                              <p:par>
                                <p:cTn fill="hold" nodeType="after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par>
                          <p:cTn fill="hold">
                            <p:stCondLst>
                              <p:cond delay="16001"/>
                            </p:stCondLst>
                            <p:childTnLst>
                              <p:par>
                                <p:cTn fill="hold" nodeType="after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par>
                          <p:cTn fill="hold">
                            <p:stCondLst>
                              <p:cond delay="16501"/>
                            </p:stCondLst>
                            <p:childTnLst>
                              <p:par>
                                <p:cTn fill="hold" nodeType="after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par>
                          <p:cTn fill="hold">
                            <p:stCondLst>
                              <p:cond delay="17001"/>
                            </p:stCondLst>
                            <p:childTnLst>
                              <p:par>
                                <p:cTn fill="hold" nodeType="after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par>
                          <p:cTn fill="hold">
                            <p:stCondLst>
                              <p:cond delay="17501"/>
                            </p:stCondLst>
                            <p:childTnLst>
                              <p:par>
                                <p:cTn fill="hold" nodeType="after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par>
                          <p:cTn fill="hold">
                            <p:stCondLst>
                              <p:cond delay="18001"/>
                            </p:stCondLst>
                            <p:childTnLst>
                              <p:par>
                                <p:cTn fill="hold" nodeType="after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par>
                          <p:cTn fill="hold">
                            <p:stCondLst>
                              <p:cond delay="18501"/>
                            </p:stCondLst>
                            <p:childTnLst>
                              <p:par>
                                <p:cTn fill="hold" nodeType="after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par>
                          <p:cTn fill="hold">
                            <p:stCondLst>
                              <p:cond delay="19001"/>
                            </p:stCondLst>
                            <p:childTnLst>
                              <p:par>
                                <p:cTn fill="hold" nodeType="after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childTnLst>
                          </p:cTn>
                        </p:par>
                        <p:par>
                          <p:cTn fill="hold">
                            <p:stCondLst>
                              <p:cond delay="19501"/>
                            </p:stCondLst>
                            <p:childTnLst>
                              <p:par>
                                <p:cTn fill="hold" nodeType="after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par>
                          <p:cTn fill="hold">
                            <p:stCondLst>
                              <p:cond delay="20001"/>
                            </p:stCondLst>
                            <p:childTnLst>
                              <p:par>
                                <p:cTn fill="hold" nodeType="after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par>
                          <p:cTn fill="hold">
                            <p:stCondLst>
                              <p:cond delay="20501"/>
                            </p:stCondLst>
                            <p:childTnLst>
                              <p:par>
                                <p:cTn fill="hold" nodeType="after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par>
                          <p:cTn fill="hold">
                            <p:stCondLst>
                              <p:cond delay="21001"/>
                            </p:stCondLst>
                            <p:childTnLst>
                              <p:par>
                                <p:cTn fill="hold" nodeType="after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childTnLst>
                          </p:cTn>
                        </p:par>
                        <p:par>
                          <p:cTn fill="hold">
                            <p:stCondLst>
                              <p:cond delay="21501"/>
                            </p:stCondLst>
                            <p:childTnLst>
                              <p:par>
                                <p:cTn fill="hold" nodeType="after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par>
                          <p:cTn fill="hold">
                            <p:stCondLst>
                              <p:cond delay="22001"/>
                            </p:stCondLst>
                            <p:childTnLst>
                              <p:par>
                                <p:cTn fill="hold" nodeType="after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par>
                          <p:cTn fill="hold">
                            <p:stCondLst>
                              <p:cond delay="22501"/>
                            </p:stCondLst>
                            <p:childTnLst>
                              <p:par>
                                <p:cTn fill="hold" nodeType="after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6"/>
          <p:cNvSpPr txBox="1"/>
          <p:nvPr>
            <p:ph type="title"/>
          </p:nvPr>
        </p:nvSpPr>
        <p:spPr>
          <a:xfrm>
            <a:off x="2231125" y="381752"/>
            <a:ext cx="7729800" cy="9552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sz="3600"/>
              <a:t>IONISING POWER OF RADIATION</a:t>
            </a:r>
            <a:endParaRPr/>
          </a:p>
        </p:txBody>
      </p:sp>
      <p:sp>
        <p:nvSpPr>
          <p:cNvPr id="449" name="Google Shape;449;p16"/>
          <p:cNvSpPr txBox="1"/>
          <p:nvPr>
            <p:ph idx="1" type="body"/>
          </p:nvPr>
        </p:nvSpPr>
        <p:spPr>
          <a:xfrm>
            <a:off x="135924" y="1894114"/>
            <a:ext cx="11899500" cy="3846000"/>
          </a:xfrm>
          <a:prstGeom prst="rect">
            <a:avLst/>
          </a:prstGeom>
          <a:noFill/>
          <a:ln>
            <a:noFill/>
          </a:ln>
        </p:spPr>
        <p:txBody>
          <a:bodyPr anchorCtr="0" anchor="t" bIns="45700" lIns="91425" spcFirstLastPara="1" rIns="91425" wrap="square" tIns="45700">
            <a:normAutofit fontScale="77500" lnSpcReduction="20000"/>
          </a:bodyPr>
          <a:lstStyle/>
          <a:p>
            <a:pPr indent="-182880" lvl="0" marL="228600" rtl="0" algn="l">
              <a:lnSpc>
                <a:spcPct val="100000"/>
              </a:lnSpc>
              <a:spcBef>
                <a:spcPts val="0"/>
              </a:spcBef>
              <a:spcAft>
                <a:spcPts val="0"/>
              </a:spcAft>
              <a:buSzPct val="100000"/>
              <a:buChar char="•"/>
            </a:pPr>
            <a:r>
              <a:rPr lang="en-US" sz="3200"/>
              <a:t> The level of damage done by the type of radiation and where the radiation source is situated.</a:t>
            </a:r>
            <a:endParaRPr/>
          </a:p>
          <a:p>
            <a:pPr indent="0" lvl="0" marL="0" rtl="0" algn="l">
              <a:lnSpc>
                <a:spcPct val="100000"/>
              </a:lnSpc>
              <a:spcBef>
                <a:spcPts val="1000"/>
              </a:spcBef>
              <a:spcAft>
                <a:spcPts val="0"/>
              </a:spcAft>
              <a:buSzPct val="100000"/>
              <a:buNone/>
            </a:pPr>
            <a:r>
              <a:t/>
            </a:r>
            <a:endParaRPr sz="3200"/>
          </a:p>
          <a:p>
            <a:pPr indent="0" lvl="0" marL="0" rtl="0" algn="l">
              <a:lnSpc>
                <a:spcPct val="100000"/>
              </a:lnSpc>
              <a:spcBef>
                <a:spcPts val="1000"/>
              </a:spcBef>
              <a:spcAft>
                <a:spcPts val="0"/>
              </a:spcAft>
              <a:buSzPct val="100000"/>
              <a:buNone/>
            </a:pPr>
            <a:r>
              <a:rPr lang="en-US" sz="3200"/>
              <a:t>If inside the body:</a:t>
            </a:r>
            <a:endParaRPr sz="3200"/>
          </a:p>
          <a:p>
            <a:pPr indent="-182880" lvl="0" marL="228600" rtl="0" algn="l">
              <a:lnSpc>
                <a:spcPct val="100000"/>
              </a:lnSpc>
              <a:spcBef>
                <a:spcPts val="1000"/>
              </a:spcBef>
              <a:spcAft>
                <a:spcPts val="0"/>
              </a:spcAft>
              <a:buSzPct val="100000"/>
              <a:buChar char="•"/>
            </a:pPr>
            <a:r>
              <a:rPr lang="en-US" sz="3200"/>
              <a:t> </a:t>
            </a:r>
            <a:r>
              <a:rPr b="1" lang="en-US" sz="3200" u="sng">
                <a:solidFill>
                  <a:srgbClr val="0070C0"/>
                </a:solidFill>
              </a:rPr>
              <a:t>Alpha</a:t>
            </a:r>
            <a:r>
              <a:rPr lang="en-US" sz="3200"/>
              <a:t> has the highest ionising power therefore it can do the most damage</a:t>
            </a:r>
            <a:endParaRPr/>
          </a:p>
          <a:p>
            <a:pPr indent="-182880" lvl="0" marL="228600" rtl="0" algn="l">
              <a:lnSpc>
                <a:spcPct val="100000"/>
              </a:lnSpc>
              <a:spcBef>
                <a:spcPts val="1000"/>
              </a:spcBef>
              <a:spcAft>
                <a:spcPts val="0"/>
              </a:spcAft>
              <a:buSzPct val="100000"/>
              <a:buChar char="•"/>
            </a:pPr>
            <a:r>
              <a:rPr lang="en-US" sz="3200"/>
              <a:t> </a:t>
            </a:r>
            <a:r>
              <a:rPr b="1" lang="en-US" sz="3200" u="sng">
                <a:solidFill>
                  <a:srgbClr val="0070C0"/>
                </a:solidFill>
              </a:rPr>
              <a:t>Beta</a:t>
            </a:r>
            <a:r>
              <a:rPr lang="en-US" sz="3200"/>
              <a:t> is less and </a:t>
            </a:r>
            <a:r>
              <a:rPr b="1" lang="en-US" sz="3200" u="sng">
                <a:solidFill>
                  <a:srgbClr val="0070C0"/>
                </a:solidFill>
              </a:rPr>
              <a:t>gamma</a:t>
            </a:r>
            <a:r>
              <a:rPr b="1" lang="en-US" sz="3200" u="sng">
                <a:solidFill>
                  <a:schemeClr val="accent2"/>
                </a:solidFill>
              </a:rPr>
              <a:t> </a:t>
            </a:r>
            <a:r>
              <a:rPr lang="en-US" sz="3200"/>
              <a:t>radiation is the least ionising.</a:t>
            </a:r>
            <a:endParaRPr sz="3200"/>
          </a:p>
          <a:p>
            <a:pPr indent="0" lvl="0" marL="0" rtl="0" algn="l">
              <a:lnSpc>
                <a:spcPct val="100000"/>
              </a:lnSpc>
              <a:spcBef>
                <a:spcPts val="1000"/>
              </a:spcBef>
              <a:spcAft>
                <a:spcPts val="0"/>
              </a:spcAft>
              <a:buSzPct val="72580"/>
              <a:buNone/>
            </a:pPr>
            <a:r>
              <a:t/>
            </a:r>
            <a:endParaRPr sz="3200"/>
          </a:p>
          <a:p>
            <a:pPr indent="0" lvl="0" marL="0" rtl="0" algn="l">
              <a:lnSpc>
                <a:spcPct val="100000"/>
              </a:lnSpc>
              <a:spcBef>
                <a:spcPts val="1000"/>
              </a:spcBef>
              <a:spcAft>
                <a:spcPts val="0"/>
              </a:spcAft>
              <a:buSzPct val="72580"/>
              <a:buNone/>
            </a:pPr>
            <a:r>
              <a:rPr lang="en-US" sz="3200"/>
              <a:t>If outside the body: </a:t>
            </a:r>
            <a:endParaRPr sz="3200"/>
          </a:p>
          <a:p>
            <a:pPr indent="0" lvl="0" marL="0" rtl="0" algn="l">
              <a:lnSpc>
                <a:spcPct val="100000"/>
              </a:lnSpc>
              <a:spcBef>
                <a:spcPts val="1000"/>
              </a:spcBef>
              <a:spcAft>
                <a:spcPts val="0"/>
              </a:spcAft>
              <a:buSzPct val="72580"/>
              <a:buNone/>
            </a:pPr>
            <a:r>
              <a:rPr lang="en-US" sz="3200"/>
              <a:t>Gamma radiation is the most dangerous as alpha can be stopped with skin.</a:t>
            </a:r>
            <a:endParaRPr sz="3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7"/>
          <p:cNvSpPr txBox="1"/>
          <p:nvPr>
            <p:ph type="title"/>
          </p:nvPr>
        </p:nvSpPr>
        <p:spPr>
          <a:xfrm>
            <a:off x="2084179" y="131935"/>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4000"/>
              <a:buFont typeface="Gill Sans"/>
              <a:buNone/>
            </a:pPr>
            <a:r>
              <a:rPr lang="en-US" sz="4000"/>
              <a:t>MATCH THE RADIATION</a:t>
            </a:r>
            <a:endParaRPr/>
          </a:p>
        </p:txBody>
      </p:sp>
      <p:sp>
        <p:nvSpPr>
          <p:cNvPr id="455" name="Google Shape;455;p17"/>
          <p:cNvSpPr txBox="1"/>
          <p:nvPr/>
        </p:nvSpPr>
        <p:spPr>
          <a:xfrm>
            <a:off x="533400" y="2065264"/>
            <a:ext cx="1905000" cy="466725"/>
          </a:xfrm>
          <a:prstGeom prst="rect">
            <a:avLst/>
          </a:prstGeom>
          <a:solidFill>
            <a:srgbClr val="660066"/>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Alpha</a:t>
            </a:r>
            <a:endParaRPr b="0" i="0" sz="1400" u="none" cap="none" strike="noStrike">
              <a:solidFill>
                <a:srgbClr val="000000"/>
              </a:solidFill>
              <a:latin typeface="Arial"/>
              <a:ea typeface="Arial"/>
              <a:cs typeface="Arial"/>
              <a:sym typeface="Arial"/>
            </a:endParaRPr>
          </a:p>
        </p:txBody>
      </p:sp>
      <p:sp>
        <p:nvSpPr>
          <p:cNvPr id="456" name="Google Shape;456;p17"/>
          <p:cNvSpPr txBox="1"/>
          <p:nvPr/>
        </p:nvSpPr>
        <p:spPr>
          <a:xfrm>
            <a:off x="533400" y="3611562"/>
            <a:ext cx="1905000" cy="466725"/>
          </a:xfrm>
          <a:prstGeom prst="rect">
            <a:avLst/>
          </a:prstGeom>
          <a:solidFill>
            <a:srgbClr val="660066"/>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Beta</a:t>
            </a:r>
            <a:endParaRPr b="0" i="0" sz="1400" u="none" cap="none" strike="noStrike">
              <a:solidFill>
                <a:srgbClr val="000000"/>
              </a:solidFill>
              <a:latin typeface="Arial"/>
              <a:ea typeface="Arial"/>
              <a:cs typeface="Arial"/>
              <a:sym typeface="Arial"/>
            </a:endParaRPr>
          </a:p>
        </p:txBody>
      </p:sp>
      <p:sp>
        <p:nvSpPr>
          <p:cNvPr id="457" name="Google Shape;457;p17"/>
          <p:cNvSpPr txBox="1"/>
          <p:nvPr/>
        </p:nvSpPr>
        <p:spPr>
          <a:xfrm>
            <a:off x="533400" y="5373687"/>
            <a:ext cx="1905000" cy="466725"/>
          </a:xfrm>
          <a:prstGeom prst="rect">
            <a:avLst/>
          </a:prstGeom>
          <a:solidFill>
            <a:srgbClr val="660066"/>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Gamma</a:t>
            </a:r>
            <a:endParaRPr b="0" i="0" sz="1400" u="none" cap="none" strike="noStrike">
              <a:solidFill>
                <a:srgbClr val="000000"/>
              </a:solidFill>
              <a:latin typeface="Arial"/>
              <a:ea typeface="Arial"/>
              <a:cs typeface="Arial"/>
              <a:sym typeface="Arial"/>
            </a:endParaRPr>
          </a:p>
        </p:txBody>
      </p:sp>
      <p:sp>
        <p:nvSpPr>
          <p:cNvPr id="458" name="Google Shape;458;p17"/>
          <p:cNvSpPr txBox="1"/>
          <p:nvPr/>
        </p:nvSpPr>
        <p:spPr>
          <a:xfrm>
            <a:off x="4800600" y="1882702"/>
            <a:ext cx="2590800" cy="831850"/>
          </a:xfrm>
          <a:prstGeom prst="rect">
            <a:avLst/>
          </a:prstGeom>
          <a:solidFill>
            <a:srgbClr val="0000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Electromagnetic radiation</a:t>
            </a:r>
            <a:endParaRPr b="0" i="0" sz="1400" u="none" cap="none" strike="noStrike">
              <a:solidFill>
                <a:srgbClr val="000000"/>
              </a:solidFill>
              <a:latin typeface="Arial"/>
              <a:ea typeface="Arial"/>
              <a:cs typeface="Arial"/>
              <a:sym typeface="Arial"/>
            </a:endParaRPr>
          </a:p>
        </p:txBody>
      </p:sp>
      <p:sp>
        <p:nvSpPr>
          <p:cNvPr id="459" name="Google Shape;459;p17"/>
          <p:cNvSpPr txBox="1"/>
          <p:nvPr/>
        </p:nvSpPr>
        <p:spPr>
          <a:xfrm>
            <a:off x="5197929" y="3429000"/>
            <a:ext cx="1905000" cy="831850"/>
          </a:xfrm>
          <a:prstGeom prst="rect">
            <a:avLst/>
          </a:prstGeom>
          <a:solidFill>
            <a:srgbClr val="0000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High energy electron</a:t>
            </a:r>
            <a:endParaRPr b="0" i="0" sz="1400" u="none" cap="none" strike="noStrike">
              <a:solidFill>
                <a:srgbClr val="000000"/>
              </a:solidFill>
              <a:latin typeface="Arial"/>
              <a:ea typeface="Arial"/>
              <a:cs typeface="Arial"/>
              <a:sym typeface="Arial"/>
            </a:endParaRPr>
          </a:p>
        </p:txBody>
      </p:sp>
      <p:sp>
        <p:nvSpPr>
          <p:cNvPr id="460" name="Google Shape;460;p17"/>
          <p:cNvSpPr txBox="1"/>
          <p:nvPr/>
        </p:nvSpPr>
        <p:spPr>
          <a:xfrm>
            <a:off x="5143500" y="5191125"/>
            <a:ext cx="1905000" cy="831850"/>
          </a:xfrm>
          <a:prstGeom prst="rect">
            <a:avLst/>
          </a:prstGeom>
          <a:solidFill>
            <a:srgbClr val="0000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Helium nuclei</a:t>
            </a:r>
            <a:endParaRPr b="0" i="0" sz="1400" u="none" cap="none" strike="noStrike">
              <a:solidFill>
                <a:srgbClr val="000000"/>
              </a:solidFill>
              <a:latin typeface="Arial"/>
              <a:ea typeface="Arial"/>
              <a:cs typeface="Arial"/>
              <a:sym typeface="Arial"/>
            </a:endParaRPr>
          </a:p>
        </p:txBody>
      </p:sp>
      <p:sp>
        <p:nvSpPr>
          <p:cNvPr id="461" name="Google Shape;461;p17"/>
          <p:cNvSpPr txBox="1"/>
          <p:nvPr/>
        </p:nvSpPr>
        <p:spPr>
          <a:xfrm>
            <a:off x="9448800" y="1882701"/>
            <a:ext cx="2209800" cy="831850"/>
          </a:xfrm>
          <a:prstGeom prst="rect">
            <a:avLst/>
          </a:prstGeom>
          <a:solidFill>
            <a:srgbClr val="333399"/>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Stopped by paper or skin</a:t>
            </a:r>
            <a:endParaRPr b="0" i="0" sz="1400" u="none" cap="none" strike="noStrike">
              <a:solidFill>
                <a:srgbClr val="000000"/>
              </a:solidFill>
              <a:latin typeface="Arial"/>
              <a:ea typeface="Arial"/>
              <a:cs typeface="Arial"/>
              <a:sym typeface="Arial"/>
            </a:endParaRPr>
          </a:p>
        </p:txBody>
      </p:sp>
      <p:sp>
        <p:nvSpPr>
          <p:cNvPr id="462" name="Google Shape;462;p17"/>
          <p:cNvSpPr txBox="1"/>
          <p:nvPr/>
        </p:nvSpPr>
        <p:spPr>
          <a:xfrm>
            <a:off x="9601200" y="3429000"/>
            <a:ext cx="1905000" cy="831850"/>
          </a:xfrm>
          <a:prstGeom prst="rect">
            <a:avLst/>
          </a:prstGeom>
          <a:solidFill>
            <a:srgbClr val="333399"/>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Reduced by lead</a:t>
            </a:r>
            <a:endParaRPr b="0" i="0" sz="1400" u="none" cap="none" strike="noStrike">
              <a:solidFill>
                <a:srgbClr val="000000"/>
              </a:solidFill>
              <a:latin typeface="Arial"/>
              <a:ea typeface="Arial"/>
              <a:cs typeface="Arial"/>
              <a:sym typeface="Arial"/>
            </a:endParaRPr>
          </a:p>
        </p:txBody>
      </p:sp>
      <p:sp>
        <p:nvSpPr>
          <p:cNvPr id="463" name="Google Shape;463;p17"/>
          <p:cNvSpPr txBox="1"/>
          <p:nvPr/>
        </p:nvSpPr>
        <p:spPr>
          <a:xfrm>
            <a:off x="9601200" y="5191125"/>
            <a:ext cx="1905000" cy="831850"/>
          </a:xfrm>
          <a:prstGeom prst="rect">
            <a:avLst/>
          </a:prstGeom>
          <a:solidFill>
            <a:srgbClr val="333399"/>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omic Sans MS"/>
              <a:buNone/>
            </a:pPr>
            <a:r>
              <a:rPr b="0" i="0" lang="en-US" sz="2400" u="none" cap="none" strike="noStrike">
                <a:solidFill>
                  <a:srgbClr val="FFFFFF"/>
                </a:solidFill>
                <a:latin typeface="Comic Sans MS"/>
                <a:ea typeface="Comic Sans MS"/>
                <a:cs typeface="Comic Sans MS"/>
                <a:sym typeface="Comic Sans MS"/>
              </a:rPr>
              <a:t>Stopped by aluminium</a:t>
            </a:r>
            <a:endParaRPr b="0" i="0" sz="1400" u="none" cap="none" strike="noStrike">
              <a:solidFill>
                <a:srgbClr val="000000"/>
              </a:solidFill>
              <a:latin typeface="Arial"/>
              <a:ea typeface="Arial"/>
              <a:cs typeface="Arial"/>
              <a:sym typeface="Arial"/>
            </a:endParaRPr>
          </a:p>
        </p:txBody>
      </p:sp>
      <p:cxnSp>
        <p:nvCxnSpPr>
          <p:cNvPr id="464" name="Google Shape;464;p17"/>
          <p:cNvCxnSpPr/>
          <p:nvPr/>
        </p:nvCxnSpPr>
        <p:spPr>
          <a:xfrm>
            <a:off x="2514600" y="2133599"/>
            <a:ext cx="2590800" cy="3565071"/>
          </a:xfrm>
          <a:prstGeom prst="straightConnector1">
            <a:avLst/>
          </a:prstGeom>
          <a:noFill/>
          <a:ln cap="flat" cmpd="sng" w="38100">
            <a:solidFill>
              <a:schemeClr val="dk1"/>
            </a:solidFill>
            <a:prstDash val="solid"/>
            <a:round/>
            <a:headEnd len="sm" w="sm" type="none"/>
            <a:tailEnd len="med" w="med" type="triangle"/>
          </a:ln>
        </p:spPr>
      </p:cxnSp>
      <p:cxnSp>
        <p:nvCxnSpPr>
          <p:cNvPr id="465" name="Google Shape;465;p17"/>
          <p:cNvCxnSpPr/>
          <p:nvPr/>
        </p:nvCxnSpPr>
        <p:spPr>
          <a:xfrm flipH="1" rot="10800000">
            <a:off x="7094764" y="2303585"/>
            <a:ext cx="2354036" cy="3303464"/>
          </a:xfrm>
          <a:prstGeom prst="straightConnector1">
            <a:avLst/>
          </a:prstGeom>
          <a:noFill/>
          <a:ln cap="flat" cmpd="sng" w="38100">
            <a:solidFill>
              <a:schemeClr val="dk1"/>
            </a:solidFill>
            <a:prstDash val="solid"/>
            <a:round/>
            <a:headEnd len="sm" w="sm" type="none"/>
            <a:tailEnd len="med" w="med" type="triangle"/>
          </a:ln>
        </p:spPr>
      </p:cxnSp>
      <p:cxnSp>
        <p:nvCxnSpPr>
          <p:cNvPr id="466" name="Google Shape;466;p17"/>
          <p:cNvCxnSpPr/>
          <p:nvPr/>
        </p:nvCxnSpPr>
        <p:spPr>
          <a:xfrm flipH="1" rot="10800000">
            <a:off x="2514600" y="3797228"/>
            <a:ext cx="2667000" cy="59665"/>
          </a:xfrm>
          <a:prstGeom prst="straightConnector1">
            <a:avLst/>
          </a:prstGeom>
          <a:noFill/>
          <a:ln cap="flat" cmpd="sng" w="38100">
            <a:solidFill>
              <a:srgbClr val="FF0000"/>
            </a:solidFill>
            <a:prstDash val="solid"/>
            <a:round/>
            <a:headEnd len="sm" w="sm" type="none"/>
            <a:tailEnd len="med" w="med" type="triangle"/>
          </a:ln>
        </p:spPr>
      </p:cxnSp>
      <p:cxnSp>
        <p:nvCxnSpPr>
          <p:cNvPr id="467" name="Google Shape;467;p17"/>
          <p:cNvCxnSpPr/>
          <p:nvPr/>
        </p:nvCxnSpPr>
        <p:spPr>
          <a:xfrm>
            <a:off x="7195458" y="3825715"/>
            <a:ext cx="2405742" cy="1781333"/>
          </a:xfrm>
          <a:prstGeom prst="straightConnector1">
            <a:avLst/>
          </a:prstGeom>
          <a:noFill/>
          <a:ln cap="flat" cmpd="sng" w="38100">
            <a:solidFill>
              <a:srgbClr val="FF0000"/>
            </a:solidFill>
            <a:prstDash val="solid"/>
            <a:round/>
            <a:headEnd len="sm" w="sm" type="none"/>
            <a:tailEnd len="med" w="med" type="triangle"/>
          </a:ln>
        </p:spPr>
      </p:cxnSp>
      <p:cxnSp>
        <p:nvCxnSpPr>
          <p:cNvPr id="468" name="Google Shape;468;p17"/>
          <p:cNvCxnSpPr/>
          <p:nvPr/>
        </p:nvCxnSpPr>
        <p:spPr>
          <a:xfrm flipH="1" rot="10800000">
            <a:off x="2468336" y="2303585"/>
            <a:ext cx="2256064" cy="3411415"/>
          </a:xfrm>
          <a:prstGeom prst="straightConnector1">
            <a:avLst/>
          </a:prstGeom>
          <a:noFill/>
          <a:ln cap="flat" cmpd="sng" w="38100">
            <a:solidFill>
              <a:schemeClr val="accent2"/>
            </a:solidFill>
            <a:prstDash val="solid"/>
            <a:round/>
            <a:headEnd len="sm" w="sm" type="none"/>
            <a:tailEnd len="med" w="med" type="triangle"/>
          </a:ln>
        </p:spPr>
      </p:cxnSp>
      <p:cxnSp>
        <p:nvCxnSpPr>
          <p:cNvPr id="469" name="Google Shape;469;p17"/>
          <p:cNvCxnSpPr/>
          <p:nvPr/>
        </p:nvCxnSpPr>
        <p:spPr>
          <a:xfrm>
            <a:off x="7425418" y="2320923"/>
            <a:ext cx="2124076" cy="1535969"/>
          </a:xfrm>
          <a:prstGeom prst="straightConnector1">
            <a:avLst/>
          </a:prstGeom>
          <a:noFill/>
          <a:ln cap="flat" cmpd="sng" w="38100">
            <a:solidFill>
              <a:schemeClr val="accent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3716f23c258_0_8"/>
          <p:cNvSpPr txBox="1"/>
          <p:nvPr>
            <p:ph type="title"/>
          </p:nvPr>
        </p:nvSpPr>
        <p:spPr>
          <a:xfrm>
            <a:off x="2231136" y="964692"/>
            <a:ext cx="7729800" cy="1188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1800"/>
              <a:buNone/>
            </a:pPr>
            <a:r>
              <a:rPr lang="en-US"/>
              <a:t>Half-Lives</a:t>
            </a:r>
            <a:endParaRPr/>
          </a:p>
        </p:txBody>
      </p:sp>
      <p:sp>
        <p:nvSpPr>
          <p:cNvPr id="475" name="Google Shape;475;g3716f23c258_0_8"/>
          <p:cNvSpPr txBox="1"/>
          <p:nvPr>
            <p:ph idx="1" type="body"/>
          </p:nvPr>
        </p:nvSpPr>
        <p:spPr>
          <a:xfrm>
            <a:off x="2231136" y="2638044"/>
            <a:ext cx="7729800" cy="3102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1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18"/>
          <p:cNvSpPr txBox="1"/>
          <p:nvPr>
            <p:ph type="title"/>
          </p:nvPr>
        </p:nvSpPr>
        <p:spPr>
          <a:xfrm>
            <a:off x="2231136" y="193431"/>
            <a:ext cx="7729800" cy="1188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WHITEBOARD STARTER</a:t>
            </a:r>
            <a:endParaRPr/>
          </a:p>
        </p:txBody>
      </p:sp>
      <p:sp>
        <p:nvSpPr>
          <p:cNvPr id="481" name="Google Shape;481;p18"/>
          <p:cNvSpPr txBox="1"/>
          <p:nvPr>
            <p:ph idx="1" type="body"/>
          </p:nvPr>
        </p:nvSpPr>
        <p:spPr>
          <a:xfrm>
            <a:off x="773723" y="1863970"/>
            <a:ext cx="10533300" cy="480060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3600"/>
              <a:buChar char="•"/>
            </a:pPr>
            <a:r>
              <a:rPr lang="en-US" sz="3600"/>
              <a:t>A farmer has a warehouse of two million corn cobs in it.  </a:t>
            </a:r>
            <a:endParaRPr/>
          </a:p>
          <a:p>
            <a:pPr indent="-228600" lvl="0" marL="228600" rtl="0" algn="l">
              <a:lnSpc>
                <a:spcPct val="100000"/>
              </a:lnSpc>
              <a:spcBef>
                <a:spcPts val="1000"/>
              </a:spcBef>
              <a:spcAft>
                <a:spcPts val="0"/>
              </a:spcAft>
              <a:buSzPts val="3600"/>
              <a:buChar char="•"/>
            </a:pPr>
            <a:r>
              <a:rPr lang="en-US" sz="3600"/>
              <a:t>Everyday he sells exactly half of his remaining stock.  </a:t>
            </a:r>
            <a:endParaRPr/>
          </a:p>
          <a:p>
            <a:pPr indent="-228600" lvl="0" marL="228600" rtl="0" algn="l">
              <a:lnSpc>
                <a:spcPct val="100000"/>
              </a:lnSpc>
              <a:spcBef>
                <a:spcPts val="1000"/>
              </a:spcBef>
              <a:spcAft>
                <a:spcPts val="0"/>
              </a:spcAft>
              <a:buSzPts val="3600"/>
              <a:buChar char="•"/>
            </a:pPr>
            <a:r>
              <a:rPr lang="en-US" sz="3600"/>
              <a:t>How long before he has sold every last </a:t>
            </a:r>
            <a:r>
              <a:rPr lang="en-US" sz="3600"/>
              <a:t>kernel</a:t>
            </a:r>
            <a:r>
              <a:rPr lang="en-US" sz="3600"/>
              <a:t> of corn?</a:t>
            </a:r>
            <a:endParaRPr sz="3600"/>
          </a:p>
          <a:p>
            <a:pPr indent="0" lvl="0" marL="0" rtl="0" algn="l">
              <a:lnSpc>
                <a:spcPct val="100000"/>
              </a:lnSpc>
              <a:spcBef>
                <a:spcPts val="1000"/>
              </a:spcBef>
              <a:spcAft>
                <a:spcPts val="0"/>
              </a:spcAft>
              <a:buSzPts val="3600"/>
              <a:buNone/>
            </a:pPr>
            <a:r>
              <a:t/>
            </a:r>
            <a:endParaRPr sz="3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9"/>
          <p:cNvSpPr txBox="1"/>
          <p:nvPr>
            <p:ph type="title"/>
          </p:nvPr>
        </p:nvSpPr>
        <p:spPr>
          <a:xfrm>
            <a:off x="2231136" y="149146"/>
            <a:ext cx="7729800" cy="1188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3600"/>
              <a:buFont typeface="Gill Sans"/>
              <a:buNone/>
            </a:pPr>
            <a:r>
              <a:rPr lang="en-US" sz="3600"/>
              <a:t>HALF-LIFE</a:t>
            </a:r>
            <a:endParaRPr/>
          </a:p>
        </p:txBody>
      </p:sp>
      <p:sp>
        <p:nvSpPr>
          <p:cNvPr id="487" name="Google Shape;487;p19"/>
          <p:cNvSpPr txBox="1"/>
          <p:nvPr>
            <p:ph idx="1" type="body"/>
          </p:nvPr>
        </p:nvSpPr>
        <p:spPr>
          <a:xfrm>
            <a:off x="597877" y="1600200"/>
            <a:ext cx="11236500" cy="4906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3600"/>
              <a:buNone/>
            </a:pPr>
            <a:r>
              <a:rPr lang="en-US" sz="3600"/>
              <a:t>2 definitions:</a:t>
            </a:r>
            <a:br>
              <a:rPr lang="en-US"/>
            </a:br>
            <a:endParaRPr sz="3600"/>
          </a:p>
          <a:p>
            <a:pPr indent="-228600" lvl="0" marL="228600" rtl="0" algn="l">
              <a:lnSpc>
                <a:spcPct val="100000"/>
              </a:lnSpc>
              <a:spcBef>
                <a:spcPts val="1000"/>
              </a:spcBef>
              <a:spcAft>
                <a:spcPts val="0"/>
              </a:spcAft>
              <a:buSzPts val="3600"/>
              <a:buChar char="•"/>
            </a:pPr>
            <a:r>
              <a:rPr lang="en-US" sz="3600"/>
              <a:t>The time it takes the number of radioactive nuclei in a sample to decrease by 50%.  </a:t>
            </a:r>
            <a:endParaRPr/>
          </a:p>
          <a:p>
            <a:pPr indent="0" lvl="0" marL="0" rtl="0" algn="l">
              <a:lnSpc>
                <a:spcPct val="100000"/>
              </a:lnSpc>
              <a:spcBef>
                <a:spcPts val="1000"/>
              </a:spcBef>
              <a:spcAft>
                <a:spcPts val="0"/>
              </a:spcAft>
              <a:buSzPts val="3600"/>
              <a:buNone/>
            </a:pPr>
            <a:r>
              <a:t/>
            </a:r>
            <a:endParaRPr sz="3600"/>
          </a:p>
          <a:p>
            <a:pPr indent="-228600" lvl="0" marL="228600" rtl="0" algn="l">
              <a:lnSpc>
                <a:spcPct val="100000"/>
              </a:lnSpc>
              <a:spcBef>
                <a:spcPts val="1000"/>
              </a:spcBef>
              <a:spcAft>
                <a:spcPts val="0"/>
              </a:spcAft>
              <a:buSzPts val="3600"/>
              <a:buChar char="•"/>
            </a:pPr>
            <a:r>
              <a:rPr lang="en-US" sz="3600"/>
              <a:t>The time it takes the count rate from a radioisotope to decrease by 50%.</a:t>
            </a:r>
            <a:endParaRPr/>
          </a:p>
          <a:p>
            <a:pPr indent="0" lvl="0" marL="0" rtl="0" algn="l">
              <a:lnSpc>
                <a:spcPct val="100000"/>
              </a:lnSpc>
              <a:spcBef>
                <a:spcPts val="1000"/>
              </a:spcBef>
              <a:spcAft>
                <a:spcPts val="0"/>
              </a:spcAft>
              <a:buSzPts val="3600"/>
              <a:buNone/>
            </a:pPr>
            <a:r>
              <a:t/>
            </a:r>
            <a:endParaRPr sz="3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0"/>
          <p:cNvSpPr txBox="1"/>
          <p:nvPr>
            <p:ph type="title"/>
          </p:nvPr>
        </p:nvSpPr>
        <p:spPr>
          <a:xfrm>
            <a:off x="246189" y="54102"/>
            <a:ext cx="11746500" cy="1188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3600"/>
              <a:buFont typeface="Gill Sans"/>
              <a:buNone/>
            </a:pPr>
            <a:r>
              <a:rPr lang="en-US" sz="3600"/>
              <a:t>GRAPHICAL REPRESENTATION OF HALF LIFE</a:t>
            </a:r>
            <a:endParaRPr/>
          </a:p>
        </p:txBody>
      </p:sp>
      <p:cxnSp>
        <p:nvCxnSpPr>
          <p:cNvPr id="493" name="Google Shape;493;p20"/>
          <p:cNvCxnSpPr/>
          <p:nvPr/>
        </p:nvCxnSpPr>
        <p:spPr>
          <a:xfrm rot="10800000">
            <a:off x="1828800" y="1524000"/>
            <a:ext cx="0" cy="4114800"/>
          </a:xfrm>
          <a:prstGeom prst="straightConnector1">
            <a:avLst/>
          </a:prstGeom>
          <a:noFill/>
          <a:ln cap="flat" cmpd="sng" w="57150">
            <a:solidFill>
              <a:schemeClr val="accent2"/>
            </a:solidFill>
            <a:prstDash val="solid"/>
            <a:round/>
            <a:headEnd len="sm" w="sm" type="none"/>
            <a:tailEnd len="med" w="med" type="triangle"/>
          </a:ln>
        </p:spPr>
      </p:cxnSp>
      <p:cxnSp>
        <p:nvCxnSpPr>
          <p:cNvPr id="494" name="Google Shape;494;p20"/>
          <p:cNvCxnSpPr/>
          <p:nvPr/>
        </p:nvCxnSpPr>
        <p:spPr>
          <a:xfrm>
            <a:off x="1600200" y="5257800"/>
            <a:ext cx="3657600" cy="0"/>
          </a:xfrm>
          <a:prstGeom prst="straightConnector1">
            <a:avLst/>
          </a:prstGeom>
          <a:noFill/>
          <a:ln cap="flat" cmpd="sng" w="57150">
            <a:solidFill>
              <a:schemeClr val="accent2"/>
            </a:solidFill>
            <a:prstDash val="solid"/>
            <a:round/>
            <a:headEnd len="sm" w="sm" type="none"/>
            <a:tailEnd len="med" w="med" type="triangle"/>
          </a:ln>
        </p:spPr>
      </p:cxnSp>
      <p:sp>
        <p:nvSpPr>
          <p:cNvPr id="495" name="Google Shape;495;p20"/>
          <p:cNvSpPr/>
          <p:nvPr/>
        </p:nvSpPr>
        <p:spPr>
          <a:xfrm rot="10800000">
            <a:off x="1854218" y="2057424"/>
            <a:ext cx="2793982" cy="3047976"/>
          </a:xfrm>
          <a:custGeom>
            <a:rect b="b" l="l" r="r" t="t"/>
            <a:pathLst>
              <a:path extrusionOk="0" fill="none" h="21600" w="21409">
                <a:moveTo>
                  <a:pt x="0" y="0"/>
                </a:moveTo>
                <a:cubicBezTo>
                  <a:pt x="10822" y="0"/>
                  <a:pt x="19973" y="8008"/>
                  <a:pt x="21409" y="18734"/>
                </a:cubicBezTo>
              </a:path>
              <a:path extrusionOk="0" h="21600" w="21409">
                <a:moveTo>
                  <a:pt x="0" y="0"/>
                </a:moveTo>
                <a:cubicBezTo>
                  <a:pt x="10822" y="0"/>
                  <a:pt x="19973" y="8008"/>
                  <a:pt x="21409" y="18734"/>
                </a:cubicBezTo>
                <a:lnTo>
                  <a:pt x="0" y="21600"/>
                </a:lnTo>
                <a:close/>
              </a:path>
            </a:pathLst>
          </a:cu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cxnSp>
        <p:nvCxnSpPr>
          <p:cNvPr id="496" name="Google Shape;496;p20"/>
          <p:cNvCxnSpPr/>
          <p:nvPr/>
        </p:nvCxnSpPr>
        <p:spPr>
          <a:xfrm>
            <a:off x="1828800" y="4038600"/>
            <a:ext cx="685800" cy="0"/>
          </a:xfrm>
          <a:prstGeom prst="straightConnector1">
            <a:avLst/>
          </a:prstGeom>
          <a:noFill/>
          <a:ln cap="flat" cmpd="sng" w="38100">
            <a:solidFill>
              <a:srgbClr val="339966"/>
            </a:solidFill>
            <a:prstDash val="solid"/>
            <a:round/>
            <a:headEnd len="sm" w="sm" type="none"/>
            <a:tailEnd len="sm" w="sm" type="none"/>
          </a:ln>
        </p:spPr>
      </p:cxnSp>
      <p:cxnSp>
        <p:nvCxnSpPr>
          <p:cNvPr id="497" name="Google Shape;497;p20"/>
          <p:cNvCxnSpPr/>
          <p:nvPr/>
        </p:nvCxnSpPr>
        <p:spPr>
          <a:xfrm>
            <a:off x="2514600" y="4038600"/>
            <a:ext cx="0" cy="1143000"/>
          </a:xfrm>
          <a:prstGeom prst="straightConnector1">
            <a:avLst/>
          </a:prstGeom>
          <a:noFill/>
          <a:ln cap="flat" cmpd="sng" w="38100">
            <a:solidFill>
              <a:srgbClr val="339966"/>
            </a:solidFill>
            <a:prstDash val="solid"/>
            <a:round/>
            <a:headEnd len="sm" w="sm" type="none"/>
            <a:tailEnd len="med" w="med" type="triangle"/>
          </a:ln>
        </p:spPr>
      </p:cxnSp>
      <p:cxnSp>
        <p:nvCxnSpPr>
          <p:cNvPr id="498" name="Google Shape;498;p20"/>
          <p:cNvCxnSpPr/>
          <p:nvPr/>
        </p:nvCxnSpPr>
        <p:spPr>
          <a:xfrm>
            <a:off x="1828800" y="4648200"/>
            <a:ext cx="1371600" cy="0"/>
          </a:xfrm>
          <a:prstGeom prst="straightConnector1">
            <a:avLst/>
          </a:prstGeom>
          <a:noFill/>
          <a:ln cap="flat" cmpd="sng" w="38100">
            <a:solidFill>
              <a:srgbClr val="339966"/>
            </a:solidFill>
            <a:prstDash val="solid"/>
            <a:round/>
            <a:headEnd len="sm" w="sm" type="none"/>
            <a:tailEnd len="sm" w="sm" type="none"/>
          </a:ln>
        </p:spPr>
      </p:cxnSp>
      <p:cxnSp>
        <p:nvCxnSpPr>
          <p:cNvPr id="499" name="Google Shape;499;p20"/>
          <p:cNvCxnSpPr/>
          <p:nvPr/>
        </p:nvCxnSpPr>
        <p:spPr>
          <a:xfrm>
            <a:off x="3200400" y="4648200"/>
            <a:ext cx="0" cy="533400"/>
          </a:xfrm>
          <a:prstGeom prst="straightConnector1">
            <a:avLst/>
          </a:prstGeom>
          <a:noFill/>
          <a:ln cap="flat" cmpd="sng" w="38100">
            <a:solidFill>
              <a:srgbClr val="339966"/>
            </a:solidFill>
            <a:prstDash val="solid"/>
            <a:round/>
            <a:headEnd len="sm" w="sm" type="none"/>
            <a:tailEnd len="med" w="med" type="triangle"/>
          </a:ln>
        </p:spPr>
      </p:cxnSp>
      <p:sp>
        <p:nvSpPr>
          <p:cNvPr id="500" name="Google Shape;500;p20"/>
          <p:cNvSpPr txBox="1"/>
          <p:nvPr/>
        </p:nvSpPr>
        <p:spPr>
          <a:xfrm>
            <a:off x="0" y="1371600"/>
            <a:ext cx="1752600" cy="70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70C0"/>
              </a:buClr>
              <a:buSzPts val="2000"/>
              <a:buFont typeface="Comic Sans MS"/>
              <a:buNone/>
            </a:pPr>
            <a:r>
              <a:rPr b="0" i="0" lang="en-US" sz="2000" u="none" cap="none" strike="noStrike">
                <a:solidFill>
                  <a:srgbClr val="0070C0"/>
                </a:solidFill>
                <a:latin typeface="Comic Sans MS"/>
                <a:ea typeface="Comic Sans MS"/>
                <a:cs typeface="Comic Sans MS"/>
                <a:sym typeface="Comic Sans MS"/>
              </a:rPr>
              <a:t>Decay rate (counts/min)</a:t>
            </a:r>
            <a:endParaRPr b="0" i="0" sz="1400" u="none" cap="none" strike="noStrike">
              <a:solidFill>
                <a:srgbClr val="000000"/>
              </a:solidFill>
              <a:latin typeface="Arial"/>
              <a:ea typeface="Arial"/>
              <a:cs typeface="Arial"/>
              <a:sym typeface="Arial"/>
            </a:endParaRPr>
          </a:p>
        </p:txBody>
      </p:sp>
      <p:sp>
        <p:nvSpPr>
          <p:cNvPr id="501" name="Google Shape;501;p20"/>
          <p:cNvSpPr txBox="1"/>
          <p:nvPr/>
        </p:nvSpPr>
        <p:spPr>
          <a:xfrm>
            <a:off x="3733800" y="5715000"/>
            <a:ext cx="1752600" cy="39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70C0"/>
              </a:buClr>
              <a:buSzPts val="2000"/>
              <a:buFont typeface="Comic Sans MS"/>
              <a:buNone/>
            </a:pPr>
            <a:r>
              <a:rPr b="0" i="0" lang="en-US" sz="2000" u="none" cap="none" strike="noStrike">
                <a:solidFill>
                  <a:srgbClr val="0070C0"/>
                </a:solidFill>
                <a:latin typeface="Comic Sans MS"/>
                <a:ea typeface="Comic Sans MS"/>
                <a:cs typeface="Comic Sans MS"/>
                <a:sym typeface="Comic Sans MS"/>
              </a:rPr>
              <a:t>Time (min)</a:t>
            </a:r>
            <a:endParaRPr b="0" i="0" sz="1400" u="none" cap="none" strike="noStrike">
              <a:solidFill>
                <a:srgbClr val="000000"/>
              </a:solidFill>
              <a:latin typeface="Arial"/>
              <a:ea typeface="Arial"/>
              <a:cs typeface="Arial"/>
              <a:sym typeface="Arial"/>
            </a:endParaRPr>
          </a:p>
        </p:txBody>
      </p:sp>
      <p:sp>
        <p:nvSpPr>
          <p:cNvPr id="502" name="Google Shape;502;p20"/>
          <p:cNvSpPr/>
          <p:nvPr/>
        </p:nvSpPr>
        <p:spPr>
          <a:xfrm>
            <a:off x="1676400" y="5105400"/>
            <a:ext cx="304800" cy="304800"/>
          </a:xfrm>
          <a:prstGeom prst="ellipse">
            <a:avLst/>
          </a:prstGeom>
          <a:no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rgbClr val="000000"/>
              </a:solidFill>
              <a:latin typeface="Gill Sans"/>
              <a:ea typeface="Gill Sans"/>
              <a:cs typeface="Gill Sans"/>
              <a:sym typeface="Gill Sans"/>
            </a:endParaRPr>
          </a:p>
        </p:txBody>
      </p:sp>
      <p:sp>
        <p:nvSpPr>
          <p:cNvPr id="503" name="Google Shape;503;p20"/>
          <p:cNvSpPr txBox="1"/>
          <p:nvPr/>
        </p:nvSpPr>
        <p:spPr>
          <a:xfrm>
            <a:off x="762000" y="2286000"/>
            <a:ext cx="990600" cy="2590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70C0"/>
              </a:buClr>
              <a:buSzPts val="2000"/>
              <a:buFont typeface="Comic Sans MS"/>
              <a:buNone/>
            </a:pPr>
            <a:r>
              <a:rPr b="0" i="0" lang="en-US" sz="2000" u="none" cap="none" strike="noStrike">
                <a:solidFill>
                  <a:srgbClr val="0070C0"/>
                </a:solidFill>
                <a:latin typeface="Comic Sans MS"/>
                <a:ea typeface="Comic Sans MS"/>
                <a:cs typeface="Comic Sans MS"/>
                <a:sym typeface="Comic Sans MS"/>
              </a:rPr>
              <a:t>80</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600"/>
              </a:spcBef>
              <a:spcAft>
                <a:spcPts val="0"/>
              </a:spcAft>
              <a:buClr>
                <a:schemeClr val="dk1"/>
              </a:buClr>
              <a:buSzPts val="1200"/>
              <a:buFont typeface="Gill Sans"/>
              <a:buNone/>
            </a:pPr>
            <a:r>
              <a:t/>
            </a:r>
            <a:endParaRPr b="0" i="0" sz="1200" u="none" cap="none" strike="noStrike">
              <a:solidFill>
                <a:srgbClr val="0070C0"/>
              </a:solidFill>
              <a:latin typeface="Comic Sans MS"/>
              <a:ea typeface="Comic Sans MS"/>
              <a:cs typeface="Comic Sans MS"/>
              <a:sym typeface="Comic Sans MS"/>
            </a:endParaRPr>
          </a:p>
          <a:p>
            <a:pPr indent="0" lvl="0" marL="0" marR="0" rtl="0" algn="r">
              <a:lnSpc>
                <a:spcPct val="100000"/>
              </a:lnSpc>
              <a:spcBef>
                <a:spcPts val="1000"/>
              </a:spcBef>
              <a:spcAft>
                <a:spcPts val="0"/>
              </a:spcAft>
              <a:buClr>
                <a:srgbClr val="0070C0"/>
              </a:buClr>
              <a:buSzPts val="2000"/>
              <a:buFont typeface="Comic Sans MS"/>
              <a:buNone/>
            </a:pPr>
            <a:r>
              <a:rPr b="0" i="0" lang="en-US" sz="2000" u="none" cap="none" strike="noStrike">
                <a:solidFill>
                  <a:srgbClr val="0070C0"/>
                </a:solidFill>
                <a:latin typeface="Comic Sans MS"/>
                <a:ea typeface="Comic Sans MS"/>
                <a:cs typeface="Comic Sans MS"/>
                <a:sym typeface="Comic Sans MS"/>
              </a:rPr>
              <a:t>60</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700"/>
              </a:spcBef>
              <a:spcAft>
                <a:spcPts val="0"/>
              </a:spcAft>
              <a:buClr>
                <a:schemeClr val="dk1"/>
              </a:buClr>
              <a:buSzPts val="1400"/>
              <a:buFont typeface="Gill Sans"/>
              <a:buNone/>
            </a:pPr>
            <a:r>
              <a:t/>
            </a:r>
            <a:endParaRPr b="0" i="0" sz="1400" u="none" cap="none" strike="noStrike">
              <a:solidFill>
                <a:srgbClr val="0070C0"/>
              </a:solidFill>
              <a:latin typeface="Comic Sans MS"/>
              <a:ea typeface="Comic Sans MS"/>
              <a:cs typeface="Comic Sans MS"/>
              <a:sym typeface="Comic Sans MS"/>
            </a:endParaRPr>
          </a:p>
          <a:p>
            <a:pPr indent="0" lvl="0" marL="0" marR="0" rtl="0" algn="r">
              <a:lnSpc>
                <a:spcPct val="100000"/>
              </a:lnSpc>
              <a:spcBef>
                <a:spcPts val="1000"/>
              </a:spcBef>
              <a:spcAft>
                <a:spcPts val="0"/>
              </a:spcAft>
              <a:buClr>
                <a:srgbClr val="0070C0"/>
              </a:buClr>
              <a:buSzPts val="2000"/>
              <a:buFont typeface="Comic Sans MS"/>
              <a:buNone/>
            </a:pPr>
            <a:r>
              <a:rPr b="0" i="0" lang="en-US" sz="2000" u="none" cap="none" strike="noStrike">
                <a:solidFill>
                  <a:srgbClr val="0070C0"/>
                </a:solidFill>
                <a:latin typeface="Comic Sans MS"/>
                <a:ea typeface="Comic Sans MS"/>
                <a:cs typeface="Comic Sans MS"/>
                <a:sym typeface="Comic Sans MS"/>
              </a:rPr>
              <a:t>40</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500"/>
              </a:spcBef>
              <a:spcAft>
                <a:spcPts val="0"/>
              </a:spcAft>
              <a:buClr>
                <a:schemeClr val="dk1"/>
              </a:buClr>
              <a:buSzPts val="1000"/>
              <a:buFont typeface="Gill Sans"/>
              <a:buNone/>
            </a:pPr>
            <a:r>
              <a:t/>
            </a:r>
            <a:endParaRPr b="0" i="0" sz="1000" u="none" cap="none" strike="noStrike">
              <a:solidFill>
                <a:srgbClr val="0070C0"/>
              </a:solidFill>
              <a:latin typeface="Comic Sans MS"/>
              <a:ea typeface="Comic Sans MS"/>
              <a:cs typeface="Comic Sans MS"/>
              <a:sym typeface="Comic Sans MS"/>
            </a:endParaRPr>
          </a:p>
          <a:p>
            <a:pPr indent="0" lvl="0" marL="0" marR="0" rtl="0" algn="r">
              <a:lnSpc>
                <a:spcPct val="100000"/>
              </a:lnSpc>
              <a:spcBef>
                <a:spcPts val="1000"/>
              </a:spcBef>
              <a:spcAft>
                <a:spcPts val="0"/>
              </a:spcAft>
              <a:buClr>
                <a:srgbClr val="0070C0"/>
              </a:buClr>
              <a:buSzPts val="2000"/>
              <a:buFont typeface="Comic Sans MS"/>
              <a:buNone/>
            </a:pPr>
            <a:r>
              <a:rPr b="0" i="0" lang="en-US" sz="2000" u="none" cap="none" strike="noStrike">
                <a:solidFill>
                  <a:srgbClr val="0070C0"/>
                </a:solidFill>
                <a:latin typeface="Comic Sans MS"/>
                <a:ea typeface="Comic Sans MS"/>
                <a:cs typeface="Comic Sans MS"/>
                <a:sym typeface="Comic Sans MS"/>
              </a:rPr>
              <a:t>20</a:t>
            </a:r>
            <a:endParaRPr b="0" i="0" sz="1400" u="none" cap="none" strike="noStrike">
              <a:solidFill>
                <a:srgbClr val="000000"/>
              </a:solidFill>
              <a:latin typeface="Arial"/>
              <a:ea typeface="Arial"/>
              <a:cs typeface="Arial"/>
              <a:sym typeface="Arial"/>
            </a:endParaRPr>
          </a:p>
        </p:txBody>
      </p:sp>
      <p:sp>
        <p:nvSpPr>
          <p:cNvPr id="504" name="Google Shape;504;p20"/>
          <p:cNvSpPr txBox="1"/>
          <p:nvPr/>
        </p:nvSpPr>
        <p:spPr>
          <a:xfrm>
            <a:off x="1752600" y="5334000"/>
            <a:ext cx="3200400" cy="70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000"/>
              <a:buFont typeface="Comic Sans MS"/>
              <a:buNone/>
            </a:pPr>
            <a:r>
              <a:rPr b="0" i="0" lang="en-US" sz="2000" u="none" cap="none" strike="noStrike">
                <a:solidFill>
                  <a:srgbClr val="0070C0"/>
                </a:solidFill>
                <a:latin typeface="Comic Sans MS"/>
                <a:ea typeface="Comic Sans MS"/>
                <a:cs typeface="Comic Sans MS"/>
                <a:sym typeface="Comic Sans MS"/>
              </a:rPr>
              <a:t>        2       4       6        8	</a:t>
            </a:r>
            <a:endParaRPr b="0" i="0" sz="1400" u="none" cap="none" strike="noStrike">
              <a:solidFill>
                <a:srgbClr val="000000"/>
              </a:solidFill>
              <a:latin typeface="Arial"/>
              <a:ea typeface="Arial"/>
              <a:cs typeface="Arial"/>
              <a:sym typeface="Arial"/>
            </a:endParaRPr>
          </a:p>
        </p:txBody>
      </p:sp>
      <p:sp>
        <p:nvSpPr>
          <p:cNvPr id="505" name="Google Shape;505;p20"/>
          <p:cNvSpPr txBox="1"/>
          <p:nvPr/>
        </p:nvSpPr>
        <p:spPr>
          <a:xfrm>
            <a:off x="4952999" y="1432100"/>
            <a:ext cx="7039800" cy="9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omic Sans MS"/>
              <a:buNone/>
            </a:pPr>
            <a:r>
              <a:rPr b="0" i="0" lang="en-US" sz="2800" u="none" cap="none" strike="noStrike">
                <a:solidFill>
                  <a:srgbClr val="000000"/>
                </a:solidFill>
                <a:latin typeface="Comic Sans MS"/>
                <a:ea typeface="Comic Sans MS"/>
                <a:cs typeface="Comic Sans MS"/>
                <a:sym typeface="Comic Sans MS"/>
              </a:rPr>
              <a:t>What is the half life of the radioisotope represented by the following graph?</a:t>
            </a:r>
            <a:endParaRPr b="0" i="0" sz="1400" u="none" cap="none" strike="noStrike">
              <a:solidFill>
                <a:srgbClr val="000000"/>
              </a:solidFill>
              <a:latin typeface="Arial"/>
              <a:ea typeface="Arial"/>
              <a:cs typeface="Arial"/>
              <a:sym typeface="Arial"/>
            </a:endParaRPr>
          </a:p>
        </p:txBody>
      </p:sp>
      <p:sp>
        <p:nvSpPr>
          <p:cNvPr id="506" name="Google Shape;506;p20"/>
          <p:cNvSpPr txBox="1"/>
          <p:nvPr/>
        </p:nvSpPr>
        <p:spPr>
          <a:xfrm>
            <a:off x="5257800" y="2689225"/>
            <a:ext cx="6559200" cy="12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mic Sans MS"/>
              <a:buNone/>
            </a:pPr>
            <a:r>
              <a:rPr b="0" i="0" lang="en-US" sz="2400" u="none" cap="none" strike="noStrike">
                <a:solidFill>
                  <a:srgbClr val="000000"/>
                </a:solidFill>
                <a:latin typeface="Comic Sans MS"/>
                <a:ea typeface="Comic Sans MS"/>
                <a:cs typeface="Comic Sans MS"/>
                <a:sym typeface="Comic Sans MS"/>
              </a:rPr>
              <a:t>The time it takes the count rate to decrease from 80 per min to 40 per min is what?</a:t>
            </a:r>
            <a:endParaRPr b="0" i="0" sz="1400" u="none" cap="none" strike="noStrike">
              <a:solidFill>
                <a:srgbClr val="000000"/>
              </a:solidFill>
              <a:latin typeface="Arial"/>
              <a:ea typeface="Arial"/>
              <a:cs typeface="Arial"/>
              <a:sym typeface="Arial"/>
            </a:endParaRPr>
          </a:p>
        </p:txBody>
      </p:sp>
      <p:sp>
        <p:nvSpPr>
          <p:cNvPr id="507" name="Google Shape;507;p20"/>
          <p:cNvSpPr txBox="1"/>
          <p:nvPr/>
        </p:nvSpPr>
        <p:spPr>
          <a:xfrm>
            <a:off x="5918199" y="4221162"/>
            <a:ext cx="6074400" cy="12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mic Sans MS"/>
              <a:buNone/>
            </a:pPr>
            <a:r>
              <a:rPr b="0" i="0" lang="en-US" sz="2400" u="none" cap="none" strike="noStrike">
                <a:solidFill>
                  <a:srgbClr val="000000"/>
                </a:solidFill>
                <a:latin typeface="Comic Sans MS"/>
                <a:ea typeface="Comic Sans MS"/>
                <a:cs typeface="Comic Sans MS"/>
                <a:sym typeface="Comic Sans MS"/>
              </a:rPr>
              <a:t>Double check, the time it takes the count rate to decrease from 40 per min to 20 per min is?  </a:t>
            </a:r>
            <a:endParaRPr b="0" i="0" sz="1400" u="none" cap="none" strike="noStrike">
              <a:solidFill>
                <a:srgbClr val="000000"/>
              </a:solidFill>
              <a:latin typeface="Arial"/>
              <a:ea typeface="Arial"/>
              <a:cs typeface="Arial"/>
              <a:sym typeface="Arial"/>
            </a:endParaRPr>
          </a:p>
        </p:txBody>
      </p:sp>
      <p:sp>
        <p:nvSpPr>
          <p:cNvPr id="508" name="Google Shape;508;p20"/>
          <p:cNvSpPr txBox="1"/>
          <p:nvPr/>
        </p:nvSpPr>
        <p:spPr>
          <a:xfrm>
            <a:off x="6438900" y="5810005"/>
            <a:ext cx="4953000" cy="831000"/>
          </a:xfrm>
          <a:prstGeom prst="rect">
            <a:avLst/>
          </a:prstGeom>
          <a:solidFill>
            <a:srgbClr val="D8DCDE"/>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mic Sans MS"/>
              <a:buNone/>
            </a:pPr>
            <a:r>
              <a:rPr b="0" i="0" lang="en-US" sz="2400" u="none" cap="none" strike="noStrike">
                <a:solidFill>
                  <a:srgbClr val="000000"/>
                </a:solidFill>
                <a:latin typeface="Comic Sans MS"/>
                <a:ea typeface="Comic Sans MS"/>
                <a:cs typeface="Comic Sans MS"/>
                <a:sym typeface="Comic Sans MS"/>
              </a:rPr>
              <a:t>The half life of the radioisotope is 2 mins.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500"/>
                                        <p:tgtEl>
                                          <p:spTgt spid="5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
                                        <p:tgtEl>
                                          <p:spTgt spid="4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500"/>
                                        <p:tgtEl>
                                          <p:spTgt spid="4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500"/>
                                        <p:tgtEl>
                                          <p:spTgt spid="5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21"/>
          <p:cNvSpPr txBox="1"/>
          <p:nvPr>
            <p:ph type="title"/>
          </p:nvPr>
        </p:nvSpPr>
        <p:spPr>
          <a:xfrm>
            <a:off x="2231136" y="115650"/>
            <a:ext cx="7729800" cy="1188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HALF-LIFE PRACTICAL</a:t>
            </a:r>
            <a:endParaRPr/>
          </a:p>
        </p:txBody>
      </p:sp>
      <p:sp>
        <p:nvSpPr>
          <p:cNvPr id="514" name="Google Shape;514;p21"/>
          <p:cNvSpPr txBox="1"/>
          <p:nvPr>
            <p:ph idx="1" type="body"/>
          </p:nvPr>
        </p:nvSpPr>
        <p:spPr>
          <a:xfrm>
            <a:off x="2122852" y="2072560"/>
            <a:ext cx="7729800" cy="3102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US" sz="2400"/>
              <a:t>Practical</a:t>
            </a:r>
            <a:endParaRPr sz="2400"/>
          </a:p>
          <a:p>
            <a:pPr indent="0" lvl="0" marL="0" rtl="0" algn="l">
              <a:lnSpc>
                <a:spcPct val="100000"/>
              </a:lnSpc>
              <a:spcBef>
                <a:spcPts val="0"/>
              </a:spcBef>
              <a:spcAft>
                <a:spcPts val="0"/>
              </a:spcAft>
              <a:buSzPts val="2400"/>
              <a:buNone/>
            </a:pPr>
            <a:r>
              <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22"/>
          <p:cNvSpPr txBox="1"/>
          <p:nvPr>
            <p:ph type="title"/>
          </p:nvPr>
        </p:nvSpPr>
        <p:spPr>
          <a:xfrm>
            <a:off x="2098789" y="339050"/>
            <a:ext cx="7729800" cy="1188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RADIOCARBON DATING</a:t>
            </a:r>
            <a:endParaRPr/>
          </a:p>
        </p:txBody>
      </p:sp>
      <p:sp>
        <p:nvSpPr>
          <p:cNvPr id="520" name="Google Shape;520;p22"/>
          <p:cNvSpPr txBox="1"/>
          <p:nvPr>
            <p:ph idx="1" type="body"/>
          </p:nvPr>
        </p:nvSpPr>
        <p:spPr>
          <a:xfrm>
            <a:off x="625650" y="1851725"/>
            <a:ext cx="11045100" cy="4789800"/>
          </a:xfrm>
          <a:prstGeom prst="rect">
            <a:avLst/>
          </a:prstGeom>
          <a:noFill/>
          <a:ln>
            <a:noFill/>
          </a:ln>
        </p:spPr>
        <p:txBody>
          <a:bodyPr anchorCtr="0" anchor="t" bIns="45700" lIns="91425" spcFirstLastPara="1" rIns="91425" wrap="square" tIns="45700">
            <a:normAutofit/>
          </a:bodyPr>
          <a:lstStyle/>
          <a:p>
            <a:pPr indent="-254000" lvl="0" marL="228600" rtl="0" algn="l">
              <a:lnSpc>
                <a:spcPct val="100000"/>
              </a:lnSpc>
              <a:spcBef>
                <a:spcPts val="0"/>
              </a:spcBef>
              <a:spcAft>
                <a:spcPts val="0"/>
              </a:spcAft>
              <a:buSzPts val="3200"/>
              <a:buChar char="•"/>
            </a:pPr>
            <a:r>
              <a:rPr lang="en-US" sz="3200"/>
              <a:t>All living things (trees, plants, humans, animals etc) absorb radioactive carbon-14 and carbon-12 into their tissue. </a:t>
            </a:r>
            <a:endParaRPr sz="2200"/>
          </a:p>
          <a:p>
            <a:pPr indent="-254000" lvl="0" marL="228600" rtl="0" algn="l">
              <a:lnSpc>
                <a:spcPct val="100000"/>
              </a:lnSpc>
              <a:spcBef>
                <a:spcPts val="1000"/>
              </a:spcBef>
              <a:spcAft>
                <a:spcPts val="0"/>
              </a:spcAft>
              <a:buSzPts val="3200"/>
              <a:buChar char="•"/>
            </a:pPr>
            <a:r>
              <a:rPr lang="en-US" sz="3200"/>
              <a:t>When living things die, they stop taking in carbon. The carbon-14 present at death slowly decays to carbon-12 (half-life is ~5600 years) and other atoms. </a:t>
            </a:r>
            <a:endParaRPr sz="2200"/>
          </a:p>
          <a:p>
            <a:pPr indent="-254000" lvl="0" marL="228600" rtl="0" algn="l">
              <a:lnSpc>
                <a:spcPct val="100000"/>
              </a:lnSpc>
              <a:spcBef>
                <a:spcPts val="1000"/>
              </a:spcBef>
              <a:spcAft>
                <a:spcPts val="0"/>
              </a:spcAft>
              <a:buSzPts val="3200"/>
              <a:buChar char="•"/>
            </a:pPr>
            <a:r>
              <a:rPr lang="en-US" sz="3200"/>
              <a:t>The radioactivity of items due to the decay of carbon-14 can be used to date bones, wood, paper and cloth by measuring the remaining carbon-14 atoms.</a:t>
            </a:r>
            <a:endParaRPr sz="2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descr="SciShow explains radiocarbon dating, the best way to date a dead thing!&#10;&#10;Hosted by: Michael Aranda&#10;----------&#10;Like SciShow? Want to help support us, and also get things to put on your walls, cover your torso and hold your liquids? Check out our awesome products over at DFTBA Records: http://dftba.com/scishow&#10;&#10;Or help support us by subscribing to our page on Subbable: https://subbable.com/scishow&#10;----------&#10;Looking for SciShow elsewhere on the internet?&#10;Facebook: http://www.facebook.com/scishow&#10;Twitter: http://www.twitter.com/scishow&#10;Tumblr: http://scishow.tumblr.com&#10;&#10;Thanks Tank Tumblr: http://thankstank.tumblr.com" id="525" name="Google Shape;525;g39b9b9d4458_0_8" title="How to Date a Dead Thing">
            <a:hlinkClick r:id="rId3"/>
          </p:cNvPr>
          <p:cNvPicPr preferRelativeResize="0"/>
          <p:nvPr/>
        </p:nvPicPr>
        <p:blipFill>
          <a:blip r:embed="rId4">
            <a:alphaModFix/>
          </a:blip>
          <a:stretch>
            <a:fillRect/>
          </a:stretch>
        </p:blipFill>
        <p:spPr>
          <a:xfrm>
            <a:off x="6026600" y="3306660"/>
            <a:ext cx="5971250" cy="3358840"/>
          </a:xfrm>
          <a:prstGeom prst="rect">
            <a:avLst/>
          </a:prstGeom>
          <a:noFill/>
          <a:ln>
            <a:noFill/>
          </a:ln>
        </p:spPr>
      </p:pic>
      <p:pic>
        <p:nvPicPr>
          <p:cNvPr descr="In the movies, scientists use “carbon dating” to determine the age of ancient artifacts and dinosaur bones. But what is the real science behind carbon dating, and how does it work?&#10;&#10;Learn more at HowStuffWorks.com:&#10;http://science.howstuffworks.com/environmental/earth/geology/carbon-14.htm&#10;&#10;Share on Facebook: https://goo.gl/Vqhyah&#10;Share on Twitter: https://goo.gl/gN9pcu&#10;Subscribe: http://goo.gl/ZYI7Gt&#10;Visit our site: http://www.brainstuffshow.com&#10;&#10;SOURCES:&#10;&#10;http://science.howstuffworks.com/environmental/earth/geology/carbon-14.htm/printable&#10;&#10;http://paleobiology.si.edu/geotime/main/foundation_dating3.html" id="526" name="Google Shape;526;g39b9b9d4458_0_8" title="How Carbon Dating Works">
            <a:hlinkClick r:id="rId5"/>
          </p:cNvPr>
          <p:cNvPicPr preferRelativeResize="0"/>
          <p:nvPr/>
        </p:nvPicPr>
        <p:blipFill>
          <a:blip r:embed="rId6">
            <a:alphaModFix/>
          </a:blip>
          <a:stretch>
            <a:fillRect/>
          </a:stretch>
        </p:blipFill>
        <p:spPr>
          <a:xfrm>
            <a:off x="152400" y="152400"/>
            <a:ext cx="5803100" cy="3264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1000"/>
                                        <p:tgtEl>
                                          <p:spTgt spid="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100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716f23c258_0_3"/>
          <p:cNvSpPr txBox="1"/>
          <p:nvPr>
            <p:ph type="title"/>
          </p:nvPr>
        </p:nvSpPr>
        <p:spPr>
          <a:xfrm>
            <a:off x="2231136" y="964692"/>
            <a:ext cx="7729800" cy="1188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1800"/>
              <a:buNone/>
            </a:pPr>
            <a:r>
              <a:rPr lang="en-US"/>
              <a:t>Indigenous Perspective - Radiocarbon Dating</a:t>
            </a:r>
            <a:endParaRPr/>
          </a:p>
        </p:txBody>
      </p:sp>
      <p:sp>
        <p:nvSpPr>
          <p:cNvPr id="532" name="Google Shape;532;g3716f23c258_0_3"/>
          <p:cNvSpPr txBox="1"/>
          <p:nvPr>
            <p:ph idx="1" type="body"/>
          </p:nvPr>
        </p:nvSpPr>
        <p:spPr>
          <a:xfrm>
            <a:off x="135450" y="2372025"/>
            <a:ext cx="7729800" cy="4251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Clr>
                <a:schemeClr val="dk1"/>
              </a:buClr>
              <a:buSzPts val="770"/>
              <a:buFont typeface="Arial"/>
              <a:buNone/>
            </a:pPr>
            <a:r>
              <a:rPr lang="en-US" sz="1786">
                <a:solidFill>
                  <a:schemeClr val="dk1"/>
                </a:solidFill>
              </a:rPr>
              <a:t>Radiocarbon (¹⁴C) dating measures the decay of carbon-14 in once-living material. Since ¹⁴C has a half-life of ~5,730 years, it is useful for dating organic remains up to about 50,000 years old .</a:t>
            </a:r>
            <a:br>
              <a:rPr lang="en-US" sz="1786">
                <a:solidFill>
                  <a:schemeClr val="dk1"/>
                </a:solidFill>
              </a:rPr>
            </a:br>
            <a:endParaRPr sz="1786">
              <a:solidFill>
                <a:schemeClr val="dk1"/>
              </a:solidFill>
            </a:endParaRPr>
          </a:p>
          <a:p>
            <a:pPr indent="0" lvl="0" marL="0" rtl="0" algn="l">
              <a:lnSpc>
                <a:spcPct val="90000"/>
              </a:lnSpc>
              <a:spcBef>
                <a:spcPts val="1000"/>
              </a:spcBef>
              <a:spcAft>
                <a:spcPts val="0"/>
              </a:spcAft>
              <a:buClr>
                <a:schemeClr val="dk1"/>
              </a:buClr>
              <a:buSzPts val="770"/>
              <a:buFont typeface="Arial"/>
              <a:buNone/>
            </a:pPr>
            <a:r>
              <a:rPr lang="en-US" sz="1786">
                <a:solidFill>
                  <a:schemeClr val="dk1"/>
                </a:solidFill>
              </a:rPr>
              <a:t>Archaeologists have used radiocarbon dating on charcoal from ancient hearths, shell middens, bone, and plant remains to establish human presence. For example:</a:t>
            </a:r>
            <a:br>
              <a:rPr lang="en-US" sz="1786">
                <a:solidFill>
                  <a:schemeClr val="dk1"/>
                </a:solidFill>
              </a:rPr>
            </a:br>
            <a:endParaRPr sz="1786">
              <a:solidFill>
                <a:schemeClr val="dk1"/>
              </a:solidFill>
            </a:endParaRPr>
          </a:p>
          <a:p>
            <a:pPr indent="-342012" lvl="0" marL="457200" rtl="0" algn="l">
              <a:lnSpc>
                <a:spcPct val="105000"/>
              </a:lnSpc>
              <a:spcBef>
                <a:spcPts val="1200"/>
              </a:spcBef>
              <a:spcAft>
                <a:spcPts val="0"/>
              </a:spcAft>
              <a:buClr>
                <a:schemeClr val="dk1"/>
              </a:buClr>
              <a:buSzPts val="1786"/>
              <a:buChar char="●"/>
            </a:pPr>
            <a:r>
              <a:rPr lang="en-US" sz="1786">
                <a:solidFill>
                  <a:schemeClr val="dk1"/>
                </a:solidFill>
              </a:rPr>
              <a:t>Sites such as </a:t>
            </a:r>
            <a:r>
              <a:rPr b="1" lang="en-US" sz="1786">
                <a:solidFill>
                  <a:schemeClr val="dk1"/>
                </a:solidFill>
              </a:rPr>
              <a:t>Lake Mungo (New South Wales)</a:t>
            </a:r>
            <a:r>
              <a:rPr lang="en-US" sz="1786">
                <a:solidFill>
                  <a:schemeClr val="dk1"/>
                </a:solidFill>
              </a:rPr>
              <a:t> have yielded charcoal and bone dated to ~40,000–50,000 years ago, among the earliest evidence of humans outside Africa.</a:t>
            </a:r>
            <a:br>
              <a:rPr lang="en-US" sz="1786">
                <a:solidFill>
                  <a:schemeClr val="dk1"/>
                </a:solidFill>
              </a:rPr>
            </a:br>
            <a:endParaRPr sz="1786">
              <a:solidFill>
                <a:schemeClr val="dk1"/>
              </a:solidFill>
            </a:endParaRPr>
          </a:p>
          <a:p>
            <a:pPr indent="-342012" lvl="0" marL="457200" rtl="0" algn="l">
              <a:lnSpc>
                <a:spcPct val="105000"/>
              </a:lnSpc>
              <a:spcBef>
                <a:spcPts val="0"/>
              </a:spcBef>
              <a:spcAft>
                <a:spcPts val="0"/>
              </a:spcAft>
              <a:buClr>
                <a:schemeClr val="dk1"/>
              </a:buClr>
              <a:buSzPts val="1786"/>
              <a:buFont typeface="Gill Sans"/>
              <a:buChar char="●"/>
            </a:pPr>
            <a:r>
              <a:rPr lang="en-US" sz="1786">
                <a:solidFill>
                  <a:schemeClr val="dk1"/>
                </a:solidFill>
              </a:rPr>
              <a:t>Northern Australian sites (e.g. Arnhem Land rock shelters) show radiocarbon dates consistent with continuous occupation for tens of thousands of years.</a:t>
            </a:r>
            <a:endParaRPr sz="1786">
              <a:solidFill>
                <a:schemeClr val="dk1"/>
              </a:solidFill>
            </a:endParaRPr>
          </a:p>
          <a:p>
            <a:pPr indent="0" lvl="0" marL="0" rtl="0" algn="l">
              <a:lnSpc>
                <a:spcPct val="90000"/>
              </a:lnSpc>
              <a:spcBef>
                <a:spcPts val="1200"/>
              </a:spcBef>
              <a:spcAft>
                <a:spcPts val="0"/>
              </a:spcAft>
              <a:buSzPts val="770"/>
              <a:buNone/>
            </a:pPr>
            <a:r>
              <a:t/>
            </a:r>
            <a:endParaRPr sz="1360"/>
          </a:p>
        </p:txBody>
      </p:sp>
      <p:pic>
        <p:nvPicPr>
          <p:cNvPr id="533" name="Google Shape;533;g3716f23c258_0_3"/>
          <p:cNvPicPr preferRelativeResize="0"/>
          <p:nvPr/>
        </p:nvPicPr>
        <p:blipFill rotWithShape="1">
          <a:blip r:embed="rId3">
            <a:alphaModFix/>
          </a:blip>
          <a:srcRect b="0" l="0" r="0" t="0"/>
          <a:stretch/>
        </p:blipFill>
        <p:spPr>
          <a:xfrm>
            <a:off x="7949925" y="2372020"/>
            <a:ext cx="4242075" cy="3001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cel">
  <a:themeElements>
    <a:clrScheme name="Custom 1">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cel">
  <a:themeElements>
    <a:clrScheme name="Custom 1">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2024-04-21T23:39:13Z</dcterms:created>
  <dc:creator>Microsoft Office User</dc:creator>
</cp:coreProperties>
</file>