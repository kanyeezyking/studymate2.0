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Lato"/>
      <p:regular r:id="rId24"/>
      <p:bold r:id="rId25"/>
      <p:italic r:id="rId26"/>
      <p:boldItalic r:id="rId27"/>
    </p:embeddedFont>
    <p:embeddedFont>
      <p:font typeface="Gill Sans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g3/GmdsNrgxx35OzikKI2XrmGZ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La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GillSans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Gill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d234397f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9d234397f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d234397fd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9d234397fd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b1c39d1f6_0_3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9b1c39d1f6_0_3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9b1c39d1f6_0_3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b1c39d1f6_0_3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g39b1c39d1f6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9b1c39d1f6_0_33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9b1c39d1f6_0_330:notes"/>
          <p:cNvSpPr txBox="1"/>
          <p:nvPr/>
        </p:nvSpPr>
        <p:spPr>
          <a:xfrm>
            <a:off x="1574800" y="88900"/>
            <a:ext cx="383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Boardworks AS Physics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Title of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b1c39d1f6_0_3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g39b1c39d1f6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Photo credit: © shutterstock.com / Vladimir Wrangle</a:t>
            </a:r>
            <a:endParaRPr/>
          </a:p>
        </p:txBody>
      </p:sp>
      <p:sp>
        <p:nvSpPr>
          <p:cNvPr id="222" name="Google Shape;222;g39b1c39d1f6_0_34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9b1c39d1f6_0_342:notes"/>
          <p:cNvSpPr txBox="1"/>
          <p:nvPr/>
        </p:nvSpPr>
        <p:spPr>
          <a:xfrm>
            <a:off x="1574800" y="88900"/>
            <a:ext cx="383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Boardworks AS Physics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Title of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b1c39d1f6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9b1c39d1f6_0_3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b1c39d1f6_0_3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9b1c39d1f6_0_3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39b1c39d1f6_0_3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accen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 title="scalloped circle"/>
          <p:cNvSpPr/>
          <p:nvPr/>
        </p:nvSpPr>
        <p:spPr>
          <a:xfrm>
            <a:off x="2667763" y="473202"/>
            <a:ext cx="3926681" cy="3921919"/>
          </a:xfrm>
          <a:custGeom>
            <a:rect b="b" l="l" r="r" t="t"/>
            <a:pathLst>
              <a:path extrusionOk="0" h="3294" w="3298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19" name="Google Shape;19;p36"/>
          <p:cNvSpPr txBox="1"/>
          <p:nvPr>
            <p:ph type="ctrTitle"/>
          </p:nvPr>
        </p:nvSpPr>
        <p:spPr>
          <a:xfrm>
            <a:off x="808892" y="823791"/>
            <a:ext cx="7738814" cy="3296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Impact"/>
              <a:buNone/>
              <a:defRPr sz="7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" type="subTitle"/>
          </p:nvPr>
        </p:nvSpPr>
        <p:spPr>
          <a:xfrm>
            <a:off x="1661284" y="4484398"/>
            <a:ext cx="6034030" cy="556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  <a:defRPr b="1" i="0" sz="1500" cap="none">
                <a:solidFill>
                  <a:schemeClr val="dk2"/>
                </a:solidFill>
              </a:defRPr>
            </a:lvl1pPr>
            <a:lvl2pPr lvl="1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" name="Google Shape;21;p36"/>
          <p:cNvSpPr txBox="1"/>
          <p:nvPr>
            <p:ph idx="10" type="dt"/>
          </p:nvPr>
        </p:nvSpPr>
        <p:spPr>
          <a:xfrm>
            <a:off x="808892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5E0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11" type="ftr"/>
          </p:nvPr>
        </p:nvSpPr>
        <p:spPr>
          <a:xfrm>
            <a:off x="3135249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5E0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2" type="sldNum"/>
          </p:nvPr>
        </p:nvSpPr>
        <p:spPr>
          <a:xfrm>
            <a:off x="6800414" y="4781759"/>
            <a:ext cx="1747292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36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" type="body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1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1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1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2" title="right scallop background shape"/>
          <p:cNvSpPr/>
          <p:nvPr/>
        </p:nvSpPr>
        <p:spPr>
          <a:xfrm>
            <a:off x="5542359" y="0"/>
            <a:ext cx="3601641" cy="5143500"/>
          </a:xfrm>
          <a:custGeom>
            <a:rect b="b" l="l" r="r" t="t"/>
            <a:pathLst>
              <a:path extrusionOk="0" h="4320" w="3025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0" name="Google Shape;40;p42"/>
          <p:cNvSpPr txBox="1"/>
          <p:nvPr>
            <p:ph type="title"/>
          </p:nvPr>
        </p:nvSpPr>
        <p:spPr>
          <a:xfrm>
            <a:off x="6253414" y="342900"/>
            <a:ext cx="2319086" cy="8975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Font typeface="Gill Sans"/>
              <a:buNone/>
              <a:defRPr b="1" i="0" sz="1425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2"/>
          <p:cNvSpPr txBox="1"/>
          <p:nvPr>
            <p:ph idx="1" type="body"/>
          </p:nvPr>
        </p:nvSpPr>
        <p:spPr>
          <a:xfrm>
            <a:off x="573788" y="690283"/>
            <a:ext cx="4618814" cy="3738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195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100"/>
              <a:buChar char="–"/>
              <a:defRPr sz="2100"/>
            </a:lvl2pPr>
            <a:lvl3pPr indent="-3429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2385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Char char="–"/>
              <a:defRPr sz="1500"/>
            </a:lvl4pPr>
            <a:lvl5pPr indent="-32385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Char char="•"/>
              <a:defRPr sz="1500"/>
            </a:lvl5pPr>
            <a:lvl6pPr indent="-32385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Char char="–"/>
              <a:defRPr sz="1500"/>
            </a:lvl6pPr>
            <a:lvl7pPr indent="-32385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Char char="•"/>
              <a:defRPr sz="1500"/>
            </a:lvl7pPr>
            <a:lvl8pPr indent="-32385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Char char="–"/>
              <a:defRPr sz="1500"/>
            </a:lvl8pPr>
            <a:lvl9pPr indent="-32385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/>
        </p:txBody>
      </p:sp>
      <p:sp>
        <p:nvSpPr>
          <p:cNvPr id="42" name="Google Shape;42;p42"/>
          <p:cNvSpPr txBox="1"/>
          <p:nvPr>
            <p:ph idx="2" type="body"/>
          </p:nvPr>
        </p:nvSpPr>
        <p:spPr>
          <a:xfrm>
            <a:off x="6253414" y="1306002"/>
            <a:ext cx="2319086" cy="3123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6pPr>
            <a:lvl7pPr indent="-2286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7pPr>
            <a:lvl8pPr indent="-2286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8pPr>
            <a:lvl9pPr indent="-2286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9pPr>
          </a:lstStyle>
          <a:p/>
        </p:txBody>
      </p:sp>
      <p:sp>
        <p:nvSpPr>
          <p:cNvPr id="43" name="Google Shape;43;p42"/>
          <p:cNvSpPr txBox="1"/>
          <p:nvPr>
            <p:ph idx="10" type="dt"/>
          </p:nvPr>
        </p:nvSpPr>
        <p:spPr>
          <a:xfrm>
            <a:off x="573789" y="4781759"/>
            <a:ext cx="925016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2"/>
          <p:cNvSpPr txBox="1"/>
          <p:nvPr>
            <p:ph idx="11" type="ftr"/>
          </p:nvPr>
        </p:nvSpPr>
        <p:spPr>
          <a:xfrm>
            <a:off x="1577716" y="4781759"/>
            <a:ext cx="2611634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2"/>
          <p:cNvSpPr txBox="1"/>
          <p:nvPr>
            <p:ph idx="12" type="sldNum"/>
          </p:nvPr>
        </p:nvSpPr>
        <p:spPr>
          <a:xfrm>
            <a:off x="4268261" y="4781759"/>
            <a:ext cx="924342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42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69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_4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5">
  <p:cSld name="TITLE_5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6">
  <p:cSld name="TITLE_6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9"/>
          <p:cNvSpPr txBox="1"/>
          <p:nvPr>
            <p:ph type="title"/>
          </p:nvPr>
        </p:nvSpPr>
        <p:spPr>
          <a:xfrm>
            <a:off x="2432197" y="805417"/>
            <a:ext cx="6140303" cy="30484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300"/>
              <a:buFont typeface="Impact"/>
              <a:buNone/>
              <a:defRPr sz="63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" type="body"/>
          </p:nvPr>
        </p:nvSpPr>
        <p:spPr>
          <a:xfrm>
            <a:off x="2432198" y="3869836"/>
            <a:ext cx="5263116" cy="713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  <a:defRPr b="1" i="0" sz="15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39"/>
          <p:cNvSpPr txBox="1"/>
          <p:nvPr>
            <p:ph idx="10" type="dt"/>
          </p:nvPr>
        </p:nvSpPr>
        <p:spPr>
          <a:xfrm>
            <a:off x="2427410" y="4781759"/>
            <a:ext cx="1120460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9"/>
          <p:cNvSpPr txBox="1"/>
          <p:nvPr>
            <p:ph idx="11" type="ftr"/>
          </p:nvPr>
        </p:nvSpPr>
        <p:spPr>
          <a:xfrm>
            <a:off x="3959298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9"/>
          <p:cNvSpPr txBox="1"/>
          <p:nvPr>
            <p:ph idx="12" type="sldNum"/>
          </p:nvPr>
        </p:nvSpPr>
        <p:spPr>
          <a:xfrm>
            <a:off x="7456825" y="4781759"/>
            <a:ext cx="1115675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6" name="Google Shape;56;p39" title="left scallop shape"/>
          <p:cNvGrpSpPr/>
          <p:nvPr/>
        </p:nvGrpSpPr>
        <p:grpSpPr>
          <a:xfrm>
            <a:off x="0" y="0"/>
            <a:ext cx="2110979" cy="5143500"/>
            <a:chOff x="0" y="0"/>
            <a:chExt cx="2814638" cy="6858000"/>
          </a:xfrm>
        </p:grpSpPr>
        <p:sp>
          <p:nvSpPr>
            <p:cNvPr id="57" name="Google Shape;57;p39" title="left scallop shape"/>
            <p:cNvSpPr/>
            <p:nvPr/>
          </p:nvSpPr>
          <p:spPr>
            <a:xfrm>
              <a:off x="0" y="0"/>
              <a:ext cx="2814638" cy="6858000"/>
            </a:xfrm>
            <a:custGeom>
              <a:rect b="b" l="l" r="r" t="t"/>
              <a:pathLst>
                <a:path extrusionOk="0" h="4320" w="1773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8" name="Google Shape;58;p39" title="left scallop inline"/>
            <p:cNvSpPr/>
            <p:nvPr/>
          </p:nvSpPr>
          <p:spPr>
            <a:xfrm>
              <a:off x="874382" y="0"/>
              <a:ext cx="1646238" cy="6858000"/>
            </a:xfrm>
            <a:custGeom>
              <a:rect b="b" l="l" r="r" t="t"/>
              <a:pathLst>
                <a:path extrusionOk="0" h="4320" w="1037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3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3"/>
          <p:cNvSpPr txBox="1"/>
          <p:nvPr>
            <p:ph idx="1" type="body"/>
          </p:nvPr>
        </p:nvSpPr>
        <p:spPr>
          <a:xfrm>
            <a:off x="942975" y="1714500"/>
            <a:ext cx="3600450" cy="2714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43"/>
          <p:cNvSpPr txBox="1"/>
          <p:nvPr>
            <p:ph idx="2" type="body"/>
          </p:nvPr>
        </p:nvSpPr>
        <p:spPr>
          <a:xfrm>
            <a:off x="4985847" y="1714500"/>
            <a:ext cx="3600450" cy="2714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43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3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3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4"/>
          <p:cNvSpPr txBox="1"/>
          <p:nvPr>
            <p:ph type="title"/>
          </p:nvPr>
        </p:nvSpPr>
        <p:spPr>
          <a:xfrm>
            <a:off x="939546" y="285750"/>
            <a:ext cx="7629525" cy="1120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4"/>
          <p:cNvSpPr txBox="1"/>
          <p:nvPr>
            <p:ph idx="1" type="body"/>
          </p:nvPr>
        </p:nvSpPr>
        <p:spPr>
          <a:xfrm>
            <a:off x="938759" y="1649725"/>
            <a:ext cx="3600450" cy="4743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425"/>
              <a:buNone/>
              <a:defRPr b="1" sz="1425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425"/>
              <a:buNone/>
              <a:defRPr b="1" sz="1425"/>
            </a:lvl2pPr>
            <a:lvl3pPr indent="-2286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69" name="Google Shape;69;p44"/>
          <p:cNvSpPr txBox="1"/>
          <p:nvPr>
            <p:ph idx="2" type="body"/>
          </p:nvPr>
        </p:nvSpPr>
        <p:spPr>
          <a:xfrm>
            <a:off x="942975" y="2181826"/>
            <a:ext cx="3600450" cy="224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3" type="body"/>
          </p:nvPr>
        </p:nvSpPr>
        <p:spPr>
          <a:xfrm>
            <a:off x="4975398" y="1649725"/>
            <a:ext cx="3600450" cy="4743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425"/>
              <a:buNone/>
              <a:defRPr b="1" sz="1425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425"/>
              <a:buNone/>
              <a:defRPr b="1" sz="1425"/>
            </a:lvl2pPr>
            <a:lvl3pPr indent="-2286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71" name="Google Shape;71;p44"/>
          <p:cNvSpPr txBox="1"/>
          <p:nvPr>
            <p:ph idx="4" type="body"/>
          </p:nvPr>
        </p:nvSpPr>
        <p:spPr>
          <a:xfrm>
            <a:off x="4975398" y="2181826"/>
            <a:ext cx="3600450" cy="224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44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4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4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5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5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6"/>
          <p:cNvSpPr/>
          <p:nvPr>
            <p:ph idx="2" type="pic"/>
          </p:nvPr>
        </p:nvSpPr>
        <p:spPr>
          <a:xfrm>
            <a:off x="212598" y="1"/>
            <a:ext cx="5516689" cy="5143499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46" title="right scallop background shape"/>
          <p:cNvSpPr/>
          <p:nvPr/>
        </p:nvSpPr>
        <p:spPr>
          <a:xfrm>
            <a:off x="5542359" y="0"/>
            <a:ext cx="3601641" cy="5143500"/>
          </a:xfrm>
          <a:custGeom>
            <a:rect b="b" l="l" r="r" t="t"/>
            <a:pathLst>
              <a:path extrusionOk="0" h="4320" w="3025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82" name="Google Shape;82;p46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6"/>
          <p:cNvSpPr txBox="1"/>
          <p:nvPr>
            <p:ph type="title"/>
          </p:nvPr>
        </p:nvSpPr>
        <p:spPr>
          <a:xfrm>
            <a:off x="6253413" y="342900"/>
            <a:ext cx="2319088" cy="8975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Font typeface="Gill Sans"/>
              <a:buNone/>
              <a:defRPr b="1" i="0" sz="1425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6"/>
          <p:cNvSpPr txBox="1"/>
          <p:nvPr>
            <p:ph idx="1" type="body"/>
          </p:nvPr>
        </p:nvSpPr>
        <p:spPr>
          <a:xfrm>
            <a:off x="6253413" y="1306002"/>
            <a:ext cx="2319088" cy="3123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6pPr>
            <a:lvl7pPr indent="-2286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7pPr>
            <a:lvl8pPr indent="-2286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8pPr>
            <a:lvl9pPr indent="-2286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9pPr>
          </a:lstStyle>
          <a:p/>
        </p:txBody>
      </p:sp>
      <p:sp>
        <p:nvSpPr>
          <p:cNvPr id="85" name="Google Shape;85;p46"/>
          <p:cNvSpPr txBox="1"/>
          <p:nvPr>
            <p:ph idx="10" type="dt"/>
          </p:nvPr>
        </p:nvSpPr>
        <p:spPr>
          <a:xfrm>
            <a:off x="574463" y="4781759"/>
            <a:ext cx="92434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6"/>
          <p:cNvSpPr txBox="1"/>
          <p:nvPr>
            <p:ph idx="11" type="ftr"/>
          </p:nvPr>
        </p:nvSpPr>
        <p:spPr>
          <a:xfrm>
            <a:off x="1577716" y="4781759"/>
            <a:ext cx="2611634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6"/>
          <p:cNvSpPr txBox="1"/>
          <p:nvPr>
            <p:ph idx="12" type="sldNum"/>
          </p:nvPr>
        </p:nvSpPr>
        <p:spPr>
          <a:xfrm>
            <a:off x="4265676" y="4781759"/>
            <a:ext cx="92583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7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7"/>
          <p:cNvSpPr txBox="1"/>
          <p:nvPr>
            <p:ph idx="1" type="body"/>
          </p:nvPr>
        </p:nvSpPr>
        <p:spPr>
          <a:xfrm rot="5400000">
            <a:off x="3408032" y="-754774"/>
            <a:ext cx="2695193" cy="763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47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7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7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8"/>
          <p:cNvSpPr txBox="1"/>
          <p:nvPr>
            <p:ph type="title"/>
          </p:nvPr>
        </p:nvSpPr>
        <p:spPr>
          <a:xfrm rot="5400000">
            <a:off x="6009139" y="1827392"/>
            <a:ext cx="4200303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8"/>
          <p:cNvSpPr txBox="1"/>
          <p:nvPr>
            <p:ph idx="1" type="body"/>
          </p:nvPr>
        </p:nvSpPr>
        <p:spPr>
          <a:xfrm rot="5400000">
            <a:off x="1990043" y="-760278"/>
            <a:ext cx="4200304" cy="6294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48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8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8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0"/>
          <p:cNvSpPr txBox="1"/>
          <p:nvPr>
            <p:ph type="title"/>
          </p:nvPr>
        </p:nvSpPr>
        <p:spPr>
          <a:xfrm>
            <a:off x="2432197" y="805417"/>
            <a:ext cx="6140303" cy="30484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300"/>
              <a:buFont typeface="Impact"/>
              <a:buNone/>
              <a:defRPr sz="63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0"/>
          <p:cNvSpPr txBox="1"/>
          <p:nvPr>
            <p:ph idx="1" type="body"/>
          </p:nvPr>
        </p:nvSpPr>
        <p:spPr>
          <a:xfrm>
            <a:off x="2432198" y="3869836"/>
            <a:ext cx="5263116" cy="713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  <a:defRPr b="1" i="0" sz="15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40"/>
          <p:cNvSpPr txBox="1"/>
          <p:nvPr>
            <p:ph idx="10" type="dt"/>
          </p:nvPr>
        </p:nvSpPr>
        <p:spPr>
          <a:xfrm>
            <a:off x="2427410" y="4781759"/>
            <a:ext cx="1120460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0"/>
          <p:cNvSpPr txBox="1"/>
          <p:nvPr>
            <p:ph idx="11" type="ftr"/>
          </p:nvPr>
        </p:nvSpPr>
        <p:spPr>
          <a:xfrm>
            <a:off x="3959298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0"/>
          <p:cNvSpPr txBox="1"/>
          <p:nvPr>
            <p:ph idx="12" type="sldNum"/>
          </p:nvPr>
        </p:nvSpPr>
        <p:spPr>
          <a:xfrm>
            <a:off x="7456825" y="4781759"/>
            <a:ext cx="1115675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4" name="Google Shape;114;p40" title="left scallop shape"/>
          <p:cNvGrpSpPr/>
          <p:nvPr/>
        </p:nvGrpSpPr>
        <p:grpSpPr>
          <a:xfrm>
            <a:off x="0" y="0"/>
            <a:ext cx="2110979" cy="5143500"/>
            <a:chOff x="0" y="0"/>
            <a:chExt cx="2814638" cy="6858000"/>
          </a:xfrm>
        </p:grpSpPr>
        <p:sp>
          <p:nvSpPr>
            <p:cNvPr id="115" name="Google Shape;115;p40" title="left scallop shape"/>
            <p:cNvSpPr/>
            <p:nvPr/>
          </p:nvSpPr>
          <p:spPr>
            <a:xfrm>
              <a:off x="0" y="0"/>
              <a:ext cx="2814638" cy="6858000"/>
            </a:xfrm>
            <a:custGeom>
              <a:rect b="b" l="l" r="r" t="t"/>
              <a:pathLst>
                <a:path extrusionOk="0" h="4320" w="1773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16" name="Google Shape;116;p40" title="left scallop inline"/>
            <p:cNvSpPr/>
            <p:nvPr/>
          </p:nvSpPr>
          <p:spPr>
            <a:xfrm>
              <a:off x="874382" y="0"/>
              <a:ext cx="1646238" cy="6858000"/>
            </a:xfrm>
            <a:custGeom>
              <a:rect b="b" l="l" r="r" t="t"/>
              <a:pathLst>
                <a:path extrusionOk="0" h="4320" w="1037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25"/>
              <a:buFont typeface="Impact"/>
              <a:buNone/>
              <a:defRPr b="0" i="0" sz="3825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14325" lvl="1" marL="9144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Gill Sans"/>
              <a:buChar char="–"/>
              <a:defRPr b="0" i="0" sz="135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5275" lvl="3" marL="18288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050"/>
              <a:buFont typeface="Gill Sans"/>
              <a:buChar char="–"/>
              <a:defRPr b="0" i="0" sz="105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5275" lvl="4" marL="22860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5275" lvl="5" marL="27432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050"/>
              <a:buFont typeface="Gill Sans"/>
              <a:buChar char="–"/>
              <a:defRPr b="0" i="0" sz="105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050"/>
              <a:buFont typeface="Gill Sans"/>
              <a:buChar char="–"/>
              <a:defRPr b="0" i="0" sz="105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5275" lvl="8" marL="41148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5" title="Left scallop edge"/>
          <p:cNvSpPr/>
          <p:nvPr/>
        </p:nvSpPr>
        <p:spPr>
          <a:xfrm>
            <a:off x="0" y="0"/>
            <a:ext cx="664369" cy="5143500"/>
          </a:xfrm>
          <a:custGeom>
            <a:rect b="b" l="l" r="r" t="t"/>
            <a:pathLst>
              <a:path extrusionOk="0" h="4320" w="558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6" name="Google Shape;16;p35" title="right edge border"/>
          <p:cNvSpPr/>
          <p:nvPr/>
        </p:nvSpPr>
        <p:spPr>
          <a:xfrm>
            <a:off x="8931402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8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25"/>
              <a:buFont typeface="Impact"/>
              <a:buNone/>
              <a:defRPr b="0" i="0" sz="3825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38"/>
          <p:cNvSpPr txBox="1"/>
          <p:nvPr>
            <p:ph idx="1" type="body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14325" lvl="1" marL="9144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Gill Sans"/>
              <a:buChar char="–"/>
              <a:defRPr b="0" i="0" sz="135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5275" lvl="3" marL="18288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Gill Sans"/>
              <a:buChar char="–"/>
              <a:defRPr b="0" i="0" sz="105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5275" lvl="4" marL="22860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5275" lvl="5" marL="27432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Gill Sans"/>
              <a:buChar char="–"/>
              <a:defRPr b="0" i="0" sz="105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Gill Sans"/>
              <a:buChar char="–"/>
              <a:defRPr b="0" i="0" sz="105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5275" lvl="8" marL="41148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3" name="Google Shape;103;p38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4" name="Google Shape;104;p38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5" name="Google Shape;105;p38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8" title="Left scallop edge"/>
          <p:cNvSpPr/>
          <p:nvPr/>
        </p:nvSpPr>
        <p:spPr>
          <a:xfrm>
            <a:off x="0" y="0"/>
            <a:ext cx="664369" cy="5143500"/>
          </a:xfrm>
          <a:custGeom>
            <a:rect b="b" l="l" r="r" t="t"/>
            <a:pathLst>
              <a:path extrusionOk="0" h="4320" w="558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107" name="Google Shape;107;p38" title="right edge border"/>
          <p:cNvSpPr/>
          <p:nvPr/>
        </p:nvSpPr>
        <p:spPr>
          <a:xfrm>
            <a:off x="8931402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"/>
          <p:cNvSpPr txBox="1"/>
          <p:nvPr>
            <p:ph type="ctrTitle"/>
          </p:nvPr>
        </p:nvSpPr>
        <p:spPr>
          <a:xfrm>
            <a:off x="808892" y="823791"/>
            <a:ext cx="7738814" cy="3296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Impact"/>
              <a:buNone/>
            </a:pPr>
            <a:r>
              <a:rPr lang="en-US" sz="4400"/>
              <a:t>MECHANICAL </a:t>
            </a:r>
            <a:r>
              <a:rPr lang="en-US" sz="4400"/>
              <a:t>ENERGY</a:t>
            </a:r>
            <a:endParaRPr sz="4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Impact"/>
              <a:buNone/>
            </a:pPr>
            <a:r>
              <a:rPr lang="en-US" sz="4400"/>
              <a:t>&amp; WORK</a:t>
            </a:r>
            <a:endParaRPr sz="4400"/>
          </a:p>
        </p:txBody>
      </p:sp>
      <p:sp>
        <p:nvSpPr>
          <p:cNvPr id="122" name="Google Shape;122;p1"/>
          <p:cNvSpPr txBox="1"/>
          <p:nvPr>
            <p:ph idx="1" type="subTitle"/>
          </p:nvPr>
        </p:nvSpPr>
        <p:spPr>
          <a:xfrm>
            <a:off x="1661284" y="4484398"/>
            <a:ext cx="6034030" cy="556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/>
              <a:t>YEAR 9 SCIENCE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</a:pPr>
            <a:r>
              <a:rPr lang="en-US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Impact"/>
              <a:buNone/>
            </a:pPr>
            <a:r>
              <a:rPr lang="en-US"/>
              <a:t>LEARNING INTENTIONS</a:t>
            </a:r>
            <a:endParaRPr/>
          </a:p>
        </p:txBody>
      </p:sp>
      <p:sp>
        <p:nvSpPr>
          <p:cNvPr id="128" name="Google Shape;128;p2"/>
          <p:cNvSpPr txBox="1"/>
          <p:nvPr>
            <p:ph idx="1" type="body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Font typeface="Impact"/>
              <a:buAutoNum type="arabicPeriod"/>
            </a:pPr>
            <a:r>
              <a:rPr lang="en-US" sz="2000">
                <a:solidFill>
                  <a:srgbClr val="7030A0"/>
                </a:solidFill>
              </a:rPr>
              <a:t>Understand the relationship between energy and work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Font typeface="Impact"/>
              <a:buAutoNum type="arabicPeriod"/>
            </a:pPr>
            <a:r>
              <a:rPr lang="en-US" sz="2000">
                <a:solidFill>
                  <a:srgbClr val="7030A0"/>
                </a:solidFill>
              </a:rPr>
              <a:t>Perform simple calculations using energy and work</a:t>
            </a:r>
            <a:endParaRPr sz="2000">
              <a:solidFill>
                <a:srgbClr val="7030A0"/>
              </a:solidFill>
            </a:endParaRPr>
          </a:p>
          <a:p>
            <a:pPr indent="-469900" lvl="0" marL="45720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Font typeface="Impact"/>
              <a:buAutoNum type="arabicPeriod"/>
            </a:pPr>
            <a:r>
              <a:rPr lang="en-US" sz="2000">
                <a:solidFill>
                  <a:srgbClr val="7030A0"/>
                </a:solidFill>
              </a:rPr>
              <a:t>Perform simple calculations using kinetic and gravitational potential energy equations</a:t>
            </a:r>
            <a:endParaRPr sz="2000">
              <a:solidFill>
                <a:srgbClr val="7030A0"/>
              </a:solidFill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Font typeface="Impact"/>
              <a:buNone/>
            </a:pPr>
            <a:r>
              <a:t/>
            </a:r>
            <a:endParaRPr sz="200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title"/>
          </p:nvPr>
        </p:nvSpPr>
        <p:spPr>
          <a:xfrm>
            <a:off x="2432197" y="805417"/>
            <a:ext cx="6140303" cy="30484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300"/>
              <a:buFont typeface="Impact"/>
              <a:buNone/>
            </a:pPr>
            <a:r>
              <a:rPr lang="en-US"/>
              <a:t>WORK</a:t>
            </a:r>
            <a:endParaRPr/>
          </a:p>
        </p:txBody>
      </p:sp>
      <p:sp>
        <p:nvSpPr>
          <p:cNvPr id="134" name="Google Shape;134;p27"/>
          <p:cNvSpPr txBox="1"/>
          <p:nvPr>
            <p:ph idx="1" type="body"/>
          </p:nvPr>
        </p:nvSpPr>
        <p:spPr>
          <a:xfrm>
            <a:off x="2432198" y="3869836"/>
            <a:ext cx="5263116" cy="713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Impact"/>
              <a:buNone/>
            </a:pPr>
            <a:r>
              <a:rPr lang="en-US"/>
              <a:t>WHAT IS ‘WORK’?</a:t>
            </a:r>
            <a:endParaRPr/>
          </a:p>
        </p:txBody>
      </p:sp>
      <p:sp>
        <p:nvSpPr>
          <p:cNvPr id="140" name="Google Shape;140;p28"/>
          <p:cNvSpPr txBox="1"/>
          <p:nvPr>
            <p:ph idx="1" type="body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3200">
                <a:solidFill>
                  <a:srgbClr val="7030A0"/>
                </a:solidFill>
              </a:rPr>
              <a:t>Definition:</a:t>
            </a:r>
            <a:endParaRPr/>
          </a:p>
          <a:p>
            <a:pPr indent="-203200" lvl="0" marL="17145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When a </a:t>
            </a:r>
            <a:r>
              <a:rPr b="1" lang="en-US" sz="3200" u="sng"/>
              <a:t>force</a:t>
            </a:r>
            <a:r>
              <a:rPr lang="en-US" sz="3200"/>
              <a:t> acts upon an object to cause a </a:t>
            </a:r>
            <a:r>
              <a:rPr b="1" lang="en-US" sz="3200" u="sng"/>
              <a:t>displacement</a:t>
            </a:r>
            <a:r>
              <a:rPr lang="en-US" sz="3200"/>
              <a:t> of the object, it is said that </a:t>
            </a:r>
            <a:r>
              <a:rPr b="1" lang="en-US" sz="3200"/>
              <a:t>work</a:t>
            </a:r>
            <a:r>
              <a:rPr lang="en-US" sz="3200"/>
              <a:t> was done upon the object.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Impact"/>
              <a:buNone/>
            </a:pPr>
            <a:r>
              <a:rPr lang="en-US"/>
              <a:t>ARE THESE EXAMPLES OF WORK?</a:t>
            </a:r>
            <a:endParaRPr/>
          </a:p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mpact"/>
              <a:buAutoNum type="arabicPeriod"/>
            </a:pPr>
            <a:r>
              <a:rPr lang="en-US" sz="2000"/>
              <a:t>A teacher applies a force to a wall and becomes exhausted.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Font typeface="Impact"/>
              <a:buAutoNum type="arabicPeriod"/>
            </a:pPr>
            <a:r>
              <a:rPr lang="en-US" sz="2000"/>
              <a:t>A book falls off a table and free falls to the ground.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Font typeface="Impact"/>
              <a:buAutoNum type="arabicPeriod"/>
            </a:pPr>
            <a:r>
              <a:rPr lang="en-US" sz="2000"/>
              <a:t>A rocket accelerates through space.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Font typeface="Impact"/>
              <a:buAutoNum type="arabicPeriod"/>
            </a:pPr>
            <a:r>
              <a:rPr lang="en-US" sz="2000"/>
              <a:t>A waiter carries a tray full of meals above his head by one arm straight across the room at constant speed. 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Impact"/>
              <a:buNone/>
            </a:pPr>
            <a:r>
              <a:rPr lang="en-US"/>
              <a:t>ARE THESE EXAMPLES OF WORK?</a:t>
            </a:r>
            <a:endParaRPr/>
          </a:p>
        </p:txBody>
      </p:sp>
      <p:sp>
        <p:nvSpPr>
          <p:cNvPr id="152" name="Google Shape;152;p30"/>
          <p:cNvSpPr txBox="1"/>
          <p:nvPr>
            <p:ph idx="1" type="body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mpact"/>
              <a:buAutoNum type="arabicPeriod"/>
            </a:pPr>
            <a:r>
              <a:rPr lang="en-US" sz="2000"/>
              <a:t>A teacher applies a force to a wall and becomes exhausted.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Font typeface="Impact"/>
              <a:buAutoNum type="arabicPeriod"/>
            </a:pPr>
            <a:r>
              <a:rPr lang="en-US" sz="2000"/>
              <a:t>A book falls off a table and free falls to the ground.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Font typeface="Impact"/>
              <a:buAutoNum type="arabicPeriod"/>
            </a:pPr>
            <a:r>
              <a:rPr lang="en-US" sz="2000"/>
              <a:t>A rocket accelerates through space.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Font typeface="Impact"/>
              <a:buAutoNum type="arabicPeriod"/>
            </a:pPr>
            <a:r>
              <a:rPr lang="en-US" sz="2000"/>
              <a:t>A waiter carries a tray full of meals above his head by one arm straight across the room at constant speed. </a:t>
            </a:r>
            <a:endParaRPr sz="2000"/>
          </a:p>
        </p:txBody>
      </p:sp>
      <p:sp>
        <p:nvSpPr>
          <p:cNvPr id="153" name="Google Shape;153;p30"/>
          <p:cNvSpPr/>
          <p:nvPr/>
        </p:nvSpPr>
        <p:spPr>
          <a:xfrm>
            <a:off x="1021828" y="2094278"/>
            <a:ext cx="7893571" cy="646331"/>
          </a:xfrm>
          <a:prstGeom prst="rect">
            <a:avLst/>
          </a:prstGeom>
          <a:gradFill>
            <a:gsLst>
              <a:gs pos="0">
                <a:srgbClr val="FABB50"/>
              </a:gs>
              <a:gs pos="50000">
                <a:srgbClr val="FFB617"/>
              </a:gs>
              <a:gs pos="100000">
                <a:srgbClr val="EDA30A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No, </a:t>
            </a:r>
            <a:r>
              <a:rPr b="0" i="0" lang="en-US" sz="180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this is not an example of work. The wall is not displaced. A force must cause a displacement in order for work to be done.</a:t>
            </a:r>
            <a:endParaRPr b="0" i="0" sz="1800" u="none" cap="none" strike="noStrike">
              <a:solidFill>
                <a:srgbClr val="44444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30"/>
          <p:cNvSpPr/>
          <p:nvPr/>
        </p:nvSpPr>
        <p:spPr>
          <a:xfrm>
            <a:off x="1006141" y="2571750"/>
            <a:ext cx="7833059" cy="64633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B482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Yes, </a:t>
            </a:r>
            <a:r>
              <a:rPr b="0" i="0" lang="en-US" sz="180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this is an example of work. There is a force (gravity) which acts on the book which causes it to be displaced in a downward direction (i.e., "fall").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0"/>
          <p:cNvSpPr/>
          <p:nvPr/>
        </p:nvSpPr>
        <p:spPr>
          <a:xfrm>
            <a:off x="1043940" y="3002287"/>
            <a:ext cx="7871460" cy="64633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B482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Yes, </a:t>
            </a:r>
            <a:r>
              <a:rPr b="0" i="0" lang="en-US" sz="180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this is an example of work. There is a force (the expelled gases push on the rocket) which causes the rocket to be displaced through space.</a:t>
            </a:r>
            <a:endParaRPr b="0" i="0" sz="1800" u="none" cap="none" strike="noStrike">
              <a:solidFill>
                <a:srgbClr val="44444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30"/>
          <p:cNvSpPr/>
          <p:nvPr/>
        </p:nvSpPr>
        <p:spPr>
          <a:xfrm>
            <a:off x="1066800" y="3733621"/>
            <a:ext cx="7848600" cy="120032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B482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No, </a:t>
            </a:r>
            <a:r>
              <a:rPr b="0" i="0" lang="en-US" sz="180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this is not an example of work. There is a force (the waiter pushes up on the tray) and there is a displacement (the tray is moved horizontally across the room). Yet the force does not cause the displacement. To cause a displacement, there must be a component of force in the direction of the displacement.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938758" y="286789"/>
            <a:ext cx="7633742" cy="837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000"/>
              <a:buFont typeface="Impact"/>
              <a:buNone/>
            </a:pPr>
            <a:r>
              <a:rPr b="1" lang="en-US" sz="4000">
                <a:solidFill>
                  <a:srgbClr val="7030A0"/>
                </a:solidFill>
              </a:rPr>
              <a:t>ENERGY IS NEEDED TO DO WORK!</a:t>
            </a:r>
            <a:endParaRPr/>
          </a:p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938758" y="971550"/>
            <a:ext cx="4776242" cy="4038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Eg: pushing a shopping cart involves exerting force to move it over the ground.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The equation used to illustrate this is: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400">
              <a:solidFill>
                <a:srgbClr val="0070C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solidFill>
                  <a:srgbClr val="0070C0"/>
                </a:solidFill>
              </a:rPr>
              <a:t>WORK = FORCE x DISPLACEMENT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70C0"/>
                </a:solidFill>
              </a:rPr>
              <a:t>(J or Nm)         (N)	             (m)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rgbClr val="0070C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solidFill>
                  <a:srgbClr val="0070C0"/>
                </a:solidFill>
              </a:rPr>
              <a:t>W = F x 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163" name="Google Shape;16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162049"/>
            <a:ext cx="3299513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2"/>
          <p:cNvPicPr preferRelativeResize="0"/>
          <p:nvPr/>
        </p:nvPicPr>
        <p:blipFill rotWithShape="1">
          <a:blip r:embed="rId3">
            <a:alphaModFix/>
          </a:blip>
          <a:srcRect b="0" l="8795" r="12487" t="0"/>
          <a:stretch/>
        </p:blipFill>
        <p:spPr>
          <a:xfrm>
            <a:off x="5401986" y="514350"/>
            <a:ext cx="3124200" cy="425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2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Impact"/>
              <a:buNone/>
            </a:pPr>
            <a:r>
              <a:rPr lang="en-US"/>
              <a:t>WORK and its relationship to ENERGY</a:t>
            </a:r>
            <a:endParaRPr/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838200" y="846338"/>
            <a:ext cx="4724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000"/>
              <a:t>For example, Captain Underpants picks up a Y10 student who weighs 650N and throws them a distance of 100m.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rPr lang="en-US" sz="2000"/>
              <a:t>How much work was done?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rPr b="1" lang="en-US" sz="2000">
                <a:solidFill>
                  <a:srgbClr val="0070C0"/>
                </a:solidFill>
              </a:rPr>
              <a:t>W = F x 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rPr b="1" lang="en-US" sz="2000">
                <a:solidFill>
                  <a:srgbClr val="0070C0"/>
                </a:solidFill>
              </a:rPr>
              <a:t>     = 650 x 100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rPr b="1" lang="en-US" sz="2000">
                <a:solidFill>
                  <a:srgbClr val="0070C0"/>
                </a:solidFill>
              </a:rPr>
              <a:t>     = 65,000 J	(Joules)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rPr b="1" lang="en-US" sz="2000">
                <a:solidFill>
                  <a:srgbClr val="0070C0"/>
                </a:solidFill>
              </a:rPr>
              <a:t>Or   65,000 Nm (Newton meters)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2000">
              <a:solidFill>
                <a:srgbClr val="0070C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rPr b="1" i="1" lang="en-US" sz="2600">
                <a:solidFill>
                  <a:srgbClr val="7030A0"/>
                </a:solidFill>
              </a:rPr>
              <a:t>When work is done, potential energy is transferred to kinetic energy.</a:t>
            </a:r>
            <a:endParaRPr b="1" i="1" sz="2600">
              <a:solidFill>
                <a:srgbClr val="7030A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20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Impact"/>
              <a:buNone/>
            </a:pPr>
            <a:r>
              <a:rPr lang="en-US"/>
              <a:t>PRACTICE QUESTIONS:</a:t>
            </a:r>
            <a:endParaRPr/>
          </a:p>
        </p:txBody>
      </p:sp>
      <p:pic>
        <p:nvPicPr>
          <p:cNvPr id="176" name="Google Shape;17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276350"/>
            <a:ext cx="8153400" cy="609600"/>
          </a:xfrm>
          <a:prstGeom prst="rect">
            <a:avLst/>
          </a:prstGeom>
          <a:noFill/>
          <a:ln cap="sq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l" dir="2700000" dist="50800">
              <a:srgbClr val="000000">
                <a:alpha val="40000"/>
              </a:srgbClr>
            </a:outerShdw>
          </a:effectLst>
        </p:spPr>
      </p:pic>
      <p:pic>
        <p:nvPicPr>
          <p:cNvPr id="177" name="Google Shape;17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929" y="3310815"/>
            <a:ext cx="8229600" cy="480135"/>
          </a:xfrm>
          <a:prstGeom prst="rect">
            <a:avLst/>
          </a:prstGeom>
          <a:noFill/>
          <a:ln cap="sq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l" dir="2700000" dist="50800">
              <a:srgbClr val="000000">
                <a:alpha val="40000"/>
              </a:srgbClr>
            </a:outerShdw>
          </a:effectLst>
        </p:spPr>
      </p:pic>
      <p:pic>
        <p:nvPicPr>
          <p:cNvPr id="178" name="Google Shape;17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471" y="2038350"/>
            <a:ext cx="8298929" cy="10035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9" name="Google Shape;179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00200" y="3953235"/>
            <a:ext cx="5917679" cy="105691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d234397fd_0_0"/>
          <p:cNvSpPr txBox="1"/>
          <p:nvPr>
            <p:ph type="title"/>
          </p:nvPr>
        </p:nvSpPr>
        <p:spPr>
          <a:xfrm>
            <a:off x="2432197" y="805417"/>
            <a:ext cx="6140400" cy="304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300"/>
              <a:buFont typeface="Impact"/>
              <a:buNone/>
            </a:pPr>
            <a:r>
              <a:rPr lang="en-US"/>
              <a:t>MECHANICAL ENERGY</a:t>
            </a:r>
            <a:endParaRPr/>
          </a:p>
        </p:txBody>
      </p:sp>
      <p:sp>
        <p:nvSpPr>
          <p:cNvPr id="185" name="Google Shape;185;g39d234397fd_0_0"/>
          <p:cNvSpPr txBox="1"/>
          <p:nvPr>
            <p:ph idx="1" type="body"/>
          </p:nvPr>
        </p:nvSpPr>
        <p:spPr>
          <a:xfrm>
            <a:off x="2432198" y="3869836"/>
            <a:ext cx="52632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d234397fd_0_11"/>
          <p:cNvSpPr txBox="1"/>
          <p:nvPr>
            <p:ph type="title"/>
          </p:nvPr>
        </p:nvSpPr>
        <p:spPr>
          <a:xfrm>
            <a:off x="938758" y="286789"/>
            <a:ext cx="7633800" cy="11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</a:pPr>
            <a:r>
              <a:rPr lang="en-US"/>
              <a:t>MECHANICAL ENERGY (E</a:t>
            </a:r>
            <a:r>
              <a:rPr baseline="-25000" lang="en-US"/>
              <a:t>mech</a:t>
            </a:r>
            <a:r>
              <a:rPr lang="en-US"/>
              <a:t>)</a:t>
            </a:r>
            <a:endParaRPr/>
          </a:p>
        </p:txBody>
      </p:sp>
      <p:sp>
        <p:nvSpPr>
          <p:cNvPr id="191" name="Google Shape;191;g39d234397fd_0_11"/>
          <p:cNvSpPr txBox="1"/>
          <p:nvPr>
            <p:ph idx="1" type="body"/>
          </p:nvPr>
        </p:nvSpPr>
        <p:spPr>
          <a:xfrm>
            <a:off x="938750" y="1567825"/>
            <a:ext cx="7633800" cy="3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A0A0A"/>
                </a:solidFill>
              </a:rPr>
              <a:t>Mechanical energy</a:t>
            </a:r>
            <a:r>
              <a:rPr lang="en-US" sz="1600">
                <a:solidFill>
                  <a:srgbClr val="0A0A0A"/>
                </a:solidFill>
              </a:rPr>
              <a:t> is the total energy an object possesses due to its </a:t>
            </a:r>
            <a:r>
              <a:rPr lang="en-US" sz="1600" u="sng">
                <a:solidFill>
                  <a:srgbClr val="0A0A0A"/>
                </a:solidFill>
              </a:rPr>
              <a:t>motion</a:t>
            </a:r>
            <a:r>
              <a:rPr lang="en-US" sz="1600">
                <a:solidFill>
                  <a:srgbClr val="0A0A0A"/>
                </a:solidFill>
              </a:rPr>
              <a:t> and </a:t>
            </a:r>
            <a:r>
              <a:rPr lang="en-US" sz="1600" u="sng">
                <a:solidFill>
                  <a:srgbClr val="0A0A0A"/>
                </a:solidFill>
              </a:rPr>
              <a:t>position</a:t>
            </a:r>
            <a:r>
              <a:rPr lang="en-US" sz="1600">
                <a:solidFill>
                  <a:srgbClr val="0A0A0A"/>
                </a:solidFill>
              </a:rPr>
              <a:t> (sum of its kinetic energy and potential energy). This energy can be converted between the two forms, such as when a pendulum swings, or an object is falling.</a:t>
            </a:r>
            <a:endParaRPr sz="1600">
              <a:solidFill>
                <a:srgbClr val="0A0A0A"/>
              </a:solidFill>
            </a:endParaRPr>
          </a:p>
          <a:p>
            <a:pPr indent="45720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A0A0A"/>
                </a:solidFill>
              </a:rPr>
              <a:t>Therefore:		</a:t>
            </a:r>
            <a:r>
              <a:rPr b="1" lang="en-US" sz="1600">
                <a:solidFill>
                  <a:srgbClr val="0A0A0A"/>
                </a:solidFill>
              </a:rPr>
              <a:t>E</a:t>
            </a:r>
            <a:r>
              <a:rPr b="1" baseline="-25000" lang="en-US" sz="1600">
                <a:solidFill>
                  <a:srgbClr val="0A0A0A"/>
                </a:solidFill>
              </a:rPr>
              <a:t>mech</a:t>
            </a:r>
            <a:r>
              <a:rPr b="1" lang="en-US" sz="1600">
                <a:solidFill>
                  <a:srgbClr val="0A0A0A"/>
                </a:solidFill>
              </a:rPr>
              <a:t>= E</a:t>
            </a:r>
            <a:r>
              <a:rPr b="1" baseline="-25000" lang="en-US" sz="1600">
                <a:solidFill>
                  <a:srgbClr val="0A0A0A"/>
                </a:solidFill>
              </a:rPr>
              <a:t>k</a:t>
            </a:r>
            <a:r>
              <a:rPr b="1" lang="en-US" sz="1600">
                <a:solidFill>
                  <a:srgbClr val="0A0A0A"/>
                </a:solidFill>
              </a:rPr>
              <a:t> + E</a:t>
            </a:r>
            <a:r>
              <a:rPr b="1" baseline="-25000" lang="en-US" sz="1600">
                <a:solidFill>
                  <a:srgbClr val="0A0A0A"/>
                </a:solidFill>
              </a:rPr>
              <a:t>p</a:t>
            </a:r>
            <a:r>
              <a:rPr b="1" lang="en-US" sz="1600">
                <a:solidFill>
                  <a:srgbClr val="0A0A0A"/>
                </a:solidFill>
              </a:rPr>
              <a:t> 	</a:t>
            </a:r>
            <a:endParaRPr b="1" sz="1600">
              <a:solidFill>
                <a:srgbClr val="0A0A0A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t/>
            </a:r>
            <a:endParaRPr b="1" baseline="-25000" sz="1600">
              <a:solidFill>
                <a:srgbClr val="0A0A0A"/>
              </a:solidFill>
            </a:endParaRPr>
          </a:p>
          <a:p>
            <a:pPr indent="-158750" lvl="0" marL="17145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200"/>
              <a:buFont typeface="Gill Sans"/>
              <a:buChar char="•"/>
            </a:pPr>
            <a:r>
              <a:rPr b="1" lang="en-US" sz="1600">
                <a:solidFill>
                  <a:srgbClr val="0A0A0A"/>
                </a:solidFill>
              </a:rPr>
              <a:t>Kinetic Energy</a:t>
            </a:r>
            <a:r>
              <a:rPr lang="en-US" sz="1600">
                <a:solidFill>
                  <a:srgbClr val="0A0A0A"/>
                </a:solidFill>
              </a:rPr>
              <a:t>: The energy an object has because of its motion.</a:t>
            </a:r>
            <a:endParaRPr sz="1600">
              <a:solidFill>
                <a:srgbClr val="0A0A0A"/>
              </a:solidFill>
            </a:endParaRPr>
          </a:p>
          <a:p>
            <a:pPr indent="0" lvl="0" marL="45720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A0A0A"/>
                </a:solidFill>
              </a:rPr>
              <a:t>Can you </a:t>
            </a:r>
            <a:r>
              <a:rPr lang="en-US" sz="1600">
                <a:solidFill>
                  <a:srgbClr val="0A0A0A"/>
                </a:solidFill>
              </a:rPr>
              <a:t>provide</a:t>
            </a:r>
            <a:r>
              <a:rPr lang="en-US" sz="1600">
                <a:solidFill>
                  <a:srgbClr val="0A0A0A"/>
                </a:solidFill>
              </a:rPr>
              <a:t> 3 examples?</a:t>
            </a:r>
            <a:endParaRPr sz="1600">
              <a:solidFill>
                <a:srgbClr val="0A0A0A"/>
              </a:solidFill>
            </a:endParaRPr>
          </a:p>
          <a:p>
            <a:pPr indent="-158750" lvl="0" marL="17145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200"/>
              <a:buFont typeface="Gill Sans"/>
              <a:buChar char="•"/>
            </a:pPr>
            <a:r>
              <a:rPr b="1" lang="en-US" sz="1600">
                <a:solidFill>
                  <a:srgbClr val="0A0A0A"/>
                </a:solidFill>
              </a:rPr>
              <a:t>Potential Energy</a:t>
            </a:r>
            <a:r>
              <a:rPr lang="en-US" sz="1600">
                <a:solidFill>
                  <a:srgbClr val="0A0A0A"/>
                </a:solidFill>
              </a:rPr>
              <a:t>: The stored energy an object has because of its position or state.</a:t>
            </a:r>
            <a:endParaRPr sz="1600">
              <a:solidFill>
                <a:srgbClr val="0A0A0A"/>
              </a:solidFill>
            </a:endParaRPr>
          </a:p>
          <a:p>
            <a:pPr indent="0" lvl="0" marL="45720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A0A0A"/>
                </a:solidFill>
              </a:rPr>
              <a:t>Can you provide 3 examples?</a:t>
            </a:r>
            <a:endParaRPr sz="1600">
              <a:solidFill>
                <a:srgbClr val="0A0A0A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6253414" y="342900"/>
            <a:ext cx="2319086" cy="8975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573788" y="690283"/>
            <a:ext cx="4618814" cy="3738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Kinetic &amp; potential energy – calculations</a:t>
            </a:r>
            <a:endParaRPr/>
          </a:p>
          <a:p>
            <a:pPr indent="-171450" lvl="0" marL="17145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Need a calculator!</a:t>
            </a:r>
            <a:endParaRPr/>
          </a:p>
        </p:txBody>
      </p:sp>
      <p:sp>
        <p:nvSpPr>
          <p:cNvPr id="198" name="Google Shape;198;p34"/>
          <p:cNvSpPr txBox="1"/>
          <p:nvPr>
            <p:ph idx="2" type="body"/>
          </p:nvPr>
        </p:nvSpPr>
        <p:spPr>
          <a:xfrm>
            <a:off x="6253414" y="1306002"/>
            <a:ext cx="2319086" cy="3123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b1c39d1f6_0_324"/>
          <p:cNvSpPr txBox="1"/>
          <p:nvPr>
            <p:ph type="title"/>
          </p:nvPr>
        </p:nvSpPr>
        <p:spPr>
          <a:xfrm>
            <a:off x="938758" y="286789"/>
            <a:ext cx="7633800" cy="1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Using energy equations</a:t>
            </a:r>
            <a:endParaRPr/>
          </a:p>
        </p:txBody>
      </p:sp>
      <p:sp>
        <p:nvSpPr>
          <p:cNvPr id="205" name="Google Shape;205;g39b1c39d1f6_0_324"/>
          <p:cNvSpPr txBox="1"/>
          <p:nvPr>
            <p:ph idx="1" type="body"/>
          </p:nvPr>
        </p:nvSpPr>
        <p:spPr>
          <a:xfrm>
            <a:off x="938750" y="1249350"/>
            <a:ext cx="7633800" cy="3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/>
              <a:t>We can determine how much gravitational potential energy an object has gained if we know it’s mass in kilograms, and it’s height from the ground in meters.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/>
              <a:t>The equation we use to determine the gravitational potential energy of an object is given by: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/>
              <a:t>E</a:t>
            </a:r>
            <a:r>
              <a:rPr baseline="-25000" lang="en-US"/>
              <a:t>p  </a:t>
            </a:r>
            <a:r>
              <a:rPr lang="en-US"/>
              <a:t> = m x g x h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/>
              <a:t>where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/>
              <a:t>E</a:t>
            </a:r>
            <a:r>
              <a:rPr baseline="-25000" lang="en-US"/>
              <a:t>p  </a:t>
            </a:r>
            <a:r>
              <a:rPr lang="en-US"/>
              <a:t>= gravitational potential energy of object (in Joules)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/>
              <a:t>m = mass of the object (in kilograms)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/>
              <a:t>g = gravitational field strength (which on earth is always 9.81N/kg)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/>
              <a:t>h = height of object (in metres)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/>
              <a:t>We can use the delta symbol to show ‘a change in’. It looks like this </a:t>
            </a:r>
            <a:r>
              <a:rPr lang="en-US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lang="en-US"/>
              <a:t>, so using the equation above, we can write it like this: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 sz="1517"/>
              <a:t> </a:t>
            </a:r>
            <a:endParaRPr sz="2060">
              <a:solidFill>
                <a:srgbClr val="01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1860"/>
              <a:buFont typeface="Arial"/>
              <a:buNone/>
            </a:pPr>
            <a:r>
              <a:rPr lang="en-US" sz="1800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ΔE</a:t>
            </a:r>
            <a:r>
              <a:rPr baseline="-25000" lang="en-US" sz="1800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  =  mgΔh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2060">
              <a:solidFill>
                <a:srgbClr val="01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baseline="-25000" lang="en-US" sz="1517"/>
              <a:t> </a:t>
            </a:r>
            <a:endParaRPr sz="1517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b1c39d1f6_0_330"/>
          <p:cNvSpPr txBox="1"/>
          <p:nvPr>
            <p:ph idx="4294967295" type="title"/>
          </p:nvPr>
        </p:nvSpPr>
        <p:spPr>
          <a:xfrm>
            <a:off x="819400" y="40475"/>
            <a:ext cx="66432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562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B71562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1" lang="en-US" sz="2800" u="none" cap="none" strike="noStrike">
                <a:solidFill>
                  <a:srgbClr val="B71562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2800" u="none" cap="none" strike="noStrike">
                <a:solidFill>
                  <a:srgbClr val="B71562"/>
                </a:solidFill>
                <a:latin typeface="Arial"/>
                <a:ea typeface="Arial"/>
                <a:cs typeface="Arial"/>
                <a:sym typeface="Arial"/>
              </a:rPr>
              <a:t>: example question 1</a:t>
            </a:r>
            <a:endParaRPr/>
          </a:p>
        </p:txBody>
      </p:sp>
      <p:sp>
        <p:nvSpPr>
          <p:cNvPr id="213" name="Google Shape;213;g39b1c39d1f6_0_330"/>
          <p:cNvSpPr txBox="1"/>
          <p:nvPr/>
        </p:nvSpPr>
        <p:spPr>
          <a:xfrm>
            <a:off x="898375" y="588175"/>
            <a:ext cx="44211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A supermarket employee lifts a baked bean tin, weighing 250</a:t>
            </a:r>
            <a:r>
              <a:rPr b="0" i="0" lang="en-US" sz="10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g, from the floor, to a shelf 2</a:t>
            </a:r>
            <a:r>
              <a:rPr b="0" i="0" lang="en-US" sz="10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m high.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How much gravitational potential energy does it gain?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(g = 9.81</a:t>
            </a:r>
            <a:r>
              <a:rPr b="0" i="0" lang="en-US" sz="10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0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kg</a:t>
            </a:r>
            <a:r>
              <a:rPr b="0" baseline="3000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9b1c39d1f6_0_330"/>
          <p:cNvSpPr txBox="1"/>
          <p:nvPr/>
        </p:nvSpPr>
        <p:spPr>
          <a:xfrm>
            <a:off x="898375" y="3044425"/>
            <a:ext cx="3603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1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ΔEp  =  mgΔh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9b1c39d1f6_0_330"/>
          <p:cNvSpPr txBox="1"/>
          <p:nvPr/>
        </p:nvSpPr>
        <p:spPr>
          <a:xfrm>
            <a:off x="1882775" y="3484950"/>
            <a:ext cx="3083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1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= 0.250 × 9.81 ×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9b1c39d1f6_0_330"/>
          <p:cNvSpPr txBox="1"/>
          <p:nvPr/>
        </p:nvSpPr>
        <p:spPr>
          <a:xfrm>
            <a:off x="1882775" y="3926681"/>
            <a:ext cx="1201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endParaRPr b="0" i="0" sz="2400" u="none" cap="none" strike="noStrike">
              <a:solidFill>
                <a:srgbClr val="01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4.9</a:t>
            </a:r>
            <a:r>
              <a:rPr b="0" i="0" lang="en-US" sz="10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elf stacker" id="217" name="Google Shape;217;g39b1c39d1f6_0_3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287" y="651272"/>
            <a:ext cx="2667000" cy="3062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ward_arrow_colour" id="218" name="Google Shape;218;g39b1c39d1f6_0_3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7087" y="4625578"/>
            <a:ext cx="472678" cy="431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b1c39d1f6_0_342"/>
          <p:cNvSpPr txBox="1"/>
          <p:nvPr>
            <p:ph idx="4294967295" type="title"/>
          </p:nvPr>
        </p:nvSpPr>
        <p:spPr>
          <a:xfrm>
            <a:off x="868775" y="40475"/>
            <a:ext cx="6594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562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B71562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1" lang="en-US" sz="2800" u="none" cap="none" strike="noStrike">
                <a:solidFill>
                  <a:srgbClr val="B71562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2800" u="none" cap="none" strike="noStrike">
                <a:solidFill>
                  <a:srgbClr val="B71562"/>
                </a:solidFill>
                <a:latin typeface="Arial"/>
                <a:ea typeface="Arial"/>
                <a:cs typeface="Arial"/>
                <a:sym typeface="Arial"/>
              </a:rPr>
              <a:t>: example question 2</a:t>
            </a:r>
            <a:endParaRPr/>
          </a:p>
        </p:txBody>
      </p:sp>
      <p:sp>
        <p:nvSpPr>
          <p:cNvPr id="226" name="Google Shape;226;g39b1c39d1f6_0_342"/>
          <p:cNvSpPr txBox="1"/>
          <p:nvPr/>
        </p:nvSpPr>
        <p:spPr>
          <a:xfrm>
            <a:off x="1095825" y="588175"/>
            <a:ext cx="40674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A pole vaulter of mass 80</a:t>
            </a:r>
            <a:r>
              <a:rPr b="0" i="0" lang="en-US" sz="10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kg jumps a height of 5</a:t>
            </a:r>
            <a:r>
              <a:rPr b="0" i="0" lang="en-US" sz="10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m. What is his gravitational potential energy at the highest point of his jump?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(g = 9.81</a:t>
            </a:r>
            <a:r>
              <a:rPr b="0" i="0" lang="en-US" sz="10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0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kg</a:t>
            </a:r>
            <a:r>
              <a:rPr b="0" baseline="3000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400" u="none" cap="none" strike="noStrike">
              <a:solidFill>
                <a:srgbClr val="01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9b1c39d1f6_0_342"/>
          <p:cNvSpPr txBox="1"/>
          <p:nvPr/>
        </p:nvSpPr>
        <p:spPr>
          <a:xfrm>
            <a:off x="1046475" y="2793200"/>
            <a:ext cx="2181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1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 = mgh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9b1c39d1f6_0_342"/>
          <p:cNvSpPr txBox="1"/>
          <p:nvPr/>
        </p:nvSpPr>
        <p:spPr>
          <a:xfrm>
            <a:off x="984250" y="3318271"/>
            <a:ext cx="2712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1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= 80 × 9.81 ×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9b1c39d1f6_0_342"/>
          <p:cNvSpPr txBox="1"/>
          <p:nvPr/>
        </p:nvSpPr>
        <p:spPr>
          <a:xfrm>
            <a:off x="984250" y="3843338"/>
            <a:ext cx="145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1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 = 3924</a:t>
            </a:r>
            <a:r>
              <a:rPr b="0" i="0" lang="en-US" sz="10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ward_arrow_colour" id="230" name="Google Shape;230;g39b1c39d1f6_0_3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7087" y="4625578"/>
            <a:ext cx="472678" cy="4310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aulter" id="231" name="Google Shape;231;g39b1c39d1f6_0_3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9125" y="738200"/>
            <a:ext cx="2712900" cy="39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b1c39d1f6_0_354"/>
          <p:cNvSpPr/>
          <p:nvPr/>
        </p:nvSpPr>
        <p:spPr>
          <a:xfrm>
            <a:off x="1462087" y="1565672"/>
            <a:ext cx="5745300" cy="924000"/>
          </a:xfrm>
          <a:prstGeom prst="roundRect">
            <a:avLst>
              <a:gd fmla="val 1938" name="adj"/>
            </a:avLst>
          </a:prstGeom>
          <a:solidFill>
            <a:srgbClr val="FFFFCC"/>
          </a:solidFill>
          <a:ln cap="flat" cmpd="sng" w="38100">
            <a:solidFill>
              <a:srgbClr val="B7156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1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9b1c39d1f6_0_354"/>
          <p:cNvSpPr txBox="1"/>
          <p:nvPr>
            <p:ph idx="4294967295" type="title"/>
          </p:nvPr>
        </p:nvSpPr>
        <p:spPr>
          <a:xfrm>
            <a:off x="967500" y="40475"/>
            <a:ext cx="64953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56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71562"/>
                </a:solidFill>
                <a:latin typeface="Arial"/>
                <a:ea typeface="Arial"/>
                <a:cs typeface="Arial"/>
                <a:sym typeface="Arial"/>
              </a:rPr>
              <a:t>What is kinetic energy?</a:t>
            </a:r>
            <a:endParaRPr/>
          </a:p>
        </p:txBody>
      </p:sp>
      <p:grpSp>
        <p:nvGrpSpPr>
          <p:cNvPr id="238" name="Google Shape;238;g39b1c39d1f6_0_354"/>
          <p:cNvGrpSpPr/>
          <p:nvPr/>
        </p:nvGrpSpPr>
        <p:grpSpPr>
          <a:xfrm>
            <a:off x="1582737" y="1610915"/>
            <a:ext cx="6191250" cy="709613"/>
            <a:chOff x="978" y="2014"/>
            <a:chExt cx="3900" cy="596"/>
          </a:xfrm>
        </p:grpSpPr>
        <p:sp>
          <p:nvSpPr>
            <p:cNvPr id="239" name="Google Shape;239;g39b1c39d1f6_0_354"/>
            <p:cNvSpPr txBox="1"/>
            <p:nvPr/>
          </p:nvSpPr>
          <p:spPr>
            <a:xfrm>
              <a:off x="978" y="2014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0066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10066"/>
                  </a:solidFill>
                  <a:latin typeface="Arial"/>
                  <a:ea typeface="Arial"/>
                  <a:cs typeface="Arial"/>
                  <a:sym typeface="Arial"/>
                </a:rPr>
                <a:t>kinetic energy  =  ½  ×  mass  ×  speed</a:t>
              </a:r>
              <a:r>
                <a:rPr b="0" baseline="30000" i="0" lang="en-US" sz="2400" u="none" cap="none" strike="noStrike">
                  <a:solidFill>
                    <a:srgbClr val="010066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39b1c39d1f6_0_354"/>
            <p:cNvSpPr txBox="1"/>
            <p:nvPr/>
          </p:nvSpPr>
          <p:spPr>
            <a:xfrm>
              <a:off x="2098" y="2310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0066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10066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b="0" baseline="-25000" i="0" lang="en-US" sz="2400" u="none" cap="none" strike="noStrike">
                  <a:solidFill>
                    <a:srgbClr val="010066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i="0" lang="en-US" sz="2400" u="none" cap="none" strike="noStrike">
                  <a:solidFill>
                    <a:srgbClr val="010066"/>
                  </a:solidFill>
                  <a:latin typeface="Arial"/>
                  <a:ea typeface="Arial"/>
                  <a:cs typeface="Arial"/>
                  <a:sym typeface="Arial"/>
                </a:rPr>
                <a:t>  =  ½mv</a:t>
              </a:r>
              <a:r>
                <a:rPr b="0" baseline="30000" i="0" lang="en-US" sz="2400" u="none" cap="none" strike="noStrike">
                  <a:solidFill>
                    <a:srgbClr val="010066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g39b1c39d1f6_0_354"/>
          <p:cNvSpPr txBox="1"/>
          <p:nvPr/>
        </p:nvSpPr>
        <p:spPr>
          <a:xfrm>
            <a:off x="967500" y="588175"/>
            <a:ext cx="7897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56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B71562"/>
                </a:solidFill>
                <a:latin typeface="Arial"/>
                <a:ea typeface="Arial"/>
                <a:cs typeface="Arial"/>
                <a:sym typeface="Arial"/>
              </a:rPr>
              <a:t>Kinetic energy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2400" u="none" cap="none" strike="noStrike">
                <a:solidFill>
                  <a:srgbClr val="B71562"/>
                </a:solidFill>
                <a:latin typeface="Arial"/>
                <a:ea typeface="Arial"/>
                <a:cs typeface="Arial"/>
                <a:sym typeface="Arial"/>
              </a:rPr>
              <a:t>KE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0" lang="en-US" sz="2400" u="none" cap="none" strike="noStrike">
                <a:solidFill>
                  <a:srgbClr val="B71562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-25000" i="0" lang="en-US" sz="2400" u="none" cap="none" strike="noStrike">
                <a:solidFill>
                  <a:srgbClr val="B71562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) is the energy of an object due to its speed.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9b1c39d1f6_0_354"/>
          <p:cNvSpPr txBox="1"/>
          <p:nvPr/>
        </p:nvSpPr>
        <p:spPr>
          <a:xfrm>
            <a:off x="788075" y="3150400"/>
            <a:ext cx="78972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562"/>
              </a:buClr>
              <a:buSzPts val="192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kinetic energy is measured in joules (J)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355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B71562"/>
              </a:buClr>
              <a:buSzPts val="192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mass is measured in kilograms (kg)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355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B71562"/>
              </a:buClr>
              <a:buSzPts val="192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speed is measured in metres per second (ms</a:t>
            </a:r>
            <a:r>
              <a:rPr b="0" baseline="3000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9b1c39d1f6_0_354"/>
          <p:cNvSpPr txBox="1"/>
          <p:nvPr/>
        </p:nvSpPr>
        <p:spPr>
          <a:xfrm>
            <a:off x="1026725" y="2653900"/>
            <a:ext cx="121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6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10066"/>
                </a:solidFill>
                <a:latin typeface="Arial"/>
                <a:ea typeface="Arial"/>
                <a:cs typeface="Arial"/>
                <a:sym typeface="Arial"/>
              </a:rPr>
              <a:t>Where: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ward_arrow_colour" id="244" name="Google Shape;244;g39b1c39d1f6_0_3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7087" y="4625578"/>
            <a:ext cx="472678" cy="431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b1c39d1f6_0_366"/>
          <p:cNvSpPr txBox="1"/>
          <p:nvPr>
            <p:ph type="title"/>
          </p:nvPr>
        </p:nvSpPr>
        <p:spPr>
          <a:xfrm>
            <a:off x="938750" y="286795"/>
            <a:ext cx="76338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142"/>
              <a:t>Practise questions using E</a:t>
            </a:r>
            <a:r>
              <a:rPr baseline="-25000" lang="en-US" sz="3142"/>
              <a:t>P</a:t>
            </a:r>
            <a:r>
              <a:rPr lang="en-US" sz="3142"/>
              <a:t> and K</a:t>
            </a:r>
            <a:r>
              <a:rPr baseline="-25000" lang="en-US" sz="3142"/>
              <a:t>E</a:t>
            </a:r>
            <a:r>
              <a:rPr lang="en-US" sz="3142"/>
              <a:t>: (20 mins)</a:t>
            </a:r>
            <a:endParaRPr sz="3142"/>
          </a:p>
        </p:txBody>
      </p:sp>
      <p:sp>
        <p:nvSpPr>
          <p:cNvPr id="251" name="Google Shape;251;g39b1c39d1f6_0_366"/>
          <p:cNvSpPr txBox="1"/>
          <p:nvPr>
            <p:ph idx="1" type="body"/>
          </p:nvPr>
        </p:nvSpPr>
        <p:spPr>
          <a:xfrm>
            <a:off x="783875" y="803475"/>
            <a:ext cx="7986000" cy="42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11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A 70 kg rock sits on a hill 20m high.  Find its potential energy.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The potential energy of a brick resting on the edge of a building is 65,000 joules.  If the brick has a mass of 15 kg, how high is the building.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Find the kinetic energy of a cat which has a mass of 3kg and runs at a speed of 4m/s.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The kinetic energy of a roller-coaster car is 23,000 joules.  If is is moving at a speed of </a:t>
            </a:r>
            <a:r>
              <a:rPr b="1" lang="en-US" sz="1300" u="sng">
                <a:solidFill>
                  <a:schemeClr val="dk1"/>
                </a:solidFill>
              </a:rPr>
              <a:t>25</a:t>
            </a:r>
            <a:r>
              <a:rPr lang="en-US" sz="1300">
                <a:solidFill>
                  <a:schemeClr val="dk1"/>
                </a:solidFill>
              </a:rPr>
              <a:t> m/s, find the mass of the roller-coaster.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What is the kinetic energy of a car that has a mass of 2,400 kg and is moving at 20 m/s?  How does this kinetic energy compare to the kinetic energy of a car with a kinetic energy of 240,000 J?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What is the kinetic energy of a 4,000 kg elephant that is running at 2 m/s?</a:t>
            </a:r>
            <a:br>
              <a:rPr lang="en-US" sz="1300">
                <a:solidFill>
                  <a:schemeClr val="dk1"/>
                </a:solidFill>
              </a:rPr>
            </a:br>
            <a:r>
              <a:rPr lang="en-US" sz="1300">
                <a:solidFill>
                  <a:schemeClr val="dk1"/>
                </a:solidFill>
              </a:rPr>
              <a:t>and another elephant with the same mass running at 4 m/s  How do the two kinetic energies compare with one another?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What is the kinetic energy of a 2,000 kg bus that is moving at 30 m/s?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What is the kinetic energy of a 3,000 kg bus that is moving at 20 m/s?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What is the gravitational potential energy of a diver whose mass is 60kg standing on a platform that is 10 m off the ground?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PEPK Practise worksheet to do next 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adge">
  <a:themeElements>
    <a:clrScheme name="Custom 1">
      <a:dk1>
        <a:srgbClr val="000000"/>
      </a:dk1>
      <a:lt1>
        <a:srgbClr val="FFFFFF"/>
      </a:lt1>
      <a:dk2>
        <a:srgbClr val="22595A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adge">
  <a:themeElements>
    <a:clrScheme name="Custom 1">
      <a:dk1>
        <a:srgbClr val="000000"/>
      </a:dk1>
      <a:lt1>
        <a:srgbClr val="FFFFFF"/>
      </a:lt1>
      <a:dk2>
        <a:srgbClr val="22595A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David Benton</dc:creator>
</cp:coreProperties>
</file>