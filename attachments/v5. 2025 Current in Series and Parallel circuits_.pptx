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5" Type="http://schemas.openxmlformats.org/officeDocument/2006/relationships/slide" Target="slides/slide2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9" name="Google Shape;179;p10:notes"/>
          <p:cNvSpPr/>
          <p:nvPr>
            <p:ph idx="2" type="sldImg"/>
          </p:nvPr>
        </p:nvSpPr>
        <p:spPr>
          <a:xfrm>
            <a:off x="431800" y="708025"/>
            <a:ext cx="6030913" cy="33940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0" name="Google Shape;180;p10:notes"/>
          <p:cNvSpPr txBox="1"/>
          <p:nvPr>
            <p:ph idx="1" type="body"/>
          </p:nvPr>
        </p:nvSpPr>
        <p:spPr>
          <a:xfrm>
            <a:off x="939800" y="4314825"/>
            <a:ext cx="5014913" cy="41735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TEACHER’S NOTES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FLASH activity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Drag the components to the gaps in the circuit and press 'switch on' to test the circuit.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Drag the voltmeter onto the circuit component where the voltage is to be measured.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Reset to start again!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Boardworks Ltd 2002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56" name="Google Shape;456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457" name="Google Shape;457;p2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40" name="Google Shape;40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2" name="Google Shape;52;p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4" name="Google Shape;54;p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www.youtube.com/watch?v=9iv-En-aAFY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youtu.be/m4jzgqZu-4s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/>
          <p:nvPr/>
        </p:nvSpPr>
        <p:spPr>
          <a:xfrm>
            <a:off x="6856966" y="331554"/>
            <a:ext cx="5210538" cy="1873250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gradFill>
                  <a:gsLst>
                    <a:gs pos="0">
                      <a:srgbClr val="FFFF00"/>
                    </a:gs>
                    <a:gs pos="100000">
                      <a:srgbClr val="FF9933"/>
                    </a:gs>
                  </a:gsLst>
                  <a:path path="circle">
                    <a:fillToRect b="50%" l="50%" r="50%" t="50%"/>
                  </a:path>
                  <a:tileRect/>
                </a:gradFill>
                <a:latin typeface="Comic Sans MS"/>
              </a:rPr>
              <a:t>Electrical </a:t>
            </a:r>
            <a:br>
              <a:rPr b="0" i="0">
                <a:ln>
                  <a:noFill/>
                </a:ln>
                <a:gradFill>
                  <a:gsLst>
                    <a:gs pos="0">
                      <a:srgbClr val="FFFF00"/>
                    </a:gs>
                    <a:gs pos="100000">
                      <a:srgbClr val="FF9933"/>
                    </a:gs>
                  </a:gsLst>
                  <a:path path="circle">
                    <a:fillToRect b="50%" l="50%" r="50%" t="50%"/>
                  </a:path>
                  <a:tileRect/>
                </a:gradFill>
                <a:latin typeface="Comic Sans MS"/>
              </a:rPr>
            </a:br>
            <a:r>
              <a:rPr b="0" i="0">
                <a:ln>
                  <a:noFill/>
                </a:ln>
                <a:gradFill>
                  <a:gsLst>
                    <a:gs pos="0">
                      <a:srgbClr val="FFFF00"/>
                    </a:gs>
                    <a:gs pos="100000">
                      <a:srgbClr val="FF9933"/>
                    </a:gs>
                  </a:gsLst>
                  <a:path path="circle">
                    <a:fillToRect b="50%" l="50%" r="50%" t="50%"/>
                  </a:path>
                  <a:tileRect/>
                </a:gradFill>
                <a:latin typeface="Comic Sans MS"/>
              </a:rPr>
              <a:t>Circuits</a:t>
            </a:r>
          </a:p>
        </p:txBody>
      </p:sp>
      <p:sp>
        <p:nvSpPr>
          <p:cNvPr id="89" name="Google Shape;89;p13"/>
          <p:cNvSpPr txBox="1"/>
          <p:nvPr/>
        </p:nvSpPr>
        <p:spPr>
          <a:xfrm>
            <a:off x="211682" y="3942612"/>
            <a:ext cx="6624932" cy="2677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800" u="sng" cap="none" strike="noStrike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Learning Objectives: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sng" cap="none" strike="noStrike">
              <a:solidFill>
                <a:srgbClr val="FFFF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800" u="none" cap="none" strike="noStrike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1. To set up simple series and parallel circuits effectively.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800" u="none" cap="none" strike="noStrike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2. To understand the how current differs in series and parallel circuits.</a:t>
            </a:r>
            <a:endParaRPr b="0" i="0" sz="2800" u="none" cap="none" strike="noStrike">
              <a:solidFill>
                <a:srgbClr val="FFFF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90" name="Google Shape;9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516" y="51516"/>
            <a:ext cx="6674269" cy="3660083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92424" y="2807072"/>
            <a:ext cx="5075080" cy="32975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/>
          <p:nvPr>
            <p:ph type="title"/>
          </p:nvPr>
        </p:nvSpPr>
        <p:spPr>
          <a:xfrm>
            <a:off x="1581151" y="241302"/>
            <a:ext cx="9377966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100000"/>
              <a:buFont typeface="Comic Sans MS"/>
              <a:buNone/>
            </a:pPr>
            <a:r>
              <a:rPr lang="en-GB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Whiteboard Starter: Making Circuits</a:t>
            </a:r>
            <a:endParaRPr>
              <a:solidFill>
                <a:srgbClr val="FFFF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97" name="Google Shape;97;p14"/>
          <p:cNvSpPr txBox="1"/>
          <p:nvPr>
            <p:ph idx="1" type="body"/>
          </p:nvPr>
        </p:nvSpPr>
        <p:spPr>
          <a:xfrm>
            <a:off x="1981200" y="1600201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98" name="Google Shape;98;p14"/>
          <p:cNvSpPr txBox="1"/>
          <p:nvPr>
            <p:ph idx="2" type="body"/>
          </p:nvPr>
        </p:nvSpPr>
        <p:spPr>
          <a:xfrm>
            <a:off x="7763193" y="1616870"/>
            <a:ext cx="4038600" cy="3461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800"/>
              <a:buChar char="•"/>
            </a:pPr>
            <a:r>
              <a:rPr lang="en-GB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Look at the pictures.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00"/>
              </a:buClr>
              <a:buSzPts val="2800"/>
              <a:buChar char="•"/>
            </a:pPr>
            <a:r>
              <a:rPr lang="en-GB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What is wrong with the first two circuits?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solidFill>
                <a:srgbClr val="FFFF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00"/>
              </a:buClr>
              <a:buSzPts val="2800"/>
              <a:buChar char="•"/>
            </a:pPr>
            <a:r>
              <a:rPr lang="en-GB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How can they be made to work?</a:t>
            </a:r>
            <a:endParaRPr>
              <a:solidFill>
                <a:srgbClr val="FFFF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descr="circuit problems" id="99" name="Google Shape;99;p14"/>
          <p:cNvPicPr preferRelativeResize="0"/>
          <p:nvPr>
            <p:ph idx="4294967295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36372" y="962361"/>
            <a:ext cx="5709143" cy="576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5"/>
          <p:cNvSpPr txBox="1"/>
          <p:nvPr>
            <p:ph type="title"/>
          </p:nvPr>
        </p:nvSpPr>
        <p:spPr>
          <a:xfrm>
            <a:off x="322729" y="274638"/>
            <a:ext cx="11510683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100000"/>
              <a:buFont typeface="Comic Sans MS"/>
              <a:buNone/>
            </a:pPr>
            <a:r>
              <a:rPr lang="en-GB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Starter (3mins) – Unscramble these keywords</a:t>
            </a:r>
            <a:endParaRPr>
              <a:solidFill>
                <a:srgbClr val="FFFF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05" name="Google Shape;105;p15"/>
          <p:cNvSpPr txBox="1"/>
          <p:nvPr>
            <p:ph idx="1" type="body"/>
          </p:nvPr>
        </p:nvSpPr>
        <p:spPr>
          <a:xfrm>
            <a:off x="1981200" y="1268413"/>
            <a:ext cx="8229600" cy="52562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800"/>
              <a:buChar char="•"/>
            </a:pPr>
            <a:r>
              <a:rPr lang="en-GB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Unscramble the following key words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FF00"/>
              </a:buClr>
              <a:buSzPts val="2400"/>
              <a:buChar char="•"/>
            </a:pPr>
            <a:r>
              <a:rPr lang="en-GB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1. Rertncu			flows around a 						circuit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FF00"/>
              </a:buClr>
              <a:buSzPts val="2400"/>
              <a:buChar char="•"/>
            </a:pPr>
            <a:r>
              <a:rPr lang="en-GB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2. Larprelal			a type of circuit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FF00"/>
              </a:buClr>
              <a:buSzPts val="2400"/>
              <a:buChar char="•"/>
            </a:pPr>
            <a:r>
              <a:rPr lang="en-GB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3. Rmaeetm			used to measure 1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FF00"/>
              </a:buClr>
              <a:buSzPts val="2400"/>
              <a:buChar char="•"/>
            </a:pPr>
            <a:r>
              <a:rPr lang="en-GB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4. Rutcici			all electric 							components joined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FF00"/>
              </a:buClr>
              <a:buSzPts val="2400"/>
              <a:buChar char="•"/>
            </a:pPr>
            <a:r>
              <a:rPr lang="en-GB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5. Lubb				can be bright or dim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>
              <a:solidFill>
                <a:srgbClr val="FFFF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00"/>
              </a:buClr>
              <a:buSzPts val="2800"/>
              <a:buChar char="•"/>
            </a:pPr>
            <a:r>
              <a:rPr lang="en-GB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Write down three ways we have to be safe when using electricity.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>
              <a:solidFill>
                <a:srgbClr val="FFFF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64135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11" name="Google Shape;111;p16"/>
          <p:cNvSpPr txBox="1"/>
          <p:nvPr>
            <p:ph idx="2" type="body"/>
          </p:nvPr>
        </p:nvSpPr>
        <p:spPr>
          <a:xfrm>
            <a:off x="6858000" y="207841"/>
            <a:ext cx="5181600" cy="64180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GB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Six pupils attempted to draw circuit diagrams in their science lesson. Their drawings are opposite.  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AutoNum type="arabicPeriod"/>
            </a:pPr>
            <a:r>
              <a:rPr lang="en-GB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In which circuits will the bulb light up?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AutoNum type="arabicPeriod"/>
            </a:pPr>
            <a:r>
              <a:rPr lang="en-GB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For those circuits where the bulb will not light, redraw the circuit  diagrams so that they will.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AutoNum type="arabicPeriod"/>
            </a:pPr>
            <a:r>
              <a:rPr lang="en-GB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In which of the circuits that you have drawn for Qu2 will the bulb be brightest?  Explain your reasoning.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AutoNum type="arabicPeriod"/>
            </a:pPr>
            <a:r>
              <a:rPr lang="en-GB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Where in a circuit does the switch need to be in order to operate the bulb correctly?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112" name="Google Shape;11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699291"/>
            <a:ext cx="6555545" cy="75572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7"/>
          <p:cNvSpPr txBox="1"/>
          <p:nvPr>
            <p:ph type="title"/>
          </p:nvPr>
        </p:nvSpPr>
        <p:spPr>
          <a:xfrm>
            <a:off x="1524000" y="0"/>
            <a:ext cx="3657600" cy="533400"/>
          </a:xfrm>
          <a:prstGeom prst="rect">
            <a:avLst/>
          </a:prstGeom>
          <a:solidFill>
            <a:srgbClr val="660066"/>
          </a:solidFill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omic Sans MS"/>
              <a:buNone/>
            </a:pPr>
            <a:r>
              <a:rPr lang="en-GB" sz="3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Series circuit</a:t>
            </a:r>
            <a:endParaRPr sz="36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8"/>
          <p:cNvSpPr/>
          <p:nvPr/>
        </p:nvSpPr>
        <p:spPr>
          <a:xfrm>
            <a:off x="1524000" y="0"/>
            <a:ext cx="9144000" cy="692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4400" u="none" cap="none" strike="noStrike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Measuring electric current</a:t>
            </a:r>
            <a:endParaRPr b="0" i="0" sz="4400" u="none" cap="none" strike="noStrike">
              <a:solidFill>
                <a:srgbClr val="FFFF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23" name="Google Shape;123;p18"/>
          <p:cNvSpPr txBox="1"/>
          <p:nvPr/>
        </p:nvSpPr>
        <p:spPr>
          <a:xfrm>
            <a:off x="1524000" y="692150"/>
            <a:ext cx="9144000" cy="20145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800" u="none" cap="none" strike="noStrike">
                <a:solidFill>
                  <a:srgbClr val="FFCCFF"/>
                </a:solidFill>
                <a:latin typeface="Comic Sans MS"/>
                <a:ea typeface="Comic Sans MS"/>
                <a:cs typeface="Comic Sans MS"/>
                <a:sym typeface="Comic Sans MS"/>
              </a:rPr>
              <a:t>Current is the </a:t>
            </a:r>
            <a:r>
              <a:rPr b="0" i="1" lang="en-GB" sz="2800" u="sng" cap="none" strike="noStrike">
                <a:solidFill>
                  <a:srgbClr val="FFCCFF"/>
                </a:solidFill>
                <a:latin typeface="Comic Sans MS"/>
                <a:ea typeface="Comic Sans MS"/>
                <a:cs typeface="Comic Sans MS"/>
                <a:sym typeface="Comic Sans MS"/>
              </a:rPr>
              <a:t>flow of electricity</a:t>
            </a:r>
            <a:r>
              <a:rPr b="0" i="0" lang="en-GB" sz="2800" u="none" cap="none" strike="noStrike">
                <a:solidFill>
                  <a:srgbClr val="FFCCFF"/>
                </a:solidFill>
                <a:latin typeface="Comic Sans MS"/>
                <a:ea typeface="Comic Sans MS"/>
                <a:cs typeface="Comic Sans MS"/>
                <a:sym typeface="Comic Sans MS"/>
              </a:rPr>
              <a:t> around a circuit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GB" sz="2800" u="none" cap="none" strike="noStrike">
                <a:solidFill>
                  <a:srgbClr val="FFCCFF"/>
                </a:solidFill>
                <a:latin typeface="Comic Sans MS"/>
                <a:ea typeface="Comic Sans MS"/>
                <a:cs typeface="Comic Sans MS"/>
                <a:sym typeface="Comic Sans MS"/>
              </a:rPr>
              <a:t>We can measure the amount of electric current flowing through a circuit using a device called an “ammeter”.</a:t>
            </a:r>
            <a:endParaRPr b="0" i="0" sz="2800" u="none" cap="none" strike="noStrike">
              <a:solidFill>
                <a:srgbClr val="FFCC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124" name="Google Shape;124;p18"/>
          <p:cNvGrpSpPr/>
          <p:nvPr/>
        </p:nvGrpSpPr>
        <p:grpSpPr>
          <a:xfrm>
            <a:off x="2495551" y="3141663"/>
            <a:ext cx="2879725" cy="2438400"/>
            <a:chOff x="185" y="1008"/>
            <a:chExt cx="1814" cy="1536"/>
          </a:xfrm>
        </p:grpSpPr>
        <p:cxnSp>
          <p:nvCxnSpPr>
            <p:cNvPr id="125" name="Google Shape;125;p18"/>
            <p:cNvCxnSpPr/>
            <p:nvPr/>
          </p:nvCxnSpPr>
          <p:spPr>
            <a:xfrm>
              <a:off x="185" y="1200"/>
              <a:ext cx="0" cy="1153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6" name="Google Shape;126;p18"/>
            <p:cNvCxnSpPr/>
            <p:nvPr/>
          </p:nvCxnSpPr>
          <p:spPr>
            <a:xfrm>
              <a:off x="186" y="2352"/>
              <a:ext cx="528" cy="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7" name="Google Shape;127;p18"/>
            <p:cNvCxnSpPr/>
            <p:nvPr/>
          </p:nvCxnSpPr>
          <p:spPr>
            <a:xfrm>
              <a:off x="1097" y="2352"/>
              <a:ext cx="721" cy="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8" name="Google Shape;128;p18"/>
            <p:cNvCxnSpPr/>
            <p:nvPr/>
          </p:nvCxnSpPr>
          <p:spPr>
            <a:xfrm rot="10800000">
              <a:off x="1817" y="1200"/>
              <a:ext cx="0" cy="477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9" name="Google Shape;129;p18"/>
            <p:cNvCxnSpPr/>
            <p:nvPr/>
          </p:nvCxnSpPr>
          <p:spPr>
            <a:xfrm>
              <a:off x="185" y="1200"/>
              <a:ext cx="672" cy="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0" name="Google Shape;130;p18"/>
            <p:cNvCxnSpPr/>
            <p:nvPr/>
          </p:nvCxnSpPr>
          <p:spPr>
            <a:xfrm rot="10800000">
              <a:off x="1001" y="1200"/>
              <a:ext cx="816" cy="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1" name="Google Shape;131;p18"/>
            <p:cNvCxnSpPr/>
            <p:nvPr/>
          </p:nvCxnSpPr>
          <p:spPr>
            <a:xfrm>
              <a:off x="857" y="1008"/>
              <a:ext cx="0" cy="384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2" name="Google Shape;132;p18"/>
            <p:cNvSpPr/>
            <p:nvPr/>
          </p:nvSpPr>
          <p:spPr>
            <a:xfrm>
              <a:off x="953" y="1104"/>
              <a:ext cx="48" cy="192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" name="Google Shape;133;p18"/>
            <p:cNvSpPr/>
            <p:nvPr/>
          </p:nvSpPr>
          <p:spPr>
            <a:xfrm>
              <a:off x="713" y="2160"/>
              <a:ext cx="384" cy="384"/>
            </a:xfrm>
            <a:prstGeom prst="ellipse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34" name="Google Shape;134;p18"/>
            <p:cNvCxnSpPr/>
            <p:nvPr/>
          </p:nvCxnSpPr>
          <p:spPr>
            <a:xfrm flipH="1" rot="10800000">
              <a:off x="761" y="2208"/>
              <a:ext cx="288" cy="288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5" name="Google Shape;135;p18"/>
            <p:cNvCxnSpPr/>
            <p:nvPr/>
          </p:nvCxnSpPr>
          <p:spPr>
            <a:xfrm>
              <a:off x="761" y="2208"/>
              <a:ext cx="288" cy="288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6" name="Google Shape;136;p18"/>
            <p:cNvCxnSpPr/>
            <p:nvPr/>
          </p:nvCxnSpPr>
          <p:spPr>
            <a:xfrm rot="10800000">
              <a:off x="1818" y="1994"/>
              <a:ext cx="0" cy="358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7" name="Google Shape;137;p18"/>
            <p:cNvSpPr/>
            <p:nvPr/>
          </p:nvSpPr>
          <p:spPr>
            <a:xfrm>
              <a:off x="1636" y="1677"/>
              <a:ext cx="363" cy="363"/>
            </a:xfrm>
            <a:prstGeom prst="ellipse">
              <a:avLst/>
            </a:prstGeom>
            <a:solidFill>
              <a:schemeClr val="dk1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" name="Google Shape;138;p18"/>
            <p:cNvSpPr txBox="1"/>
            <p:nvPr/>
          </p:nvSpPr>
          <p:spPr>
            <a:xfrm>
              <a:off x="1636" y="1706"/>
              <a:ext cx="363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A</a:t>
              </a:r>
              <a:endParaRPr sz="18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</p:grpSp>
      <p:pic>
        <p:nvPicPr>
          <p:cNvPr descr="circuit 3" id="139" name="Google Shape;13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24563" y="2813051"/>
            <a:ext cx="4392612" cy="3279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9"/>
          <p:cNvSpPr txBox="1"/>
          <p:nvPr/>
        </p:nvSpPr>
        <p:spPr>
          <a:xfrm>
            <a:off x="1111348" y="644525"/>
            <a:ext cx="10396024" cy="35394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unit of measure for current is the "amp" which has the symbol A.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We measure the current using a device called an ammeter.  In a circuit this is given the symbol 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When measuring the current through a component, the ammeter is </a:t>
            </a:r>
            <a:r>
              <a:rPr lang="en-GB" sz="2800" u="sng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always</a:t>
            </a:r>
            <a:r>
              <a:rPr lang="en-GB" sz="2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connected in </a:t>
            </a:r>
            <a:r>
              <a:rPr lang="en-GB" sz="2800" u="sng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series</a:t>
            </a:r>
            <a:r>
              <a:rPr lang="en-GB" sz="2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(in the same loop) with that component. </a:t>
            </a:r>
            <a:endParaRPr/>
          </a:p>
        </p:txBody>
      </p:sp>
      <p:grpSp>
        <p:nvGrpSpPr>
          <p:cNvPr id="145" name="Google Shape;145;p19"/>
          <p:cNvGrpSpPr/>
          <p:nvPr/>
        </p:nvGrpSpPr>
        <p:grpSpPr>
          <a:xfrm>
            <a:off x="2971801" y="4038600"/>
            <a:ext cx="6032501" cy="2581275"/>
            <a:chOff x="1155" y="2673"/>
            <a:chExt cx="3800" cy="1626"/>
          </a:xfrm>
        </p:grpSpPr>
        <p:sp>
          <p:nvSpPr>
            <p:cNvPr id="146" name="Google Shape;146;p19"/>
            <p:cNvSpPr/>
            <p:nvPr/>
          </p:nvSpPr>
          <p:spPr>
            <a:xfrm>
              <a:off x="1155" y="2673"/>
              <a:ext cx="3800" cy="1626"/>
            </a:xfrm>
            <a:prstGeom prst="rect">
              <a:avLst/>
            </a:prstGeom>
            <a:gradFill>
              <a:gsLst>
                <a:gs pos="0">
                  <a:schemeClr val="hlink"/>
                </a:gs>
                <a:gs pos="100000">
                  <a:srgbClr val="FCFCFE"/>
                </a:gs>
              </a:gsLst>
              <a:lin ang="540000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0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" name="Google Shape;147;p19"/>
            <p:cNvSpPr/>
            <p:nvPr/>
          </p:nvSpPr>
          <p:spPr>
            <a:xfrm>
              <a:off x="2613" y="3676"/>
              <a:ext cx="392" cy="367"/>
            </a:xfrm>
            <a:prstGeom prst="ellipse">
              <a:avLst/>
            </a:prstGeom>
            <a:solidFill>
              <a:srgbClr val="FFFF00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0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" name="Google Shape;148;p19"/>
            <p:cNvSpPr/>
            <p:nvPr/>
          </p:nvSpPr>
          <p:spPr>
            <a:xfrm>
              <a:off x="2731" y="3781"/>
              <a:ext cx="147" cy="137"/>
            </a:xfrm>
            <a:prstGeom prst="ellipse">
              <a:avLst/>
            </a:prstGeom>
            <a:solidFill>
              <a:srgbClr val="FFFF00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0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" name="Google Shape;149;p19"/>
            <p:cNvSpPr/>
            <p:nvPr/>
          </p:nvSpPr>
          <p:spPr>
            <a:xfrm>
              <a:off x="2721" y="3849"/>
              <a:ext cx="169" cy="10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0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50" name="Google Shape;150;p19"/>
            <p:cNvCxnSpPr/>
            <p:nvPr/>
          </p:nvCxnSpPr>
          <p:spPr>
            <a:xfrm>
              <a:off x="2961" y="2809"/>
              <a:ext cx="0" cy="29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1" name="Google Shape;151;p19"/>
            <p:cNvCxnSpPr/>
            <p:nvPr/>
          </p:nvCxnSpPr>
          <p:spPr>
            <a:xfrm>
              <a:off x="3042" y="2882"/>
              <a:ext cx="0" cy="146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2" name="Google Shape;152;p19"/>
            <p:cNvCxnSpPr/>
            <p:nvPr/>
          </p:nvCxnSpPr>
          <p:spPr>
            <a:xfrm flipH="1" rot="10800000">
              <a:off x="3049" y="2939"/>
              <a:ext cx="1007" cy="2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3" name="Google Shape;153;p19"/>
            <p:cNvCxnSpPr/>
            <p:nvPr/>
          </p:nvCxnSpPr>
          <p:spPr>
            <a:xfrm>
              <a:off x="4061" y="2937"/>
              <a:ext cx="0" cy="918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4" name="Google Shape;154;p19"/>
            <p:cNvCxnSpPr/>
            <p:nvPr/>
          </p:nvCxnSpPr>
          <p:spPr>
            <a:xfrm flipH="1">
              <a:off x="2882" y="3849"/>
              <a:ext cx="1188" cy="1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5" name="Google Shape;155;p19"/>
            <p:cNvCxnSpPr/>
            <p:nvPr/>
          </p:nvCxnSpPr>
          <p:spPr>
            <a:xfrm rot="10800000">
              <a:off x="1793" y="3847"/>
              <a:ext cx="932" cy="1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6" name="Google Shape;156;p19"/>
            <p:cNvCxnSpPr/>
            <p:nvPr/>
          </p:nvCxnSpPr>
          <p:spPr>
            <a:xfrm rot="10800000">
              <a:off x="1806" y="2946"/>
              <a:ext cx="0" cy="909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7" name="Google Shape;157;p19"/>
            <p:cNvCxnSpPr/>
            <p:nvPr/>
          </p:nvCxnSpPr>
          <p:spPr>
            <a:xfrm>
              <a:off x="1800" y="2946"/>
              <a:ext cx="1156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8" name="Google Shape;158;p19"/>
            <p:cNvSpPr/>
            <p:nvPr/>
          </p:nvSpPr>
          <p:spPr>
            <a:xfrm>
              <a:off x="2730" y="3849"/>
              <a:ext cx="150" cy="4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0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" name="Google Shape;159;p19"/>
            <p:cNvSpPr/>
            <p:nvPr/>
          </p:nvSpPr>
          <p:spPr>
            <a:xfrm>
              <a:off x="3965" y="3097"/>
              <a:ext cx="163" cy="455"/>
            </a:xfrm>
            <a:prstGeom prst="rect">
              <a:avLst/>
            </a:prstGeom>
            <a:gradFill>
              <a:gsLst>
                <a:gs pos="0">
                  <a:srgbClr val="0000FF"/>
                </a:gs>
                <a:gs pos="100000">
                  <a:srgbClr val="F2F2FF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0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60" name="Google Shape;160;p19"/>
            <p:cNvCxnSpPr/>
            <p:nvPr/>
          </p:nvCxnSpPr>
          <p:spPr>
            <a:xfrm flipH="1" rot="10800000">
              <a:off x="3821" y="3097"/>
              <a:ext cx="418" cy="419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61" name="Google Shape;161;p19"/>
            <p:cNvSpPr/>
            <p:nvPr/>
          </p:nvSpPr>
          <p:spPr>
            <a:xfrm>
              <a:off x="2070" y="2764"/>
              <a:ext cx="373" cy="355"/>
            </a:xfrm>
            <a:prstGeom prst="ellipse">
              <a:avLst/>
            </a:prstGeom>
            <a:solidFill>
              <a:srgbClr val="0000F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000">
                  <a:solidFill>
                    <a:srgbClr val="FFFF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A</a:t>
              </a:r>
              <a:endParaRPr/>
            </a:p>
          </p:txBody>
        </p:sp>
        <p:sp>
          <p:nvSpPr>
            <p:cNvPr id="162" name="Google Shape;162;p19"/>
            <p:cNvSpPr/>
            <p:nvPr/>
          </p:nvSpPr>
          <p:spPr>
            <a:xfrm>
              <a:off x="2070" y="2764"/>
              <a:ext cx="373" cy="355"/>
            </a:xfrm>
            <a:prstGeom prst="ellipse">
              <a:avLst/>
            </a:prstGeom>
            <a:solidFill>
              <a:srgbClr val="0000F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000">
                  <a:solidFill>
                    <a:srgbClr val="FFFF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A</a:t>
              </a:r>
              <a:endParaRPr/>
            </a:p>
          </p:txBody>
        </p:sp>
      </p:grpSp>
      <p:sp>
        <p:nvSpPr>
          <p:cNvPr id="163" name="Google Shape;163;p19"/>
          <p:cNvSpPr/>
          <p:nvPr/>
        </p:nvSpPr>
        <p:spPr>
          <a:xfrm>
            <a:off x="7239794" y="2132459"/>
            <a:ext cx="592138" cy="563562"/>
          </a:xfrm>
          <a:prstGeom prst="ellipse">
            <a:avLst/>
          </a:prstGeom>
          <a:solidFill>
            <a:srgbClr val="0000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A</a:t>
            </a:r>
            <a:endParaRPr/>
          </a:p>
        </p:txBody>
      </p:sp>
      <p:sp>
        <p:nvSpPr>
          <p:cNvPr id="164" name="Google Shape;164;p19"/>
          <p:cNvSpPr/>
          <p:nvPr/>
        </p:nvSpPr>
        <p:spPr>
          <a:xfrm>
            <a:off x="1628776" y="78959"/>
            <a:ext cx="4210050" cy="680695"/>
          </a:xfrm>
          <a:prstGeom prst="rect">
            <a:avLst/>
          </a:prstGeom>
          <a:solidFill>
            <a:srgbClr val="660066"/>
          </a:solidFill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600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Measuring current</a:t>
            </a:r>
            <a:endParaRPr b="1" sz="3600">
              <a:solidFill>
                <a:srgbClr val="FFFF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0"/>
          <p:cNvSpPr/>
          <p:nvPr/>
        </p:nvSpPr>
        <p:spPr>
          <a:xfrm>
            <a:off x="1524000" y="0"/>
            <a:ext cx="9144000" cy="692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400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Parallel circuits</a:t>
            </a:r>
            <a:endParaRPr sz="4400">
              <a:solidFill>
                <a:srgbClr val="FFFF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70" name="Google Shape;170;p20"/>
          <p:cNvSpPr txBox="1"/>
          <p:nvPr/>
        </p:nvSpPr>
        <p:spPr>
          <a:xfrm>
            <a:off x="1524000" y="836613"/>
            <a:ext cx="9144000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FFCCFF"/>
                </a:solidFill>
                <a:latin typeface="Comic Sans MS"/>
                <a:ea typeface="Comic Sans MS"/>
                <a:cs typeface="Comic Sans MS"/>
                <a:sym typeface="Comic Sans MS"/>
              </a:rPr>
              <a:t>A parallel circuit is one where the current has a “choice of routes”:</a:t>
            </a:r>
            <a:endParaRPr sz="3200">
              <a:solidFill>
                <a:srgbClr val="FFCC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descr="circuit 4" id="171" name="Google Shape;17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00375" y="1844676"/>
            <a:ext cx="5976938" cy="4460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1"/>
          <p:cNvSpPr txBox="1"/>
          <p:nvPr>
            <p:ph type="title"/>
          </p:nvPr>
        </p:nvSpPr>
        <p:spPr>
          <a:xfrm>
            <a:off x="1524000" y="0"/>
            <a:ext cx="4191000" cy="609600"/>
          </a:xfrm>
          <a:prstGeom prst="rect">
            <a:avLst/>
          </a:prstGeom>
          <a:solidFill>
            <a:srgbClr val="660066"/>
          </a:solidFill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omic Sans MS"/>
              <a:buNone/>
            </a:pPr>
            <a:r>
              <a:rPr lang="en-GB" sz="3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Parallel circuits</a:t>
            </a:r>
            <a:endParaRPr sz="36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2"/>
          <p:cNvSpPr/>
          <p:nvPr/>
        </p:nvSpPr>
        <p:spPr>
          <a:xfrm>
            <a:off x="1312984" y="0"/>
            <a:ext cx="5667365" cy="609600"/>
          </a:xfrm>
          <a:prstGeom prst="rect">
            <a:avLst/>
          </a:prstGeom>
          <a:solidFill>
            <a:srgbClr val="660066"/>
          </a:solidFill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2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Parallel and Series Circuits</a:t>
            </a:r>
            <a:endParaRPr b="1" sz="32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3"/>
          <p:cNvSpPr txBox="1"/>
          <p:nvPr>
            <p:ph type="title"/>
          </p:nvPr>
        </p:nvSpPr>
        <p:spPr>
          <a:xfrm>
            <a:off x="-194023" y="-198017"/>
            <a:ext cx="4167657" cy="24738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4400"/>
              <a:buFont typeface="Comic Sans MS"/>
              <a:buNone/>
            </a:pPr>
            <a:r>
              <a:rPr lang="en-GB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Investigating </a:t>
            </a:r>
            <a:br>
              <a:rPr lang="en-GB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r>
              <a:rPr lang="en-GB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Current </a:t>
            </a:r>
            <a:br>
              <a:rPr lang="en-GB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r>
              <a:rPr lang="en-GB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(30 mins)</a:t>
            </a:r>
            <a:endParaRPr/>
          </a:p>
        </p:txBody>
      </p:sp>
      <p:sp>
        <p:nvSpPr>
          <p:cNvPr id="188" name="Google Shape;188;p23"/>
          <p:cNvSpPr txBox="1"/>
          <p:nvPr>
            <p:ph idx="1" type="body"/>
          </p:nvPr>
        </p:nvSpPr>
        <p:spPr>
          <a:xfrm>
            <a:off x="925101" y="5145110"/>
            <a:ext cx="9931790" cy="1712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66"/>
              </a:buClr>
              <a:buSzPts val="2800"/>
              <a:buNone/>
            </a:pPr>
            <a:r>
              <a:rPr b="1" lang="en-GB" u="sng">
                <a:solidFill>
                  <a:srgbClr val="FF0066"/>
                </a:solidFill>
                <a:latin typeface="Comic Sans MS"/>
                <a:ea typeface="Comic Sans MS"/>
                <a:cs typeface="Comic Sans MS"/>
                <a:sym typeface="Comic Sans MS"/>
              </a:rPr>
              <a:t>Safety: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66"/>
              </a:buClr>
              <a:buSzPts val="2800"/>
              <a:buChar char="•"/>
            </a:pPr>
            <a:r>
              <a:rPr lang="en-GB">
                <a:solidFill>
                  <a:srgbClr val="FF0066"/>
                </a:solidFill>
                <a:latin typeface="Comic Sans MS"/>
                <a:ea typeface="Comic Sans MS"/>
                <a:cs typeface="Comic Sans MS"/>
                <a:sym typeface="Comic Sans MS"/>
              </a:rPr>
              <a:t>Put newspaper on benches before setting up circuits.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66"/>
              </a:buClr>
              <a:buSzPts val="2800"/>
              <a:buChar char="•"/>
            </a:pPr>
            <a:r>
              <a:rPr lang="en-GB">
                <a:solidFill>
                  <a:srgbClr val="FF0066"/>
                </a:solidFill>
                <a:latin typeface="Comic Sans MS"/>
                <a:ea typeface="Comic Sans MS"/>
                <a:cs typeface="Comic Sans MS"/>
                <a:sym typeface="Comic Sans MS"/>
              </a:rPr>
              <a:t>Make sure the area is DRY (stay away from the taps!)</a:t>
            </a:r>
            <a:endParaRPr/>
          </a:p>
        </p:txBody>
      </p:sp>
      <p:pic>
        <p:nvPicPr>
          <p:cNvPr id="189" name="Google Shape;18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05979" y="38636"/>
            <a:ext cx="8335848" cy="5557232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3"/>
          <p:cNvSpPr txBox="1"/>
          <p:nvPr/>
        </p:nvSpPr>
        <p:spPr>
          <a:xfrm>
            <a:off x="142846" y="2749370"/>
            <a:ext cx="3968871" cy="19221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lang="en-GB" sz="28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Follow the instructions on the sheet to complete the practicals.</a:t>
            </a:r>
            <a:endParaRPr sz="2800">
              <a:solidFill>
                <a:srgbClr val="FF0066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4"/>
          <p:cNvSpPr/>
          <p:nvPr/>
        </p:nvSpPr>
        <p:spPr>
          <a:xfrm>
            <a:off x="1524000" y="0"/>
            <a:ext cx="9144000" cy="692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400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Current in a series circuit</a:t>
            </a:r>
            <a:endParaRPr/>
          </a:p>
        </p:txBody>
      </p:sp>
      <p:grpSp>
        <p:nvGrpSpPr>
          <p:cNvPr id="196" name="Google Shape;196;p24"/>
          <p:cNvGrpSpPr/>
          <p:nvPr/>
        </p:nvGrpSpPr>
        <p:grpSpPr>
          <a:xfrm>
            <a:off x="4343400" y="1752601"/>
            <a:ext cx="3657600" cy="3440113"/>
            <a:chOff x="672" y="1104"/>
            <a:chExt cx="2304" cy="2167"/>
          </a:xfrm>
        </p:grpSpPr>
        <p:cxnSp>
          <p:nvCxnSpPr>
            <p:cNvPr id="197" name="Google Shape;197;p24"/>
            <p:cNvCxnSpPr/>
            <p:nvPr/>
          </p:nvCxnSpPr>
          <p:spPr>
            <a:xfrm>
              <a:off x="672" y="1375"/>
              <a:ext cx="0" cy="1627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8" name="Google Shape;198;p24"/>
            <p:cNvCxnSpPr/>
            <p:nvPr/>
          </p:nvCxnSpPr>
          <p:spPr>
            <a:xfrm>
              <a:off x="673" y="3000"/>
              <a:ext cx="405" cy="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9" name="Google Shape;199;p24"/>
            <p:cNvCxnSpPr/>
            <p:nvPr/>
          </p:nvCxnSpPr>
          <p:spPr>
            <a:xfrm>
              <a:off x="2636" y="3000"/>
              <a:ext cx="340" cy="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0" name="Google Shape;200;p24"/>
            <p:cNvCxnSpPr/>
            <p:nvPr/>
          </p:nvCxnSpPr>
          <p:spPr>
            <a:xfrm rot="10800000">
              <a:off x="2975" y="1375"/>
              <a:ext cx="0" cy="1625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1" name="Google Shape;201;p24"/>
            <p:cNvCxnSpPr/>
            <p:nvPr/>
          </p:nvCxnSpPr>
          <p:spPr>
            <a:xfrm>
              <a:off x="672" y="1375"/>
              <a:ext cx="768" cy="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2" name="Google Shape;202;p24"/>
            <p:cNvCxnSpPr/>
            <p:nvPr/>
          </p:nvCxnSpPr>
          <p:spPr>
            <a:xfrm rot="10800000">
              <a:off x="1968" y="1375"/>
              <a:ext cx="1007" cy="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3" name="Google Shape;203;p24"/>
            <p:cNvCxnSpPr/>
            <p:nvPr/>
          </p:nvCxnSpPr>
          <p:spPr>
            <a:xfrm>
              <a:off x="1440" y="1104"/>
              <a:ext cx="0" cy="542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04" name="Google Shape;204;p24"/>
            <p:cNvSpPr/>
            <p:nvPr/>
          </p:nvSpPr>
          <p:spPr>
            <a:xfrm>
              <a:off x="1536" y="1239"/>
              <a:ext cx="67" cy="271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05" name="Google Shape;205;p24"/>
            <p:cNvGrpSpPr/>
            <p:nvPr/>
          </p:nvGrpSpPr>
          <p:grpSpPr>
            <a:xfrm>
              <a:off x="1078" y="2729"/>
              <a:ext cx="542" cy="542"/>
              <a:chOff x="4512" y="3792"/>
              <a:chExt cx="384" cy="384"/>
            </a:xfrm>
          </p:grpSpPr>
          <p:sp>
            <p:nvSpPr>
              <p:cNvPr id="206" name="Google Shape;206;p24"/>
              <p:cNvSpPr/>
              <p:nvPr/>
            </p:nvSpPr>
            <p:spPr>
              <a:xfrm>
                <a:off x="4512" y="3792"/>
                <a:ext cx="384" cy="384"/>
              </a:xfrm>
              <a:prstGeom prst="ellipse">
                <a:avLst/>
              </a:prstGeom>
              <a:noFill/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07" name="Google Shape;207;p24"/>
              <p:cNvCxnSpPr/>
              <p:nvPr/>
            </p:nvCxnSpPr>
            <p:spPr>
              <a:xfrm flipH="1" rot="10800000">
                <a:off x="4560" y="3840"/>
                <a:ext cx="288" cy="288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l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8" name="Google Shape;208;p24"/>
              <p:cNvCxnSpPr/>
              <p:nvPr/>
            </p:nvCxnSpPr>
            <p:spPr>
              <a:xfrm>
                <a:off x="4560" y="3840"/>
                <a:ext cx="288" cy="288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l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209" name="Google Shape;209;p24"/>
            <p:cNvGrpSpPr/>
            <p:nvPr/>
          </p:nvGrpSpPr>
          <p:grpSpPr>
            <a:xfrm>
              <a:off x="2094" y="2729"/>
              <a:ext cx="542" cy="542"/>
              <a:chOff x="4512" y="3792"/>
              <a:chExt cx="384" cy="384"/>
            </a:xfrm>
          </p:grpSpPr>
          <p:sp>
            <p:nvSpPr>
              <p:cNvPr id="210" name="Google Shape;210;p24"/>
              <p:cNvSpPr/>
              <p:nvPr/>
            </p:nvSpPr>
            <p:spPr>
              <a:xfrm>
                <a:off x="4512" y="3792"/>
                <a:ext cx="384" cy="384"/>
              </a:xfrm>
              <a:prstGeom prst="ellipse">
                <a:avLst/>
              </a:prstGeom>
              <a:noFill/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11" name="Google Shape;211;p24"/>
              <p:cNvCxnSpPr/>
              <p:nvPr/>
            </p:nvCxnSpPr>
            <p:spPr>
              <a:xfrm flipH="1" rot="10800000">
                <a:off x="4560" y="3840"/>
                <a:ext cx="288" cy="288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l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2" name="Google Shape;212;p24"/>
              <p:cNvCxnSpPr/>
              <p:nvPr/>
            </p:nvCxnSpPr>
            <p:spPr>
              <a:xfrm>
                <a:off x="4560" y="3840"/>
                <a:ext cx="288" cy="288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l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213" name="Google Shape;213;p24"/>
            <p:cNvCxnSpPr/>
            <p:nvPr/>
          </p:nvCxnSpPr>
          <p:spPr>
            <a:xfrm>
              <a:off x="1620" y="3000"/>
              <a:ext cx="474" cy="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4" name="Google Shape;214;p24"/>
            <p:cNvCxnSpPr/>
            <p:nvPr/>
          </p:nvCxnSpPr>
          <p:spPr>
            <a:xfrm>
              <a:off x="1824" y="1113"/>
              <a:ext cx="0" cy="542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15" name="Google Shape;215;p24"/>
            <p:cNvSpPr/>
            <p:nvPr/>
          </p:nvSpPr>
          <p:spPr>
            <a:xfrm>
              <a:off x="1920" y="1248"/>
              <a:ext cx="67" cy="271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6" name="Google Shape;216;p24"/>
          <p:cNvGrpSpPr/>
          <p:nvPr/>
        </p:nvGrpSpPr>
        <p:grpSpPr>
          <a:xfrm>
            <a:off x="1828800" y="1219200"/>
            <a:ext cx="3058660" cy="1384300"/>
            <a:chOff x="192" y="768"/>
            <a:chExt cx="1488" cy="872"/>
          </a:xfrm>
        </p:grpSpPr>
        <p:sp>
          <p:nvSpPr>
            <p:cNvPr id="217" name="Google Shape;217;p24"/>
            <p:cNvSpPr txBox="1"/>
            <p:nvPr/>
          </p:nvSpPr>
          <p:spPr>
            <a:xfrm>
              <a:off x="192" y="768"/>
              <a:ext cx="1488" cy="8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800">
                  <a:solidFill>
                    <a:schemeClr val="lt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If the current here is 2 amps…</a:t>
              </a:r>
              <a:endParaRPr/>
            </a:p>
          </p:txBody>
        </p:sp>
        <p:sp>
          <p:nvSpPr>
            <p:cNvPr id="218" name="Google Shape;218;p24"/>
            <p:cNvSpPr/>
            <p:nvPr/>
          </p:nvSpPr>
          <p:spPr>
            <a:xfrm>
              <a:off x="1056" y="1248"/>
              <a:ext cx="576" cy="240"/>
            </a:xfrm>
            <a:prstGeom prst="rightArrow">
              <a:avLst>
                <a:gd fmla="val 50000" name="adj1"/>
                <a:gd fmla="val 60000" name="adj2"/>
              </a:avLst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9" name="Google Shape;219;p24"/>
          <p:cNvGrpSpPr/>
          <p:nvPr/>
        </p:nvGrpSpPr>
        <p:grpSpPr>
          <a:xfrm>
            <a:off x="8008901" y="1219202"/>
            <a:ext cx="3028293" cy="1816101"/>
            <a:chOff x="4095" y="768"/>
            <a:chExt cx="1473" cy="1144"/>
          </a:xfrm>
        </p:grpSpPr>
        <p:sp>
          <p:nvSpPr>
            <p:cNvPr id="220" name="Google Shape;220;p24"/>
            <p:cNvSpPr txBox="1"/>
            <p:nvPr/>
          </p:nvSpPr>
          <p:spPr>
            <a:xfrm>
              <a:off x="4416" y="768"/>
              <a:ext cx="1152" cy="11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800">
                  <a:solidFill>
                    <a:schemeClr val="lt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The current here will be…</a:t>
              </a:r>
              <a:endParaRPr/>
            </a:p>
          </p:txBody>
        </p:sp>
        <p:sp>
          <p:nvSpPr>
            <p:cNvPr id="221" name="Google Shape;221;p24"/>
            <p:cNvSpPr/>
            <p:nvPr/>
          </p:nvSpPr>
          <p:spPr>
            <a:xfrm rot="8155211">
              <a:off x="4128" y="1248"/>
              <a:ext cx="305" cy="219"/>
            </a:xfrm>
            <a:prstGeom prst="rightArrow">
              <a:avLst>
                <a:gd fmla="val 50000" name="adj1"/>
                <a:gd fmla="val 34817" name="adj2"/>
              </a:avLst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2" name="Google Shape;222;p24"/>
          <p:cNvGrpSpPr/>
          <p:nvPr/>
        </p:nvGrpSpPr>
        <p:grpSpPr>
          <a:xfrm>
            <a:off x="1981199" y="2667000"/>
            <a:ext cx="5229323" cy="2349500"/>
            <a:chOff x="288" y="1680"/>
            <a:chExt cx="2544" cy="1480"/>
          </a:xfrm>
        </p:grpSpPr>
        <p:sp>
          <p:nvSpPr>
            <p:cNvPr id="223" name="Google Shape;223;p24"/>
            <p:cNvSpPr txBox="1"/>
            <p:nvPr/>
          </p:nvSpPr>
          <p:spPr>
            <a:xfrm>
              <a:off x="288" y="2016"/>
              <a:ext cx="1200" cy="11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800">
                  <a:solidFill>
                    <a:schemeClr val="lt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The current here will be…</a:t>
              </a:r>
              <a:endParaRPr/>
            </a:p>
          </p:txBody>
        </p:sp>
        <p:sp>
          <p:nvSpPr>
            <p:cNvPr id="224" name="Google Shape;224;p24"/>
            <p:cNvSpPr/>
            <p:nvPr/>
          </p:nvSpPr>
          <p:spPr>
            <a:xfrm>
              <a:off x="1392" y="1680"/>
              <a:ext cx="1440" cy="792"/>
            </a:xfrm>
            <a:custGeom>
              <a:rect b="b" l="l" r="r" t="t"/>
              <a:pathLst>
                <a:path extrusionOk="0" h="792" w="1440">
                  <a:moveTo>
                    <a:pt x="0" y="720"/>
                  </a:moveTo>
                  <a:cubicBezTo>
                    <a:pt x="456" y="756"/>
                    <a:pt x="912" y="792"/>
                    <a:pt x="1152" y="672"/>
                  </a:cubicBezTo>
                  <a:cubicBezTo>
                    <a:pt x="1392" y="552"/>
                    <a:pt x="1416" y="276"/>
                    <a:pt x="1440" y="0"/>
                  </a:cubicBezTo>
                </a:path>
              </a:pathLst>
            </a:custGeom>
            <a:noFill/>
            <a:ln cap="flat" cmpd="sng" w="762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5" name="Google Shape;225;p24"/>
          <p:cNvGrpSpPr/>
          <p:nvPr/>
        </p:nvGrpSpPr>
        <p:grpSpPr>
          <a:xfrm>
            <a:off x="6066379" y="3200403"/>
            <a:ext cx="5650802" cy="1816101"/>
            <a:chOff x="2867" y="2016"/>
            <a:chExt cx="2749" cy="1144"/>
          </a:xfrm>
        </p:grpSpPr>
        <p:sp>
          <p:nvSpPr>
            <p:cNvPr id="226" name="Google Shape;226;p24"/>
            <p:cNvSpPr txBox="1"/>
            <p:nvPr/>
          </p:nvSpPr>
          <p:spPr>
            <a:xfrm>
              <a:off x="4368" y="2016"/>
              <a:ext cx="1248" cy="11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800">
                  <a:solidFill>
                    <a:schemeClr val="lt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And the current here will be…</a:t>
              </a:r>
              <a:endParaRPr/>
            </a:p>
          </p:txBody>
        </p:sp>
        <p:sp>
          <p:nvSpPr>
            <p:cNvPr id="227" name="Google Shape;227;p24"/>
            <p:cNvSpPr/>
            <p:nvPr/>
          </p:nvSpPr>
          <p:spPr>
            <a:xfrm rot="10561770">
              <a:off x="2886" y="2255"/>
              <a:ext cx="1440" cy="600"/>
            </a:xfrm>
            <a:custGeom>
              <a:rect b="b" l="l" r="r" t="t"/>
              <a:pathLst>
                <a:path extrusionOk="0" h="792" w="1440">
                  <a:moveTo>
                    <a:pt x="0" y="720"/>
                  </a:moveTo>
                  <a:cubicBezTo>
                    <a:pt x="456" y="756"/>
                    <a:pt x="912" y="792"/>
                    <a:pt x="1152" y="672"/>
                  </a:cubicBezTo>
                  <a:cubicBezTo>
                    <a:pt x="1392" y="552"/>
                    <a:pt x="1416" y="276"/>
                    <a:pt x="1440" y="0"/>
                  </a:cubicBezTo>
                </a:path>
              </a:pathLst>
            </a:custGeom>
            <a:noFill/>
            <a:ln cap="flat" cmpd="sng" w="762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8" name="Google Shape;228;p24"/>
          <p:cNvSpPr txBox="1"/>
          <p:nvPr/>
        </p:nvSpPr>
        <p:spPr>
          <a:xfrm>
            <a:off x="2438400" y="5791200"/>
            <a:ext cx="7467600" cy="946150"/>
          </a:xfrm>
          <a:prstGeom prst="rect">
            <a:avLst/>
          </a:prstGeom>
          <a:solidFill>
            <a:srgbClr val="00008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In other words, the current in a series circuit is THE SAME at any point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5"/>
          <p:cNvSpPr/>
          <p:nvPr/>
        </p:nvSpPr>
        <p:spPr>
          <a:xfrm>
            <a:off x="1524000" y="0"/>
            <a:ext cx="9144000" cy="692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400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Current in a parallel circuit</a:t>
            </a:r>
            <a:endParaRPr/>
          </a:p>
        </p:txBody>
      </p:sp>
      <p:grpSp>
        <p:nvGrpSpPr>
          <p:cNvPr id="234" name="Google Shape;234;p25"/>
          <p:cNvGrpSpPr/>
          <p:nvPr/>
        </p:nvGrpSpPr>
        <p:grpSpPr>
          <a:xfrm>
            <a:off x="2590800" y="2590801"/>
            <a:ext cx="2667000" cy="3827463"/>
            <a:chOff x="720" y="960"/>
            <a:chExt cx="1680" cy="2411"/>
          </a:xfrm>
        </p:grpSpPr>
        <p:cxnSp>
          <p:nvCxnSpPr>
            <p:cNvPr id="235" name="Google Shape;235;p25"/>
            <p:cNvCxnSpPr/>
            <p:nvPr/>
          </p:nvCxnSpPr>
          <p:spPr>
            <a:xfrm>
              <a:off x="720" y="1158"/>
              <a:ext cx="0" cy="201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6" name="Google Shape;236;p25"/>
            <p:cNvCxnSpPr/>
            <p:nvPr/>
          </p:nvCxnSpPr>
          <p:spPr>
            <a:xfrm>
              <a:off x="721" y="2342"/>
              <a:ext cx="575" cy="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7" name="Google Shape;237;p25"/>
            <p:cNvCxnSpPr/>
            <p:nvPr/>
          </p:nvCxnSpPr>
          <p:spPr>
            <a:xfrm>
              <a:off x="1680" y="2342"/>
              <a:ext cx="720" cy="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8" name="Google Shape;238;p25"/>
            <p:cNvCxnSpPr/>
            <p:nvPr/>
          </p:nvCxnSpPr>
          <p:spPr>
            <a:xfrm rot="10800000">
              <a:off x="2399" y="1158"/>
              <a:ext cx="0" cy="201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9" name="Google Shape;239;p25"/>
            <p:cNvCxnSpPr/>
            <p:nvPr/>
          </p:nvCxnSpPr>
          <p:spPr>
            <a:xfrm>
              <a:off x="720" y="1158"/>
              <a:ext cx="560" cy="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0" name="Google Shape;240;p25"/>
            <p:cNvCxnSpPr/>
            <p:nvPr/>
          </p:nvCxnSpPr>
          <p:spPr>
            <a:xfrm rot="10800000">
              <a:off x="1665" y="1158"/>
              <a:ext cx="734" cy="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1" name="Google Shape;241;p25"/>
            <p:cNvCxnSpPr/>
            <p:nvPr/>
          </p:nvCxnSpPr>
          <p:spPr>
            <a:xfrm>
              <a:off x="1280" y="960"/>
              <a:ext cx="0" cy="395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42" name="Google Shape;242;p25"/>
            <p:cNvSpPr/>
            <p:nvPr/>
          </p:nvSpPr>
          <p:spPr>
            <a:xfrm>
              <a:off x="1350" y="1058"/>
              <a:ext cx="49" cy="198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43" name="Google Shape;243;p25"/>
            <p:cNvGrpSpPr/>
            <p:nvPr/>
          </p:nvGrpSpPr>
          <p:grpSpPr>
            <a:xfrm>
              <a:off x="1296" y="2145"/>
              <a:ext cx="395" cy="395"/>
              <a:chOff x="4512" y="3792"/>
              <a:chExt cx="384" cy="384"/>
            </a:xfrm>
          </p:grpSpPr>
          <p:sp>
            <p:nvSpPr>
              <p:cNvPr id="244" name="Google Shape;244;p25"/>
              <p:cNvSpPr/>
              <p:nvPr/>
            </p:nvSpPr>
            <p:spPr>
              <a:xfrm>
                <a:off x="4512" y="3792"/>
                <a:ext cx="384" cy="384"/>
              </a:xfrm>
              <a:prstGeom prst="ellipse">
                <a:avLst/>
              </a:prstGeom>
              <a:noFill/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45" name="Google Shape;245;p25"/>
              <p:cNvCxnSpPr/>
              <p:nvPr/>
            </p:nvCxnSpPr>
            <p:spPr>
              <a:xfrm flipH="1" rot="10800000">
                <a:off x="4560" y="3840"/>
                <a:ext cx="288" cy="288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l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6" name="Google Shape;246;p25"/>
              <p:cNvCxnSpPr/>
              <p:nvPr/>
            </p:nvCxnSpPr>
            <p:spPr>
              <a:xfrm>
                <a:off x="4560" y="3840"/>
                <a:ext cx="288" cy="288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l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247" name="Google Shape;247;p25"/>
            <p:cNvCxnSpPr/>
            <p:nvPr/>
          </p:nvCxnSpPr>
          <p:spPr>
            <a:xfrm>
              <a:off x="1560" y="967"/>
              <a:ext cx="0" cy="395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48" name="Google Shape;248;p25"/>
            <p:cNvSpPr/>
            <p:nvPr/>
          </p:nvSpPr>
          <p:spPr>
            <a:xfrm>
              <a:off x="1630" y="1065"/>
              <a:ext cx="49" cy="198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49" name="Google Shape;249;p25"/>
            <p:cNvCxnSpPr/>
            <p:nvPr/>
          </p:nvCxnSpPr>
          <p:spPr>
            <a:xfrm>
              <a:off x="720" y="3168"/>
              <a:ext cx="576" cy="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250" name="Google Shape;250;p25"/>
            <p:cNvGrpSpPr/>
            <p:nvPr/>
          </p:nvGrpSpPr>
          <p:grpSpPr>
            <a:xfrm>
              <a:off x="1296" y="2976"/>
              <a:ext cx="395" cy="395"/>
              <a:chOff x="4512" y="3792"/>
              <a:chExt cx="384" cy="384"/>
            </a:xfrm>
          </p:grpSpPr>
          <p:sp>
            <p:nvSpPr>
              <p:cNvPr id="251" name="Google Shape;251;p25"/>
              <p:cNvSpPr/>
              <p:nvPr/>
            </p:nvSpPr>
            <p:spPr>
              <a:xfrm>
                <a:off x="4512" y="3792"/>
                <a:ext cx="384" cy="384"/>
              </a:xfrm>
              <a:prstGeom prst="ellipse">
                <a:avLst/>
              </a:prstGeom>
              <a:noFill/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52" name="Google Shape;252;p25"/>
              <p:cNvCxnSpPr/>
              <p:nvPr/>
            </p:nvCxnSpPr>
            <p:spPr>
              <a:xfrm flipH="1" rot="10800000">
                <a:off x="4560" y="3840"/>
                <a:ext cx="288" cy="288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l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3" name="Google Shape;253;p25"/>
              <p:cNvCxnSpPr/>
              <p:nvPr/>
            </p:nvCxnSpPr>
            <p:spPr>
              <a:xfrm>
                <a:off x="4560" y="3840"/>
                <a:ext cx="288" cy="288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l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254" name="Google Shape;254;p25"/>
            <p:cNvCxnSpPr/>
            <p:nvPr/>
          </p:nvCxnSpPr>
          <p:spPr>
            <a:xfrm rot="10800000">
              <a:off x="1680" y="3168"/>
              <a:ext cx="720" cy="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55" name="Google Shape;255;p25"/>
          <p:cNvSpPr txBox="1"/>
          <p:nvPr/>
        </p:nvSpPr>
        <p:spPr>
          <a:xfrm>
            <a:off x="261423" y="1184605"/>
            <a:ext cx="1457562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A PARALLEL circuit is one where the current has a “choice of routes”</a:t>
            </a:r>
            <a:endParaRPr/>
          </a:p>
        </p:txBody>
      </p:sp>
      <p:sp>
        <p:nvSpPr>
          <p:cNvPr id="256" name="Google Shape;256;p25"/>
          <p:cNvSpPr/>
          <p:nvPr/>
        </p:nvSpPr>
        <p:spPr>
          <a:xfrm rot="10800000">
            <a:off x="4495800" y="3810000"/>
            <a:ext cx="1066800" cy="1295400"/>
          </a:xfrm>
          <a:custGeom>
            <a:rect b="b" l="l" r="r" t="t"/>
            <a:pathLst>
              <a:path extrusionOk="0" h="21600" w="21600">
                <a:moveTo>
                  <a:pt x="21600" y="6079"/>
                </a:moveTo>
                <a:lnTo>
                  <a:pt x="14823" y="0"/>
                </a:lnTo>
                <a:lnTo>
                  <a:pt x="14823" y="4467"/>
                </a:lnTo>
                <a:lnTo>
                  <a:pt x="12427" y="4467"/>
                </a:lnTo>
                <a:cubicBezTo>
                  <a:pt x="5564" y="4467"/>
                  <a:pt x="0" y="7910"/>
                  <a:pt x="0" y="12158"/>
                </a:cubicBezTo>
                <a:lnTo>
                  <a:pt x="0" y="21600"/>
                </a:lnTo>
                <a:lnTo>
                  <a:pt x="3295" y="21600"/>
                </a:lnTo>
                <a:lnTo>
                  <a:pt x="3295" y="12158"/>
                </a:lnTo>
                <a:cubicBezTo>
                  <a:pt x="3295" y="9691"/>
                  <a:pt x="7384" y="7691"/>
                  <a:pt x="12427" y="7691"/>
                </a:cubicBezTo>
                <a:lnTo>
                  <a:pt x="14823" y="7691"/>
                </a:lnTo>
                <a:lnTo>
                  <a:pt x="14823" y="12158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5"/>
          <p:cNvSpPr/>
          <p:nvPr/>
        </p:nvSpPr>
        <p:spPr>
          <a:xfrm rot="10800000">
            <a:off x="4495800" y="5181600"/>
            <a:ext cx="1066800" cy="1295400"/>
          </a:xfrm>
          <a:custGeom>
            <a:rect b="b" l="l" r="r" t="t"/>
            <a:pathLst>
              <a:path extrusionOk="0" h="21600" w="21600">
                <a:moveTo>
                  <a:pt x="21600" y="6079"/>
                </a:moveTo>
                <a:lnTo>
                  <a:pt x="14823" y="0"/>
                </a:lnTo>
                <a:lnTo>
                  <a:pt x="14823" y="4467"/>
                </a:lnTo>
                <a:lnTo>
                  <a:pt x="12427" y="4467"/>
                </a:lnTo>
                <a:cubicBezTo>
                  <a:pt x="5564" y="4467"/>
                  <a:pt x="0" y="7910"/>
                  <a:pt x="0" y="12158"/>
                </a:cubicBezTo>
                <a:lnTo>
                  <a:pt x="0" y="21600"/>
                </a:lnTo>
                <a:lnTo>
                  <a:pt x="3295" y="21600"/>
                </a:lnTo>
                <a:lnTo>
                  <a:pt x="3295" y="12158"/>
                </a:lnTo>
                <a:cubicBezTo>
                  <a:pt x="3295" y="9691"/>
                  <a:pt x="7384" y="7691"/>
                  <a:pt x="12427" y="7691"/>
                </a:cubicBezTo>
                <a:lnTo>
                  <a:pt x="14823" y="7691"/>
                </a:lnTo>
                <a:lnTo>
                  <a:pt x="14823" y="12158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5"/>
          <p:cNvSpPr/>
          <p:nvPr/>
        </p:nvSpPr>
        <p:spPr>
          <a:xfrm>
            <a:off x="4343400" y="2590800"/>
            <a:ext cx="990600" cy="228600"/>
          </a:xfrm>
          <a:prstGeom prst="rightArrow">
            <a:avLst>
              <a:gd fmla="val 50000" name="adj1"/>
              <a:gd fmla="val 108333" name="adj2"/>
            </a:avLst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9" name="Google Shape;259;p25"/>
          <p:cNvGrpSpPr/>
          <p:nvPr/>
        </p:nvGrpSpPr>
        <p:grpSpPr>
          <a:xfrm>
            <a:off x="5486400" y="2286009"/>
            <a:ext cx="7799238" cy="954091"/>
            <a:chOff x="2496" y="1440"/>
            <a:chExt cx="2928" cy="601"/>
          </a:xfrm>
        </p:grpSpPr>
        <p:sp>
          <p:nvSpPr>
            <p:cNvPr id="260" name="Google Shape;260;p25"/>
            <p:cNvSpPr txBox="1"/>
            <p:nvPr/>
          </p:nvSpPr>
          <p:spPr>
            <a:xfrm>
              <a:off x="2880" y="1440"/>
              <a:ext cx="2544" cy="6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800">
                  <a:solidFill>
                    <a:srgbClr val="99FFCC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Here comes the current…</a:t>
              </a:r>
              <a:endParaRPr/>
            </a:p>
          </p:txBody>
        </p:sp>
        <p:cxnSp>
          <p:nvCxnSpPr>
            <p:cNvPr id="261" name="Google Shape;261;p25"/>
            <p:cNvCxnSpPr/>
            <p:nvPr/>
          </p:nvCxnSpPr>
          <p:spPr>
            <a:xfrm flipH="1">
              <a:off x="2496" y="1584"/>
              <a:ext cx="384" cy="48"/>
            </a:xfrm>
            <a:prstGeom prst="straightConnector1">
              <a:avLst/>
            </a:prstGeom>
            <a:noFill/>
            <a:ln cap="flat" cmpd="sng" w="50800">
              <a:solidFill>
                <a:schemeClr val="lt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262" name="Google Shape;262;p25"/>
          <p:cNvGrpSpPr/>
          <p:nvPr/>
        </p:nvGrpSpPr>
        <p:grpSpPr>
          <a:xfrm>
            <a:off x="5638799" y="5715010"/>
            <a:ext cx="6009249" cy="954089"/>
            <a:chOff x="2592" y="3600"/>
            <a:chExt cx="2256" cy="601"/>
          </a:xfrm>
        </p:grpSpPr>
        <p:sp>
          <p:nvSpPr>
            <p:cNvPr id="263" name="Google Shape;263;p25"/>
            <p:cNvSpPr txBox="1"/>
            <p:nvPr/>
          </p:nvSpPr>
          <p:spPr>
            <a:xfrm>
              <a:off x="2976" y="3600"/>
              <a:ext cx="1872" cy="6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800">
                  <a:solidFill>
                    <a:srgbClr val="99FFCC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And the rest will go down here…</a:t>
              </a:r>
              <a:endParaRPr/>
            </a:p>
          </p:txBody>
        </p:sp>
        <p:cxnSp>
          <p:nvCxnSpPr>
            <p:cNvPr id="264" name="Google Shape;264;p25"/>
            <p:cNvCxnSpPr/>
            <p:nvPr/>
          </p:nvCxnSpPr>
          <p:spPr>
            <a:xfrm flipH="1">
              <a:off x="2592" y="3744"/>
              <a:ext cx="384" cy="48"/>
            </a:xfrm>
            <a:prstGeom prst="straightConnector1">
              <a:avLst/>
            </a:prstGeom>
            <a:noFill/>
            <a:ln cap="flat" cmpd="sng" w="50800">
              <a:solidFill>
                <a:schemeClr val="lt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265" name="Google Shape;265;p25"/>
          <p:cNvGrpSpPr/>
          <p:nvPr/>
        </p:nvGrpSpPr>
        <p:grpSpPr>
          <a:xfrm>
            <a:off x="5638799" y="3505202"/>
            <a:ext cx="6009249" cy="2678113"/>
            <a:chOff x="2592" y="2208"/>
            <a:chExt cx="2256" cy="1687"/>
          </a:xfrm>
        </p:grpSpPr>
        <p:sp>
          <p:nvSpPr>
            <p:cNvPr id="266" name="Google Shape;266;p25"/>
            <p:cNvSpPr txBox="1"/>
            <p:nvPr/>
          </p:nvSpPr>
          <p:spPr>
            <a:xfrm>
              <a:off x="2976" y="2208"/>
              <a:ext cx="1872" cy="16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800">
                  <a:solidFill>
                    <a:srgbClr val="99FFCC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Half of the current will go down here (assuming the bulbs are the same)…</a:t>
              </a:r>
              <a:endParaRPr/>
            </a:p>
          </p:txBody>
        </p:sp>
        <p:cxnSp>
          <p:nvCxnSpPr>
            <p:cNvPr id="267" name="Google Shape;267;p25"/>
            <p:cNvCxnSpPr/>
            <p:nvPr/>
          </p:nvCxnSpPr>
          <p:spPr>
            <a:xfrm flipH="1">
              <a:off x="2592" y="2448"/>
              <a:ext cx="384" cy="48"/>
            </a:xfrm>
            <a:prstGeom prst="straightConnector1">
              <a:avLst/>
            </a:prstGeom>
            <a:noFill/>
            <a:ln cap="flat" cmpd="sng" w="50800">
              <a:solidFill>
                <a:schemeClr val="lt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2" name="Google Shape;272;p26"/>
          <p:cNvGrpSpPr/>
          <p:nvPr/>
        </p:nvGrpSpPr>
        <p:grpSpPr>
          <a:xfrm>
            <a:off x="4711700" y="1663701"/>
            <a:ext cx="2667000" cy="5122863"/>
            <a:chOff x="1872" y="912"/>
            <a:chExt cx="1680" cy="3227"/>
          </a:xfrm>
        </p:grpSpPr>
        <p:grpSp>
          <p:nvGrpSpPr>
            <p:cNvPr id="273" name="Google Shape;273;p26"/>
            <p:cNvGrpSpPr/>
            <p:nvPr/>
          </p:nvGrpSpPr>
          <p:grpSpPr>
            <a:xfrm>
              <a:off x="1872" y="912"/>
              <a:ext cx="1680" cy="3227"/>
              <a:chOff x="1872" y="912"/>
              <a:chExt cx="1680" cy="3227"/>
            </a:xfrm>
          </p:grpSpPr>
          <p:cxnSp>
            <p:nvCxnSpPr>
              <p:cNvPr id="274" name="Google Shape;274;p26"/>
              <p:cNvCxnSpPr/>
              <p:nvPr/>
            </p:nvCxnSpPr>
            <p:spPr>
              <a:xfrm>
                <a:off x="1872" y="1110"/>
                <a:ext cx="0" cy="282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l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5" name="Google Shape;275;p26"/>
              <p:cNvCxnSpPr/>
              <p:nvPr/>
            </p:nvCxnSpPr>
            <p:spPr>
              <a:xfrm>
                <a:off x="2832" y="2294"/>
                <a:ext cx="72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l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6" name="Google Shape;276;p26"/>
              <p:cNvCxnSpPr/>
              <p:nvPr/>
            </p:nvCxnSpPr>
            <p:spPr>
              <a:xfrm rot="10800000">
                <a:off x="3551" y="1110"/>
                <a:ext cx="0" cy="282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l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7" name="Google Shape;277;p26"/>
              <p:cNvCxnSpPr/>
              <p:nvPr/>
            </p:nvCxnSpPr>
            <p:spPr>
              <a:xfrm>
                <a:off x="1872" y="1110"/>
                <a:ext cx="56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l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8" name="Google Shape;278;p26"/>
              <p:cNvCxnSpPr/>
              <p:nvPr/>
            </p:nvCxnSpPr>
            <p:spPr>
              <a:xfrm rot="10800000">
                <a:off x="2817" y="1110"/>
                <a:ext cx="734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l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9" name="Google Shape;279;p26"/>
              <p:cNvCxnSpPr/>
              <p:nvPr/>
            </p:nvCxnSpPr>
            <p:spPr>
              <a:xfrm>
                <a:off x="2432" y="912"/>
                <a:ext cx="0" cy="39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l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80" name="Google Shape;280;p26"/>
              <p:cNvSpPr/>
              <p:nvPr/>
            </p:nvSpPr>
            <p:spPr>
              <a:xfrm>
                <a:off x="2502" y="1010"/>
                <a:ext cx="49" cy="198"/>
              </a:xfrm>
              <a:prstGeom prst="rect">
                <a:avLst/>
              </a:prstGeom>
              <a:solidFill>
                <a:schemeClr val="lt1"/>
              </a:solidFill>
              <a:ln cap="flat" cmpd="sng" w="1905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81" name="Google Shape;281;p26"/>
              <p:cNvGrpSpPr/>
              <p:nvPr/>
            </p:nvGrpSpPr>
            <p:grpSpPr>
              <a:xfrm>
                <a:off x="2448" y="2097"/>
                <a:ext cx="395" cy="395"/>
                <a:chOff x="4512" y="3792"/>
                <a:chExt cx="384" cy="384"/>
              </a:xfrm>
            </p:grpSpPr>
            <p:sp>
              <p:nvSpPr>
                <p:cNvPr id="282" name="Google Shape;282;p26"/>
                <p:cNvSpPr/>
                <p:nvPr/>
              </p:nvSpPr>
              <p:spPr>
                <a:xfrm>
                  <a:off x="4512" y="3792"/>
                  <a:ext cx="384" cy="384"/>
                </a:xfrm>
                <a:prstGeom prst="ellipse">
                  <a:avLst/>
                </a:prstGeom>
                <a:noFill/>
                <a:ln cap="flat" cmpd="sng" w="1905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283" name="Google Shape;283;p26"/>
                <p:cNvCxnSpPr/>
                <p:nvPr/>
              </p:nvCxnSpPr>
              <p:spPr>
                <a:xfrm flipH="1" rot="10800000">
                  <a:off x="4560" y="3840"/>
                  <a:ext cx="288" cy="288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lt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84" name="Google Shape;284;p26"/>
                <p:cNvCxnSpPr/>
                <p:nvPr/>
              </p:nvCxnSpPr>
              <p:spPr>
                <a:xfrm>
                  <a:off x="4560" y="3840"/>
                  <a:ext cx="288" cy="288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lt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cxnSp>
            <p:nvCxnSpPr>
              <p:cNvPr id="285" name="Google Shape;285;p26"/>
              <p:cNvCxnSpPr/>
              <p:nvPr/>
            </p:nvCxnSpPr>
            <p:spPr>
              <a:xfrm>
                <a:off x="2712" y="919"/>
                <a:ext cx="0" cy="39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l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86" name="Google Shape;286;p26"/>
              <p:cNvSpPr/>
              <p:nvPr/>
            </p:nvSpPr>
            <p:spPr>
              <a:xfrm>
                <a:off x="2782" y="1017"/>
                <a:ext cx="49" cy="198"/>
              </a:xfrm>
              <a:prstGeom prst="rect">
                <a:avLst/>
              </a:prstGeom>
              <a:solidFill>
                <a:schemeClr val="lt1"/>
              </a:solidFill>
              <a:ln cap="flat" cmpd="sng" w="1905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87" name="Google Shape;287;p26"/>
              <p:cNvGrpSpPr/>
              <p:nvPr/>
            </p:nvGrpSpPr>
            <p:grpSpPr>
              <a:xfrm>
                <a:off x="2448" y="2928"/>
                <a:ext cx="395" cy="395"/>
                <a:chOff x="4512" y="3792"/>
                <a:chExt cx="384" cy="384"/>
              </a:xfrm>
            </p:grpSpPr>
            <p:sp>
              <p:nvSpPr>
                <p:cNvPr id="288" name="Google Shape;288;p26"/>
                <p:cNvSpPr/>
                <p:nvPr/>
              </p:nvSpPr>
              <p:spPr>
                <a:xfrm>
                  <a:off x="4512" y="3792"/>
                  <a:ext cx="384" cy="384"/>
                </a:xfrm>
                <a:prstGeom prst="ellipse">
                  <a:avLst/>
                </a:prstGeom>
                <a:noFill/>
                <a:ln cap="flat" cmpd="sng" w="1905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289" name="Google Shape;289;p26"/>
                <p:cNvCxnSpPr/>
                <p:nvPr/>
              </p:nvCxnSpPr>
              <p:spPr>
                <a:xfrm flipH="1" rot="10800000">
                  <a:off x="4560" y="3840"/>
                  <a:ext cx="288" cy="288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lt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90" name="Google Shape;290;p26"/>
                <p:cNvCxnSpPr/>
                <p:nvPr/>
              </p:nvCxnSpPr>
              <p:spPr>
                <a:xfrm>
                  <a:off x="4560" y="3840"/>
                  <a:ext cx="288" cy="288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lt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291" name="Google Shape;291;p26"/>
              <p:cNvGrpSpPr/>
              <p:nvPr/>
            </p:nvGrpSpPr>
            <p:grpSpPr>
              <a:xfrm>
                <a:off x="2448" y="3744"/>
                <a:ext cx="395" cy="395"/>
                <a:chOff x="4512" y="3792"/>
                <a:chExt cx="384" cy="384"/>
              </a:xfrm>
            </p:grpSpPr>
            <p:sp>
              <p:nvSpPr>
                <p:cNvPr id="292" name="Google Shape;292;p26"/>
                <p:cNvSpPr/>
                <p:nvPr/>
              </p:nvSpPr>
              <p:spPr>
                <a:xfrm>
                  <a:off x="4512" y="3792"/>
                  <a:ext cx="384" cy="384"/>
                </a:xfrm>
                <a:prstGeom prst="ellipse">
                  <a:avLst/>
                </a:prstGeom>
                <a:noFill/>
                <a:ln cap="flat" cmpd="sng" w="1905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293" name="Google Shape;293;p26"/>
                <p:cNvCxnSpPr/>
                <p:nvPr/>
              </p:nvCxnSpPr>
              <p:spPr>
                <a:xfrm flipH="1" rot="10800000">
                  <a:off x="4560" y="3840"/>
                  <a:ext cx="288" cy="288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lt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94" name="Google Shape;294;p26"/>
                <p:cNvCxnSpPr/>
                <p:nvPr/>
              </p:nvCxnSpPr>
              <p:spPr>
                <a:xfrm>
                  <a:off x="4560" y="3840"/>
                  <a:ext cx="288" cy="288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lt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cxnSp>
          <p:nvCxnSpPr>
            <p:cNvPr id="295" name="Google Shape;295;p26"/>
            <p:cNvCxnSpPr/>
            <p:nvPr/>
          </p:nvCxnSpPr>
          <p:spPr>
            <a:xfrm>
              <a:off x="1873" y="2294"/>
              <a:ext cx="575" cy="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6" name="Google Shape;296;p26"/>
            <p:cNvCxnSpPr/>
            <p:nvPr/>
          </p:nvCxnSpPr>
          <p:spPr>
            <a:xfrm>
              <a:off x="1872" y="3120"/>
              <a:ext cx="576" cy="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7" name="Google Shape;297;p26"/>
            <p:cNvCxnSpPr/>
            <p:nvPr/>
          </p:nvCxnSpPr>
          <p:spPr>
            <a:xfrm>
              <a:off x="1872" y="3936"/>
              <a:ext cx="576" cy="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8" name="Google Shape;298;p26"/>
            <p:cNvCxnSpPr/>
            <p:nvPr/>
          </p:nvCxnSpPr>
          <p:spPr>
            <a:xfrm rot="10800000">
              <a:off x="2832" y="3120"/>
              <a:ext cx="720" cy="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9" name="Google Shape;299;p26"/>
            <p:cNvCxnSpPr/>
            <p:nvPr/>
          </p:nvCxnSpPr>
          <p:spPr>
            <a:xfrm rot="10800000">
              <a:off x="2832" y="3936"/>
              <a:ext cx="720" cy="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00" name="Google Shape;300;p26"/>
          <p:cNvSpPr/>
          <p:nvPr/>
        </p:nvSpPr>
        <p:spPr>
          <a:xfrm>
            <a:off x="1739900" y="215900"/>
            <a:ext cx="9144000" cy="692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400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Current in a parallel circuit</a:t>
            </a:r>
            <a:endParaRPr/>
          </a:p>
        </p:txBody>
      </p:sp>
      <p:sp>
        <p:nvSpPr>
          <p:cNvPr id="301" name="Google Shape;301;p26"/>
          <p:cNvSpPr txBox="1"/>
          <p:nvPr/>
        </p:nvSpPr>
        <p:spPr>
          <a:xfrm>
            <a:off x="1167618" y="1663701"/>
            <a:ext cx="2934482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rgbClr val="99FF66"/>
                </a:solidFill>
                <a:latin typeface="Comic Sans MS"/>
                <a:ea typeface="Comic Sans MS"/>
                <a:cs typeface="Comic Sans MS"/>
                <a:sym typeface="Comic Sans MS"/>
              </a:rPr>
              <a:t>If the current here is 6 amps</a:t>
            </a:r>
            <a:endParaRPr/>
          </a:p>
        </p:txBody>
      </p:sp>
      <p:grpSp>
        <p:nvGrpSpPr>
          <p:cNvPr id="302" name="Google Shape;302;p26"/>
          <p:cNvGrpSpPr/>
          <p:nvPr/>
        </p:nvGrpSpPr>
        <p:grpSpPr>
          <a:xfrm>
            <a:off x="1772159" y="3727456"/>
            <a:ext cx="3472940" cy="1816103"/>
            <a:chOff x="731" y="2212"/>
            <a:chExt cx="1477" cy="1144"/>
          </a:xfrm>
        </p:grpSpPr>
        <p:sp>
          <p:nvSpPr>
            <p:cNvPr id="303" name="Google Shape;303;p26"/>
            <p:cNvSpPr txBox="1"/>
            <p:nvPr/>
          </p:nvSpPr>
          <p:spPr>
            <a:xfrm>
              <a:off x="731" y="2212"/>
              <a:ext cx="1344" cy="11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800">
                  <a:solidFill>
                    <a:schemeClr val="lt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The current here will be…</a:t>
              </a:r>
              <a:endParaRPr/>
            </a:p>
          </p:txBody>
        </p:sp>
        <p:sp>
          <p:nvSpPr>
            <p:cNvPr id="304" name="Google Shape;304;p26"/>
            <p:cNvSpPr/>
            <p:nvPr/>
          </p:nvSpPr>
          <p:spPr>
            <a:xfrm flipH="1" rot="10800000">
              <a:off x="1440" y="2352"/>
              <a:ext cx="768" cy="288"/>
            </a:xfrm>
            <a:custGeom>
              <a:rect b="b" l="l" r="r" t="t"/>
              <a:pathLst>
                <a:path extrusionOk="0" h="224" w="1264">
                  <a:moveTo>
                    <a:pt x="0" y="32"/>
                  </a:moveTo>
                  <a:cubicBezTo>
                    <a:pt x="424" y="16"/>
                    <a:pt x="848" y="0"/>
                    <a:pt x="1056" y="32"/>
                  </a:cubicBezTo>
                  <a:cubicBezTo>
                    <a:pt x="1264" y="64"/>
                    <a:pt x="1256" y="144"/>
                    <a:pt x="1248" y="224"/>
                  </a:cubicBezTo>
                </a:path>
              </a:pathLst>
            </a:custGeom>
            <a:noFill/>
            <a:ln cap="flat" cmpd="sng" w="762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5" name="Google Shape;305;p26"/>
          <p:cNvGrpSpPr/>
          <p:nvPr/>
        </p:nvGrpSpPr>
        <p:grpSpPr>
          <a:xfrm>
            <a:off x="1681414" y="5119697"/>
            <a:ext cx="3639886" cy="1816103"/>
            <a:chOff x="708" y="3089"/>
            <a:chExt cx="1548" cy="1144"/>
          </a:xfrm>
        </p:grpSpPr>
        <p:sp>
          <p:nvSpPr>
            <p:cNvPr id="306" name="Google Shape;306;p26"/>
            <p:cNvSpPr txBox="1"/>
            <p:nvPr/>
          </p:nvSpPr>
          <p:spPr>
            <a:xfrm>
              <a:off x="708" y="3089"/>
              <a:ext cx="1344" cy="11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800">
                  <a:solidFill>
                    <a:srgbClr val="99FF66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The current here will be…</a:t>
              </a:r>
              <a:endParaRPr/>
            </a:p>
          </p:txBody>
        </p:sp>
        <p:sp>
          <p:nvSpPr>
            <p:cNvPr id="307" name="Google Shape;307;p26"/>
            <p:cNvSpPr/>
            <p:nvPr/>
          </p:nvSpPr>
          <p:spPr>
            <a:xfrm flipH="1" rot="10800000">
              <a:off x="1488" y="3216"/>
              <a:ext cx="768" cy="288"/>
            </a:xfrm>
            <a:custGeom>
              <a:rect b="b" l="l" r="r" t="t"/>
              <a:pathLst>
                <a:path extrusionOk="0" h="224" w="1264">
                  <a:moveTo>
                    <a:pt x="0" y="32"/>
                  </a:moveTo>
                  <a:cubicBezTo>
                    <a:pt x="424" y="16"/>
                    <a:pt x="848" y="0"/>
                    <a:pt x="1056" y="32"/>
                  </a:cubicBezTo>
                  <a:cubicBezTo>
                    <a:pt x="1264" y="64"/>
                    <a:pt x="1256" y="144"/>
                    <a:pt x="1248" y="224"/>
                  </a:cubicBezTo>
                </a:path>
              </a:pathLst>
            </a:custGeom>
            <a:noFill/>
            <a:ln cap="flat" cmpd="sng" w="762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8" name="Google Shape;308;p26"/>
          <p:cNvGrpSpPr/>
          <p:nvPr/>
        </p:nvGrpSpPr>
        <p:grpSpPr>
          <a:xfrm>
            <a:off x="5310070" y="5033963"/>
            <a:ext cx="5317370" cy="1816100"/>
            <a:chOff x="3234" y="3035"/>
            <a:chExt cx="2261" cy="1144"/>
          </a:xfrm>
        </p:grpSpPr>
        <p:sp>
          <p:nvSpPr>
            <p:cNvPr id="309" name="Google Shape;309;p26"/>
            <p:cNvSpPr txBox="1"/>
            <p:nvPr/>
          </p:nvSpPr>
          <p:spPr>
            <a:xfrm>
              <a:off x="4151" y="3035"/>
              <a:ext cx="1344" cy="11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800">
                  <a:solidFill>
                    <a:schemeClr val="lt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The current here will be…</a:t>
              </a:r>
              <a:endParaRPr/>
            </a:p>
          </p:txBody>
        </p:sp>
        <p:sp>
          <p:nvSpPr>
            <p:cNvPr id="310" name="Google Shape;310;p26"/>
            <p:cNvSpPr/>
            <p:nvPr/>
          </p:nvSpPr>
          <p:spPr>
            <a:xfrm flipH="1" rot="-342342">
              <a:off x="3246" y="3562"/>
              <a:ext cx="768" cy="288"/>
            </a:xfrm>
            <a:custGeom>
              <a:rect b="b" l="l" r="r" t="t"/>
              <a:pathLst>
                <a:path extrusionOk="0" h="224" w="1264">
                  <a:moveTo>
                    <a:pt x="0" y="32"/>
                  </a:moveTo>
                  <a:cubicBezTo>
                    <a:pt x="424" y="16"/>
                    <a:pt x="848" y="0"/>
                    <a:pt x="1056" y="32"/>
                  </a:cubicBezTo>
                  <a:cubicBezTo>
                    <a:pt x="1264" y="64"/>
                    <a:pt x="1256" y="144"/>
                    <a:pt x="1248" y="224"/>
                  </a:cubicBezTo>
                </a:path>
              </a:pathLst>
            </a:custGeom>
            <a:noFill/>
            <a:ln cap="flat" cmpd="sng" w="762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1" name="Google Shape;311;p26"/>
          <p:cNvGrpSpPr/>
          <p:nvPr/>
        </p:nvGrpSpPr>
        <p:grpSpPr>
          <a:xfrm>
            <a:off x="7566025" y="2041526"/>
            <a:ext cx="4528695" cy="1816100"/>
            <a:chOff x="3648" y="1290"/>
            <a:chExt cx="1926" cy="1144"/>
          </a:xfrm>
        </p:grpSpPr>
        <p:sp>
          <p:nvSpPr>
            <p:cNvPr id="312" name="Google Shape;312;p26"/>
            <p:cNvSpPr txBox="1"/>
            <p:nvPr/>
          </p:nvSpPr>
          <p:spPr>
            <a:xfrm>
              <a:off x="4230" y="1290"/>
              <a:ext cx="1344" cy="11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800">
                  <a:solidFill>
                    <a:srgbClr val="99FF66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And the current here will be…</a:t>
              </a:r>
              <a:endParaRPr/>
            </a:p>
          </p:txBody>
        </p:sp>
        <p:cxnSp>
          <p:nvCxnSpPr>
            <p:cNvPr id="313" name="Google Shape;313;p26"/>
            <p:cNvCxnSpPr/>
            <p:nvPr/>
          </p:nvCxnSpPr>
          <p:spPr>
            <a:xfrm flipH="1">
              <a:off x="3648" y="1680"/>
              <a:ext cx="432" cy="48"/>
            </a:xfrm>
            <a:prstGeom prst="straightConnector1">
              <a:avLst/>
            </a:prstGeom>
            <a:noFill/>
            <a:ln cap="flat" cmpd="sng" w="7620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cxnSp>
        <p:nvCxnSpPr>
          <p:cNvPr id="314" name="Google Shape;314;p26"/>
          <p:cNvCxnSpPr/>
          <p:nvPr/>
        </p:nvCxnSpPr>
        <p:spPr>
          <a:xfrm flipH="1" rot="-8804377">
            <a:off x="3606800" y="2627313"/>
            <a:ext cx="990600" cy="304800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7"/>
          <p:cNvSpPr/>
          <p:nvPr/>
        </p:nvSpPr>
        <p:spPr>
          <a:xfrm>
            <a:off x="352424" y="225425"/>
            <a:ext cx="11563350" cy="692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400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Changing the current </a:t>
            </a:r>
            <a:r>
              <a:rPr lang="en-GB" sz="2800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(WRITE THIS IN YOUR BOOK!)</a:t>
            </a:r>
            <a:endParaRPr sz="4400">
              <a:solidFill>
                <a:srgbClr val="FFFF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320" name="Google Shape;320;p27"/>
          <p:cNvGrpSpPr/>
          <p:nvPr/>
        </p:nvGrpSpPr>
        <p:grpSpPr>
          <a:xfrm>
            <a:off x="1752600" y="1143000"/>
            <a:ext cx="2592388" cy="2438400"/>
            <a:chOff x="144" y="720"/>
            <a:chExt cx="1633" cy="1536"/>
          </a:xfrm>
        </p:grpSpPr>
        <p:cxnSp>
          <p:nvCxnSpPr>
            <p:cNvPr id="321" name="Google Shape;321;p27"/>
            <p:cNvCxnSpPr/>
            <p:nvPr/>
          </p:nvCxnSpPr>
          <p:spPr>
            <a:xfrm>
              <a:off x="144" y="912"/>
              <a:ext cx="0" cy="1153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2" name="Google Shape;322;p27"/>
            <p:cNvCxnSpPr/>
            <p:nvPr/>
          </p:nvCxnSpPr>
          <p:spPr>
            <a:xfrm>
              <a:off x="145" y="2064"/>
              <a:ext cx="528" cy="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3" name="Google Shape;323;p27"/>
            <p:cNvCxnSpPr/>
            <p:nvPr/>
          </p:nvCxnSpPr>
          <p:spPr>
            <a:xfrm>
              <a:off x="1056" y="2064"/>
              <a:ext cx="721" cy="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4" name="Google Shape;324;p27"/>
            <p:cNvCxnSpPr/>
            <p:nvPr/>
          </p:nvCxnSpPr>
          <p:spPr>
            <a:xfrm rot="10800000">
              <a:off x="1776" y="912"/>
              <a:ext cx="0" cy="1152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5" name="Google Shape;325;p27"/>
            <p:cNvCxnSpPr/>
            <p:nvPr/>
          </p:nvCxnSpPr>
          <p:spPr>
            <a:xfrm>
              <a:off x="144" y="912"/>
              <a:ext cx="672" cy="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6" name="Google Shape;326;p27"/>
            <p:cNvCxnSpPr/>
            <p:nvPr/>
          </p:nvCxnSpPr>
          <p:spPr>
            <a:xfrm rot="10800000">
              <a:off x="960" y="912"/>
              <a:ext cx="816" cy="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7" name="Google Shape;327;p27"/>
            <p:cNvCxnSpPr/>
            <p:nvPr/>
          </p:nvCxnSpPr>
          <p:spPr>
            <a:xfrm>
              <a:off x="816" y="720"/>
              <a:ext cx="0" cy="384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28" name="Google Shape;328;p27"/>
            <p:cNvSpPr/>
            <p:nvPr/>
          </p:nvSpPr>
          <p:spPr>
            <a:xfrm>
              <a:off x="912" y="816"/>
              <a:ext cx="48" cy="192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9" name="Google Shape;329;p27"/>
            <p:cNvSpPr/>
            <p:nvPr/>
          </p:nvSpPr>
          <p:spPr>
            <a:xfrm>
              <a:off x="672" y="1872"/>
              <a:ext cx="384" cy="384"/>
            </a:xfrm>
            <a:prstGeom prst="ellipse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30" name="Google Shape;330;p27"/>
            <p:cNvCxnSpPr/>
            <p:nvPr/>
          </p:nvCxnSpPr>
          <p:spPr>
            <a:xfrm flipH="1" rot="10800000">
              <a:off x="720" y="1920"/>
              <a:ext cx="288" cy="288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31" name="Google Shape;331;p27"/>
            <p:cNvCxnSpPr/>
            <p:nvPr/>
          </p:nvCxnSpPr>
          <p:spPr>
            <a:xfrm>
              <a:off x="720" y="1920"/>
              <a:ext cx="288" cy="288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332" name="Google Shape;332;p27"/>
          <p:cNvGrpSpPr/>
          <p:nvPr/>
        </p:nvGrpSpPr>
        <p:grpSpPr>
          <a:xfrm>
            <a:off x="7848600" y="1143000"/>
            <a:ext cx="2592388" cy="2438400"/>
            <a:chOff x="3984" y="720"/>
            <a:chExt cx="1633" cy="1536"/>
          </a:xfrm>
        </p:grpSpPr>
        <p:cxnSp>
          <p:nvCxnSpPr>
            <p:cNvPr id="333" name="Google Shape;333;p27"/>
            <p:cNvCxnSpPr/>
            <p:nvPr/>
          </p:nvCxnSpPr>
          <p:spPr>
            <a:xfrm>
              <a:off x="3984" y="912"/>
              <a:ext cx="0" cy="1153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34" name="Google Shape;334;p27"/>
            <p:cNvCxnSpPr/>
            <p:nvPr/>
          </p:nvCxnSpPr>
          <p:spPr>
            <a:xfrm>
              <a:off x="3985" y="2064"/>
              <a:ext cx="528" cy="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35" name="Google Shape;335;p27"/>
            <p:cNvCxnSpPr/>
            <p:nvPr/>
          </p:nvCxnSpPr>
          <p:spPr>
            <a:xfrm>
              <a:off x="4896" y="2064"/>
              <a:ext cx="721" cy="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36" name="Google Shape;336;p27"/>
            <p:cNvCxnSpPr/>
            <p:nvPr/>
          </p:nvCxnSpPr>
          <p:spPr>
            <a:xfrm rot="10800000">
              <a:off x="5616" y="912"/>
              <a:ext cx="0" cy="1152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37" name="Google Shape;337;p27"/>
            <p:cNvCxnSpPr/>
            <p:nvPr/>
          </p:nvCxnSpPr>
          <p:spPr>
            <a:xfrm>
              <a:off x="3984" y="912"/>
              <a:ext cx="624" cy="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38" name="Google Shape;338;p27"/>
            <p:cNvCxnSpPr/>
            <p:nvPr/>
          </p:nvCxnSpPr>
          <p:spPr>
            <a:xfrm rot="10800000">
              <a:off x="4944" y="912"/>
              <a:ext cx="672" cy="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39" name="Google Shape;339;p27"/>
            <p:cNvCxnSpPr/>
            <p:nvPr/>
          </p:nvCxnSpPr>
          <p:spPr>
            <a:xfrm>
              <a:off x="4608" y="720"/>
              <a:ext cx="0" cy="384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40" name="Google Shape;340;p27"/>
            <p:cNvSpPr/>
            <p:nvPr/>
          </p:nvSpPr>
          <p:spPr>
            <a:xfrm>
              <a:off x="4704" y="816"/>
              <a:ext cx="48" cy="192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1" name="Google Shape;341;p27"/>
            <p:cNvSpPr/>
            <p:nvPr/>
          </p:nvSpPr>
          <p:spPr>
            <a:xfrm>
              <a:off x="4512" y="1872"/>
              <a:ext cx="384" cy="384"/>
            </a:xfrm>
            <a:prstGeom prst="ellipse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42" name="Google Shape;342;p27"/>
            <p:cNvCxnSpPr/>
            <p:nvPr/>
          </p:nvCxnSpPr>
          <p:spPr>
            <a:xfrm flipH="1" rot="10800000">
              <a:off x="4560" y="1920"/>
              <a:ext cx="288" cy="288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3" name="Google Shape;343;p27"/>
            <p:cNvCxnSpPr/>
            <p:nvPr/>
          </p:nvCxnSpPr>
          <p:spPr>
            <a:xfrm>
              <a:off x="4560" y="1920"/>
              <a:ext cx="288" cy="288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4" name="Google Shape;344;p27"/>
            <p:cNvCxnSpPr/>
            <p:nvPr/>
          </p:nvCxnSpPr>
          <p:spPr>
            <a:xfrm>
              <a:off x="4848" y="720"/>
              <a:ext cx="0" cy="384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45" name="Google Shape;345;p27"/>
            <p:cNvSpPr/>
            <p:nvPr/>
          </p:nvSpPr>
          <p:spPr>
            <a:xfrm>
              <a:off x="4944" y="816"/>
              <a:ext cx="48" cy="192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6" name="Google Shape;346;p27"/>
          <p:cNvSpPr txBox="1"/>
          <p:nvPr/>
        </p:nvSpPr>
        <p:spPr>
          <a:xfrm>
            <a:off x="4610099" y="1143000"/>
            <a:ext cx="3048000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99CCFF"/>
                </a:solidFill>
                <a:latin typeface="Comic Sans MS"/>
                <a:ea typeface="Comic Sans MS"/>
                <a:cs typeface="Comic Sans MS"/>
                <a:sym typeface="Comic Sans MS"/>
              </a:rPr>
              <a:t>If a battery is added the current will ________ because there is a greater _____ on the electrons</a:t>
            </a:r>
            <a:endParaRPr/>
          </a:p>
        </p:txBody>
      </p:sp>
      <p:grpSp>
        <p:nvGrpSpPr>
          <p:cNvPr id="347" name="Google Shape;347;p27"/>
          <p:cNvGrpSpPr/>
          <p:nvPr/>
        </p:nvGrpSpPr>
        <p:grpSpPr>
          <a:xfrm>
            <a:off x="1752600" y="4191000"/>
            <a:ext cx="2592388" cy="2438400"/>
            <a:chOff x="144" y="2640"/>
            <a:chExt cx="1633" cy="1536"/>
          </a:xfrm>
        </p:grpSpPr>
        <p:cxnSp>
          <p:nvCxnSpPr>
            <p:cNvPr id="348" name="Google Shape;348;p27"/>
            <p:cNvCxnSpPr/>
            <p:nvPr/>
          </p:nvCxnSpPr>
          <p:spPr>
            <a:xfrm>
              <a:off x="144" y="2832"/>
              <a:ext cx="0" cy="1153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9" name="Google Shape;349;p27"/>
            <p:cNvCxnSpPr/>
            <p:nvPr/>
          </p:nvCxnSpPr>
          <p:spPr>
            <a:xfrm>
              <a:off x="145" y="3984"/>
              <a:ext cx="528" cy="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0" name="Google Shape;350;p27"/>
            <p:cNvCxnSpPr/>
            <p:nvPr/>
          </p:nvCxnSpPr>
          <p:spPr>
            <a:xfrm>
              <a:off x="1056" y="3984"/>
              <a:ext cx="721" cy="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1" name="Google Shape;351;p27"/>
            <p:cNvCxnSpPr/>
            <p:nvPr/>
          </p:nvCxnSpPr>
          <p:spPr>
            <a:xfrm rot="10800000">
              <a:off x="1776" y="2832"/>
              <a:ext cx="0" cy="1152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2" name="Google Shape;352;p27"/>
            <p:cNvCxnSpPr/>
            <p:nvPr/>
          </p:nvCxnSpPr>
          <p:spPr>
            <a:xfrm>
              <a:off x="144" y="2832"/>
              <a:ext cx="672" cy="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3" name="Google Shape;353;p27"/>
            <p:cNvCxnSpPr/>
            <p:nvPr/>
          </p:nvCxnSpPr>
          <p:spPr>
            <a:xfrm rot="10800000">
              <a:off x="960" y="2832"/>
              <a:ext cx="816" cy="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4" name="Google Shape;354;p27"/>
            <p:cNvCxnSpPr/>
            <p:nvPr/>
          </p:nvCxnSpPr>
          <p:spPr>
            <a:xfrm>
              <a:off x="816" y="2640"/>
              <a:ext cx="0" cy="384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55" name="Google Shape;355;p27"/>
            <p:cNvSpPr/>
            <p:nvPr/>
          </p:nvSpPr>
          <p:spPr>
            <a:xfrm>
              <a:off x="912" y="2736"/>
              <a:ext cx="48" cy="192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6" name="Google Shape;356;p27"/>
            <p:cNvSpPr/>
            <p:nvPr/>
          </p:nvSpPr>
          <p:spPr>
            <a:xfrm>
              <a:off x="672" y="3792"/>
              <a:ext cx="384" cy="384"/>
            </a:xfrm>
            <a:prstGeom prst="ellipse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57" name="Google Shape;357;p27"/>
            <p:cNvCxnSpPr/>
            <p:nvPr/>
          </p:nvCxnSpPr>
          <p:spPr>
            <a:xfrm flipH="1" rot="10800000">
              <a:off x="720" y="3840"/>
              <a:ext cx="288" cy="288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8" name="Google Shape;358;p27"/>
            <p:cNvCxnSpPr/>
            <p:nvPr/>
          </p:nvCxnSpPr>
          <p:spPr>
            <a:xfrm>
              <a:off x="720" y="3840"/>
              <a:ext cx="288" cy="288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359" name="Google Shape;359;p27"/>
          <p:cNvGrpSpPr/>
          <p:nvPr/>
        </p:nvGrpSpPr>
        <p:grpSpPr>
          <a:xfrm>
            <a:off x="7848600" y="4191000"/>
            <a:ext cx="2592388" cy="2438400"/>
            <a:chOff x="3984" y="2640"/>
            <a:chExt cx="1633" cy="1536"/>
          </a:xfrm>
        </p:grpSpPr>
        <p:cxnSp>
          <p:nvCxnSpPr>
            <p:cNvPr id="360" name="Google Shape;360;p27"/>
            <p:cNvCxnSpPr/>
            <p:nvPr/>
          </p:nvCxnSpPr>
          <p:spPr>
            <a:xfrm>
              <a:off x="3984" y="2832"/>
              <a:ext cx="0" cy="1153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61" name="Google Shape;361;p27"/>
            <p:cNvCxnSpPr/>
            <p:nvPr/>
          </p:nvCxnSpPr>
          <p:spPr>
            <a:xfrm>
              <a:off x="3985" y="3984"/>
              <a:ext cx="287" cy="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62" name="Google Shape;362;p27"/>
            <p:cNvCxnSpPr/>
            <p:nvPr/>
          </p:nvCxnSpPr>
          <p:spPr>
            <a:xfrm>
              <a:off x="5376" y="3984"/>
              <a:ext cx="241" cy="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63" name="Google Shape;363;p27"/>
            <p:cNvCxnSpPr/>
            <p:nvPr/>
          </p:nvCxnSpPr>
          <p:spPr>
            <a:xfrm rot="10800000">
              <a:off x="5616" y="2832"/>
              <a:ext cx="0" cy="1152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64" name="Google Shape;364;p27"/>
            <p:cNvCxnSpPr/>
            <p:nvPr/>
          </p:nvCxnSpPr>
          <p:spPr>
            <a:xfrm>
              <a:off x="3984" y="2832"/>
              <a:ext cx="672" cy="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65" name="Google Shape;365;p27"/>
            <p:cNvCxnSpPr/>
            <p:nvPr/>
          </p:nvCxnSpPr>
          <p:spPr>
            <a:xfrm rot="10800000">
              <a:off x="4800" y="2832"/>
              <a:ext cx="816" cy="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66" name="Google Shape;366;p27"/>
            <p:cNvCxnSpPr/>
            <p:nvPr/>
          </p:nvCxnSpPr>
          <p:spPr>
            <a:xfrm>
              <a:off x="4656" y="2640"/>
              <a:ext cx="0" cy="384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67" name="Google Shape;367;p27"/>
            <p:cNvSpPr/>
            <p:nvPr/>
          </p:nvSpPr>
          <p:spPr>
            <a:xfrm>
              <a:off x="4752" y="2736"/>
              <a:ext cx="48" cy="192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68" name="Google Shape;368;p27"/>
            <p:cNvGrpSpPr/>
            <p:nvPr/>
          </p:nvGrpSpPr>
          <p:grpSpPr>
            <a:xfrm>
              <a:off x="4272" y="3792"/>
              <a:ext cx="384" cy="384"/>
              <a:chOff x="4512" y="3792"/>
              <a:chExt cx="384" cy="384"/>
            </a:xfrm>
          </p:grpSpPr>
          <p:sp>
            <p:nvSpPr>
              <p:cNvPr id="369" name="Google Shape;369;p27"/>
              <p:cNvSpPr/>
              <p:nvPr/>
            </p:nvSpPr>
            <p:spPr>
              <a:xfrm>
                <a:off x="4512" y="3792"/>
                <a:ext cx="384" cy="384"/>
              </a:xfrm>
              <a:prstGeom prst="ellipse">
                <a:avLst/>
              </a:prstGeom>
              <a:noFill/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70" name="Google Shape;370;p27"/>
              <p:cNvCxnSpPr/>
              <p:nvPr/>
            </p:nvCxnSpPr>
            <p:spPr>
              <a:xfrm flipH="1" rot="10800000">
                <a:off x="4560" y="3840"/>
                <a:ext cx="288" cy="288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l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1" name="Google Shape;371;p27"/>
              <p:cNvCxnSpPr/>
              <p:nvPr/>
            </p:nvCxnSpPr>
            <p:spPr>
              <a:xfrm>
                <a:off x="4560" y="3840"/>
                <a:ext cx="288" cy="288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l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372" name="Google Shape;372;p27"/>
            <p:cNvGrpSpPr/>
            <p:nvPr/>
          </p:nvGrpSpPr>
          <p:grpSpPr>
            <a:xfrm>
              <a:off x="4992" y="3792"/>
              <a:ext cx="384" cy="384"/>
              <a:chOff x="4512" y="3792"/>
              <a:chExt cx="384" cy="384"/>
            </a:xfrm>
          </p:grpSpPr>
          <p:sp>
            <p:nvSpPr>
              <p:cNvPr id="373" name="Google Shape;373;p27"/>
              <p:cNvSpPr/>
              <p:nvPr/>
            </p:nvSpPr>
            <p:spPr>
              <a:xfrm>
                <a:off x="4512" y="3792"/>
                <a:ext cx="384" cy="384"/>
              </a:xfrm>
              <a:prstGeom prst="ellipse">
                <a:avLst/>
              </a:prstGeom>
              <a:noFill/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74" name="Google Shape;374;p27"/>
              <p:cNvCxnSpPr/>
              <p:nvPr/>
            </p:nvCxnSpPr>
            <p:spPr>
              <a:xfrm flipH="1" rot="10800000">
                <a:off x="4560" y="3840"/>
                <a:ext cx="288" cy="288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l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5" name="Google Shape;375;p27"/>
              <p:cNvCxnSpPr/>
              <p:nvPr/>
            </p:nvCxnSpPr>
            <p:spPr>
              <a:xfrm>
                <a:off x="4560" y="3840"/>
                <a:ext cx="288" cy="288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l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376" name="Google Shape;376;p27"/>
            <p:cNvCxnSpPr/>
            <p:nvPr/>
          </p:nvCxnSpPr>
          <p:spPr>
            <a:xfrm>
              <a:off x="4656" y="3984"/>
              <a:ext cx="336" cy="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77" name="Google Shape;377;p27"/>
          <p:cNvSpPr txBox="1"/>
          <p:nvPr/>
        </p:nvSpPr>
        <p:spPr>
          <a:xfrm>
            <a:off x="4610099" y="4191000"/>
            <a:ext cx="3048000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99FF66"/>
                </a:solidFill>
                <a:latin typeface="Comic Sans MS"/>
                <a:ea typeface="Comic Sans MS"/>
                <a:cs typeface="Comic Sans MS"/>
                <a:sym typeface="Comic Sans MS"/>
              </a:rPr>
              <a:t>If a bulb is added the current will _______ because there is greater ________ in the circuit</a:t>
            </a:r>
            <a:endParaRPr/>
          </a:p>
        </p:txBody>
      </p:sp>
      <p:sp>
        <p:nvSpPr>
          <p:cNvPr id="378" name="Google Shape;378;p27"/>
          <p:cNvSpPr/>
          <p:nvPr/>
        </p:nvSpPr>
        <p:spPr>
          <a:xfrm>
            <a:off x="8458200" y="2743200"/>
            <a:ext cx="1066800" cy="1066800"/>
          </a:xfrm>
          <a:prstGeom prst="star32">
            <a:avLst>
              <a:gd fmla="val 37500" name="adj"/>
            </a:avLst>
          </a:prstGeom>
          <a:noFill/>
          <a:ln cap="flat" cmpd="sng" w="63500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27"/>
          <p:cNvSpPr/>
          <p:nvPr/>
        </p:nvSpPr>
        <p:spPr>
          <a:xfrm>
            <a:off x="2362200" y="2743200"/>
            <a:ext cx="1066800" cy="1066800"/>
          </a:xfrm>
          <a:prstGeom prst="star32">
            <a:avLst>
              <a:gd fmla="val 37500" name="adj"/>
            </a:avLst>
          </a:prstGeom>
          <a:noFill/>
          <a:ln cap="flat" cmpd="sng" w="31750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27"/>
          <p:cNvSpPr/>
          <p:nvPr/>
        </p:nvSpPr>
        <p:spPr>
          <a:xfrm>
            <a:off x="2362200" y="5791200"/>
            <a:ext cx="1066800" cy="1066800"/>
          </a:xfrm>
          <a:prstGeom prst="star32">
            <a:avLst>
              <a:gd fmla="val 37500" name="adj"/>
            </a:avLst>
          </a:prstGeom>
          <a:noFill/>
          <a:ln cap="flat" cmpd="sng" w="31750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27"/>
          <p:cNvSpPr/>
          <p:nvPr/>
        </p:nvSpPr>
        <p:spPr>
          <a:xfrm>
            <a:off x="8077200" y="5791200"/>
            <a:ext cx="1066800" cy="1066800"/>
          </a:xfrm>
          <a:prstGeom prst="star32">
            <a:avLst>
              <a:gd fmla="val 37500" name="adj"/>
            </a:avLst>
          </a:prstGeom>
          <a:noFill/>
          <a:ln cap="flat" cmpd="sng" w="952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27"/>
          <p:cNvSpPr/>
          <p:nvPr/>
        </p:nvSpPr>
        <p:spPr>
          <a:xfrm>
            <a:off x="9220200" y="5791200"/>
            <a:ext cx="1066800" cy="1066800"/>
          </a:xfrm>
          <a:prstGeom prst="star32">
            <a:avLst>
              <a:gd fmla="val 37500" name="adj"/>
            </a:avLst>
          </a:prstGeom>
          <a:noFill/>
          <a:ln cap="flat" cmpd="sng" w="952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28"/>
          <p:cNvSpPr txBox="1"/>
          <p:nvPr/>
        </p:nvSpPr>
        <p:spPr>
          <a:xfrm>
            <a:off x="1086729" y="1032804"/>
            <a:ext cx="9942342" cy="5016758"/>
          </a:xfrm>
          <a:prstGeom prst="rect">
            <a:avLst/>
          </a:pr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omic Sans MS"/>
              <a:buAutoNum type="arabicPeriod"/>
            </a:pPr>
            <a:r>
              <a:rPr lang="en-GB" sz="32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In a</a:t>
            </a:r>
            <a:r>
              <a:rPr lang="en-GB" sz="3200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r>
              <a:rPr lang="en-GB" sz="3200">
                <a:solidFill>
                  <a:srgbClr val="00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series</a:t>
            </a:r>
            <a:r>
              <a:rPr lang="en-GB" sz="3200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r>
              <a:rPr lang="en-GB" sz="32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circuit the</a:t>
            </a:r>
            <a:r>
              <a:rPr lang="en-GB" sz="3200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r>
              <a:rPr lang="en-GB" sz="3200">
                <a:solidFill>
                  <a:srgbClr val="66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current</a:t>
            </a:r>
            <a:r>
              <a:rPr lang="en-GB" sz="3200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r>
              <a:rPr lang="en-GB" sz="32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is the</a:t>
            </a:r>
            <a:r>
              <a:rPr lang="en-GB" sz="3200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r>
              <a:rPr lang="en-GB" sz="3200">
                <a:solidFill>
                  <a:srgbClr val="66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same at any point in the circuit.</a:t>
            </a:r>
            <a:endParaRPr/>
          </a:p>
          <a:p>
            <a:pPr indent="-254000" lvl="0" marL="457200" marR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t/>
            </a:r>
            <a:endParaRPr sz="3200">
              <a:solidFill>
                <a:srgbClr val="66FF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457200" lvl="0" marL="457200" marR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2. The</a:t>
            </a:r>
            <a:r>
              <a:rPr lang="en-GB" sz="3200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r>
              <a:rPr lang="en-GB" sz="3200">
                <a:solidFill>
                  <a:srgbClr val="66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supply voltage</a:t>
            </a:r>
            <a:r>
              <a:rPr lang="en-GB" sz="3200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r>
              <a:rPr lang="en-GB" sz="32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is</a:t>
            </a:r>
            <a:r>
              <a:rPr lang="en-GB" sz="3200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r>
              <a:rPr lang="en-GB" sz="3200">
                <a:solidFill>
                  <a:srgbClr val="66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shared</a:t>
            </a:r>
            <a:r>
              <a:rPr lang="en-GB" sz="3200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r>
              <a:rPr lang="en-GB" sz="32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between the components in a</a:t>
            </a:r>
            <a:r>
              <a:rPr lang="en-GB" sz="3200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r>
              <a:rPr lang="en-GB" sz="3200">
                <a:solidFill>
                  <a:srgbClr val="00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series</a:t>
            </a:r>
            <a:r>
              <a:rPr lang="en-GB" sz="3200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r>
              <a:rPr lang="en-GB" sz="32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circuit.</a:t>
            </a:r>
            <a:endParaRPr/>
          </a:p>
          <a:p>
            <a:pPr indent="-457200" lvl="0" marL="457200" marR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457200" lvl="0" marL="457200" marR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3. The</a:t>
            </a:r>
            <a:r>
              <a:rPr lang="en-GB" sz="3200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r>
              <a:rPr lang="en-GB" sz="3200">
                <a:solidFill>
                  <a:srgbClr val="66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current</a:t>
            </a:r>
            <a:r>
              <a:rPr lang="en-GB" sz="3200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r>
              <a:rPr lang="en-GB" sz="32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depends on the</a:t>
            </a:r>
            <a:r>
              <a:rPr lang="en-GB" sz="3200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r>
              <a:rPr lang="en-GB" sz="3200">
                <a:solidFill>
                  <a:srgbClr val="66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voltage in ANY circuit</a:t>
            </a:r>
            <a:r>
              <a:rPr lang="en-GB" sz="32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.</a:t>
            </a:r>
            <a:endParaRPr/>
          </a:p>
        </p:txBody>
      </p:sp>
      <p:sp>
        <p:nvSpPr>
          <p:cNvPr id="388" name="Google Shape;388;p28"/>
          <p:cNvSpPr/>
          <p:nvPr/>
        </p:nvSpPr>
        <p:spPr>
          <a:xfrm>
            <a:off x="1524001" y="0"/>
            <a:ext cx="6166317" cy="584775"/>
          </a:xfrm>
          <a:prstGeom prst="rect">
            <a:avLst/>
          </a:prstGeom>
          <a:solidFill>
            <a:srgbClr val="0000FF"/>
          </a:solidFill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Summary for series circuits</a:t>
            </a:r>
            <a:endParaRPr/>
          </a:p>
        </p:txBody>
      </p:sp>
      <p:sp>
        <p:nvSpPr>
          <p:cNvPr id="389" name="Google Shape;389;p28"/>
          <p:cNvSpPr/>
          <p:nvPr/>
        </p:nvSpPr>
        <p:spPr>
          <a:xfrm>
            <a:off x="1459283" y="6338887"/>
            <a:ext cx="1025954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Science in Action: Go from 8 mins 30secs    </a:t>
            </a:r>
            <a:r>
              <a:rPr lang="en-GB" sz="1800" u="sng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https://www.youtube.com/watch?v=9iv-En-aAFY</a:t>
            </a:r>
            <a:r>
              <a:rPr lang="en-GB" sz="1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 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29"/>
          <p:cNvSpPr/>
          <p:nvPr/>
        </p:nvSpPr>
        <p:spPr>
          <a:xfrm>
            <a:off x="1524000" y="0"/>
            <a:ext cx="9144000" cy="692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Advantages of parallel circuits…</a:t>
            </a:r>
            <a:endParaRPr/>
          </a:p>
        </p:txBody>
      </p:sp>
      <p:sp>
        <p:nvSpPr>
          <p:cNvPr id="395" name="Google Shape;395;p29"/>
          <p:cNvSpPr txBox="1"/>
          <p:nvPr/>
        </p:nvSpPr>
        <p:spPr>
          <a:xfrm>
            <a:off x="1828800" y="1371601"/>
            <a:ext cx="8534400" cy="4365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There are two main reasons why parallel circuits are used more commonly than series circuits:</a:t>
            </a:r>
            <a:endParaRPr/>
          </a:p>
          <a:p>
            <a:pPr indent="-457200" lvl="0" marL="45720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457200" lvl="0" marL="457200" marR="0" rtl="0" algn="l">
              <a:spcBef>
                <a:spcPts val="1400"/>
              </a:spcBef>
              <a:spcAft>
                <a:spcPts val="0"/>
              </a:spcAft>
              <a:buClr>
                <a:srgbClr val="33CCCC"/>
              </a:buClr>
              <a:buSzPts val="2800"/>
              <a:buFont typeface="Comic Sans MS"/>
              <a:buAutoNum type="arabicParenR"/>
            </a:pPr>
            <a:r>
              <a:rPr lang="en-GB" sz="2800">
                <a:solidFill>
                  <a:srgbClr val="33CCCC"/>
                </a:solidFill>
                <a:latin typeface="Comic Sans MS"/>
                <a:ea typeface="Comic Sans MS"/>
                <a:cs typeface="Comic Sans MS"/>
                <a:sym typeface="Comic Sans MS"/>
              </a:rPr>
              <a:t>Extra appliances (like bulbs) can be added without affecting the output of the others</a:t>
            </a:r>
            <a:endParaRPr/>
          </a:p>
          <a:p>
            <a:pPr indent="-279400" lvl="0" marL="457200" marR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t/>
            </a:r>
            <a:endParaRPr sz="2800">
              <a:solidFill>
                <a:srgbClr val="33CCCC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457200" lvl="0" marL="457200" marR="0" rtl="0" algn="l">
              <a:spcBef>
                <a:spcPts val="1400"/>
              </a:spcBef>
              <a:spcAft>
                <a:spcPts val="0"/>
              </a:spcAft>
              <a:buClr>
                <a:srgbClr val="99FF66"/>
              </a:buClr>
              <a:buSzPts val="2800"/>
              <a:buFont typeface="Comic Sans MS"/>
              <a:buAutoNum type="arabicParenR"/>
            </a:pPr>
            <a:r>
              <a:rPr lang="en-GB" sz="2800">
                <a:solidFill>
                  <a:srgbClr val="99FF66"/>
                </a:solidFill>
                <a:latin typeface="Comic Sans MS"/>
                <a:ea typeface="Comic Sans MS"/>
                <a:cs typeface="Comic Sans MS"/>
                <a:sym typeface="Comic Sans MS"/>
              </a:rPr>
              <a:t>If one appliance breaks it won’t affect the others either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9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9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9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9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9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30"/>
          <p:cNvSpPr/>
          <p:nvPr/>
        </p:nvSpPr>
        <p:spPr>
          <a:xfrm>
            <a:off x="6856966" y="331554"/>
            <a:ext cx="5210538" cy="1873250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gradFill>
                  <a:gsLst>
                    <a:gs pos="0">
                      <a:srgbClr val="FFFF00"/>
                    </a:gs>
                    <a:gs pos="100000">
                      <a:srgbClr val="FF9933"/>
                    </a:gs>
                  </a:gsLst>
                  <a:path path="circle">
                    <a:fillToRect b="50%" l="50%" r="50%" t="50%"/>
                  </a:path>
                  <a:tileRect/>
                </a:gradFill>
                <a:latin typeface="Comic Sans MS"/>
              </a:rPr>
              <a:t>Electrical </a:t>
            </a:r>
            <a:br>
              <a:rPr b="0" i="0">
                <a:ln>
                  <a:noFill/>
                </a:ln>
                <a:gradFill>
                  <a:gsLst>
                    <a:gs pos="0">
                      <a:srgbClr val="FFFF00"/>
                    </a:gs>
                    <a:gs pos="100000">
                      <a:srgbClr val="FF9933"/>
                    </a:gs>
                  </a:gsLst>
                  <a:path path="circle">
                    <a:fillToRect b="50%" l="50%" r="50%" t="50%"/>
                  </a:path>
                  <a:tileRect/>
                </a:gradFill>
                <a:latin typeface="Comic Sans MS"/>
              </a:rPr>
            </a:br>
            <a:r>
              <a:rPr b="0" i="0">
                <a:ln>
                  <a:noFill/>
                </a:ln>
                <a:gradFill>
                  <a:gsLst>
                    <a:gs pos="0">
                      <a:srgbClr val="FFFF00"/>
                    </a:gs>
                    <a:gs pos="100000">
                      <a:srgbClr val="FF9933"/>
                    </a:gs>
                  </a:gsLst>
                  <a:path path="circle">
                    <a:fillToRect b="50%" l="50%" r="50%" t="50%"/>
                  </a:path>
                  <a:tileRect/>
                </a:gradFill>
                <a:latin typeface="Comic Sans MS"/>
              </a:rPr>
              <a:t>Circuits</a:t>
            </a:r>
          </a:p>
        </p:txBody>
      </p:sp>
      <p:sp>
        <p:nvSpPr>
          <p:cNvPr id="401" name="Google Shape;401;p30"/>
          <p:cNvSpPr txBox="1"/>
          <p:nvPr/>
        </p:nvSpPr>
        <p:spPr>
          <a:xfrm>
            <a:off x="211682" y="3942612"/>
            <a:ext cx="6624932" cy="2677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u="sng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Learning Objectives: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 u="sng">
              <a:solidFill>
                <a:srgbClr val="FFFF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1. To set up simple series and parallel circuits effectively.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2. To understand the how current differs in series and parallel circuits.</a:t>
            </a:r>
            <a:endParaRPr sz="2800">
              <a:solidFill>
                <a:srgbClr val="FFFF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402" name="Google Shape;402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516" y="51516"/>
            <a:ext cx="6674269" cy="3660083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92424" y="2807072"/>
            <a:ext cx="5075080" cy="32975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31"/>
          <p:cNvSpPr/>
          <p:nvPr/>
        </p:nvSpPr>
        <p:spPr>
          <a:xfrm>
            <a:off x="1828801" y="1153469"/>
            <a:ext cx="4746625" cy="461665"/>
          </a:xfrm>
          <a:prstGeom prst="rect">
            <a:avLst/>
          </a:prstGeom>
          <a:gradFill>
            <a:gsLst>
              <a:gs pos="0">
                <a:schemeClr val="hlink"/>
              </a:gs>
              <a:gs pos="100000">
                <a:srgbClr val="FCFCFE"/>
              </a:gs>
            </a:gsLst>
            <a:lin ang="5400000" scaled="0"/>
          </a:gra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409" name="Google Shape;409;p31"/>
          <p:cNvCxnSpPr/>
          <p:nvPr/>
        </p:nvCxnSpPr>
        <p:spPr>
          <a:xfrm>
            <a:off x="4256089" y="1533526"/>
            <a:ext cx="1587" cy="46196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0" name="Google Shape;410;p31"/>
          <p:cNvCxnSpPr/>
          <p:nvPr/>
        </p:nvCxnSpPr>
        <p:spPr>
          <a:xfrm>
            <a:off x="4384675" y="1649414"/>
            <a:ext cx="1588" cy="231775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1" name="Google Shape;411;p31"/>
          <p:cNvCxnSpPr/>
          <p:nvPr/>
        </p:nvCxnSpPr>
        <p:spPr>
          <a:xfrm flipH="1" rot="10800000">
            <a:off x="4395789" y="1739901"/>
            <a:ext cx="733425" cy="3175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2" name="Google Shape;412;p31"/>
          <p:cNvCxnSpPr/>
          <p:nvPr/>
        </p:nvCxnSpPr>
        <p:spPr>
          <a:xfrm>
            <a:off x="6002339" y="1736726"/>
            <a:ext cx="1587" cy="1457325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3" name="Google Shape;413;p31"/>
          <p:cNvCxnSpPr/>
          <p:nvPr/>
        </p:nvCxnSpPr>
        <p:spPr>
          <a:xfrm flipH="1">
            <a:off x="4811714" y="3194050"/>
            <a:ext cx="1190625" cy="1588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4" name="Google Shape;414;p31"/>
          <p:cNvCxnSpPr/>
          <p:nvPr/>
        </p:nvCxnSpPr>
        <p:spPr>
          <a:xfrm flipH="1">
            <a:off x="2422525" y="3194050"/>
            <a:ext cx="1212850" cy="1588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5" name="Google Shape;415;p31"/>
          <p:cNvCxnSpPr/>
          <p:nvPr/>
        </p:nvCxnSpPr>
        <p:spPr>
          <a:xfrm flipH="1" rot="10800000">
            <a:off x="2422525" y="1751014"/>
            <a:ext cx="1588" cy="1443037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6" name="Google Shape;416;p31"/>
          <p:cNvCxnSpPr/>
          <p:nvPr/>
        </p:nvCxnSpPr>
        <p:spPr>
          <a:xfrm>
            <a:off x="2413000" y="1751014"/>
            <a:ext cx="1835150" cy="1587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7" name="Google Shape;417;p31"/>
          <p:cNvSpPr/>
          <p:nvPr/>
        </p:nvSpPr>
        <p:spPr>
          <a:xfrm>
            <a:off x="5330826" y="1751013"/>
            <a:ext cx="238125" cy="746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418" name="Google Shape;418;p31"/>
          <p:cNvCxnSpPr/>
          <p:nvPr/>
        </p:nvCxnSpPr>
        <p:spPr>
          <a:xfrm>
            <a:off x="5567364" y="1739900"/>
            <a:ext cx="434975" cy="1588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9" name="Google Shape;419;p31"/>
          <p:cNvSpPr/>
          <p:nvPr/>
        </p:nvSpPr>
        <p:spPr>
          <a:xfrm>
            <a:off x="3632201" y="3149600"/>
            <a:ext cx="74613" cy="84138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420" name="Google Shape;420;p31"/>
          <p:cNvSpPr/>
          <p:nvPr/>
        </p:nvSpPr>
        <p:spPr>
          <a:xfrm>
            <a:off x="4741863" y="3154364"/>
            <a:ext cx="74612" cy="84137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421" name="Google Shape;421;p31"/>
          <p:cNvSpPr/>
          <p:nvPr/>
        </p:nvSpPr>
        <p:spPr>
          <a:xfrm>
            <a:off x="5872163" y="2125663"/>
            <a:ext cx="258762" cy="722312"/>
          </a:xfrm>
          <a:prstGeom prst="rect">
            <a:avLst/>
          </a:prstGeom>
          <a:gradFill>
            <a:gsLst>
              <a:gs pos="0">
                <a:srgbClr val="0000FF"/>
              </a:gs>
              <a:gs pos="100000">
                <a:srgbClr val="F2F2FF"/>
              </a:gs>
            </a:gsLst>
            <a:lin ang="0" scaled="0"/>
          </a:gra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422" name="Google Shape;422;p31"/>
          <p:cNvCxnSpPr/>
          <p:nvPr/>
        </p:nvCxnSpPr>
        <p:spPr>
          <a:xfrm flipH="1" rot="10800000">
            <a:off x="5654676" y="2154238"/>
            <a:ext cx="663575" cy="665162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23" name="Google Shape;423;p31"/>
          <p:cNvSpPr/>
          <p:nvPr/>
        </p:nvSpPr>
        <p:spPr>
          <a:xfrm>
            <a:off x="2811464" y="1476376"/>
            <a:ext cx="592137" cy="563563"/>
          </a:xfrm>
          <a:prstGeom prst="ellipse">
            <a:avLst/>
          </a:prstGeom>
          <a:solidFill>
            <a:srgbClr val="0000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</a:t>
            </a:r>
            <a:endParaRPr/>
          </a:p>
        </p:txBody>
      </p:sp>
      <p:cxnSp>
        <p:nvCxnSpPr>
          <p:cNvPr id="424" name="Google Shape;424;p31"/>
          <p:cNvCxnSpPr/>
          <p:nvPr/>
        </p:nvCxnSpPr>
        <p:spPr>
          <a:xfrm>
            <a:off x="3375025" y="3194051"/>
            <a:ext cx="1588" cy="1039813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5" name="Google Shape;425;p31"/>
          <p:cNvSpPr/>
          <p:nvPr/>
        </p:nvSpPr>
        <p:spPr>
          <a:xfrm>
            <a:off x="3930650" y="3908426"/>
            <a:ext cx="592138" cy="563563"/>
          </a:xfrm>
          <a:prstGeom prst="ellipse">
            <a:avLst/>
          </a:prstGeom>
          <a:solidFill>
            <a:srgbClr val="0000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V</a:t>
            </a:r>
            <a:endParaRPr/>
          </a:p>
        </p:txBody>
      </p:sp>
      <p:cxnSp>
        <p:nvCxnSpPr>
          <p:cNvPr id="426" name="Google Shape;426;p31"/>
          <p:cNvCxnSpPr/>
          <p:nvPr/>
        </p:nvCxnSpPr>
        <p:spPr>
          <a:xfrm>
            <a:off x="3375025" y="4203700"/>
            <a:ext cx="547688" cy="1588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7" name="Google Shape;427;p31"/>
          <p:cNvCxnSpPr/>
          <p:nvPr/>
        </p:nvCxnSpPr>
        <p:spPr>
          <a:xfrm>
            <a:off x="4529138" y="4203700"/>
            <a:ext cx="590550" cy="1588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8" name="Google Shape;428;p31"/>
          <p:cNvCxnSpPr/>
          <p:nvPr/>
        </p:nvCxnSpPr>
        <p:spPr>
          <a:xfrm flipH="1" rot="10800000">
            <a:off x="5135564" y="3194051"/>
            <a:ext cx="1587" cy="995363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29" name="Google Shape;429;p31"/>
          <p:cNvGrpSpPr/>
          <p:nvPr/>
        </p:nvGrpSpPr>
        <p:grpSpPr>
          <a:xfrm>
            <a:off x="3835402" y="1416697"/>
            <a:ext cx="361950" cy="331788"/>
            <a:chOff x="2299" y="1391"/>
            <a:chExt cx="228" cy="209"/>
          </a:xfrm>
        </p:grpSpPr>
        <p:cxnSp>
          <p:nvCxnSpPr>
            <p:cNvPr id="430" name="Google Shape;430;p31"/>
            <p:cNvCxnSpPr/>
            <p:nvPr/>
          </p:nvCxnSpPr>
          <p:spPr>
            <a:xfrm>
              <a:off x="2409" y="1391"/>
              <a:ext cx="0" cy="209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31" name="Google Shape;431;p31"/>
            <p:cNvCxnSpPr/>
            <p:nvPr/>
          </p:nvCxnSpPr>
          <p:spPr>
            <a:xfrm>
              <a:off x="2299" y="1491"/>
              <a:ext cx="228" cy="0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432" name="Google Shape;432;p31"/>
          <p:cNvGrpSpPr/>
          <p:nvPr/>
        </p:nvGrpSpPr>
        <p:grpSpPr>
          <a:xfrm>
            <a:off x="2439988" y="1382715"/>
            <a:ext cx="361950" cy="331787"/>
            <a:chOff x="2299" y="1391"/>
            <a:chExt cx="228" cy="209"/>
          </a:xfrm>
        </p:grpSpPr>
        <p:cxnSp>
          <p:nvCxnSpPr>
            <p:cNvPr id="433" name="Google Shape;433;p31"/>
            <p:cNvCxnSpPr/>
            <p:nvPr/>
          </p:nvCxnSpPr>
          <p:spPr>
            <a:xfrm>
              <a:off x="2409" y="1391"/>
              <a:ext cx="0" cy="209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34" name="Google Shape;434;p31"/>
            <p:cNvCxnSpPr/>
            <p:nvPr/>
          </p:nvCxnSpPr>
          <p:spPr>
            <a:xfrm>
              <a:off x="2299" y="1491"/>
              <a:ext cx="228" cy="0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435" name="Google Shape;435;p31"/>
          <p:cNvGrpSpPr/>
          <p:nvPr/>
        </p:nvGrpSpPr>
        <p:grpSpPr>
          <a:xfrm>
            <a:off x="4529138" y="4176715"/>
            <a:ext cx="361950" cy="331787"/>
            <a:chOff x="2299" y="1391"/>
            <a:chExt cx="228" cy="209"/>
          </a:xfrm>
        </p:grpSpPr>
        <p:cxnSp>
          <p:nvCxnSpPr>
            <p:cNvPr id="436" name="Google Shape;436;p31"/>
            <p:cNvCxnSpPr/>
            <p:nvPr/>
          </p:nvCxnSpPr>
          <p:spPr>
            <a:xfrm>
              <a:off x="2409" y="1391"/>
              <a:ext cx="0" cy="209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37" name="Google Shape;437;p31"/>
            <p:cNvCxnSpPr/>
            <p:nvPr/>
          </p:nvCxnSpPr>
          <p:spPr>
            <a:xfrm>
              <a:off x="2299" y="1491"/>
              <a:ext cx="228" cy="0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438" name="Google Shape;438;p31"/>
          <p:cNvCxnSpPr/>
          <p:nvPr/>
        </p:nvCxnSpPr>
        <p:spPr>
          <a:xfrm flipH="1" rot="10800000">
            <a:off x="5105400" y="1504951"/>
            <a:ext cx="476250" cy="231775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9" name="Google Shape;439;p31"/>
          <p:cNvSpPr/>
          <p:nvPr/>
        </p:nvSpPr>
        <p:spPr>
          <a:xfrm>
            <a:off x="5046664" y="1649414"/>
            <a:ext cx="130175" cy="13017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440" name="Google Shape;440;p31"/>
          <p:cNvSpPr/>
          <p:nvPr/>
        </p:nvSpPr>
        <p:spPr>
          <a:xfrm>
            <a:off x="5562601" y="1658939"/>
            <a:ext cx="130175" cy="13017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441" name="Google Shape;441;p31"/>
          <p:cNvSpPr txBox="1"/>
          <p:nvPr/>
        </p:nvSpPr>
        <p:spPr>
          <a:xfrm>
            <a:off x="3708401" y="2827956"/>
            <a:ext cx="180340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component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here</a:t>
            </a:r>
            <a:endParaRPr sz="18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442" name="Google Shape;442;p31"/>
          <p:cNvGrpSpPr/>
          <p:nvPr/>
        </p:nvGrpSpPr>
        <p:grpSpPr>
          <a:xfrm>
            <a:off x="9336088" y="2997201"/>
            <a:ext cx="622300" cy="582613"/>
            <a:chOff x="2679" y="2817"/>
            <a:chExt cx="392" cy="367"/>
          </a:xfrm>
        </p:grpSpPr>
        <p:sp>
          <p:nvSpPr>
            <p:cNvPr id="443" name="Google Shape;443;p31"/>
            <p:cNvSpPr/>
            <p:nvPr/>
          </p:nvSpPr>
          <p:spPr>
            <a:xfrm>
              <a:off x="2679" y="2817"/>
              <a:ext cx="392" cy="367"/>
            </a:xfrm>
            <a:prstGeom prst="ellipse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444" name="Google Shape;444;p31"/>
            <p:cNvSpPr/>
            <p:nvPr/>
          </p:nvSpPr>
          <p:spPr>
            <a:xfrm>
              <a:off x="2797" y="2922"/>
              <a:ext cx="147" cy="137"/>
            </a:xfrm>
            <a:prstGeom prst="ellipse">
              <a:avLst/>
            </a:prstGeom>
            <a:solidFill>
              <a:schemeClr val="hlink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445" name="Google Shape;445;p31"/>
            <p:cNvSpPr/>
            <p:nvPr/>
          </p:nvSpPr>
          <p:spPr>
            <a:xfrm>
              <a:off x="2787" y="2990"/>
              <a:ext cx="169" cy="100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</p:grpSp>
      <p:sp>
        <p:nvSpPr>
          <p:cNvPr id="446" name="Google Shape;446;p31"/>
          <p:cNvSpPr/>
          <p:nvPr/>
        </p:nvSpPr>
        <p:spPr>
          <a:xfrm>
            <a:off x="7910514" y="3094039"/>
            <a:ext cx="922337" cy="376237"/>
          </a:xfrm>
          <a:prstGeom prst="rect">
            <a:avLst/>
          </a:prstGeom>
          <a:gradFill>
            <a:gsLst>
              <a:gs pos="0">
                <a:srgbClr val="0000FF"/>
              </a:gs>
              <a:gs pos="100000">
                <a:srgbClr val="CECEFF"/>
              </a:gs>
            </a:gsLst>
            <a:lin ang="5400000" scaled="0"/>
          </a:gra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R</a:t>
            </a:r>
            <a:endParaRPr/>
          </a:p>
        </p:txBody>
      </p:sp>
      <p:cxnSp>
        <p:nvCxnSpPr>
          <p:cNvPr id="447" name="Google Shape;447;p31"/>
          <p:cNvCxnSpPr/>
          <p:nvPr/>
        </p:nvCxnSpPr>
        <p:spPr>
          <a:xfrm flipH="1">
            <a:off x="8801101" y="3251201"/>
            <a:ext cx="180975" cy="476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8" name="Google Shape;448;p31"/>
          <p:cNvCxnSpPr/>
          <p:nvPr/>
        </p:nvCxnSpPr>
        <p:spPr>
          <a:xfrm>
            <a:off x="9336089" y="3284538"/>
            <a:ext cx="185737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9" name="Google Shape;449;p31"/>
          <p:cNvSpPr txBox="1"/>
          <p:nvPr/>
        </p:nvSpPr>
        <p:spPr>
          <a:xfrm>
            <a:off x="1828801" y="4876801"/>
            <a:ext cx="8513763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Voltage is measured by connecting the voltmeter         across (or in parallel with) the component.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Voltage is measured in volts and the symbol for this is V.</a:t>
            </a:r>
            <a:endParaRPr/>
          </a:p>
        </p:txBody>
      </p:sp>
      <p:sp>
        <p:nvSpPr>
          <p:cNvPr id="450" name="Google Shape;450;p31"/>
          <p:cNvSpPr/>
          <p:nvPr/>
        </p:nvSpPr>
        <p:spPr>
          <a:xfrm>
            <a:off x="8686007" y="3671121"/>
            <a:ext cx="592137" cy="577850"/>
          </a:xfrm>
          <a:prstGeom prst="ellipse">
            <a:avLst/>
          </a:prstGeom>
          <a:solidFill>
            <a:srgbClr val="0000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V</a:t>
            </a:r>
            <a:endParaRPr/>
          </a:p>
        </p:txBody>
      </p:sp>
      <p:sp>
        <p:nvSpPr>
          <p:cNvPr id="451" name="Google Shape;451;p31"/>
          <p:cNvSpPr txBox="1"/>
          <p:nvPr/>
        </p:nvSpPr>
        <p:spPr>
          <a:xfrm>
            <a:off x="7783514" y="2222500"/>
            <a:ext cx="233838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u="sng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Components</a:t>
            </a:r>
            <a:endParaRPr sz="24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452" name="Google Shape;452;p31"/>
          <p:cNvCxnSpPr/>
          <p:nvPr/>
        </p:nvCxnSpPr>
        <p:spPr>
          <a:xfrm>
            <a:off x="9767889" y="3284538"/>
            <a:ext cx="185737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3" name="Google Shape;453;p31"/>
          <p:cNvSpPr/>
          <p:nvPr/>
        </p:nvSpPr>
        <p:spPr>
          <a:xfrm>
            <a:off x="745588" y="0"/>
            <a:ext cx="11043138" cy="702647"/>
          </a:xfrm>
          <a:prstGeom prst="rect">
            <a:avLst/>
          </a:prstGeom>
          <a:solidFill>
            <a:srgbClr val="660066"/>
          </a:solidFill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232150" lvl="0" marL="323215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Measuring voltage - across a resistor or a bulb</a:t>
            </a:r>
            <a:br>
              <a:rPr lang="en-GB" sz="3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endParaRPr sz="36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32"/>
          <p:cNvSpPr txBox="1"/>
          <p:nvPr/>
        </p:nvSpPr>
        <p:spPr>
          <a:xfrm>
            <a:off x="151448" y="1678841"/>
            <a:ext cx="11894778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When measuring the voltage across a component, the voltmeter is always connected </a:t>
            </a:r>
            <a:r>
              <a:rPr lang="en-GB" sz="2400" u="sng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in parallel with</a:t>
            </a:r>
            <a:r>
              <a:rPr lang="en-GB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(or across) the component.</a:t>
            </a:r>
            <a:endParaRPr/>
          </a:p>
        </p:txBody>
      </p:sp>
      <p:sp>
        <p:nvSpPr>
          <p:cNvPr id="460" name="Google Shape;460;p32"/>
          <p:cNvSpPr/>
          <p:nvPr/>
        </p:nvSpPr>
        <p:spPr>
          <a:xfrm>
            <a:off x="4383088" y="2532064"/>
            <a:ext cx="4661521" cy="2785372"/>
          </a:xfrm>
          <a:prstGeom prst="rect">
            <a:avLst/>
          </a:prstGeom>
          <a:gradFill>
            <a:gsLst>
              <a:gs pos="0">
                <a:schemeClr val="hlink"/>
              </a:gs>
              <a:gs pos="100000">
                <a:srgbClr val="FCFCFE"/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461" name="Google Shape;461;p32"/>
          <p:cNvCxnSpPr/>
          <p:nvPr/>
        </p:nvCxnSpPr>
        <p:spPr>
          <a:xfrm>
            <a:off x="6376989" y="3168651"/>
            <a:ext cx="1587" cy="315913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2" name="Google Shape;462;p32"/>
          <p:cNvCxnSpPr/>
          <p:nvPr/>
        </p:nvCxnSpPr>
        <p:spPr>
          <a:xfrm>
            <a:off x="6478589" y="3248025"/>
            <a:ext cx="1587" cy="15875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3" name="Google Shape;463;p32"/>
          <p:cNvCxnSpPr/>
          <p:nvPr/>
        </p:nvCxnSpPr>
        <p:spPr>
          <a:xfrm flipH="1" rot="10800000">
            <a:off x="4929189" y="3317876"/>
            <a:ext cx="1587" cy="987425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4" name="Google Shape;464;p32"/>
          <p:cNvCxnSpPr/>
          <p:nvPr/>
        </p:nvCxnSpPr>
        <p:spPr>
          <a:xfrm>
            <a:off x="4921250" y="3317875"/>
            <a:ext cx="1449388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5" name="Google Shape;465;p32"/>
          <p:cNvSpPr/>
          <p:nvPr/>
        </p:nvSpPr>
        <p:spPr>
          <a:xfrm>
            <a:off x="7653338" y="3573463"/>
            <a:ext cx="203200" cy="495300"/>
          </a:xfrm>
          <a:prstGeom prst="rect">
            <a:avLst/>
          </a:prstGeom>
          <a:gradFill>
            <a:gsLst>
              <a:gs pos="0">
                <a:srgbClr val="0000FF"/>
              </a:gs>
              <a:gs pos="100000">
                <a:srgbClr val="F2F2FF"/>
              </a:gs>
            </a:gsLst>
            <a:lin ang="0" scaled="0"/>
          </a:gra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466" name="Google Shape;466;p32"/>
          <p:cNvCxnSpPr/>
          <p:nvPr/>
        </p:nvCxnSpPr>
        <p:spPr>
          <a:xfrm flipH="1" rot="10800000">
            <a:off x="7480301" y="3594101"/>
            <a:ext cx="523875" cy="454025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67" name="Google Shape;467;p32"/>
          <p:cNvSpPr/>
          <p:nvPr/>
        </p:nvSpPr>
        <p:spPr>
          <a:xfrm>
            <a:off x="6119813" y="4794251"/>
            <a:ext cx="468312" cy="385763"/>
          </a:xfrm>
          <a:prstGeom prst="ellipse">
            <a:avLst/>
          </a:prstGeom>
          <a:solidFill>
            <a:srgbClr val="0000FF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V</a:t>
            </a:r>
            <a:r>
              <a:rPr b="1" baseline="-25000" lang="en-GB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3</a:t>
            </a:r>
            <a:endParaRPr b="1" sz="24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468" name="Google Shape;468;p32"/>
          <p:cNvCxnSpPr/>
          <p:nvPr/>
        </p:nvCxnSpPr>
        <p:spPr>
          <a:xfrm>
            <a:off x="5681663" y="4995864"/>
            <a:ext cx="431800" cy="1587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9" name="Google Shape;469;p32"/>
          <p:cNvCxnSpPr/>
          <p:nvPr/>
        </p:nvCxnSpPr>
        <p:spPr>
          <a:xfrm>
            <a:off x="7756525" y="4205289"/>
            <a:ext cx="922338" cy="1587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0" name="Google Shape;470;p32"/>
          <p:cNvSpPr/>
          <p:nvPr/>
        </p:nvSpPr>
        <p:spPr>
          <a:xfrm>
            <a:off x="8439151" y="3609976"/>
            <a:ext cx="468313" cy="385763"/>
          </a:xfrm>
          <a:prstGeom prst="ellipse">
            <a:avLst/>
          </a:prstGeom>
          <a:solidFill>
            <a:srgbClr val="0000FF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V</a:t>
            </a:r>
            <a:r>
              <a:rPr b="1" baseline="-25000" lang="en-GB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2</a:t>
            </a:r>
            <a:endParaRPr b="1" sz="24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471" name="Google Shape;471;p32"/>
          <p:cNvCxnSpPr/>
          <p:nvPr/>
        </p:nvCxnSpPr>
        <p:spPr>
          <a:xfrm>
            <a:off x="6611938" y="4983164"/>
            <a:ext cx="468312" cy="1587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2" name="Google Shape;472;p32"/>
          <p:cNvSpPr/>
          <p:nvPr/>
        </p:nvSpPr>
        <p:spPr>
          <a:xfrm>
            <a:off x="6108700" y="4117976"/>
            <a:ext cx="490538" cy="398463"/>
          </a:xfrm>
          <a:prstGeom prst="ellipse">
            <a:avLst/>
          </a:prstGeom>
          <a:solidFill>
            <a:srgbClr val="FFFF00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473" name="Google Shape;473;p32"/>
          <p:cNvSpPr/>
          <p:nvPr/>
        </p:nvSpPr>
        <p:spPr>
          <a:xfrm>
            <a:off x="6256338" y="4232276"/>
            <a:ext cx="184150" cy="149225"/>
          </a:xfrm>
          <a:prstGeom prst="ellipse">
            <a:avLst/>
          </a:prstGeom>
          <a:solidFill>
            <a:srgbClr val="FFFF00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474" name="Google Shape;474;p32"/>
          <p:cNvSpPr/>
          <p:nvPr/>
        </p:nvSpPr>
        <p:spPr>
          <a:xfrm>
            <a:off x="6240463" y="4305300"/>
            <a:ext cx="215900" cy="109538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475" name="Google Shape;475;p32"/>
          <p:cNvCxnSpPr/>
          <p:nvPr/>
        </p:nvCxnSpPr>
        <p:spPr>
          <a:xfrm>
            <a:off x="6430964" y="4292600"/>
            <a:ext cx="1341437" cy="1588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6" name="Google Shape;476;p32"/>
          <p:cNvCxnSpPr/>
          <p:nvPr/>
        </p:nvCxnSpPr>
        <p:spPr>
          <a:xfrm flipH="1" rot="10800000">
            <a:off x="7077075" y="4295775"/>
            <a:ext cx="1588" cy="687388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7" name="Google Shape;477;p32"/>
          <p:cNvSpPr/>
          <p:nvPr/>
        </p:nvSpPr>
        <p:spPr>
          <a:xfrm>
            <a:off x="6159501" y="2547938"/>
            <a:ext cx="468313" cy="385762"/>
          </a:xfrm>
          <a:prstGeom prst="ellipse">
            <a:avLst/>
          </a:prstGeom>
          <a:solidFill>
            <a:srgbClr val="0000FF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V</a:t>
            </a:r>
            <a:r>
              <a:rPr b="1" baseline="-25000" lang="en-GB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1</a:t>
            </a:r>
            <a:endParaRPr b="1" baseline="-25000" sz="24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478" name="Google Shape;478;p32"/>
          <p:cNvCxnSpPr/>
          <p:nvPr/>
        </p:nvCxnSpPr>
        <p:spPr>
          <a:xfrm flipH="1">
            <a:off x="5576889" y="2711450"/>
            <a:ext cx="568325" cy="1588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9" name="Google Shape;479;p32"/>
          <p:cNvCxnSpPr/>
          <p:nvPr/>
        </p:nvCxnSpPr>
        <p:spPr>
          <a:xfrm>
            <a:off x="5576888" y="2701925"/>
            <a:ext cx="0" cy="61595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0" name="Google Shape;480;p32"/>
          <p:cNvCxnSpPr/>
          <p:nvPr/>
        </p:nvCxnSpPr>
        <p:spPr>
          <a:xfrm>
            <a:off x="7170738" y="2722563"/>
            <a:ext cx="0" cy="595312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1" name="Google Shape;481;p32"/>
          <p:cNvCxnSpPr/>
          <p:nvPr/>
        </p:nvCxnSpPr>
        <p:spPr>
          <a:xfrm>
            <a:off x="6635750" y="2732089"/>
            <a:ext cx="546100" cy="1587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2" name="Google Shape;482;p32"/>
          <p:cNvCxnSpPr/>
          <p:nvPr/>
        </p:nvCxnSpPr>
        <p:spPr>
          <a:xfrm>
            <a:off x="7766050" y="3562350"/>
            <a:ext cx="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3" name="Google Shape;483;p32"/>
          <p:cNvCxnSpPr/>
          <p:nvPr/>
        </p:nvCxnSpPr>
        <p:spPr>
          <a:xfrm>
            <a:off x="6500813" y="3325813"/>
            <a:ext cx="1268412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4" name="Google Shape;484;p32"/>
          <p:cNvCxnSpPr/>
          <p:nvPr/>
        </p:nvCxnSpPr>
        <p:spPr>
          <a:xfrm rot="10800000">
            <a:off x="7754938" y="3325814"/>
            <a:ext cx="0" cy="255587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5" name="Google Shape;485;p32"/>
          <p:cNvCxnSpPr/>
          <p:nvPr/>
        </p:nvCxnSpPr>
        <p:spPr>
          <a:xfrm rot="10800000">
            <a:off x="8664575" y="4002089"/>
            <a:ext cx="0" cy="204787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6" name="Google Shape;486;p32"/>
          <p:cNvCxnSpPr/>
          <p:nvPr/>
        </p:nvCxnSpPr>
        <p:spPr>
          <a:xfrm flipH="1" rot="10800000">
            <a:off x="4932364" y="4295776"/>
            <a:ext cx="1316037" cy="9525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7" name="Google Shape;487;p32"/>
          <p:cNvCxnSpPr/>
          <p:nvPr/>
        </p:nvCxnSpPr>
        <p:spPr>
          <a:xfrm rot="10800000">
            <a:off x="7758113" y="4075114"/>
            <a:ext cx="0" cy="217487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8" name="Google Shape;488;p32"/>
          <p:cNvCxnSpPr/>
          <p:nvPr/>
        </p:nvCxnSpPr>
        <p:spPr>
          <a:xfrm>
            <a:off x="7754938" y="3459163"/>
            <a:ext cx="931862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9" name="Google Shape;489;p32"/>
          <p:cNvCxnSpPr/>
          <p:nvPr/>
        </p:nvCxnSpPr>
        <p:spPr>
          <a:xfrm>
            <a:off x="8669338" y="3462338"/>
            <a:ext cx="0" cy="15875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0" name="Google Shape;490;p32"/>
          <p:cNvSpPr txBox="1"/>
          <p:nvPr/>
        </p:nvSpPr>
        <p:spPr>
          <a:xfrm>
            <a:off x="151448" y="779098"/>
            <a:ext cx="12040551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We measure the voltage using a device called an voltmeter.  In a circuit this is given the symbol 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491" name="Google Shape;491;p32"/>
          <p:cNvSpPr/>
          <p:nvPr/>
        </p:nvSpPr>
        <p:spPr>
          <a:xfrm>
            <a:off x="2655156" y="1154135"/>
            <a:ext cx="533400" cy="533400"/>
          </a:xfrm>
          <a:prstGeom prst="ellipse">
            <a:avLst/>
          </a:prstGeom>
          <a:solidFill>
            <a:srgbClr val="0000FF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V</a:t>
            </a:r>
            <a:endParaRPr/>
          </a:p>
        </p:txBody>
      </p:sp>
      <p:sp>
        <p:nvSpPr>
          <p:cNvPr id="492" name="Google Shape;492;p32"/>
          <p:cNvSpPr txBox="1"/>
          <p:nvPr/>
        </p:nvSpPr>
        <p:spPr>
          <a:xfrm>
            <a:off x="151449" y="5170487"/>
            <a:ext cx="11894777" cy="76944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voltage supplied by the battery is </a:t>
            </a:r>
            <a:r>
              <a:rPr b="1" lang="en-GB" sz="2200" u="sng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shared</a:t>
            </a:r>
            <a:r>
              <a:rPr lang="en-GB" sz="22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between all the components in a SERIES circuit.</a:t>
            </a:r>
            <a:endParaRPr/>
          </a:p>
        </p:txBody>
      </p:sp>
      <p:sp>
        <p:nvSpPr>
          <p:cNvPr id="493" name="Google Shape;493;p32"/>
          <p:cNvSpPr txBox="1"/>
          <p:nvPr/>
        </p:nvSpPr>
        <p:spPr>
          <a:xfrm>
            <a:off x="2209800" y="2743200"/>
            <a:ext cx="17526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494" name="Google Shape;494;p32"/>
          <p:cNvSpPr txBox="1"/>
          <p:nvPr/>
        </p:nvSpPr>
        <p:spPr>
          <a:xfrm>
            <a:off x="1186352" y="2748745"/>
            <a:ext cx="3237645" cy="830997"/>
          </a:xfrm>
          <a:prstGeom prst="rect">
            <a:avLst/>
          </a:pr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This is still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a SERIES circuit.</a:t>
            </a:r>
            <a:endParaRPr sz="24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495" name="Google Shape;495;p32"/>
          <p:cNvCxnSpPr/>
          <p:nvPr/>
        </p:nvCxnSpPr>
        <p:spPr>
          <a:xfrm rot="10800000">
            <a:off x="5638800" y="4267200"/>
            <a:ext cx="0" cy="762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6" name="Google Shape;496;p32"/>
          <p:cNvSpPr/>
          <p:nvPr/>
        </p:nvSpPr>
        <p:spPr>
          <a:xfrm>
            <a:off x="151448" y="99716"/>
            <a:ext cx="4191952" cy="688076"/>
          </a:xfrm>
          <a:prstGeom prst="rect">
            <a:avLst/>
          </a:prstGeom>
          <a:solidFill>
            <a:srgbClr val="660066"/>
          </a:solidFill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Measuring voltage</a:t>
            </a:r>
            <a:endParaRPr sz="36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497" name="Google Shape;497;p32"/>
          <p:cNvSpPr/>
          <p:nvPr/>
        </p:nvSpPr>
        <p:spPr>
          <a:xfrm>
            <a:off x="5626657" y="113698"/>
            <a:ext cx="301672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https://youtu.be/m4jzgqZu-4s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32"/>
          <p:cNvSpPr txBox="1"/>
          <p:nvPr/>
        </p:nvSpPr>
        <p:spPr>
          <a:xfrm>
            <a:off x="151448" y="6072802"/>
            <a:ext cx="11894778" cy="769441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voltage supplied by the battery is </a:t>
            </a:r>
            <a:r>
              <a:rPr b="1" lang="en-GB" sz="2200" u="sng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same</a:t>
            </a:r>
            <a:r>
              <a:rPr b="1" lang="en-GB" sz="22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r>
              <a:rPr lang="en-GB" sz="22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over all the components in a PARALLEL circuit.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32752" y="14068"/>
            <a:ext cx="5555500" cy="6830739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33"/>
          <p:cNvSpPr txBox="1"/>
          <p:nvPr>
            <p:ph type="title"/>
          </p:nvPr>
        </p:nvSpPr>
        <p:spPr>
          <a:xfrm>
            <a:off x="0" y="-143877"/>
            <a:ext cx="6724357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omic Sans MS"/>
              <a:buNone/>
            </a:pPr>
            <a:r>
              <a:rPr lang="en-GB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Class Practical (30 mins)</a:t>
            </a:r>
            <a:endParaRPr/>
          </a:p>
        </p:txBody>
      </p:sp>
      <p:sp>
        <p:nvSpPr>
          <p:cNvPr id="505" name="Google Shape;505;p33"/>
          <p:cNvSpPr txBox="1"/>
          <p:nvPr>
            <p:ph idx="1" type="body"/>
          </p:nvPr>
        </p:nvSpPr>
        <p:spPr>
          <a:xfrm>
            <a:off x="126610" y="1181686"/>
            <a:ext cx="6217919" cy="54582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</a:pPr>
            <a:r>
              <a:rPr lang="en-GB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Following the method outlined on the worksheet. 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</a:pPr>
            <a:r>
              <a:rPr lang="en-GB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1. Complete the practical.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</a:pPr>
            <a:r>
              <a:rPr lang="en-GB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2. Draw the graph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</a:pPr>
            <a:r>
              <a:rPr lang="en-GB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3. Write a conclusion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</a:pPr>
            <a:r>
              <a:rPr lang="en-GB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4. Glue in your sheet.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66"/>
              </a:buClr>
              <a:buSzPts val="2800"/>
              <a:buChar char="•"/>
            </a:pPr>
            <a:r>
              <a:rPr b="1" lang="en-GB" u="sng">
                <a:solidFill>
                  <a:srgbClr val="FF0066"/>
                </a:solidFill>
                <a:latin typeface="Comic Sans MS"/>
                <a:ea typeface="Comic Sans MS"/>
                <a:cs typeface="Comic Sans MS"/>
                <a:sym typeface="Comic Sans MS"/>
              </a:rPr>
              <a:t>Safety: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66"/>
              </a:buClr>
              <a:buSzPts val="2800"/>
              <a:buChar char="•"/>
            </a:pPr>
            <a:r>
              <a:rPr lang="en-GB">
                <a:solidFill>
                  <a:srgbClr val="FF0066"/>
                </a:solidFill>
                <a:latin typeface="Comic Sans MS"/>
                <a:ea typeface="Comic Sans MS"/>
                <a:cs typeface="Comic Sans MS"/>
                <a:sym typeface="Comic Sans MS"/>
              </a:rPr>
              <a:t>Put newspaper on benches before setting up circuits.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66"/>
              </a:buClr>
              <a:buSzPts val="2800"/>
              <a:buChar char="•"/>
            </a:pPr>
            <a:r>
              <a:rPr lang="en-GB">
                <a:solidFill>
                  <a:srgbClr val="FF0066"/>
                </a:solidFill>
                <a:latin typeface="Comic Sans MS"/>
                <a:ea typeface="Comic Sans MS"/>
                <a:cs typeface="Comic Sans MS"/>
                <a:sym typeface="Comic Sans MS"/>
              </a:rPr>
              <a:t>Make sure the area is DRY (stay away from the taps!)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