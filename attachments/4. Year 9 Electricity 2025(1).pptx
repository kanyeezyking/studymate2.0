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9" roundtripDataSignature="AMtx7mgTZoWg/EgKkPIKidllu36NJVie6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C35D4F3-39BB-45F4-8E88-CFA1A9BDE386}">
  <a:tblStyle styleId="{9C35D4F3-39BB-45F4-8E88-CFA1A9BDE386}"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 name="Google Shape;8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 name="Google Shape;9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 name="Google Shape;10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 name="Google Shape;11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 name="Google Shape;12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 name="Google Shape;12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3" name="Google Shape;14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7" name="Google Shape;15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4" name="Google Shape;18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ac8a406eda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ac8a406eda_0_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g3ac8a406eda_0_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8" name="Google Shape;19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4" name="Google Shape;25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2" name="Google Shape;26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9" name="Google Shape;26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3" name="Google Shape;28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ac8a406eda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ac8a406eda_0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g3ac8a406eda_0_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7" name="Google Shape;29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8" name="Google Shape;34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 name="Shape 19"/>
        <p:cNvGrpSpPr/>
        <p:nvPr/>
      </p:nvGrpSpPr>
      <p:grpSpPr>
        <a:xfrm>
          <a:off x="0" y="0"/>
          <a:ext cx="0" cy="0"/>
          <a:chOff x="0" y="0"/>
          <a:chExt cx="0" cy="0"/>
        </a:xfrm>
      </p:grpSpPr>
      <p:sp>
        <p:nvSpPr>
          <p:cNvPr id="20" name="Google Shape;20;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type="tbl">
  <p:cSld name="TABLE">
    <p:spTree>
      <p:nvGrpSpPr>
        <p:cNvPr id="30" name="Shape 30"/>
        <p:cNvGrpSpPr/>
        <p:nvPr/>
      </p:nvGrpSpPr>
      <p:grpSpPr>
        <a:xfrm>
          <a:off x="0" y="0"/>
          <a:ext cx="0" cy="0"/>
          <a:chOff x="0" y="0"/>
          <a:chExt cx="0" cy="0"/>
        </a:xfrm>
      </p:grpSpPr>
      <p:sp>
        <p:nvSpPr>
          <p:cNvPr id="31" name="Google Shape;31;p26"/>
          <p:cNvSpPr txBox="1"/>
          <p:nvPr>
            <p:ph type="title"/>
          </p:nvPr>
        </p:nvSpPr>
        <p:spPr>
          <a:xfrm>
            <a:off x="838200" y="365126"/>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6"/>
          <p:cNvSpPr/>
          <p:nvPr>
            <p:ph idx="2" type="tbl"/>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0" name="Shape 40"/>
        <p:cNvGrpSpPr/>
        <p:nvPr/>
      </p:nvGrpSpPr>
      <p:grpSpPr>
        <a:xfrm>
          <a:off x="0" y="0"/>
          <a:ext cx="0" cy="0"/>
          <a:chOff x="0" y="0"/>
          <a:chExt cx="0" cy="0"/>
        </a:xfrm>
      </p:grpSpPr>
      <p:sp>
        <p:nvSpPr>
          <p:cNvPr id="41" name="Google Shape;41;p2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43" name="Google Shape;43;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6" name="Shape 46"/>
        <p:cNvGrpSpPr/>
        <p:nvPr/>
      </p:nvGrpSpPr>
      <p:grpSpPr>
        <a:xfrm>
          <a:off x="0" y="0"/>
          <a:ext cx="0" cy="0"/>
          <a:chOff x="0" y="0"/>
          <a:chExt cx="0" cy="0"/>
        </a:xfrm>
      </p:grpSpPr>
      <p:sp>
        <p:nvSpPr>
          <p:cNvPr id="47" name="Google Shape;47;p2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9" name="Google Shape;49;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2" name="Shape 52"/>
        <p:cNvGrpSpPr/>
        <p:nvPr/>
      </p:nvGrpSpPr>
      <p:grpSpPr>
        <a:xfrm>
          <a:off x="0" y="0"/>
          <a:ext cx="0" cy="0"/>
          <a:chOff x="0" y="0"/>
          <a:chExt cx="0" cy="0"/>
        </a:xfrm>
      </p:grpSpPr>
      <p:sp>
        <p:nvSpPr>
          <p:cNvPr id="53" name="Google Shape;53;p3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3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5" name="Google Shape;55;p3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3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7" name="Google Shape;57;p3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1" name="Shape 61"/>
        <p:cNvGrpSpPr/>
        <p:nvPr/>
      </p:nvGrpSpPr>
      <p:grpSpPr>
        <a:xfrm>
          <a:off x="0" y="0"/>
          <a:ext cx="0" cy="0"/>
          <a:chOff x="0" y="0"/>
          <a:chExt cx="0" cy="0"/>
        </a:xfrm>
      </p:grpSpPr>
      <p:sp>
        <p:nvSpPr>
          <p:cNvPr id="62" name="Google Shape;62;p3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4" name="Google Shape;64;p3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8" name="Shape 68"/>
        <p:cNvGrpSpPr/>
        <p:nvPr/>
      </p:nvGrpSpPr>
      <p:grpSpPr>
        <a:xfrm>
          <a:off x="0" y="0"/>
          <a:ext cx="0" cy="0"/>
          <a:chOff x="0" y="0"/>
          <a:chExt cx="0" cy="0"/>
        </a:xfrm>
      </p:grpSpPr>
      <p:sp>
        <p:nvSpPr>
          <p:cNvPr id="69" name="Google Shape;69;p3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2"/>
          <p:cNvSpPr/>
          <p:nvPr>
            <p:ph idx="2" type="pic"/>
          </p:nvPr>
        </p:nvSpPr>
        <p:spPr>
          <a:xfrm>
            <a:off x="5183188" y="987425"/>
            <a:ext cx="6172200" cy="4873625"/>
          </a:xfrm>
          <a:prstGeom prst="rect">
            <a:avLst/>
          </a:prstGeom>
          <a:noFill/>
          <a:ln>
            <a:noFill/>
          </a:ln>
        </p:spPr>
      </p:sp>
      <p:sp>
        <p:nvSpPr>
          <p:cNvPr id="71" name="Google Shape;71;p3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2" name="Google Shape;72;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5" name="Shape 75"/>
        <p:cNvGrpSpPr/>
        <p:nvPr/>
      </p:nvGrpSpPr>
      <p:grpSpPr>
        <a:xfrm>
          <a:off x="0" y="0"/>
          <a:ext cx="0" cy="0"/>
          <a:chOff x="0" y="0"/>
          <a:chExt cx="0" cy="0"/>
        </a:xfrm>
      </p:grpSpPr>
      <p:sp>
        <p:nvSpPr>
          <p:cNvPr id="76" name="Google Shape;76;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1" name="Shape 81"/>
        <p:cNvGrpSpPr/>
        <p:nvPr/>
      </p:nvGrpSpPr>
      <p:grpSpPr>
        <a:xfrm>
          <a:off x="0" y="0"/>
          <a:ext cx="0" cy="0"/>
          <a:chOff x="0" y="0"/>
          <a:chExt cx="0" cy="0"/>
        </a:xfrm>
      </p:grpSpPr>
      <p:sp>
        <p:nvSpPr>
          <p:cNvPr id="82" name="Google Shape;82;p3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 name="Shape 9"/>
        <p:cNvGrpSpPr/>
        <p:nvPr/>
      </p:nvGrpSpPr>
      <p:grpSpPr>
        <a:xfrm>
          <a:off x="0" y="0"/>
          <a:ext cx="0" cy="0"/>
          <a:chOff x="0" y="0"/>
          <a:chExt cx="0" cy="0"/>
        </a:xfrm>
      </p:grpSpPr>
      <p:sp>
        <p:nvSpPr>
          <p:cNvPr id="10" name="Google Shape;10;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jp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jp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jp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hyperlink" Target="http://www.youtube.com/watch?v=AMXWm_bnsTE" TargetMode="External"/><Relationship Id="rId4" Type="http://schemas.openxmlformats.org/officeDocument/2006/relationships/image" Target="../media/image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9.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
          <p:cNvSpPr/>
          <p:nvPr/>
        </p:nvSpPr>
        <p:spPr>
          <a:xfrm>
            <a:off x="5013857" y="189886"/>
            <a:ext cx="5678644" cy="1624185"/>
          </a:xfrm>
          <a:prstGeom prst="rect">
            <a:avLst/>
          </a:prstGeom>
        </p:spPr>
        <p:txBody>
          <a:bodyPr>
            <a:prstTxWarp prst="textPlain"/>
          </a:bodyPr>
          <a:lstStyle/>
          <a:p>
            <a:pPr lvl="0" algn="l"/>
            <a:r>
              <a:rPr b="0" i="0">
                <a:ln>
                  <a:noFill/>
                </a:ln>
                <a:gradFill>
                  <a:gsLst>
                    <a:gs pos="0">
                      <a:srgbClr val="FFFF00"/>
                    </a:gs>
                    <a:gs pos="100000">
                      <a:srgbClr val="FF9933"/>
                    </a:gs>
                  </a:gsLst>
                  <a:path path="circle">
                    <a:fillToRect b="50%" l="50%" r="50%" t="50%"/>
                  </a:path>
                  <a:tileRect/>
                </a:gradFill>
                <a:latin typeface="Arial"/>
              </a:rPr>
              <a:t>Electricity</a:t>
            </a:r>
          </a:p>
        </p:txBody>
      </p:sp>
      <p:sp>
        <p:nvSpPr>
          <p:cNvPr id="92" name="Google Shape;92;p1"/>
          <p:cNvSpPr txBox="1"/>
          <p:nvPr/>
        </p:nvSpPr>
        <p:spPr>
          <a:xfrm>
            <a:off x="863099" y="4043411"/>
            <a:ext cx="10939800" cy="2247300"/>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rgbClr val="000000"/>
              </a:buClr>
              <a:buSzPts val="2800"/>
              <a:buFont typeface="Arial"/>
              <a:buNone/>
            </a:pPr>
            <a:r>
              <a:rPr b="0" i="0" lang="en-GB" sz="2800" u="sng" cap="none" strike="noStrike">
                <a:solidFill>
                  <a:srgbClr val="FFFF00"/>
                </a:solidFill>
                <a:latin typeface="Arial"/>
                <a:ea typeface="Arial"/>
                <a:cs typeface="Arial"/>
                <a:sym typeface="Arial"/>
              </a:rPr>
              <a:t>Learning Objectives: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2800"/>
              <a:buFont typeface="Arial"/>
              <a:buNone/>
            </a:pPr>
            <a:r>
              <a:t/>
            </a:r>
            <a:endParaRPr b="0" i="0" sz="2800" u="sng" cap="none" strike="noStrike">
              <a:solidFill>
                <a:srgbClr val="FFFF00"/>
              </a:solidFill>
              <a:latin typeface="Arial"/>
              <a:ea typeface="Arial"/>
              <a:cs typeface="Arial"/>
              <a:sym typeface="Arial"/>
            </a:endParaRPr>
          </a:p>
          <a:p>
            <a:pPr indent="-514350" lvl="0" marL="514350" marR="0" rtl="0" algn="l">
              <a:lnSpc>
                <a:spcPct val="100000"/>
              </a:lnSpc>
              <a:spcBef>
                <a:spcPts val="0"/>
              </a:spcBef>
              <a:spcAft>
                <a:spcPts val="0"/>
              </a:spcAft>
              <a:buClr>
                <a:srgbClr val="FFFF00"/>
              </a:buClr>
              <a:buSzPts val="2800"/>
              <a:buFont typeface="Arial"/>
              <a:buAutoNum type="arabicPeriod"/>
            </a:pPr>
            <a:r>
              <a:rPr b="0" i="0" lang="en-GB" sz="2800" u="none" cap="none" strike="noStrike">
                <a:solidFill>
                  <a:srgbClr val="FFFF00"/>
                </a:solidFill>
                <a:latin typeface="Arial"/>
                <a:ea typeface="Arial"/>
                <a:cs typeface="Arial"/>
                <a:sym typeface="Arial"/>
              </a:rPr>
              <a:t>To understand the difference between voltage and current.</a:t>
            </a:r>
            <a:endParaRPr b="0" i="0" sz="2800" u="none" cap="none" strike="noStrike">
              <a:solidFill>
                <a:srgbClr val="FFFF00"/>
              </a:solidFill>
              <a:latin typeface="Arial"/>
              <a:ea typeface="Arial"/>
              <a:cs typeface="Arial"/>
              <a:sym typeface="Arial"/>
            </a:endParaRPr>
          </a:p>
          <a:p>
            <a:pPr indent="-514350" lvl="0" marL="514350" marR="0" rtl="0" algn="l">
              <a:lnSpc>
                <a:spcPct val="100000"/>
              </a:lnSpc>
              <a:spcBef>
                <a:spcPts val="0"/>
              </a:spcBef>
              <a:spcAft>
                <a:spcPts val="0"/>
              </a:spcAft>
              <a:buClr>
                <a:srgbClr val="FFFF00"/>
              </a:buClr>
              <a:buSzPts val="2800"/>
              <a:buFont typeface="Arial"/>
              <a:buAutoNum type="arabicPeriod"/>
            </a:pPr>
            <a:r>
              <a:rPr b="0" i="0" lang="en-GB" sz="2800" u="none" cap="none" strike="noStrike">
                <a:solidFill>
                  <a:srgbClr val="FFFF00"/>
                </a:solidFill>
                <a:latin typeface="Arial"/>
                <a:ea typeface="Arial"/>
                <a:cs typeface="Arial"/>
                <a:sym typeface="Arial"/>
              </a:rPr>
              <a:t>To identify the symbols for electrical components.</a:t>
            </a:r>
            <a:endParaRPr b="0" i="0" sz="1400" u="none" cap="none" strike="noStrike">
              <a:solidFill>
                <a:srgbClr val="000000"/>
              </a:solidFill>
              <a:latin typeface="Arial"/>
              <a:ea typeface="Arial"/>
              <a:cs typeface="Arial"/>
              <a:sym typeface="Arial"/>
            </a:endParaRPr>
          </a:p>
          <a:p>
            <a:pPr indent="-514350" lvl="0" marL="514350" marR="0" rtl="0" algn="l">
              <a:lnSpc>
                <a:spcPct val="100000"/>
              </a:lnSpc>
              <a:spcBef>
                <a:spcPts val="0"/>
              </a:spcBef>
              <a:spcAft>
                <a:spcPts val="0"/>
              </a:spcAft>
              <a:buClr>
                <a:srgbClr val="FFFF00"/>
              </a:buClr>
              <a:buSzPts val="2800"/>
              <a:buFont typeface="Arial"/>
              <a:buAutoNum type="arabicPeriod"/>
            </a:pPr>
            <a:r>
              <a:rPr b="0" i="0" lang="en-GB" sz="2800" u="none" cap="none" strike="noStrike">
                <a:solidFill>
                  <a:srgbClr val="FFFF00"/>
                </a:solidFill>
                <a:latin typeface="Arial"/>
                <a:ea typeface="Arial"/>
                <a:cs typeface="Arial"/>
                <a:sym typeface="Arial"/>
              </a:rPr>
              <a:t>To begin drawing circuit diagrams scientifically. </a:t>
            </a:r>
            <a:endParaRPr b="0" i="0" sz="2800" u="none" cap="none" strike="noStrike">
              <a:solidFill>
                <a:srgbClr val="FFFF00"/>
              </a:solidFill>
              <a:latin typeface="Arial"/>
              <a:ea typeface="Arial"/>
              <a:cs typeface="Arial"/>
              <a:sym typeface="Arial"/>
            </a:endParaRPr>
          </a:p>
        </p:txBody>
      </p:sp>
      <p:pic>
        <p:nvPicPr>
          <p:cNvPr id="93" name="Google Shape;93;p1"/>
          <p:cNvPicPr preferRelativeResize="0"/>
          <p:nvPr/>
        </p:nvPicPr>
        <p:blipFill rotWithShape="1">
          <a:blip r:embed="rId3">
            <a:alphaModFix/>
          </a:blip>
          <a:srcRect b="0" l="0" r="0" t="0"/>
          <a:stretch/>
        </p:blipFill>
        <p:spPr>
          <a:xfrm>
            <a:off x="5079682" y="1857375"/>
            <a:ext cx="6042477" cy="1672471"/>
          </a:xfrm>
          <a:prstGeom prst="rect">
            <a:avLst/>
          </a:prstGeom>
          <a:noFill/>
          <a:ln>
            <a:noFill/>
          </a:ln>
        </p:spPr>
      </p:pic>
      <p:pic>
        <p:nvPicPr>
          <p:cNvPr id="94" name="Google Shape;94;p1"/>
          <p:cNvPicPr preferRelativeResize="0"/>
          <p:nvPr/>
        </p:nvPicPr>
        <p:blipFill rotWithShape="1">
          <a:blip r:embed="rId4">
            <a:alphaModFix/>
          </a:blip>
          <a:srcRect b="0" l="0" r="0" t="0"/>
          <a:stretch/>
        </p:blipFill>
        <p:spPr>
          <a:xfrm>
            <a:off x="15313" y="0"/>
            <a:ext cx="4857750" cy="37147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
          <p:cNvSpPr txBox="1"/>
          <p:nvPr>
            <p:ph type="title"/>
          </p:nvPr>
        </p:nvSpPr>
        <p:spPr>
          <a:xfrm>
            <a:off x="1981200" y="188914"/>
            <a:ext cx="8229600" cy="77787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FF00"/>
              </a:buClr>
              <a:buSzPts val="4400"/>
              <a:buFont typeface="Comic Sans MS"/>
              <a:buNone/>
            </a:pPr>
            <a:r>
              <a:rPr lang="en-GB">
                <a:solidFill>
                  <a:srgbClr val="FFFF00"/>
                </a:solidFill>
                <a:latin typeface="Arial"/>
                <a:ea typeface="Arial"/>
                <a:cs typeface="Arial"/>
                <a:sym typeface="Arial"/>
              </a:rPr>
              <a:t>The 9 types of energy</a:t>
            </a:r>
            <a:endParaRPr>
              <a:latin typeface="Arial"/>
              <a:ea typeface="Arial"/>
              <a:cs typeface="Arial"/>
              <a:sym typeface="Arial"/>
            </a:endParaRPr>
          </a:p>
        </p:txBody>
      </p:sp>
      <p:sp>
        <p:nvSpPr>
          <p:cNvPr id="100" name="Google Shape;100;p2"/>
          <p:cNvSpPr txBox="1"/>
          <p:nvPr/>
        </p:nvSpPr>
        <p:spPr>
          <a:xfrm>
            <a:off x="5867400" y="1866900"/>
            <a:ext cx="20193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omic Sans MS"/>
              <a:ea typeface="Comic Sans MS"/>
              <a:cs typeface="Comic Sans MS"/>
              <a:sym typeface="Comic Sans MS"/>
            </a:endParaRPr>
          </a:p>
        </p:txBody>
      </p:sp>
      <p:sp>
        <p:nvSpPr>
          <p:cNvPr id="101" name="Google Shape;101;p2"/>
          <p:cNvSpPr txBox="1"/>
          <p:nvPr/>
        </p:nvSpPr>
        <p:spPr>
          <a:xfrm>
            <a:off x="399245" y="831740"/>
            <a:ext cx="11410800" cy="6557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GB" sz="3600" u="none" cap="none" strike="noStrike">
                <a:solidFill>
                  <a:schemeClr val="lt1"/>
                </a:solidFill>
                <a:latin typeface="Arial"/>
                <a:ea typeface="Arial"/>
                <a:cs typeface="Arial"/>
                <a:sym typeface="Arial"/>
              </a:rPr>
              <a:t>Starter: On your whiteboard write down the nine (9) forms of energy.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0" i="0" lang="en-GB" sz="3600" u="none" cap="none" strike="noStrike">
                <a:solidFill>
                  <a:schemeClr val="lt1"/>
                </a:solidFill>
                <a:latin typeface="Arial"/>
                <a:ea typeface="Arial"/>
                <a:cs typeface="Arial"/>
                <a:sym typeface="Arial"/>
              </a:rPr>
              <a:t>- S ________</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0" i="0" lang="en-GB" sz="3600" u="none" cap="none" strike="noStrike">
                <a:solidFill>
                  <a:schemeClr val="lt1"/>
                </a:solidFill>
                <a:latin typeface="Arial"/>
                <a:ea typeface="Arial"/>
                <a:cs typeface="Arial"/>
                <a:sym typeface="Arial"/>
              </a:rPr>
              <a:t>- H ________ or T_________</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0" i="0" lang="en-GB" sz="3600" u="none" cap="none" strike="noStrike">
                <a:solidFill>
                  <a:schemeClr val="lt1"/>
                </a:solidFill>
                <a:latin typeface="Arial"/>
                <a:ea typeface="Arial"/>
                <a:cs typeface="Arial"/>
                <a:sym typeface="Arial"/>
              </a:rPr>
              <a:t>- N________</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0" i="0" lang="en-GB" sz="3600" u="none" cap="none" strike="noStrike">
                <a:solidFill>
                  <a:schemeClr val="lt1"/>
                </a:solidFill>
                <a:latin typeface="Arial"/>
                <a:ea typeface="Arial"/>
                <a:cs typeface="Arial"/>
                <a:sym typeface="Arial"/>
              </a:rPr>
              <a:t>- M________ or K _________</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0" i="0" lang="en-GB" sz="3600" u="none" cap="none" strike="noStrike">
                <a:solidFill>
                  <a:schemeClr val="lt1"/>
                </a:solidFill>
                <a:latin typeface="Arial"/>
                <a:ea typeface="Arial"/>
                <a:cs typeface="Arial"/>
                <a:sym typeface="Arial"/>
              </a:rPr>
              <a:t>- L ________</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0" i="0" lang="en-GB" sz="3600" u="none" cap="none" strike="noStrike">
                <a:solidFill>
                  <a:schemeClr val="lt1"/>
                </a:solidFill>
                <a:latin typeface="Arial"/>
                <a:ea typeface="Arial"/>
                <a:cs typeface="Arial"/>
                <a:sym typeface="Arial"/>
              </a:rPr>
              <a:t>- E________</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0" i="0" lang="en-GB" sz="3600" u="none" cap="none" strike="noStrike">
                <a:solidFill>
                  <a:schemeClr val="lt1"/>
                </a:solidFill>
                <a:latin typeface="Arial"/>
                <a:ea typeface="Arial"/>
                <a:cs typeface="Arial"/>
                <a:sym typeface="Arial"/>
              </a:rPr>
              <a:t>- C_________</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0" i="0" lang="en-GB" sz="3600" u="none" cap="none" strike="noStrike">
                <a:solidFill>
                  <a:schemeClr val="lt1"/>
                </a:solidFill>
                <a:latin typeface="Arial"/>
                <a:ea typeface="Arial"/>
                <a:cs typeface="Arial"/>
                <a:sym typeface="Arial"/>
              </a:rPr>
              <a:t>- G_________   P_________</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0" i="0" lang="en-GB" sz="3600" u="none" cap="none" strike="noStrike">
                <a:solidFill>
                  <a:schemeClr val="lt1"/>
                </a:solidFill>
                <a:latin typeface="Arial"/>
                <a:ea typeface="Arial"/>
                <a:cs typeface="Arial"/>
                <a:sym typeface="Arial"/>
              </a:rPr>
              <a:t>- E_________   P_________</a:t>
            </a:r>
            <a:endParaRPr b="0" i="0" sz="2400" u="none" cap="none" strike="noStrike">
              <a:solidFill>
                <a:srgbClr val="00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GB" sz="2400" u="none" cap="none" strike="noStrike">
                <a:solidFill>
                  <a:srgbClr val="00FFFF"/>
                </a:solidFill>
                <a:latin typeface="Comic Sans MS"/>
                <a:ea typeface="Comic Sans MS"/>
                <a:cs typeface="Comic Sans MS"/>
                <a:sym typeface="Comic Sans MS"/>
              </a:rPr>
              <a:t>        </a:t>
            </a:r>
            <a:endParaRPr b="0" i="0" sz="2400" u="none" cap="none" strike="noStrike">
              <a:solidFill>
                <a:srgbClr val="00FFFF"/>
              </a:solidFill>
              <a:latin typeface="Comic Sans MS"/>
              <a:ea typeface="Comic Sans MS"/>
              <a:cs typeface="Comic Sans MS"/>
              <a:sym typeface="Comic Sans M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3"/>
          <p:cNvSpPr txBox="1"/>
          <p:nvPr>
            <p:ph type="title"/>
          </p:nvPr>
        </p:nvSpPr>
        <p:spPr>
          <a:xfrm>
            <a:off x="1981200" y="188914"/>
            <a:ext cx="8229600" cy="77787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FF00"/>
              </a:buClr>
              <a:buSzPts val="4400"/>
              <a:buFont typeface="Comic Sans MS"/>
              <a:buNone/>
            </a:pPr>
            <a:r>
              <a:rPr lang="en-GB">
                <a:solidFill>
                  <a:srgbClr val="FFFF00"/>
                </a:solidFill>
                <a:latin typeface="Arial"/>
                <a:ea typeface="Arial"/>
                <a:cs typeface="Arial"/>
                <a:sym typeface="Arial"/>
              </a:rPr>
              <a:t>The 9 types of energy</a:t>
            </a:r>
            <a:endParaRPr>
              <a:latin typeface="Arial"/>
              <a:ea typeface="Arial"/>
              <a:cs typeface="Arial"/>
              <a:sym typeface="Arial"/>
            </a:endParaRPr>
          </a:p>
        </p:txBody>
      </p:sp>
      <p:sp>
        <p:nvSpPr>
          <p:cNvPr id="107" name="Google Shape;107;p3"/>
          <p:cNvSpPr txBox="1"/>
          <p:nvPr/>
        </p:nvSpPr>
        <p:spPr>
          <a:xfrm>
            <a:off x="5867400" y="1866900"/>
            <a:ext cx="20193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omic Sans MS"/>
              <a:ea typeface="Comic Sans MS"/>
              <a:cs typeface="Comic Sans MS"/>
              <a:sym typeface="Comic Sans MS"/>
            </a:endParaRPr>
          </a:p>
        </p:txBody>
      </p:sp>
      <p:sp>
        <p:nvSpPr>
          <p:cNvPr id="108" name="Google Shape;108;p3"/>
          <p:cNvSpPr txBox="1"/>
          <p:nvPr/>
        </p:nvSpPr>
        <p:spPr>
          <a:xfrm>
            <a:off x="399245" y="831740"/>
            <a:ext cx="11410800" cy="6003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GB" sz="3600" u="none" cap="none" strike="noStrike">
                <a:solidFill>
                  <a:schemeClr val="lt1"/>
                </a:solidFill>
                <a:latin typeface="Arial"/>
                <a:ea typeface="Arial"/>
                <a:cs typeface="Arial"/>
                <a:sym typeface="Arial"/>
              </a:rPr>
              <a:t>In YOUR BOOK write the nine forms of energy.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0" i="0" lang="en-GB" sz="3600" u="none" cap="none" strike="noStrike">
                <a:solidFill>
                  <a:srgbClr val="FFC000"/>
                </a:solidFill>
                <a:latin typeface="Arial"/>
                <a:ea typeface="Arial"/>
                <a:cs typeface="Arial"/>
                <a:sym typeface="Arial"/>
              </a:rPr>
              <a:t>- Sound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0" i="0" lang="en-GB" sz="3600" u="none" cap="none" strike="noStrike">
                <a:solidFill>
                  <a:srgbClr val="FFC000"/>
                </a:solidFill>
                <a:latin typeface="Arial"/>
                <a:ea typeface="Arial"/>
                <a:cs typeface="Arial"/>
                <a:sym typeface="Arial"/>
              </a:rPr>
              <a:t>- Heat or Thermal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0" i="0" lang="en-GB" sz="3600" u="none" cap="none" strike="noStrike">
                <a:solidFill>
                  <a:srgbClr val="FFC000"/>
                </a:solidFill>
                <a:latin typeface="Arial"/>
                <a:ea typeface="Arial"/>
                <a:cs typeface="Arial"/>
                <a:sym typeface="Arial"/>
              </a:rPr>
              <a:t>- Nuclear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0" i="0" lang="en-GB" sz="3600" u="none" cap="none" strike="noStrike">
                <a:solidFill>
                  <a:srgbClr val="FFC000"/>
                </a:solidFill>
                <a:latin typeface="Arial"/>
                <a:ea typeface="Arial"/>
                <a:cs typeface="Arial"/>
                <a:sym typeface="Arial"/>
              </a:rPr>
              <a:t>- Movement or Kinetic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0" i="0" lang="en-GB" sz="3600" u="none" cap="none" strike="noStrike">
                <a:solidFill>
                  <a:srgbClr val="FFC000"/>
                </a:solidFill>
                <a:latin typeface="Arial"/>
                <a:ea typeface="Arial"/>
                <a:cs typeface="Arial"/>
                <a:sym typeface="Arial"/>
              </a:rPr>
              <a:t>- Light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0" i="0" lang="en-GB" sz="3600" u="none" cap="none" strike="noStrike">
                <a:solidFill>
                  <a:srgbClr val="FFC000"/>
                </a:solidFill>
                <a:latin typeface="Arial"/>
                <a:ea typeface="Arial"/>
                <a:cs typeface="Arial"/>
                <a:sym typeface="Arial"/>
              </a:rPr>
              <a:t>- Electrical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0" i="0" lang="en-GB" sz="3600" u="none" cap="none" strike="noStrike">
                <a:solidFill>
                  <a:srgbClr val="FFC000"/>
                </a:solidFill>
                <a:latin typeface="Arial"/>
                <a:ea typeface="Arial"/>
                <a:cs typeface="Arial"/>
                <a:sym typeface="Arial"/>
              </a:rPr>
              <a:t>- Chemical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0" i="0" lang="en-GB" sz="3600" u="none" cap="none" strike="noStrike">
                <a:solidFill>
                  <a:srgbClr val="FFC000"/>
                </a:solidFill>
                <a:latin typeface="Arial"/>
                <a:ea typeface="Arial"/>
                <a:cs typeface="Arial"/>
                <a:sym typeface="Arial"/>
              </a:rPr>
              <a:t>- Gravitational  Potential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0" i="0" lang="en-GB" sz="3600" u="none" cap="none" strike="noStrike">
                <a:solidFill>
                  <a:srgbClr val="FFC000"/>
                </a:solidFill>
                <a:latin typeface="Arial"/>
                <a:ea typeface="Arial"/>
                <a:cs typeface="Arial"/>
                <a:sym typeface="Arial"/>
              </a:rPr>
              <a:t>- Elastic  Potential</a:t>
            </a:r>
            <a:endParaRPr b="0" i="0" sz="2400" u="none" cap="none" strike="noStrike">
              <a:solidFill>
                <a:srgbClr val="FFC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GB" sz="2400" u="none" cap="none" strike="noStrike">
                <a:solidFill>
                  <a:srgbClr val="00FFFF"/>
                </a:solidFill>
                <a:latin typeface="Comic Sans MS"/>
                <a:ea typeface="Comic Sans MS"/>
                <a:cs typeface="Comic Sans MS"/>
                <a:sym typeface="Comic Sans MS"/>
              </a:rPr>
              <a:t>        </a:t>
            </a:r>
            <a:endParaRPr b="0" i="0" sz="2400" u="none" cap="none" strike="noStrike">
              <a:solidFill>
                <a:srgbClr val="00FFFF"/>
              </a:solidFill>
              <a:latin typeface="Comic Sans MS"/>
              <a:ea typeface="Comic Sans MS"/>
              <a:cs typeface="Comic Sans MS"/>
              <a:sym typeface="Comic Sans M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4"/>
          <p:cNvSpPr txBox="1"/>
          <p:nvPr>
            <p:ph type="title"/>
          </p:nvPr>
        </p:nvSpPr>
        <p:spPr>
          <a:xfrm>
            <a:off x="1981200" y="274638"/>
            <a:ext cx="8229600" cy="1143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omic Sans MS"/>
              <a:buNone/>
            </a:pPr>
            <a:r>
              <a:rPr lang="en-GB">
                <a:solidFill>
                  <a:schemeClr val="lt1"/>
                </a:solidFill>
                <a:latin typeface="Arial"/>
                <a:ea typeface="Arial"/>
                <a:cs typeface="Arial"/>
                <a:sym typeface="Arial"/>
              </a:rPr>
              <a:t>Think:</a:t>
            </a:r>
            <a:endParaRPr>
              <a:solidFill>
                <a:schemeClr val="lt1"/>
              </a:solidFill>
              <a:latin typeface="Arial"/>
              <a:ea typeface="Arial"/>
              <a:cs typeface="Arial"/>
              <a:sym typeface="Arial"/>
            </a:endParaRPr>
          </a:p>
        </p:txBody>
      </p:sp>
      <p:sp>
        <p:nvSpPr>
          <p:cNvPr id="114" name="Google Shape;114;p4"/>
          <p:cNvSpPr txBox="1"/>
          <p:nvPr>
            <p:ph idx="1" type="body"/>
          </p:nvPr>
        </p:nvSpPr>
        <p:spPr>
          <a:xfrm>
            <a:off x="1262130" y="1081826"/>
            <a:ext cx="8948670" cy="445609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3200"/>
              <a:buChar char="•"/>
            </a:pPr>
            <a:r>
              <a:rPr lang="en-GB" sz="3200">
                <a:solidFill>
                  <a:schemeClr val="lt1"/>
                </a:solidFill>
                <a:latin typeface="Arial"/>
                <a:ea typeface="Arial"/>
                <a:cs typeface="Arial"/>
                <a:sym typeface="Arial"/>
              </a:rPr>
              <a:t>Discuss on your table all the ways you have used electricity today. (2 mins)</a:t>
            </a:r>
            <a:endParaRPr>
              <a:latin typeface="Arial"/>
              <a:ea typeface="Arial"/>
              <a:cs typeface="Arial"/>
              <a:sym typeface="Arial"/>
            </a:endParaRPr>
          </a:p>
          <a:p>
            <a:pPr indent="-228600" lvl="0" marL="228600" rtl="0" algn="l">
              <a:lnSpc>
                <a:spcPct val="90000"/>
              </a:lnSpc>
              <a:spcBef>
                <a:spcPts val="1000"/>
              </a:spcBef>
              <a:spcAft>
                <a:spcPts val="0"/>
              </a:spcAft>
              <a:buClr>
                <a:schemeClr val="lt1"/>
              </a:buClr>
              <a:buSzPts val="3200"/>
              <a:buChar char="•"/>
            </a:pPr>
            <a:r>
              <a:rPr lang="en-GB" sz="3200">
                <a:solidFill>
                  <a:schemeClr val="lt1"/>
                </a:solidFill>
                <a:latin typeface="Arial"/>
                <a:ea typeface="Arial"/>
                <a:cs typeface="Arial"/>
                <a:sym typeface="Arial"/>
              </a:rPr>
              <a:t>Make a list of these on one mini-whiteboard.</a:t>
            </a:r>
            <a:endParaRPr>
              <a:latin typeface="Arial"/>
              <a:ea typeface="Arial"/>
              <a:cs typeface="Arial"/>
              <a:sym typeface="Arial"/>
            </a:endParaRPr>
          </a:p>
          <a:p>
            <a:pPr indent="-228600" lvl="0" marL="228600" rtl="0" algn="l">
              <a:lnSpc>
                <a:spcPct val="90000"/>
              </a:lnSpc>
              <a:spcBef>
                <a:spcPts val="1000"/>
              </a:spcBef>
              <a:spcAft>
                <a:spcPts val="0"/>
              </a:spcAft>
              <a:buClr>
                <a:srgbClr val="FFFF00"/>
              </a:buClr>
              <a:buSzPts val="3200"/>
              <a:buChar char="•"/>
            </a:pPr>
            <a:r>
              <a:rPr lang="en-GB" sz="3200">
                <a:solidFill>
                  <a:srgbClr val="FFFF00"/>
                </a:solidFill>
                <a:latin typeface="Arial"/>
                <a:ea typeface="Arial"/>
                <a:cs typeface="Arial"/>
                <a:sym typeface="Arial"/>
              </a:rPr>
              <a:t>I have used electricity today when:</a:t>
            </a:r>
            <a:endParaRPr>
              <a:latin typeface="Arial"/>
              <a:ea typeface="Arial"/>
              <a:cs typeface="Arial"/>
              <a:sym typeface="Arial"/>
            </a:endParaRPr>
          </a:p>
          <a:p>
            <a:pPr indent="-228600" lvl="1" marL="685800" rtl="0" algn="l">
              <a:lnSpc>
                <a:spcPct val="90000"/>
              </a:lnSpc>
              <a:spcBef>
                <a:spcPts val="500"/>
              </a:spcBef>
              <a:spcAft>
                <a:spcPts val="0"/>
              </a:spcAft>
              <a:buClr>
                <a:srgbClr val="FFFF00"/>
              </a:buClr>
              <a:buSzPts val="2800"/>
              <a:buChar char="•"/>
            </a:pPr>
            <a:r>
              <a:rPr lang="en-GB" sz="2800">
                <a:solidFill>
                  <a:srgbClr val="FFFF00"/>
                </a:solidFill>
                <a:latin typeface="Arial"/>
                <a:ea typeface="Arial"/>
                <a:cs typeface="Arial"/>
                <a:sym typeface="Arial"/>
              </a:rPr>
              <a:t>1.</a:t>
            </a:r>
            <a:endParaRPr>
              <a:latin typeface="Arial"/>
              <a:ea typeface="Arial"/>
              <a:cs typeface="Arial"/>
              <a:sym typeface="Arial"/>
            </a:endParaRPr>
          </a:p>
          <a:p>
            <a:pPr indent="-228600" lvl="1" marL="685800" rtl="0" algn="l">
              <a:lnSpc>
                <a:spcPct val="90000"/>
              </a:lnSpc>
              <a:spcBef>
                <a:spcPts val="500"/>
              </a:spcBef>
              <a:spcAft>
                <a:spcPts val="0"/>
              </a:spcAft>
              <a:buClr>
                <a:srgbClr val="FFFF00"/>
              </a:buClr>
              <a:buSzPts val="2800"/>
              <a:buChar char="•"/>
            </a:pPr>
            <a:r>
              <a:rPr lang="en-GB" sz="2800">
                <a:solidFill>
                  <a:srgbClr val="FFFF00"/>
                </a:solidFill>
                <a:latin typeface="Arial"/>
                <a:ea typeface="Arial"/>
                <a:cs typeface="Arial"/>
                <a:sym typeface="Arial"/>
              </a:rPr>
              <a:t>2. ……. etc</a:t>
            </a:r>
            <a:endParaRPr sz="2800">
              <a:solidFill>
                <a:srgbClr val="FFFF00"/>
              </a:solidFill>
              <a:latin typeface="Arial"/>
              <a:ea typeface="Arial"/>
              <a:cs typeface="Arial"/>
              <a:sym typeface="Arial"/>
            </a:endParaRPr>
          </a:p>
          <a:p>
            <a:pPr indent="-228600" lvl="0" marL="228600" rtl="0" algn="l">
              <a:lnSpc>
                <a:spcPct val="90000"/>
              </a:lnSpc>
              <a:spcBef>
                <a:spcPts val="1000"/>
              </a:spcBef>
              <a:spcAft>
                <a:spcPts val="0"/>
              </a:spcAft>
              <a:buClr>
                <a:schemeClr val="lt1"/>
              </a:buClr>
              <a:buSzPts val="3200"/>
              <a:buChar char="•"/>
            </a:pPr>
            <a:r>
              <a:rPr lang="en-GB" sz="3200">
                <a:solidFill>
                  <a:schemeClr val="lt1"/>
                </a:solidFill>
                <a:latin typeface="Arial"/>
                <a:ea typeface="Arial"/>
                <a:cs typeface="Arial"/>
                <a:sym typeface="Arial"/>
              </a:rPr>
              <a:t>From the list indicate those that could be done </a:t>
            </a:r>
            <a:r>
              <a:rPr b="1" lang="en-GB" sz="3200">
                <a:solidFill>
                  <a:schemeClr val="lt1"/>
                </a:solidFill>
                <a:latin typeface="Arial"/>
                <a:ea typeface="Arial"/>
                <a:cs typeface="Arial"/>
                <a:sym typeface="Arial"/>
              </a:rPr>
              <a:t>without</a:t>
            </a:r>
            <a:r>
              <a:rPr lang="en-GB" sz="3200">
                <a:solidFill>
                  <a:schemeClr val="lt1"/>
                </a:solidFill>
                <a:latin typeface="Arial"/>
                <a:ea typeface="Arial"/>
                <a:cs typeface="Arial"/>
                <a:sym typeface="Arial"/>
              </a:rPr>
              <a:t> electricity, and give the alternative.  (2 mins)</a:t>
            </a:r>
            <a:endParaRPr>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5"/>
          <p:cNvSpPr txBox="1"/>
          <p:nvPr>
            <p:ph type="title"/>
          </p:nvPr>
        </p:nvSpPr>
        <p:spPr>
          <a:xfrm>
            <a:off x="1981200" y="274638"/>
            <a:ext cx="8229600" cy="1143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omic Sans MS"/>
              <a:buNone/>
            </a:pPr>
            <a:r>
              <a:rPr lang="en-GB">
                <a:solidFill>
                  <a:schemeClr val="lt1"/>
                </a:solidFill>
                <a:latin typeface="Arial"/>
                <a:ea typeface="Arial"/>
                <a:cs typeface="Arial"/>
                <a:sym typeface="Arial"/>
              </a:rPr>
              <a:t>What is Electricity?</a:t>
            </a:r>
            <a:endParaRPr>
              <a:solidFill>
                <a:schemeClr val="lt1"/>
              </a:solidFill>
              <a:latin typeface="Arial"/>
              <a:ea typeface="Arial"/>
              <a:cs typeface="Arial"/>
              <a:sym typeface="Arial"/>
            </a:endParaRPr>
          </a:p>
        </p:txBody>
      </p:sp>
      <p:sp>
        <p:nvSpPr>
          <p:cNvPr id="120" name="Google Shape;120;p5"/>
          <p:cNvSpPr txBox="1"/>
          <p:nvPr>
            <p:ph idx="1" type="body"/>
          </p:nvPr>
        </p:nvSpPr>
        <p:spPr>
          <a:xfrm>
            <a:off x="566670" y="1275008"/>
            <a:ext cx="11256136" cy="537049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3600"/>
              <a:buChar char="•"/>
            </a:pPr>
            <a:r>
              <a:rPr lang="en-GB" sz="3600">
                <a:solidFill>
                  <a:schemeClr val="lt1"/>
                </a:solidFill>
                <a:latin typeface="Arial"/>
                <a:ea typeface="Arial"/>
                <a:cs typeface="Arial"/>
                <a:sym typeface="Arial"/>
              </a:rPr>
              <a:t>The clue is in the name!  </a:t>
            </a:r>
            <a:endParaRPr>
              <a:latin typeface="Arial"/>
              <a:ea typeface="Arial"/>
              <a:cs typeface="Arial"/>
              <a:sym typeface="Arial"/>
            </a:endParaRPr>
          </a:p>
          <a:p>
            <a:pPr indent="-228600" lvl="0" marL="228600" rtl="0" algn="l">
              <a:lnSpc>
                <a:spcPct val="90000"/>
              </a:lnSpc>
              <a:spcBef>
                <a:spcPts val="1000"/>
              </a:spcBef>
              <a:spcAft>
                <a:spcPts val="0"/>
              </a:spcAft>
              <a:buClr>
                <a:schemeClr val="lt1"/>
              </a:buClr>
              <a:buSzPts val="3600"/>
              <a:buChar char="•"/>
            </a:pPr>
            <a:r>
              <a:rPr lang="en-GB" sz="3600">
                <a:solidFill>
                  <a:schemeClr val="lt1"/>
                </a:solidFill>
                <a:latin typeface="Arial"/>
                <a:ea typeface="Arial"/>
                <a:cs typeface="Arial"/>
                <a:sym typeface="Arial"/>
              </a:rPr>
              <a:t>Electricity is the flow of </a:t>
            </a:r>
            <a:r>
              <a:rPr b="1" lang="en-GB" sz="3600">
                <a:solidFill>
                  <a:srgbClr val="FFFF00"/>
                </a:solidFill>
                <a:latin typeface="Arial"/>
                <a:ea typeface="Arial"/>
                <a:cs typeface="Arial"/>
                <a:sym typeface="Arial"/>
              </a:rPr>
              <a:t>electrons </a:t>
            </a:r>
            <a:r>
              <a:rPr lang="en-GB" sz="3600">
                <a:solidFill>
                  <a:schemeClr val="lt1"/>
                </a:solidFill>
                <a:latin typeface="Arial"/>
                <a:ea typeface="Arial"/>
                <a:cs typeface="Arial"/>
                <a:sym typeface="Arial"/>
              </a:rPr>
              <a:t>around a circuit (</a:t>
            </a:r>
            <a:r>
              <a:rPr lang="en-GB" sz="3600" u="sng">
                <a:solidFill>
                  <a:schemeClr val="lt1"/>
                </a:solidFill>
                <a:latin typeface="Arial"/>
                <a:ea typeface="Arial"/>
                <a:cs typeface="Arial"/>
                <a:sym typeface="Arial"/>
              </a:rPr>
              <a:t>connected conductors</a:t>
            </a:r>
            <a:r>
              <a:rPr lang="en-GB" sz="3600">
                <a:solidFill>
                  <a:schemeClr val="lt1"/>
                </a:solidFill>
                <a:latin typeface="Arial"/>
                <a:ea typeface="Arial"/>
                <a:cs typeface="Arial"/>
                <a:sym typeface="Arial"/>
              </a:rPr>
              <a:t>).  </a:t>
            </a:r>
            <a:endParaRPr>
              <a:latin typeface="Arial"/>
              <a:ea typeface="Arial"/>
              <a:cs typeface="Arial"/>
              <a:sym typeface="Arial"/>
            </a:endParaRPr>
          </a:p>
          <a:p>
            <a:pPr indent="-228600" lvl="0" marL="228600" rtl="0" algn="l">
              <a:lnSpc>
                <a:spcPct val="90000"/>
              </a:lnSpc>
              <a:spcBef>
                <a:spcPts val="1000"/>
              </a:spcBef>
              <a:spcAft>
                <a:spcPts val="0"/>
              </a:spcAft>
              <a:buClr>
                <a:schemeClr val="lt1"/>
              </a:buClr>
              <a:buSzPts val="3600"/>
              <a:buChar char="•"/>
            </a:pPr>
            <a:r>
              <a:rPr lang="en-GB" sz="3600">
                <a:solidFill>
                  <a:schemeClr val="lt1"/>
                </a:solidFill>
                <a:latin typeface="Arial"/>
                <a:ea typeface="Arial"/>
                <a:cs typeface="Arial"/>
                <a:sym typeface="Arial"/>
              </a:rPr>
              <a:t>This flow of electrons is called the electrical </a:t>
            </a:r>
            <a:r>
              <a:rPr b="1" lang="en-GB" sz="3600">
                <a:solidFill>
                  <a:srgbClr val="FFFF00"/>
                </a:solidFill>
                <a:latin typeface="Arial"/>
                <a:ea typeface="Arial"/>
                <a:cs typeface="Arial"/>
                <a:sym typeface="Arial"/>
              </a:rPr>
              <a:t>current</a:t>
            </a:r>
            <a:r>
              <a:rPr lang="en-GB" sz="3600">
                <a:solidFill>
                  <a:schemeClr val="lt1"/>
                </a:solidFill>
                <a:latin typeface="Arial"/>
                <a:ea typeface="Arial"/>
                <a:cs typeface="Arial"/>
                <a:sym typeface="Arial"/>
              </a:rPr>
              <a:t> (I) and is measured in </a:t>
            </a:r>
            <a:r>
              <a:rPr b="1" lang="en-GB" sz="3600">
                <a:solidFill>
                  <a:srgbClr val="FFFF00"/>
                </a:solidFill>
                <a:latin typeface="Arial"/>
                <a:ea typeface="Arial"/>
                <a:cs typeface="Arial"/>
                <a:sym typeface="Arial"/>
              </a:rPr>
              <a:t>amps</a:t>
            </a:r>
            <a:r>
              <a:rPr lang="en-GB" sz="3600">
                <a:solidFill>
                  <a:schemeClr val="lt1"/>
                </a:solidFill>
                <a:latin typeface="Arial"/>
                <a:ea typeface="Arial"/>
                <a:cs typeface="Arial"/>
                <a:sym typeface="Arial"/>
              </a:rPr>
              <a:t> (A) using an </a:t>
            </a:r>
            <a:r>
              <a:rPr b="1" lang="en-GB" sz="3600">
                <a:solidFill>
                  <a:srgbClr val="FFFF00"/>
                </a:solidFill>
                <a:latin typeface="Arial"/>
                <a:ea typeface="Arial"/>
                <a:cs typeface="Arial"/>
                <a:sym typeface="Arial"/>
              </a:rPr>
              <a:t>ammeter</a:t>
            </a:r>
            <a:r>
              <a:rPr lang="en-GB" sz="3600">
                <a:solidFill>
                  <a:schemeClr val="lt1"/>
                </a:solidFill>
                <a:latin typeface="Arial"/>
                <a:ea typeface="Arial"/>
                <a:cs typeface="Arial"/>
                <a:sym typeface="Arial"/>
              </a:rPr>
              <a:t>.  </a:t>
            </a:r>
            <a:endParaRPr>
              <a:latin typeface="Arial"/>
              <a:ea typeface="Arial"/>
              <a:cs typeface="Arial"/>
              <a:sym typeface="Arial"/>
            </a:endParaRPr>
          </a:p>
          <a:p>
            <a:pPr indent="-228600" lvl="0" marL="228600" rtl="0" algn="l">
              <a:lnSpc>
                <a:spcPct val="90000"/>
              </a:lnSpc>
              <a:spcBef>
                <a:spcPts val="1000"/>
              </a:spcBef>
              <a:spcAft>
                <a:spcPts val="0"/>
              </a:spcAft>
              <a:buClr>
                <a:schemeClr val="lt1"/>
              </a:buClr>
              <a:buSzPts val="3600"/>
              <a:buChar char="•"/>
            </a:pPr>
            <a:r>
              <a:rPr lang="en-GB" sz="3600">
                <a:solidFill>
                  <a:schemeClr val="lt1"/>
                </a:solidFill>
                <a:latin typeface="Arial"/>
                <a:ea typeface="Arial"/>
                <a:cs typeface="Arial"/>
                <a:sym typeface="Arial"/>
              </a:rPr>
              <a:t>The electrons are </a:t>
            </a:r>
            <a:r>
              <a:rPr i="1" lang="en-GB" sz="3600">
                <a:solidFill>
                  <a:schemeClr val="lt1"/>
                </a:solidFill>
                <a:latin typeface="Arial"/>
                <a:ea typeface="Arial"/>
                <a:cs typeface="Arial"/>
                <a:sym typeface="Arial"/>
              </a:rPr>
              <a:t>pushed</a:t>
            </a:r>
            <a:r>
              <a:rPr lang="en-GB" sz="3600">
                <a:solidFill>
                  <a:schemeClr val="lt1"/>
                </a:solidFill>
                <a:latin typeface="Arial"/>
                <a:ea typeface="Arial"/>
                <a:cs typeface="Arial"/>
                <a:sym typeface="Arial"/>
              </a:rPr>
              <a:t> around the circuit by the </a:t>
            </a:r>
            <a:r>
              <a:rPr b="1" lang="en-GB" sz="3600">
                <a:solidFill>
                  <a:srgbClr val="FFFF00"/>
                </a:solidFill>
                <a:latin typeface="Arial"/>
                <a:ea typeface="Arial"/>
                <a:cs typeface="Arial"/>
                <a:sym typeface="Arial"/>
              </a:rPr>
              <a:t>voltage </a:t>
            </a:r>
            <a:r>
              <a:rPr lang="en-GB" sz="3600">
                <a:solidFill>
                  <a:schemeClr val="lt1"/>
                </a:solidFill>
                <a:latin typeface="Arial"/>
                <a:ea typeface="Arial"/>
                <a:cs typeface="Arial"/>
                <a:sym typeface="Arial"/>
              </a:rPr>
              <a:t>(V) supplied by the </a:t>
            </a:r>
            <a:r>
              <a:rPr lang="en-GB" sz="3600" u="sng">
                <a:solidFill>
                  <a:schemeClr val="lt1"/>
                </a:solidFill>
                <a:latin typeface="Arial"/>
                <a:ea typeface="Arial"/>
                <a:cs typeface="Arial"/>
                <a:sym typeface="Arial"/>
              </a:rPr>
              <a:t>cell/battery</a:t>
            </a:r>
            <a:r>
              <a:rPr lang="en-GB" sz="3600">
                <a:solidFill>
                  <a:schemeClr val="lt1"/>
                </a:solidFill>
                <a:latin typeface="Arial"/>
                <a:ea typeface="Arial"/>
                <a:cs typeface="Arial"/>
                <a:sym typeface="Arial"/>
              </a:rPr>
              <a:t>.  Voltage is measured in </a:t>
            </a:r>
            <a:r>
              <a:rPr b="1" lang="en-GB" sz="3600">
                <a:solidFill>
                  <a:srgbClr val="FFFF00"/>
                </a:solidFill>
                <a:latin typeface="Arial"/>
                <a:ea typeface="Arial"/>
                <a:cs typeface="Arial"/>
                <a:sym typeface="Arial"/>
              </a:rPr>
              <a:t>volts</a:t>
            </a:r>
            <a:r>
              <a:rPr lang="en-GB" sz="3600">
                <a:solidFill>
                  <a:schemeClr val="lt1"/>
                </a:solidFill>
                <a:latin typeface="Arial"/>
                <a:ea typeface="Arial"/>
                <a:cs typeface="Arial"/>
                <a:sym typeface="Arial"/>
              </a:rPr>
              <a:t> (V) using a </a:t>
            </a:r>
            <a:r>
              <a:rPr b="1" lang="en-GB" sz="3600">
                <a:solidFill>
                  <a:srgbClr val="FFFF00"/>
                </a:solidFill>
                <a:latin typeface="Arial"/>
                <a:ea typeface="Arial"/>
                <a:cs typeface="Arial"/>
                <a:sym typeface="Arial"/>
              </a:rPr>
              <a:t>voltmeter</a:t>
            </a:r>
            <a:r>
              <a:rPr lang="en-GB" sz="3600">
                <a:solidFill>
                  <a:schemeClr val="lt1"/>
                </a:solidFill>
                <a:latin typeface="Arial"/>
                <a:ea typeface="Arial"/>
                <a:cs typeface="Arial"/>
                <a:sym typeface="Arial"/>
              </a:rPr>
              <a:t>.</a:t>
            </a:r>
            <a:endParaRPr>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6"/>
          <p:cNvSpPr txBox="1"/>
          <p:nvPr>
            <p:ph type="title"/>
          </p:nvPr>
        </p:nvSpPr>
        <p:spPr>
          <a:xfrm>
            <a:off x="502277" y="326153"/>
            <a:ext cx="11217498" cy="11430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100000"/>
              <a:buFont typeface="Comic Sans MS"/>
              <a:buNone/>
            </a:pPr>
            <a:r>
              <a:rPr lang="en-GB">
                <a:solidFill>
                  <a:schemeClr val="lt1"/>
                </a:solidFill>
                <a:latin typeface="Arial"/>
                <a:ea typeface="Arial"/>
                <a:cs typeface="Arial"/>
                <a:sym typeface="Arial"/>
              </a:rPr>
              <a:t>Key Terms Summary – Write this in your book</a:t>
            </a:r>
            <a:endParaRPr>
              <a:solidFill>
                <a:schemeClr val="lt1"/>
              </a:solidFill>
              <a:latin typeface="Arial"/>
              <a:ea typeface="Arial"/>
              <a:cs typeface="Arial"/>
              <a:sym typeface="Arial"/>
            </a:endParaRPr>
          </a:p>
        </p:txBody>
      </p:sp>
      <p:graphicFrame>
        <p:nvGraphicFramePr>
          <p:cNvPr id="126" name="Google Shape;126;p6"/>
          <p:cNvGraphicFramePr/>
          <p:nvPr/>
        </p:nvGraphicFramePr>
        <p:xfrm>
          <a:off x="1703389" y="1557338"/>
          <a:ext cx="3000000" cy="3000000"/>
        </p:xfrm>
        <a:graphic>
          <a:graphicData uri="http://schemas.openxmlformats.org/drawingml/2006/table">
            <a:tbl>
              <a:tblPr>
                <a:noFill/>
                <a:tableStyleId>{9C35D4F3-39BB-45F4-8E88-CFA1A9BDE386}</a:tableStyleId>
              </a:tblPr>
              <a:tblGrid>
                <a:gridCol w="2089150"/>
                <a:gridCol w="1439850"/>
                <a:gridCol w="1655775"/>
                <a:gridCol w="1512875"/>
                <a:gridCol w="2087575"/>
              </a:tblGrid>
              <a:tr h="904875">
                <a:tc>
                  <a:txBody>
                    <a:bodyPr/>
                    <a:lstStyle/>
                    <a:p>
                      <a:pPr indent="0" lvl="0" marL="0" marR="0" rtl="0" algn="ctr">
                        <a:lnSpc>
                          <a:spcPct val="100000"/>
                        </a:lnSpc>
                        <a:spcBef>
                          <a:spcPts val="0"/>
                        </a:spcBef>
                        <a:spcAft>
                          <a:spcPts val="0"/>
                        </a:spcAft>
                        <a:buClr>
                          <a:schemeClr val="dk1"/>
                        </a:buClr>
                        <a:buSzPts val="2800"/>
                        <a:buFont typeface="Comic Sans MS"/>
                        <a:buNone/>
                      </a:pPr>
                      <a:r>
                        <a:rPr i="0" lang="en-GB" sz="2800" u="none" cap="none" strike="noStrike">
                          <a:solidFill>
                            <a:schemeClr val="dk1"/>
                          </a:solidFill>
                        </a:rPr>
                        <a:t>Quantity</a:t>
                      </a:r>
                      <a:endParaRPr i="0" sz="2800" u="none" cap="none" strike="noStrike">
                        <a:solidFill>
                          <a:schemeClr val="dk1"/>
                        </a:solidFil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i="0" lang="en-GB" sz="2800" u="none" cap="none" strike="noStrike">
                          <a:solidFill>
                            <a:schemeClr val="dk1"/>
                          </a:solidFill>
                        </a:rPr>
                        <a:t>Symbol</a:t>
                      </a:r>
                      <a:endParaRPr i="0" sz="2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i="0" lang="en-GB" sz="2800" u="none" cap="none" strike="noStrike">
                          <a:solidFill>
                            <a:schemeClr val="dk1"/>
                          </a:solidFill>
                        </a:rPr>
                        <a:t>Unit</a:t>
                      </a:r>
                      <a:endParaRPr i="0" sz="2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i="0" lang="en-GB" sz="2800" u="none" cap="none" strike="noStrike">
                          <a:solidFill>
                            <a:schemeClr val="dk1"/>
                          </a:solidFill>
                        </a:rPr>
                        <a:t>Unit Symbol</a:t>
                      </a:r>
                      <a:endParaRPr i="0" sz="2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i="0" lang="en-GB" sz="2800" u="none" cap="none" strike="noStrike">
                          <a:solidFill>
                            <a:schemeClr val="dk1"/>
                          </a:solidFill>
                        </a:rPr>
                        <a:t>Measured Using</a:t>
                      </a:r>
                      <a:endParaRPr i="0" sz="2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904875">
                <a:tc>
                  <a:txBody>
                    <a:bodyPr/>
                    <a:lstStyle/>
                    <a:p>
                      <a:pPr indent="0" lvl="0" marL="0" marR="0" rtl="0" algn="ctr">
                        <a:lnSpc>
                          <a:spcPct val="100000"/>
                        </a:lnSpc>
                        <a:spcBef>
                          <a:spcPts val="0"/>
                        </a:spcBef>
                        <a:spcAft>
                          <a:spcPts val="0"/>
                        </a:spcAft>
                        <a:buClr>
                          <a:schemeClr val="dk1"/>
                        </a:buClr>
                        <a:buSzPts val="2800"/>
                        <a:buFont typeface="Comic Sans MS"/>
                        <a:buNone/>
                      </a:pPr>
                      <a:r>
                        <a:rPr i="0" lang="en-GB" sz="2800" u="none" cap="none" strike="noStrike">
                          <a:solidFill>
                            <a:schemeClr val="dk1"/>
                          </a:solidFill>
                        </a:rPr>
                        <a:t>Current</a:t>
                      </a:r>
                      <a:endParaRPr i="0" sz="2800" u="none" cap="none" strike="noStrike">
                        <a:solidFill>
                          <a:schemeClr val="dk1"/>
                        </a:solidFil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i="0" lang="en-GB" sz="2800" u="none" cap="none" strike="noStrike">
                          <a:solidFill>
                            <a:schemeClr val="dk1"/>
                          </a:solidFill>
                        </a:rPr>
                        <a:t>I</a:t>
                      </a:r>
                      <a:endParaRPr i="0" sz="2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i="0" lang="en-GB" sz="2800" u="none" cap="none" strike="noStrike">
                          <a:solidFill>
                            <a:schemeClr val="dk1"/>
                          </a:solidFill>
                        </a:rPr>
                        <a:t>Amperes (Amps)</a:t>
                      </a:r>
                      <a:endParaRPr i="0" sz="2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i="0" lang="en-GB" sz="2800" u="none" cap="none" strike="noStrike">
                          <a:solidFill>
                            <a:schemeClr val="dk1"/>
                          </a:solidFill>
                        </a:rPr>
                        <a:t>A</a:t>
                      </a:r>
                      <a:endParaRPr i="0" sz="2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i="0" lang="en-GB" sz="2800" u="none" cap="none" strike="noStrike">
                          <a:solidFill>
                            <a:schemeClr val="dk1"/>
                          </a:solidFill>
                        </a:rPr>
                        <a:t>Ammeter</a:t>
                      </a:r>
                      <a:endParaRPr i="0" sz="2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906475">
                <a:tc>
                  <a:txBody>
                    <a:bodyPr/>
                    <a:lstStyle/>
                    <a:p>
                      <a:pPr indent="0" lvl="0" marL="0" marR="0" rtl="0" algn="ctr">
                        <a:lnSpc>
                          <a:spcPct val="100000"/>
                        </a:lnSpc>
                        <a:spcBef>
                          <a:spcPts val="0"/>
                        </a:spcBef>
                        <a:spcAft>
                          <a:spcPts val="0"/>
                        </a:spcAft>
                        <a:buClr>
                          <a:schemeClr val="dk1"/>
                        </a:buClr>
                        <a:buSzPts val="2800"/>
                        <a:buFont typeface="Comic Sans MS"/>
                        <a:buNone/>
                      </a:pPr>
                      <a:r>
                        <a:rPr i="0" lang="en-GB" sz="2800" u="none" cap="none" strike="noStrike">
                          <a:solidFill>
                            <a:schemeClr val="dk1"/>
                          </a:solidFill>
                        </a:rPr>
                        <a:t>Voltage</a:t>
                      </a:r>
                      <a:endParaRPr i="0" sz="2800" u="none" cap="none" strike="noStrike">
                        <a:solidFill>
                          <a:schemeClr val="dk1"/>
                        </a:solidFil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i="0" lang="en-GB" sz="2800" u="none" cap="none" strike="noStrike">
                          <a:solidFill>
                            <a:schemeClr val="dk1"/>
                          </a:solidFill>
                        </a:rPr>
                        <a:t>V</a:t>
                      </a:r>
                      <a:endParaRPr i="0" sz="2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i="0" lang="en-GB" sz="2800" u="none" cap="none" strike="noStrike">
                          <a:solidFill>
                            <a:schemeClr val="dk1"/>
                          </a:solidFill>
                        </a:rPr>
                        <a:t>Volts</a:t>
                      </a:r>
                      <a:endParaRPr i="0" sz="2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i="0" lang="en-GB" sz="2800" u="none" cap="none" strike="noStrike">
                          <a:solidFill>
                            <a:schemeClr val="dk1"/>
                          </a:solidFill>
                        </a:rPr>
                        <a:t>V</a:t>
                      </a:r>
                      <a:endParaRPr i="0" sz="2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i="0" lang="en-GB" sz="2800" u="none" cap="none" strike="noStrike">
                          <a:solidFill>
                            <a:schemeClr val="dk1"/>
                          </a:solidFill>
                        </a:rPr>
                        <a:t>Voltmeter</a:t>
                      </a:r>
                      <a:endParaRPr i="0" sz="2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904875">
                <a:tc>
                  <a:txBody>
                    <a:bodyPr/>
                    <a:lstStyle/>
                    <a:p>
                      <a:pPr indent="0" lvl="0" marL="0" marR="0" rtl="0" algn="ctr">
                        <a:lnSpc>
                          <a:spcPct val="100000"/>
                        </a:lnSpc>
                        <a:spcBef>
                          <a:spcPts val="0"/>
                        </a:spcBef>
                        <a:spcAft>
                          <a:spcPts val="0"/>
                        </a:spcAft>
                        <a:buClr>
                          <a:schemeClr val="dk1"/>
                        </a:buClr>
                        <a:buSzPts val="2800"/>
                        <a:buFont typeface="Comic Sans MS"/>
                        <a:buNone/>
                      </a:pPr>
                      <a:r>
                        <a:rPr i="0" lang="en-GB" sz="2800" u="none" cap="none" strike="noStrike">
                          <a:solidFill>
                            <a:schemeClr val="dk1"/>
                          </a:solidFill>
                        </a:rPr>
                        <a:t>Resistance</a:t>
                      </a:r>
                      <a:endParaRPr i="0" sz="2800" u="none" cap="none" strike="noStrike">
                        <a:solidFill>
                          <a:schemeClr val="dk1"/>
                        </a:solidFil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i="0" lang="en-GB" sz="2800" u="none" cap="none" strike="noStrike">
                          <a:solidFill>
                            <a:schemeClr val="dk1"/>
                          </a:solidFill>
                        </a:rPr>
                        <a:t>R</a:t>
                      </a:r>
                      <a:endParaRPr i="0" sz="2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i="0" lang="en-GB" sz="2800" u="none" cap="none" strike="noStrike">
                          <a:solidFill>
                            <a:schemeClr val="dk1"/>
                          </a:solidFill>
                        </a:rPr>
                        <a:t>Ohms</a:t>
                      </a:r>
                      <a:endParaRPr i="0" sz="2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Times New Roman"/>
                        <a:buNone/>
                      </a:pPr>
                      <a:r>
                        <a:rPr i="0" lang="en-GB" sz="2800" u="none" cap="none" strike="noStrike">
                          <a:solidFill>
                            <a:schemeClr val="dk1"/>
                          </a:solidFill>
                        </a:rPr>
                        <a:t>Ω</a:t>
                      </a:r>
                      <a:endParaRPr i="0" sz="2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i="0" lang="en-GB" sz="2800" u="none" cap="none" strike="noStrike">
                          <a:solidFill>
                            <a:schemeClr val="dk1"/>
                          </a:solidFill>
                        </a:rPr>
                        <a:t>Ohmmeter</a:t>
                      </a:r>
                      <a:endParaRPr i="0" sz="2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7"/>
          <p:cNvSpPr txBox="1"/>
          <p:nvPr>
            <p:ph type="title"/>
          </p:nvPr>
        </p:nvSpPr>
        <p:spPr>
          <a:xfrm>
            <a:off x="1981200" y="274639"/>
            <a:ext cx="8229600" cy="706437"/>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mic Sans MS"/>
              <a:buNone/>
            </a:pPr>
            <a:r>
              <a:rPr lang="en-GB" sz="4000">
                <a:solidFill>
                  <a:schemeClr val="lt1"/>
                </a:solidFill>
                <a:latin typeface="Arial"/>
                <a:ea typeface="Arial"/>
                <a:cs typeface="Arial"/>
                <a:sym typeface="Arial"/>
              </a:rPr>
              <a:t>Electrical Energy</a:t>
            </a:r>
            <a:endParaRPr sz="4000">
              <a:solidFill>
                <a:schemeClr val="lt1"/>
              </a:solidFill>
              <a:latin typeface="Arial"/>
              <a:ea typeface="Arial"/>
              <a:cs typeface="Arial"/>
              <a:sym typeface="Arial"/>
            </a:endParaRPr>
          </a:p>
        </p:txBody>
      </p:sp>
      <p:sp>
        <p:nvSpPr>
          <p:cNvPr id="132" name="Google Shape;132;p7"/>
          <p:cNvSpPr txBox="1"/>
          <p:nvPr/>
        </p:nvSpPr>
        <p:spPr>
          <a:xfrm>
            <a:off x="1524000" y="836613"/>
            <a:ext cx="91440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GB" sz="2400" u="none" cap="none" strike="noStrike">
                <a:solidFill>
                  <a:srgbClr val="99FFCC"/>
                </a:solidFill>
                <a:latin typeface="Arial"/>
                <a:ea typeface="Arial"/>
                <a:cs typeface="Arial"/>
                <a:sym typeface="Arial"/>
              </a:rPr>
              <a:t>Consider a simple circuit:</a:t>
            </a:r>
            <a:endParaRPr b="0" i="0" sz="2400" u="none" cap="none" strike="noStrike">
              <a:solidFill>
                <a:srgbClr val="99FFCC"/>
              </a:solidFill>
              <a:latin typeface="Arial"/>
              <a:ea typeface="Arial"/>
              <a:cs typeface="Arial"/>
              <a:sym typeface="Arial"/>
            </a:endParaRPr>
          </a:p>
        </p:txBody>
      </p:sp>
      <p:pic>
        <p:nvPicPr>
          <p:cNvPr descr="circuit 1" id="133" name="Google Shape;133;p7"/>
          <p:cNvPicPr preferRelativeResize="0"/>
          <p:nvPr/>
        </p:nvPicPr>
        <p:blipFill rotWithShape="1">
          <a:blip r:embed="rId3">
            <a:alphaModFix/>
          </a:blip>
          <a:srcRect b="0" l="7022" r="8988" t="0"/>
          <a:stretch/>
        </p:blipFill>
        <p:spPr>
          <a:xfrm>
            <a:off x="5699126" y="1484314"/>
            <a:ext cx="4968875" cy="4416425"/>
          </a:xfrm>
          <a:prstGeom prst="rect">
            <a:avLst/>
          </a:prstGeom>
          <a:noFill/>
          <a:ln>
            <a:noFill/>
          </a:ln>
        </p:spPr>
      </p:pic>
      <p:sp>
        <p:nvSpPr>
          <p:cNvPr id="134" name="Google Shape;134;p7"/>
          <p:cNvSpPr txBox="1"/>
          <p:nvPr/>
        </p:nvSpPr>
        <p:spPr>
          <a:xfrm>
            <a:off x="1919288" y="6092826"/>
            <a:ext cx="8424862" cy="461665"/>
          </a:xfrm>
          <a:prstGeom prst="rect">
            <a:avLst/>
          </a:prstGeom>
          <a:noFill/>
          <a:ln cap="flat" cmpd="sng" w="25400">
            <a:solidFill>
              <a:srgbClr val="FF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GB" sz="2400" u="none" cap="none" strike="noStrike">
                <a:solidFill>
                  <a:schemeClr val="lt1"/>
                </a:solidFill>
                <a:latin typeface="Arial"/>
                <a:ea typeface="Arial"/>
                <a:cs typeface="Arial"/>
                <a:sym typeface="Arial"/>
              </a:rPr>
              <a:t>Words</a:t>
            </a:r>
            <a:r>
              <a:rPr b="0" i="0" lang="en-GB" sz="2400" u="none" cap="none" strike="noStrike">
                <a:solidFill>
                  <a:schemeClr val="lt1"/>
                </a:solidFill>
                <a:latin typeface="Arial"/>
                <a:ea typeface="Arial"/>
                <a:cs typeface="Arial"/>
                <a:sym typeface="Arial"/>
              </a:rPr>
              <a:t> – electrical (x2), light, chemical</a:t>
            </a:r>
            <a:endParaRPr b="0" i="0" sz="2400" u="none" cap="none" strike="noStrike">
              <a:solidFill>
                <a:schemeClr val="lt1"/>
              </a:solidFill>
              <a:latin typeface="Arial"/>
              <a:ea typeface="Arial"/>
              <a:cs typeface="Arial"/>
              <a:sym typeface="Arial"/>
            </a:endParaRPr>
          </a:p>
        </p:txBody>
      </p:sp>
      <p:grpSp>
        <p:nvGrpSpPr>
          <p:cNvPr id="135" name="Google Shape;135;p7"/>
          <p:cNvGrpSpPr/>
          <p:nvPr/>
        </p:nvGrpSpPr>
        <p:grpSpPr>
          <a:xfrm>
            <a:off x="1524001" y="1789559"/>
            <a:ext cx="6019638" cy="1483866"/>
            <a:chOff x="0" y="1172"/>
            <a:chExt cx="3791" cy="935"/>
          </a:xfrm>
        </p:grpSpPr>
        <p:sp>
          <p:nvSpPr>
            <p:cNvPr id="136" name="Google Shape;136;p7"/>
            <p:cNvSpPr txBox="1"/>
            <p:nvPr/>
          </p:nvSpPr>
          <p:spPr>
            <a:xfrm>
              <a:off x="0" y="1207"/>
              <a:ext cx="2700" cy="900"/>
            </a:xfrm>
            <a:prstGeom prst="rect">
              <a:avLst/>
            </a:prstGeom>
            <a:solidFill>
              <a:srgbClr val="A5002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GB" sz="2400" u="none" cap="none" strike="noStrike">
                  <a:solidFill>
                    <a:schemeClr val="lt1"/>
                  </a:solidFill>
                  <a:latin typeface="Arial"/>
                  <a:ea typeface="Arial"/>
                  <a:cs typeface="Arial"/>
                  <a:sym typeface="Arial"/>
                </a:rPr>
                <a:t>The job of the battery is to convert ______ energy into _________ energy…</a:t>
              </a:r>
              <a:endParaRPr b="0" i="0" sz="2400" u="none" cap="none" strike="noStrike">
                <a:solidFill>
                  <a:schemeClr val="lt1"/>
                </a:solidFill>
                <a:latin typeface="Arial"/>
                <a:ea typeface="Arial"/>
                <a:cs typeface="Arial"/>
                <a:sym typeface="Arial"/>
              </a:endParaRPr>
            </a:p>
          </p:txBody>
        </p:sp>
        <p:sp>
          <p:nvSpPr>
            <p:cNvPr id="137" name="Google Shape;137;p7"/>
            <p:cNvSpPr/>
            <p:nvPr/>
          </p:nvSpPr>
          <p:spPr>
            <a:xfrm rot="908668">
              <a:off x="2468" y="1328"/>
              <a:ext cx="1270" cy="578"/>
            </a:xfrm>
            <a:prstGeom prst="rightArrow">
              <a:avLst>
                <a:gd fmla="val 50000" name="adj1"/>
                <a:gd fmla="val 139868" name="adj2"/>
              </a:avLst>
            </a:prstGeom>
            <a:solidFill>
              <a:srgbClr val="A5002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FFFF"/>
                </a:solidFill>
                <a:latin typeface="Comic Sans MS"/>
                <a:ea typeface="Comic Sans MS"/>
                <a:cs typeface="Comic Sans MS"/>
                <a:sym typeface="Comic Sans MS"/>
              </a:endParaRPr>
            </a:p>
          </p:txBody>
        </p:sp>
      </p:grpSp>
      <p:grpSp>
        <p:nvGrpSpPr>
          <p:cNvPr id="138" name="Google Shape;138;p7"/>
          <p:cNvGrpSpPr/>
          <p:nvPr/>
        </p:nvGrpSpPr>
        <p:grpSpPr>
          <a:xfrm>
            <a:off x="1524001" y="3584577"/>
            <a:ext cx="4932363" cy="1633538"/>
            <a:chOff x="0" y="2303"/>
            <a:chExt cx="3107" cy="1029"/>
          </a:xfrm>
        </p:grpSpPr>
        <p:sp>
          <p:nvSpPr>
            <p:cNvPr id="139" name="Google Shape;139;p7"/>
            <p:cNvSpPr txBox="1"/>
            <p:nvPr/>
          </p:nvSpPr>
          <p:spPr>
            <a:xfrm>
              <a:off x="0" y="2432"/>
              <a:ext cx="2700" cy="900"/>
            </a:xfrm>
            <a:prstGeom prst="rect">
              <a:avLst/>
            </a:prstGeom>
            <a:solidFill>
              <a:schemeClr val="accent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GB" sz="2400" u="none" cap="none" strike="noStrike">
                  <a:solidFill>
                    <a:schemeClr val="lt1"/>
                  </a:solidFill>
                  <a:latin typeface="Arial"/>
                  <a:ea typeface="Arial"/>
                  <a:cs typeface="Arial"/>
                  <a:sym typeface="Arial"/>
                </a:rPr>
                <a:t>The job of the bulb is to convert the _________ energy it receives from the battery into ______ energy.</a:t>
              </a:r>
              <a:endParaRPr b="0" i="0" sz="2400" u="none" cap="none" strike="noStrike">
                <a:solidFill>
                  <a:schemeClr val="lt1"/>
                </a:solidFill>
                <a:latin typeface="Arial"/>
                <a:ea typeface="Arial"/>
                <a:cs typeface="Arial"/>
                <a:sym typeface="Arial"/>
              </a:endParaRPr>
            </a:p>
          </p:txBody>
        </p:sp>
        <p:sp>
          <p:nvSpPr>
            <p:cNvPr id="140" name="Google Shape;140;p7"/>
            <p:cNvSpPr/>
            <p:nvPr/>
          </p:nvSpPr>
          <p:spPr>
            <a:xfrm rot="10800000">
              <a:off x="2472" y="2303"/>
              <a:ext cx="635" cy="578"/>
            </a:xfrm>
            <a:prstGeom prst="leftArrow">
              <a:avLst>
                <a:gd fmla="val 50000" name="adj1"/>
                <a:gd fmla="val 69934" name="adj2"/>
              </a:avLst>
            </a:prstGeom>
            <a:solidFill>
              <a:schemeClr val="accent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FFFF"/>
                </a:solidFill>
                <a:latin typeface="Comic Sans MS"/>
                <a:ea typeface="Comic Sans MS"/>
                <a:cs typeface="Comic Sans MS"/>
                <a:sym typeface="Comic Sans MS"/>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500"/>
                                        <p:tgtEl>
                                          <p:spTgt spid="1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500"/>
                                        <p:tgtEl>
                                          <p:spTgt spid="1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4"/>
                                        </p:tgtEl>
                                        <p:attrNameLst>
                                          <p:attrName>style.visibility</p:attrName>
                                        </p:attrNameLst>
                                      </p:cBhvr>
                                      <p:to>
                                        <p:strVal val="visible"/>
                                      </p:to>
                                    </p:set>
                                    <p:anim calcmode="lin" valueType="num">
                                      <p:cBhvr additive="base">
                                        <p:cTn dur="500"/>
                                        <p:tgtEl>
                                          <p:spTgt spid="13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gtEl>
                                        <p:attrNameLst>
                                          <p:attrName>style.visibility</p:attrName>
                                        </p:attrNameLst>
                                      </p:cBhvr>
                                      <p:to>
                                        <p:strVal val="visible"/>
                                      </p:to>
                                    </p:set>
                                    <p:animEffect filter="fade" transition="in">
                                      <p:cBhvr>
                                        <p:cTn dur="500"/>
                                        <p:tgtEl>
                                          <p:spTgt spid="1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gtEl>
                                        <p:attrNameLst>
                                          <p:attrName>style.visibility</p:attrName>
                                        </p:attrNameLst>
                                      </p:cBhvr>
                                      <p:to>
                                        <p:strVal val="visible"/>
                                      </p:to>
                                    </p:set>
                                    <p:animEffect filter="fade" transition="in">
                                      <p:cBhvr>
                                        <p:cTn dur="500"/>
                                        <p:tgtEl>
                                          <p:spTgt spid="1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8"/>
          <p:cNvSpPr txBox="1"/>
          <p:nvPr>
            <p:ph type="title"/>
          </p:nvPr>
        </p:nvSpPr>
        <p:spPr>
          <a:xfrm>
            <a:off x="5671915" y="60919"/>
            <a:ext cx="6122987" cy="97770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4400"/>
              <a:buFont typeface="Comic Sans MS"/>
              <a:buNone/>
            </a:pPr>
            <a:r>
              <a:rPr b="1" lang="en-GB">
                <a:solidFill>
                  <a:srgbClr val="00FF00"/>
                </a:solidFill>
                <a:latin typeface="Arial"/>
                <a:ea typeface="Arial"/>
                <a:cs typeface="Arial"/>
                <a:sym typeface="Arial"/>
              </a:rPr>
              <a:t>Electrical Energy</a:t>
            </a:r>
            <a:endParaRPr b="1">
              <a:solidFill>
                <a:srgbClr val="00FF00"/>
              </a:solidFill>
              <a:latin typeface="Arial"/>
              <a:ea typeface="Arial"/>
              <a:cs typeface="Arial"/>
              <a:sym typeface="Arial"/>
            </a:endParaRPr>
          </a:p>
        </p:txBody>
      </p:sp>
      <p:pic>
        <p:nvPicPr>
          <p:cNvPr descr="circuit 1" id="146" name="Google Shape;146;p8"/>
          <p:cNvPicPr preferRelativeResize="0"/>
          <p:nvPr/>
        </p:nvPicPr>
        <p:blipFill rotWithShape="1">
          <a:blip r:embed="rId3">
            <a:alphaModFix/>
          </a:blip>
          <a:srcRect b="0" l="7022" r="8988" t="0"/>
          <a:stretch/>
        </p:blipFill>
        <p:spPr>
          <a:xfrm>
            <a:off x="5149549" y="1123923"/>
            <a:ext cx="6122975" cy="5440878"/>
          </a:xfrm>
          <a:prstGeom prst="rect">
            <a:avLst/>
          </a:prstGeom>
          <a:noFill/>
          <a:ln>
            <a:noFill/>
          </a:ln>
        </p:spPr>
      </p:pic>
      <p:grpSp>
        <p:nvGrpSpPr>
          <p:cNvPr id="147" name="Google Shape;147;p8"/>
          <p:cNvGrpSpPr/>
          <p:nvPr/>
        </p:nvGrpSpPr>
        <p:grpSpPr>
          <a:xfrm>
            <a:off x="6743700" y="1628776"/>
            <a:ext cx="1441450" cy="1368425"/>
            <a:chOff x="3424" y="1162"/>
            <a:chExt cx="908" cy="862"/>
          </a:xfrm>
        </p:grpSpPr>
        <p:pic>
          <p:nvPicPr>
            <p:cNvPr descr="Happy bloke" id="148" name="Google Shape;148;p8"/>
            <p:cNvPicPr preferRelativeResize="0"/>
            <p:nvPr/>
          </p:nvPicPr>
          <p:blipFill rotWithShape="1">
            <a:blip r:embed="rId4">
              <a:alphaModFix/>
            </a:blip>
            <a:srcRect b="0" l="0" r="0" t="0"/>
            <a:stretch/>
          </p:blipFill>
          <p:spPr>
            <a:xfrm flipH="1">
              <a:off x="3424" y="1162"/>
              <a:ext cx="479" cy="862"/>
            </a:xfrm>
            <a:prstGeom prst="rect">
              <a:avLst/>
            </a:prstGeom>
            <a:noFill/>
            <a:ln>
              <a:noFill/>
            </a:ln>
          </p:spPr>
        </p:pic>
        <p:grpSp>
          <p:nvGrpSpPr>
            <p:cNvPr id="149" name="Google Shape;149;p8"/>
            <p:cNvGrpSpPr/>
            <p:nvPr/>
          </p:nvGrpSpPr>
          <p:grpSpPr>
            <a:xfrm>
              <a:off x="3742" y="1570"/>
              <a:ext cx="590" cy="318"/>
              <a:chOff x="295" y="3339"/>
              <a:chExt cx="590" cy="318"/>
            </a:xfrm>
          </p:grpSpPr>
          <p:sp>
            <p:nvSpPr>
              <p:cNvPr id="150" name="Google Shape;150;p8"/>
              <p:cNvSpPr/>
              <p:nvPr/>
            </p:nvSpPr>
            <p:spPr>
              <a:xfrm>
                <a:off x="295" y="3339"/>
                <a:ext cx="590" cy="318"/>
              </a:xfrm>
              <a:prstGeom prst="star32">
                <a:avLst>
                  <a:gd fmla="val 37500" name="adj"/>
                </a:avLst>
              </a:prstGeom>
              <a:gradFill>
                <a:gsLst>
                  <a:gs pos="0">
                    <a:srgbClr val="FFF200"/>
                  </a:gs>
                  <a:gs pos="45000">
                    <a:srgbClr val="FF7A00"/>
                  </a:gs>
                  <a:gs pos="70000">
                    <a:srgbClr val="FF0300"/>
                  </a:gs>
                  <a:gs pos="100000">
                    <a:srgbClr val="4D0808"/>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FFFF"/>
                  </a:solidFill>
                  <a:latin typeface="Comic Sans MS"/>
                  <a:ea typeface="Comic Sans MS"/>
                  <a:cs typeface="Comic Sans MS"/>
                  <a:sym typeface="Comic Sans MS"/>
                </a:endParaRPr>
              </a:p>
            </p:txBody>
          </p:sp>
          <p:sp>
            <p:nvSpPr>
              <p:cNvPr id="151" name="Google Shape;151;p8"/>
              <p:cNvSpPr txBox="1"/>
              <p:nvPr/>
            </p:nvSpPr>
            <p:spPr>
              <a:xfrm>
                <a:off x="340" y="3385"/>
                <a:ext cx="544"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lt1"/>
                    </a:solidFill>
                    <a:latin typeface="Comic Sans MS"/>
                    <a:ea typeface="Comic Sans MS"/>
                    <a:cs typeface="Comic Sans MS"/>
                    <a:sym typeface="Comic Sans MS"/>
                  </a:rPr>
                  <a:t>Energy</a:t>
                </a:r>
                <a:endParaRPr b="0" i="0" sz="1600" u="none" cap="none" strike="noStrike">
                  <a:solidFill>
                    <a:schemeClr val="lt1"/>
                  </a:solidFill>
                  <a:latin typeface="Comic Sans MS"/>
                  <a:ea typeface="Comic Sans MS"/>
                  <a:cs typeface="Comic Sans MS"/>
                  <a:sym typeface="Comic Sans MS"/>
                </a:endParaRPr>
              </a:p>
            </p:txBody>
          </p:sp>
        </p:grpSp>
      </p:grpSp>
      <p:pic>
        <p:nvPicPr>
          <p:cNvPr descr="Happy bloke" id="152" name="Google Shape;152;p8"/>
          <p:cNvPicPr preferRelativeResize="0"/>
          <p:nvPr/>
        </p:nvPicPr>
        <p:blipFill rotWithShape="1">
          <a:blip r:embed="rId4">
            <a:alphaModFix/>
          </a:blip>
          <a:srcRect b="0" l="0" r="0" t="0"/>
          <a:stretch/>
        </p:blipFill>
        <p:spPr>
          <a:xfrm flipH="1">
            <a:off x="1524001" y="2349500"/>
            <a:ext cx="1211263" cy="2179638"/>
          </a:xfrm>
          <a:prstGeom prst="rect">
            <a:avLst/>
          </a:prstGeom>
          <a:noFill/>
          <a:ln>
            <a:noFill/>
          </a:ln>
        </p:spPr>
      </p:pic>
      <p:sp>
        <p:nvSpPr>
          <p:cNvPr id="153" name="Google Shape;153;p8"/>
          <p:cNvSpPr/>
          <p:nvPr/>
        </p:nvSpPr>
        <p:spPr>
          <a:xfrm>
            <a:off x="1703388" y="188913"/>
            <a:ext cx="3168650" cy="1439862"/>
          </a:xfrm>
          <a:prstGeom prst="wedgeRoundRectCallout">
            <a:avLst>
              <a:gd fmla="val -31264" name="adj1"/>
              <a:gd fmla="val 128611" name="adj2"/>
              <a:gd fmla="val 16667" name="adj3"/>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dk1"/>
                </a:solidFill>
                <a:latin typeface="Arial"/>
                <a:ea typeface="Arial"/>
                <a:cs typeface="Arial"/>
                <a:sym typeface="Arial"/>
              </a:rPr>
              <a:t>Hi.  I’m Ernie Electron and I’m going to show you how I get energy around a circuit.</a:t>
            </a:r>
            <a:endParaRPr b="0" i="0" sz="2000" u="none" cap="none" strike="noStrike">
              <a:solidFill>
                <a:schemeClr val="dk1"/>
              </a:solidFill>
              <a:latin typeface="Arial"/>
              <a:ea typeface="Arial"/>
              <a:cs typeface="Arial"/>
              <a:sym typeface="Arial"/>
            </a:endParaRPr>
          </a:p>
        </p:txBody>
      </p:sp>
      <p:sp>
        <p:nvSpPr>
          <p:cNvPr id="154" name="Google Shape;154;p8"/>
          <p:cNvSpPr/>
          <p:nvPr/>
        </p:nvSpPr>
        <p:spPr>
          <a:xfrm>
            <a:off x="5993114" y="3708701"/>
            <a:ext cx="576263" cy="504825"/>
          </a:xfrm>
          <a:prstGeom prst="star32">
            <a:avLst>
              <a:gd fmla="val 37500" name="adj"/>
            </a:avLst>
          </a:prstGeom>
          <a:noFill/>
          <a:ln cap="flat" cmpd="sng" w="41275">
            <a:solidFill>
              <a:srgbClr val="FF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FFFF"/>
              </a:solidFill>
              <a:latin typeface="Comic Sans MS"/>
              <a:ea typeface="Comic Sans MS"/>
              <a:cs typeface="Comic Sans MS"/>
              <a:sym typeface="Comic Sans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52"/>
                                        </p:tgtEl>
                                        <p:attrNameLst>
                                          <p:attrName>style.visibility</p:attrName>
                                        </p:attrNameLst>
                                      </p:cBhvr>
                                      <p:to>
                                        <p:strVal val="visible"/>
                                      </p:to>
                                    </p:set>
                                    <p:anim calcmode="lin" valueType="num">
                                      <p:cBhvr additive="base">
                                        <p:cTn dur="500"/>
                                        <p:tgtEl>
                                          <p:spTgt spid="15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500"/>
                                        <p:tgtEl>
                                          <p:spTgt spid="1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500"/>
                                        <p:tgtEl>
                                          <p:spTgt spid="1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
                                        </p:tgtEl>
                                        <p:attrNameLst>
                                          <p:attrName>style.visibility</p:attrName>
                                        </p:attrNameLst>
                                      </p:cBhvr>
                                      <p:to>
                                        <p:strVal val="visible"/>
                                      </p:to>
                                    </p:set>
                                    <p:animEffect filter="fade" transition="in">
                                      <p:cBhvr>
                                        <p:cTn dur="500"/>
                                        <p:tgtEl>
                                          <p:spTgt spid="147"/>
                                        </p:tgtEl>
                                      </p:cBhvr>
                                    </p:animEffect>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154"/>
                                        </p:tgtEl>
                                        <p:attrNameLst>
                                          <p:attrName>style.visibility</p:attrName>
                                        </p:attrNameLst>
                                      </p:cBhvr>
                                      <p:to>
                                        <p:strVal val="visible"/>
                                      </p:to>
                                    </p:set>
                                    <p:anim calcmode="lin" valueType="num">
                                      <p:cBhvr additive="base">
                                        <p:cTn dur="500"/>
                                        <p:tgtEl>
                                          <p:spTgt spid="154"/>
                                        </p:tgtEl>
                                        <p:attrNameLst>
                                          <p:attrName>ppt_w</p:attrName>
                                        </p:attrNameLst>
                                      </p:cBhvr>
                                      <p:tavLst>
                                        <p:tav fmla="" tm="0">
                                          <p:val>
                                            <p:strVal val="0"/>
                                          </p:val>
                                        </p:tav>
                                        <p:tav fmla="" tm="100000">
                                          <p:val>
                                            <p:strVal val="#ppt_w"/>
                                          </p:val>
                                        </p:tav>
                                      </p:tavLst>
                                    </p:anim>
                                    <p:anim calcmode="lin" valueType="num">
                                      <p:cBhvr additive="base">
                                        <p:cTn dur="500"/>
                                        <p:tgtEl>
                                          <p:spTgt spid="15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descr="circuit 1" id="159" name="Google Shape;159;p9"/>
          <p:cNvPicPr preferRelativeResize="0"/>
          <p:nvPr/>
        </p:nvPicPr>
        <p:blipFill rotWithShape="1">
          <a:blip r:embed="rId3">
            <a:alphaModFix/>
          </a:blip>
          <a:srcRect b="0" l="7022" r="8988" t="0"/>
          <a:stretch/>
        </p:blipFill>
        <p:spPr>
          <a:xfrm>
            <a:off x="3898900" y="781050"/>
            <a:ext cx="6769100" cy="6015038"/>
          </a:xfrm>
          <a:prstGeom prst="rect">
            <a:avLst/>
          </a:prstGeom>
          <a:noFill/>
          <a:ln>
            <a:noFill/>
          </a:ln>
        </p:spPr>
      </p:pic>
      <p:grpSp>
        <p:nvGrpSpPr>
          <p:cNvPr id="160" name="Google Shape;160;p9"/>
          <p:cNvGrpSpPr/>
          <p:nvPr/>
        </p:nvGrpSpPr>
        <p:grpSpPr>
          <a:xfrm>
            <a:off x="4131469" y="3104356"/>
            <a:ext cx="1481138" cy="1368425"/>
            <a:chOff x="4150" y="1570"/>
            <a:chExt cx="933" cy="862"/>
          </a:xfrm>
        </p:grpSpPr>
        <p:pic>
          <p:nvPicPr>
            <p:cNvPr descr="Happy bloke" id="161" name="Google Shape;161;p9"/>
            <p:cNvPicPr preferRelativeResize="0"/>
            <p:nvPr/>
          </p:nvPicPr>
          <p:blipFill rotWithShape="1">
            <a:blip r:embed="rId4">
              <a:alphaModFix/>
            </a:blip>
            <a:srcRect b="0" l="0" r="0" t="0"/>
            <a:stretch/>
          </p:blipFill>
          <p:spPr>
            <a:xfrm>
              <a:off x="4604" y="1570"/>
              <a:ext cx="479" cy="862"/>
            </a:xfrm>
            <a:prstGeom prst="rect">
              <a:avLst/>
            </a:prstGeom>
            <a:noFill/>
            <a:ln>
              <a:noFill/>
            </a:ln>
          </p:spPr>
        </p:pic>
        <p:grpSp>
          <p:nvGrpSpPr>
            <p:cNvPr id="162" name="Google Shape;162;p9"/>
            <p:cNvGrpSpPr/>
            <p:nvPr/>
          </p:nvGrpSpPr>
          <p:grpSpPr>
            <a:xfrm>
              <a:off x="4150" y="1979"/>
              <a:ext cx="590" cy="318"/>
              <a:chOff x="295" y="3339"/>
              <a:chExt cx="590" cy="318"/>
            </a:xfrm>
          </p:grpSpPr>
          <p:sp>
            <p:nvSpPr>
              <p:cNvPr id="163" name="Google Shape;163;p9"/>
              <p:cNvSpPr/>
              <p:nvPr/>
            </p:nvSpPr>
            <p:spPr>
              <a:xfrm>
                <a:off x="295" y="3339"/>
                <a:ext cx="590" cy="318"/>
              </a:xfrm>
              <a:prstGeom prst="star32">
                <a:avLst>
                  <a:gd fmla="val 37500" name="adj"/>
                </a:avLst>
              </a:prstGeom>
              <a:gradFill>
                <a:gsLst>
                  <a:gs pos="0">
                    <a:srgbClr val="FFF200"/>
                  </a:gs>
                  <a:gs pos="45000">
                    <a:srgbClr val="FF7A00"/>
                  </a:gs>
                  <a:gs pos="70000">
                    <a:srgbClr val="FF0300"/>
                  </a:gs>
                  <a:gs pos="100000">
                    <a:srgbClr val="4D0808"/>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FFFF"/>
                  </a:solidFill>
                  <a:latin typeface="Comic Sans MS"/>
                  <a:ea typeface="Comic Sans MS"/>
                  <a:cs typeface="Comic Sans MS"/>
                  <a:sym typeface="Comic Sans MS"/>
                </a:endParaRPr>
              </a:p>
            </p:txBody>
          </p:sp>
          <p:sp>
            <p:nvSpPr>
              <p:cNvPr id="164" name="Google Shape;164;p9"/>
              <p:cNvSpPr txBox="1"/>
              <p:nvPr/>
            </p:nvSpPr>
            <p:spPr>
              <a:xfrm>
                <a:off x="340" y="3385"/>
                <a:ext cx="544"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lt1"/>
                    </a:solidFill>
                    <a:latin typeface="Comic Sans MS"/>
                    <a:ea typeface="Comic Sans MS"/>
                    <a:cs typeface="Comic Sans MS"/>
                    <a:sym typeface="Comic Sans MS"/>
                  </a:rPr>
                  <a:t>Energy</a:t>
                </a:r>
                <a:endParaRPr b="0" i="0" sz="1600" u="none" cap="none" strike="noStrike">
                  <a:solidFill>
                    <a:schemeClr val="lt1"/>
                  </a:solidFill>
                  <a:latin typeface="Comic Sans MS"/>
                  <a:ea typeface="Comic Sans MS"/>
                  <a:cs typeface="Comic Sans MS"/>
                  <a:sym typeface="Comic Sans MS"/>
                </a:endParaRPr>
              </a:p>
            </p:txBody>
          </p:sp>
        </p:grpSp>
      </p:grpSp>
      <p:pic>
        <p:nvPicPr>
          <p:cNvPr descr="Happy bloke" id="165" name="Google Shape;165;p9"/>
          <p:cNvPicPr preferRelativeResize="0"/>
          <p:nvPr/>
        </p:nvPicPr>
        <p:blipFill rotWithShape="1">
          <a:blip r:embed="rId4">
            <a:alphaModFix/>
          </a:blip>
          <a:srcRect b="0" l="0" r="0" t="0"/>
          <a:stretch/>
        </p:blipFill>
        <p:spPr>
          <a:xfrm flipH="1">
            <a:off x="1524001" y="2349500"/>
            <a:ext cx="1211263" cy="2179638"/>
          </a:xfrm>
          <a:prstGeom prst="rect">
            <a:avLst/>
          </a:prstGeom>
          <a:noFill/>
          <a:ln>
            <a:noFill/>
          </a:ln>
        </p:spPr>
      </p:pic>
      <p:sp>
        <p:nvSpPr>
          <p:cNvPr id="166" name="Google Shape;166;p9"/>
          <p:cNvSpPr/>
          <p:nvPr/>
        </p:nvSpPr>
        <p:spPr>
          <a:xfrm>
            <a:off x="2027239" y="268331"/>
            <a:ext cx="3348037" cy="1652244"/>
          </a:xfrm>
          <a:prstGeom prst="wedgeRoundRectCallout">
            <a:avLst>
              <a:gd fmla="val -37169" name="adj1"/>
              <a:gd fmla="val 109166" name="adj2"/>
              <a:gd fmla="val 16667" name="adj3"/>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dk1"/>
                </a:solidFill>
                <a:latin typeface="Arial"/>
                <a:ea typeface="Arial"/>
                <a:cs typeface="Arial"/>
                <a:sym typeface="Arial"/>
              </a:rPr>
              <a:t>I leave from the negative terminal of the battery cell and I am attracted to the positive end.</a:t>
            </a:r>
            <a:endParaRPr b="0" i="0" sz="2000" u="none" cap="none" strike="noStrike">
              <a:solidFill>
                <a:schemeClr val="dk1"/>
              </a:solidFill>
              <a:latin typeface="Arial"/>
              <a:ea typeface="Arial"/>
              <a:cs typeface="Arial"/>
              <a:sym typeface="Arial"/>
            </a:endParaRPr>
          </a:p>
        </p:txBody>
      </p:sp>
      <p:sp>
        <p:nvSpPr>
          <p:cNvPr id="167" name="Google Shape;167;p9"/>
          <p:cNvSpPr txBox="1"/>
          <p:nvPr/>
        </p:nvSpPr>
        <p:spPr>
          <a:xfrm>
            <a:off x="5671915" y="60919"/>
            <a:ext cx="6122987" cy="977709"/>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FF0000"/>
              </a:buClr>
              <a:buSzPts val="4400"/>
              <a:buFont typeface="Comic Sans MS"/>
              <a:buNone/>
            </a:pPr>
            <a:r>
              <a:rPr b="1" i="0" lang="en-GB" sz="4400" u="none" cap="none" strike="noStrike">
                <a:solidFill>
                  <a:srgbClr val="00FF00"/>
                </a:solidFill>
                <a:latin typeface="Arial"/>
                <a:ea typeface="Arial"/>
                <a:cs typeface="Arial"/>
                <a:sym typeface="Arial"/>
              </a:rPr>
              <a:t>Electrical Energy</a:t>
            </a:r>
            <a:endParaRPr b="1" i="0" sz="4400" u="none" cap="none" strike="noStrike">
              <a:solidFill>
                <a:srgbClr val="00FF00"/>
              </a:solidFill>
              <a:latin typeface="Arial"/>
              <a:ea typeface="Arial"/>
              <a:cs typeface="Arial"/>
              <a:sym typeface="Arial"/>
            </a:endParaRPr>
          </a:p>
        </p:txBody>
      </p:sp>
      <p:sp>
        <p:nvSpPr>
          <p:cNvPr id="168" name="Google Shape;168;p9"/>
          <p:cNvSpPr/>
          <p:nvPr/>
        </p:nvSpPr>
        <p:spPr>
          <a:xfrm>
            <a:off x="5375276" y="4005264"/>
            <a:ext cx="576263" cy="504825"/>
          </a:xfrm>
          <a:prstGeom prst="star32">
            <a:avLst>
              <a:gd fmla="val 37500" name="adj"/>
            </a:avLst>
          </a:prstGeom>
          <a:noFill/>
          <a:ln cap="flat" cmpd="sng" w="41275">
            <a:solidFill>
              <a:srgbClr val="FF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FFFF"/>
              </a:solidFill>
              <a:latin typeface="Comic Sans MS"/>
              <a:ea typeface="Comic Sans MS"/>
              <a:cs typeface="Comic Sans MS"/>
              <a:sym typeface="Comic Sans M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pic>
        <p:nvPicPr>
          <p:cNvPr descr="circuit 1" id="173" name="Google Shape;173;p10"/>
          <p:cNvPicPr preferRelativeResize="0"/>
          <p:nvPr/>
        </p:nvPicPr>
        <p:blipFill rotWithShape="1">
          <a:blip r:embed="rId3">
            <a:alphaModFix/>
          </a:blip>
          <a:srcRect b="0" l="7022" r="8988" t="0"/>
          <a:stretch/>
        </p:blipFill>
        <p:spPr>
          <a:xfrm>
            <a:off x="3898900" y="781050"/>
            <a:ext cx="6769100" cy="6015038"/>
          </a:xfrm>
          <a:prstGeom prst="rect">
            <a:avLst/>
          </a:prstGeom>
          <a:noFill/>
          <a:ln>
            <a:noFill/>
          </a:ln>
        </p:spPr>
      </p:pic>
      <p:pic>
        <p:nvPicPr>
          <p:cNvPr descr="Happy bloke" id="174" name="Google Shape;174;p10"/>
          <p:cNvPicPr preferRelativeResize="0"/>
          <p:nvPr/>
        </p:nvPicPr>
        <p:blipFill rotWithShape="1">
          <a:blip r:embed="rId4">
            <a:alphaModFix/>
          </a:blip>
          <a:srcRect b="0" l="0" r="0" t="0"/>
          <a:stretch/>
        </p:blipFill>
        <p:spPr>
          <a:xfrm flipH="1">
            <a:off x="8675100" y="2565401"/>
            <a:ext cx="760412" cy="1368425"/>
          </a:xfrm>
          <a:prstGeom prst="rect">
            <a:avLst/>
          </a:prstGeom>
          <a:noFill/>
          <a:ln>
            <a:noFill/>
          </a:ln>
        </p:spPr>
      </p:pic>
      <p:pic>
        <p:nvPicPr>
          <p:cNvPr descr="Happy bloke" id="175" name="Google Shape;175;p10"/>
          <p:cNvPicPr preferRelativeResize="0"/>
          <p:nvPr/>
        </p:nvPicPr>
        <p:blipFill rotWithShape="1">
          <a:blip r:embed="rId4">
            <a:alphaModFix/>
          </a:blip>
          <a:srcRect b="0" l="0" r="0" t="0"/>
          <a:stretch/>
        </p:blipFill>
        <p:spPr>
          <a:xfrm flipH="1">
            <a:off x="1524001" y="2349500"/>
            <a:ext cx="1211263" cy="2179638"/>
          </a:xfrm>
          <a:prstGeom prst="rect">
            <a:avLst/>
          </a:prstGeom>
          <a:noFill/>
          <a:ln>
            <a:noFill/>
          </a:ln>
        </p:spPr>
      </p:pic>
      <p:sp>
        <p:nvSpPr>
          <p:cNvPr id="176" name="Google Shape;176;p10"/>
          <p:cNvSpPr/>
          <p:nvPr/>
        </p:nvSpPr>
        <p:spPr>
          <a:xfrm>
            <a:off x="1703388" y="188913"/>
            <a:ext cx="3168650" cy="1439862"/>
          </a:xfrm>
          <a:prstGeom prst="wedgeRoundRectCallout">
            <a:avLst>
              <a:gd fmla="val -31264" name="adj1"/>
              <a:gd fmla="val 128611" name="adj2"/>
              <a:gd fmla="val 16667" name="adj3"/>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dk1"/>
                </a:solidFill>
                <a:latin typeface="Arial"/>
                <a:ea typeface="Arial"/>
                <a:cs typeface="Arial"/>
                <a:sym typeface="Arial"/>
              </a:rPr>
              <a:t>Notice, the switch is ‘ON’ which means the circuit is closed and I am free to travel</a:t>
            </a:r>
            <a:endParaRPr b="0" i="0" sz="1400" u="none" cap="none" strike="noStrike">
              <a:solidFill>
                <a:srgbClr val="000000"/>
              </a:solidFill>
              <a:latin typeface="Arial"/>
              <a:ea typeface="Arial"/>
              <a:cs typeface="Arial"/>
              <a:sym typeface="Arial"/>
            </a:endParaRPr>
          </a:p>
        </p:txBody>
      </p:sp>
      <p:grpSp>
        <p:nvGrpSpPr>
          <p:cNvPr id="177" name="Google Shape;177;p10"/>
          <p:cNvGrpSpPr/>
          <p:nvPr/>
        </p:nvGrpSpPr>
        <p:grpSpPr>
          <a:xfrm>
            <a:off x="6888164" y="2492376"/>
            <a:ext cx="936625" cy="504825"/>
            <a:chOff x="295" y="3339"/>
            <a:chExt cx="590" cy="318"/>
          </a:xfrm>
        </p:grpSpPr>
        <p:sp>
          <p:nvSpPr>
            <p:cNvPr id="178" name="Google Shape;178;p10"/>
            <p:cNvSpPr/>
            <p:nvPr/>
          </p:nvSpPr>
          <p:spPr>
            <a:xfrm>
              <a:off x="295" y="3339"/>
              <a:ext cx="590" cy="318"/>
            </a:xfrm>
            <a:prstGeom prst="star32">
              <a:avLst>
                <a:gd fmla="val 37500" name="adj"/>
              </a:avLst>
            </a:prstGeom>
            <a:gradFill>
              <a:gsLst>
                <a:gs pos="0">
                  <a:srgbClr val="FFF200"/>
                </a:gs>
                <a:gs pos="45000">
                  <a:srgbClr val="FF7A00"/>
                </a:gs>
                <a:gs pos="70000">
                  <a:srgbClr val="FF0300"/>
                </a:gs>
                <a:gs pos="100000">
                  <a:srgbClr val="4D0808"/>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FFFF"/>
                </a:solidFill>
                <a:latin typeface="Comic Sans MS"/>
                <a:ea typeface="Comic Sans MS"/>
                <a:cs typeface="Comic Sans MS"/>
                <a:sym typeface="Comic Sans MS"/>
              </a:endParaRPr>
            </a:p>
          </p:txBody>
        </p:sp>
        <p:sp>
          <p:nvSpPr>
            <p:cNvPr id="179" name="Google Shape;179;p10"/>
            <p:cNvSpPr txBox="1"/>
            <p:nvPr/>
          </p:nvSpPr>
          <p:spPr>
            <a:xfrm>
              <a:off x="340" y="3385"/>
              <a:ext cx="544"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lt1"/>
                  </a:solidFill>
                  <a:latin typeface="Comic Sans MS"/>
                  <a:ea typeface="Comic Sans MS"/>
                  <a:cs typeface="Comic Sans MS"/>
                  <a:sym typeface="Comic Sans MS"/>
                </a:rPr>
                <a:t>Energy</a:t>
              </a:r>
              <a:endParaRPr b="0" i="0" sz="1600" u="none" cap="none" strike="noStrike">
                <a:solidFill>
                  <a:schemeClr val="lt1"/>
                </a:solidFill>
                <a:latin typeface="Comic Sans MS"/>
                <a:ea typeface="Comic Sans MS"/>
                <a:cs typeface="Comic Sans MS"/>
                <a:sym typeface="Comic Sans MS"/>
              </a:endParaRPr>
            </a:p>
          </p:txBody>
        </p:sp>
      </p:grpSp>
      <p:sp>
        <p:nvSpPr>
          <p:cNvPr id="180" name="Google Shape;180;p10"/>
          <p:cNvSpPr txBox="1"/>
          <p:nvPr>
            <p:ph type="title"/>
          </p:nvPr>
        </p:nvSpPr>
        <p:spPr>
          <a:xfrm>
            <a:off x="5671915" y="60919"/>
            <a:ext cx="6122987" cy="97770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4400"/>
              <a:buFont typeface="Comic Sans MS"/>
              <a:buNone/>
            </a:pPr>
            <a:r>
              <a:rPr b="1" lang="en-GB">
                <a:solidFill>
                  <a:srgbClr val="00FF00"/>
                </a:solidFill>
                <a:latin typeface="Arial"/>
                <a:ea typeface="Arial"/>
                <a:cs typeface="Arial"/>
                <a:sym typeface="Arial"/>
              </a:rPr>
              <a:t>Electrical Energy</a:t>
            </a:r>
            <a:endParaRPr b="1">
              <a:solidFill>
                <a:srgbClr val="00FF00"/>
              </a:solidFill>
              <a:latin typeface="Arial"/>
              <a:ea typeface="Arial"/>
              <a:cs typeface="Arial"/>
              <a:sym typeface="Arial"/>
            </a:endParaRPr>
          </a:p>
        </p:txBody>
      </p:sp>
      <p:sp>
        <p:nvSpPr>
          <p:cNvPr id="181" name="Google Shape;181;p10"/>
          <p:cNvSpPr/>
          <p:nvPr/>
        </p:nvSpPr>
        <p:spPr>
          <a:xfrm>
            <a:off x="5375276" y="4005264"/>
            <a:ext cx="576263" cy="504825"/>
          </a:xfrm>
          <a:prstGeom prst="star32">
            <a:avLst>
              <a:gd fmla="val 37500" name="adj"/>
            </a:avLst>
          </a:prstGeom>
          <a:noFill/>
          <a:ln cap="flat" cmpd="sng" w="41275">
            <a:solidFill>
              <a:srgbClr val="FF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FFFF"/>
              </a:solidFill>
              <a:latin typeface="Comic Sans MS"/>
              <a:ea typeface="Comic Sans MS"/>
              <a:cs typeface="Comic Sans MS"/>
              <a:sym typeface="Comic Sans M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1"/>
          <p:cNvSpPr txBox="1"/>
          <p:nvPr>
            <p:ph type="title"/>
          </p:nvPr>
        </p:nvSpPr>
        <p:spPr>
          <a:xfrm>
            <a:off x="1981200" y="274638"/>
            <a:ext cx="8229600" cy="1143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omic Sans MS"/>
              <a:buNone/>
            </a:pPr>
            <a:r>
              <a:rPr lang="en-GB">
                <a:solidFill>
                  <a:srgbClr val="00FF00"/>
                </a:solidFill>
                <a:latin typeface="Arial"/>
                <a:ea typeface="Arial"/>
                <a:cs typeface="Arial"/>
                <a:sym typeface="Arial"/>
              </a:rPr>
              <a:t>Materials</a:t>
            </a:r>
            <a:endParaRPr>
              <a:solidFill>
                <a:srgbClr val="00FF00"/>
              </a:solidFill>
              <a:latin typeface="Arial"/>
              <a:ea typeface="Arial"/>
              <a:cs typeface="Arial"/>
              <a:sym typeface="Arial"/>
            </a:endParaRPr>
          </a:p>
        </p:txBody>
      </p:sp>
      <p:sp>
        <p:nvSpPr>
          <p:cNvPr id="187" name="Google Shape;187;p11"/>
          <p:cNvSpPr txBox="1"/>
          <p:nvPr>
            <p:ph idx="1" type="body"/>
          </p:nvPr>
        </p:nvSpPr>
        <p:spPr>
          <a:xfrm>
            <a:off x="759854" y="1417638"/>
            <a:ext cx="11127346" cy="508619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3600"/>
              <a:buChar char="•"/>
            </a:pPr>
            <a:r>
              <a:rPr lang="en-GB" sz="3600">
                <a:solidFill>
                  <a:schemeClr val="lt1"/>
                </a:solidFill>
                <a:latin typeface="Arial"/>
                <a:ea typeface="Arial"/>
                <a:cs typeface="Arial"/>
                <a:sym typeface="Arial"/>
              </a:rPr>
              <a:t>Materials that allow electricity to pass through them are called </a:t>
            </a:r>
            <a:r>
              <a:rPr lang="en-GB" sz="3600">
                <a:solidFill>
                  <a:srgbClr val="FFFF00"/>
                </a:solidFill>
                <a:latin typeface="Arial"/>
                <a:ea typeface="Arial"/>
                <a:cs typeface="Arial"/>
                <a:sym typeface="Arial"/>
              </a:rPr>
              <a:t>CONDUCTORS</a:t>
            </a:r>
            <a:r>
              <a:rPr lang="en-GB" sz="3600">
                <a:solidFill>
                  <a:schemeClr val="lt1"/>
                </a:solidFill>
                <a:latin typeface="Arial"/>
                <a:ea typeface="Arial"/>
                <a:cs typeface="Arial"/>
                <a:sym typeface="Arial"/>
              </a:rPr>
              <a:t>.</a:t>
            </a:r>
            <a:endParaRPr>
              <a:latin typeface="Arial"/>
              <a:ea typeface="Arial"/>
              <a:cs typeface="Arial"/>
              <a:sym typeface="Arial"/>
            </a:endParaRPr>
          </a:p>
          <a:p>
            <a:pPr indent="-228600" lvl="1" marL="685800" rtl="0" algn="l">
              <a:lnSpc>
                <a:spcPct val="90000"/>
              </a:lnSpc>
              <a:spcBef>
                <a:spcPts val="500"/>
              </a:spcBef>
              <a:spcAft>
                <a:spcPts val="0"/>
              </a:spcAft>
              <a:buClr>
                <a:schemeClr val="lt1"/>
              </a:buClr>
              <a:buSzPts val="3200"/>
              <a:buChar char="•"/>
            </a:pPr>
            <a:r>
              <a:rPr lang="en-GB" sz="3200">
                <a:solidFill>
                  <a:schemeClr val="lt1"/>
                </a:solidFill>
                <a:latin typeface="Arial"/>
                <a:ea typeface="Arial"/>
                <a:cs typeface="Arial"/>
                <a:sym typeface="Arial"/>
              </a:rPr>
              <a:t>Give 3 examples</a:t>
            </a:r>
            <a:endParaRPr>
              <a:latin typeface="Arial"/>
              <a:ea typeface="Arial"/>
              <a:cs typeface="Arial"/>
              <a:sym typeface="Arial"/>
            </a:endParaRPr>
          </a:p>
          <a:p>
            <a:pPr indent="0" lvl="0" marL="228600" rtl="0" algn="l">
              <a:lnSpc>
                <a:spcPct val="90000"/>
              </a:lnSpc>
              <a:spcBef>
                <a:spcPts val="1000"/>
              </a:spcBef>
              <a:spcAft>
                <a:spcPts val="0"/>
              </a:spcAft>
              <a:buClr>
                <a:schemeClr val="dk1"/>
              </a:buClr>
              <a:buSzPts val="3600"/>
              <a:buNone/>
            </a:pPr>
            <a:r>
              <a:t/>
            </a:r>
            <a:endParaRPr sz="3600">
              <a:solidFill>
                <a:schemeClr val="lt1"/>
              </a:solidFill>
              <a:latin typeface="Arial"/>
              <a:ea typeface="Arial"/>
              <a:cs typeface="Arial"/>
              <a:sym typeface="Arial"/>
            </a:endParaRPr>
          </a:p>
          <a:p>
            <a:pPr indent="-228600" lvl="0" marL="228600" rtl="0" algn="l">
              <a:lnSpc>
                <a:spcPct val="90000"/>
              </a:lnSpc>
              <a:spcBef>
                <a:spcPts val="1000"/>
              </a:spcBef>
              <a:spcAft>
                <a:spcPts val="0"/>
              </a:spcAft>
              <a:buClr>
                <a:schemeClr val="lt1"/>
              </a:buClr>
              <a:buSzPts val="3600"/>
              <a:buChar char="•"/>
            </a:pPr>
            <a:r>
              <a:rPr lang="en-GB" sz="3600">
                <a:solidFill>
                  <a:schemeClr val="lt1"/>
                </a:solidFill>
                <a:latin typeface="Arial"/>
                <a:ea typeface="Arial"/>
                <a:cs typeface="Arial"/>
                <a:sym typeface="Arial"/>
              </a:rPr>
              <a:t>Materials that electricity does not pass through are called </a:t>
            </a:r>
            <a:r>
              <a:rPr lang="en-GB" sz="3600">
                <a:solidFill>
                  <a:srgbClr val="FFFF00"/>
                </a:solidFill>
                <a:latin typeface="Arial"/>
                <a:ea typeface="Arial"/>
                <a:cs typeface="Arial"/>
                <a:sym typeface="Arial"/>
              </a:rPr>
              <a:t>INSULATORS.</a:t>
            </a:r>
            <a:endParaRPr>
              <a:latin typeface="Arial"/>
              <a:ea typeface="Arial"/>
              <a:cs typeface="Arial"/>
              <a:sym typeface="Arial"/>
            </a:endParaRPr>
          </a:p>
          <a:p>
            <a:pPr indent="-228600" lvl="1" marL="685800" rtl="0" algn="l">
              <a:lnSpc>
                <a:spcPct val="90000"/>
              </a:lnSpc>
              <a:spcBef>
                <a:spcPts val="500"/>
              </a:spcBef>
              <a:spcAft>
                <a:spcPts val="0"/>
              </a:spcAft>
              <a:buClr>
                <a:schemeClr val="lt1"/>
              </a:buClr>
              <a:buSzPts val="3200"/>
              <a:buChar char="•"/>
            </a:pPr>
            <a:r>
              <a:rPr lang="en-GB" sz="3200">
                <a:solidFill>
                  <a:schemeClr val="lt1"/>
                </a:solidFill>
                <a:latin typeface="Arial"/>
                <a:ea typeface="Arial"/>
                <a:cs typeface="Arial"/>
                <a:sym typeface="Arial"/>
              </a:rPr>
              <a:t>Give 3 examples</a:t>
            </a:r>
            <a:endParaRPr>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ac8a406eda_0_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94" name="Google Shape;194;g3ac8a406eda_0_3"/>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195" name="Google Shape;195;g3ac8a406eda_0_3"/>
          <p:cNvPicPr preferRelativeResize="0"/>
          <p:nvPr/>
        </p:nvPicPr>
        <p:blipFill>
          <a:blip r:embed="rId3">
            <a:alphaModFix/>
          </a:blip>
          <a:stretch>
            <a:fillRect/>
          </a:stretch>
        </p:blipFill>
        <p:spPr>
          <a:xfrm>
            <a:off x="952500" y="0"/>
            <a:ext cx="10287000" cy="6858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2"/>
          <p:cNvSpPr txBox="1"/>
          <p:nvPr>
            <p:ph type="title"/>
          </p:nvPr>
        </p:nvSpPr>
        <p:spPr>
          <a:xfrm>
            <a:off x="675250" y="70486"/>
            <a:ext cx="8243668" cy="626666"/>
          </a:xfrm>
          <a:prstGeom prst="rect">
            <a:avLst/>
          </a:prstGeom>
          <a:solidFill>
            <a:schemeClr val="lt1"/>
          </a:solidFill>
          <a:ln cap="flat" cmpd="sng" w="9525">
            <a:solidFill>
              <a:srgbClr val="000066"/>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4400"/>
              <a:buFont typeface="Comic Sans MS"/>
              <a:buNone/>
            </a:pPr>
            <a:r>
              <a:rPr lang="en-GB">
                <a:solidFill>
                  <a:srgbClr val="FF0066"/>
                </a:solidFill>
                <a:latin typeface="Arial"/>
                <a:ea typeface="Arial"/>
                <a:cs typeface="Arial"/>
                <a:sym typeface="Arial"/>
              </a:rPr>
              <a:t>Why do metals Conduct Heat?</a:t>
            </a:r>
            <a:endParaRPr>
              <a:solidFill>
                <a:srgbClr val="FF0066"/>
              </a:solidFill>
              <a:latin typeface="Arial"/>
              <a:ea typeface="Arial"/>
              <a:cs typeface="Arial"/>
              <a:sym typeface="Arial"/>
            </a:endParaRPr>
          </a:p>
        </p:txBody>
      </p:sp>
      <p:sp>
        <p:nvSpPr>
          <p:cNvPr id="201" name="Google Shape;201;p12"/>
          <p:cNvSpPr txBox="1"/>
          <p:nvPr/>
        </p:nvSpPr>
        <p:spPr>
          <a:xfrm>
            <a:off x="383347" y="1220372"/>
            <a:ext cx="5467500" cy="138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GB" sz="2800" u="none" cap="none" strike="noStrike">
                <a:solidFill>
                  <a:schemeClr val="lt1"/>
                </a:solidFill>
                <a:latin typeface="Arial"/>
                <a:ea typeface="Arial"/>
                <a:cs typeface="Arial"/>
                <a:sym typeface="Arial"/>
              </a:rPr>
              <a:t>When you heat a metal strip at one end, the heat travels to the other end.</a:t>
            </a:r>
            <a:endParaRPr b="0" i="0" sz="1400" u="none" cap="none" strike="noStrike">
              <a:solidFill>
                <a:srgbClr val="000000"/>
              </a:solidFill>
              <a:latin typeface="Arial"/>
              <a:ea typeface="Arial"/>
              <a:cs typeface="Arial"/>
              <a:sym typeface="Arial"/>
            </a:endParaRPr>
          </a:p>
        </p:txBody>
      </p:sp>
      <p:sp>
        <p:nvSpPr>
          <p:cNvPr id="202" name="Google Shape;202;p12"/>
          <p:cNvSpPr txBox="1"/>
          <p:nvPr/>
        </p:nvSpPr>
        <p:spPr>
          <a:xfrm>
            <a:off x="241630" y="2718581"/>
            <a:ext cx="5609400" cy="3109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GB" sz="2800" u="none" cap="none" strike="noStrike">
                <a:solidFill>
                  <a:schemeClr val="lt1"/>
                </a:solidFill>
                <a:latin typeface="Arial"/>
                <a:ea typeface="Arial"/>
                <a:cs typeface="Arial"/>
                <a:sym typeface="Arial"/>
              </a:rPr>
              <a:t>As you heat the metal, the particles vibrate, these vibrations make the adjacent particles vibrate, and so on and so on, the vibrations are passed along the metal and so is the heat. We call this?</a:t>
            </a:r>
            <a:endParaRPr b="0" i="0" sz="1400" u="none" cap="none" strike="noStrike">
              <a:solidFill>
                <a:srgbClr val="000000"/>
              </a:solidFill>
              <a:latin typeface="Arial"/>
              <a:ea typeface="Arial"/>
              <a:cs typeface="Arial"/>
              <a:sym typeface="Arial"/>
            </a:endParaRPr>
          </a:p>
        </p:txBody>
      </p:sp>
      <p:sp>
        <p:nvSpPr>
          <p:cNvPr id="203" name="Google Shape;203;p12"/>
          <p:cNvSpPr txBox="1"/>
          <p:nvPr/>
        </p:nvSpPr>
        <p:spPr>
          <a:xfrm>
            <a:off x="2117187" y="5827124"/>
            <a:ext cx="2300067" cy="523220"/>
          </a:xfrm>
          <a:prstGeom prst="rect">
            <a:avLst/>
          </a:prstGeom>
          <a:solidFill>
            <a:srgbClr val="00FF00"/>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0" i="0" lang="en-GB" sz="2800" u="none" cap="none" strike="noStrike">
                <a:solidFill>
                  <a:srgbClr val="FF0066"/>
                </a:solidFill>
                <a:latin typeface="Arial"/>
                <a:ea typeface="Arial"/>
                <a:cs typeface="Arial"/>
                <a:sym typeface="Arial"/>
              </a:rPr>
              <a:t>Conduction</a:t>
            </a:r>
            <a:endParaRPr b="0" i="0" sz="1400" u="none" cap="none" strike="noStrike">
              <a:solidFill>
                <a:srgbClr val="FF0066"/>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3"/>
          <p:cNvSpPr txBox="1"/>
          <p:nvPr>
            <p:ph type="title"/>
          </p:nvPr>
        </p:nvSpPr>
        <p:spPr>
          <a:xfrm>
            <a:off x="661182" y="0"/>
            <a:ext cx="11338559" cy="735926"/>
          </a:xfrm>
          <a:prstGeom prst="rect">
            <a:avLst/>
          </a:prstGeom>
          <a:solidFill>
            <a:srgbClr val="FF00FF"/>
          </a:solidFill>
          <a:ln cap="flat" cmpd="sng" w="9525">
            <a:solidFill>
              <a:srgbClr val="000066"/>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Comic Sans MS"/>
              <a:buNone/>
            </a:pPr>
            <a:r>
              <a:rPr lang="en-GB" sz="4000">
                <a:solidFill>
                  <a:schemeClr val="lt1"/>
                </a:solidFill>
                <a:latin typeface="Comic Sans MS"/>
                <a:ea typeface="Comic Sans MS"/>
                <a:cs typeface="Comic Sans MS"/>
                <a:sym typeface="Comic Sans MS"/>
              </a:rPr>
              <a:t>Why do metals conduct heat and electricity?</a:t>
            </a:r>
            <a:endParaRPr/>
          </a:p>
        </p:txBody>
      </p:sp>
      <p:sp>
        <p:nvSpPr>
          <p:cNvPr id="209" name="Google Shape;209;p13"/>
          <p:cNvSpPr/>
          <p:nvPr/>
        </p:nvSpPr>
        <p:spPr>
          <a:xfrm>
            <a:off x="1524000" y="2286000"/>
            <a:ext cx="5334000" cy="2286000"/>
          </a:xfrm>
          <a:prstGeom prst="rect">
            <a:avLst/>
          </a:prstGeom>
          <a:gradFill>
            <a:gsLst>
              <a:gs pos="0">
                <a:srgbClr val="FFFFFF"/>
              </a:gs>
              <a:gs pos="100000">
                <a:schemeClr val="folHlink"/>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omic Sans MS"/>
              <a:ea typeface="Comic Sans MS"/>
              <a:cs typeface="Comic Sans MS"/>
              <a:sym typeface="Comic Sans MS"/>
            </a:endParaRPr>
          </a:p>
        </p:txBody>
      </p:sp>
      <p:sp>
        <p:nvSpPr>
          <p:cNvPr id="210" name="Google Shape;210;p13"/>
          <p:cNvSpPr/>
          <p:nvPr/>
        </p:nvSpPr>
        <p:spPr>
          <a:xfrm>
            <a:off x="1524000" y="2286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omic Sans MS"/>
              <a:ea typeface="Comic Sans MS"/>
              <a:cs typeface="Comic Sans MS"/>
              <a:sym typeface="Comic Sans MS"/>
            </a:endParaRPr>
          </a:p>
        </p:txBody>
      </p:sp>
      <p:sp>
        <p:nvSpPr>
          <p:cNvPr id="211" name="Google Shape;211;p13"/>
          <p:cNvSpPr/>
          <p:nvPr/>
        </p:nvSpPr>
        <p:spPr>
          <a:xfrm>
            <a:off x="1524000" y="3048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omic Sans MS"/>
              <a:ea typeface="Comic Sans MS"/>
              <a:cs typeface="Comic Sans MS"/>
              <a:sym typeface="Comic Sans MS"/>
            </a:endParaRPr>
          </a:p>
        </p:txBody>
      </p:sp>
      <p:sp>
        <p:nvSpPr>
          <p:cNvPr id="212" name="Google Shape;212;p13"/>
          <p:cNvSpPr/>
          <p:nvPr/>
        </p:nvSpPr>
        <p:spPr>
          <a:xfrm>
            <a:off x="1524000" y="3810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omic Sans MS"/>
              <a:ea typeface="Comic Sans MS"/>
              <a:cs typeface="Comic Sans MS"/>
              <a:sym typeface="Comic Sans MS"/>
            </a:endParaRPr>
          </a:p>
        </p:txBody>
      </p:sp>
      <p:sp>
        <p:nvSpPr>
          <p:cNvPr id="213" name="Google Shape;213;p13"/>
          <p:cNvSpPr/>
          <p:nvPr/>
        </p:nvSpPr>
        <p:spPr>
          <a:xfrm>
            <a:off x="2590800" y="2286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omic Sans MS"/>
              <a:ea typeface="Comic Sans MS"/>
              <a:cs typeface="Comic Sans MS"/>
              <a:sym typeface="Comic Sans MS"/>
            </a:endParaRPr>
          </a:p>
        </p:txBody>
      </p:sp>
      <p:sp>
        <p:nvSpPr>
          <p:cNvPr id="214" name="Google Shape;214;p13"/>
          <p:cNvSpPr/>
          <p:nvPr/>
        </p:nvSpPr>
        <p:spPr>
          <a:xfrm>
            <a:off x="2590800" y="3048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omic Sans MS"/>
              <a:ea typeface="Comic Sans MS"/>
              <a:cs typeface="Comic Sans MS"/>
              <a:sym typeface="Comic Sans MS"/>
            </a:endParaRPr>
          </a:p>
        </p:txBody>
      </p:sp>
      <p:sp>
        <p:nvSpPr>
          <p:cNvPr id="215" name="Google Shape;215;p13"/>
          <p:cNvSpPr/>
          <p:nvPr/>
        </p:nvSpPr>
        <p:spPr>
          <a:xfrm>
            <a:off x="2590800" y="3810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omic Sans MS"/>
              <a:ea typeface="Comic Sans MS"/>
              <a:cs typeface="Comic Sans MS"/>
              <a:sym typeface="Comic Sans MS"/>
            </a:endParaRPr>
          </a:p>
        </p:txBody>
      </p:sp>
      <p:sp>
        <p:nvSpPr>
          <p:cNvPr id="216" name="Google Shape;216;p13"/>
          <p:cNvSpPr/>
          <p:nvPr/>
        </p:nvSpPr>
        <p:spPr>
          <a:xfrm>
            <a:off x="3657600" y="2286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omic Sans MS"/>
              <a:ea typeface="Comic Sans MS"/>
              <a:cs typeface="Comic Sans MS"/>
              <a:sym typeface="Comic Sans MS"/>
            </a:endParaRPr>
          </a:p>
        </p:txBody>
      </p:sp>
      <p:sp>
        <p:nvSpPr>
          <p:cNvPr id="217" name="Google Shape;217;p13"/>
          <p:cNvSpPr/>
          <p:nvPr/>
        </p:nvSpPr>
        <p:spPr>
          <a:xfrm>
            <a:off x="3657600" y="3048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omic Sans MS"/>
              <a:ea typeface="Comic Sans MS"/>
              <a:cs typeface="Comic Sans MS"/>
              <a:sym typeface="Comic Sans MS"/>
            </a:endParaRPr>
          </a:p>
        </p:txBody>
      </p:sp>
      <p:sp>
        <p:nvSpPr>
          <p:cNvPr id="218" name="Google Shape;218;p13"/>
          <p:cNvSpPr/>
          <p:nvPr/>
        </p:nvSpPr>
        <p:spPr>
          <a:xfrm>
            <a:off x="3657600" y="3810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omic Sans MS"/>
              <a:ea typeface="Comic Sans MS"/>
              <a:cs typeface="Comic Sans MS"/>
              <a:sym typeface="Comic Sans MS"/>
            </a:endParaRPr>
          </a:p>
        </p:txBody>
      </p:sp>
      <p:sp>
        <p:nvSpPr>
          <p:cNvPr id="219" name="Google Shape;219;p13"/>
          <p:cNvSpPr/>
          <p:nvPr/>
        </p:nvSpPr>
        <p:spPr>
          <a:xfrm>
            <a:off x="4724400" y="2286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omic Sans MS"/>
              <a:ea typeface="Comic Sans MS"/>
              <a:cs typeface="Comic Sans MS"/>
              <a:sym typeface="Comic Sans MS"/>
            </a:endParaRPr>
          </a:p>
        </p:txBody>
      </p:sp>
      <p:sp>
        <p:nvSpPr>
          <p:cNvPr id="220" name="Google Shape;220;p13"/>
          <p:cNvSpPr/>
          <p:nvPr/>
        </p:nvSpPr>
        <p:spPr>
          <a:xfrm>
            <a:off x="4724400" y="3048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omic Sans MS"/>
              <a:ea typeface="Comic Sans MS"/>
              <a:cs typeface="Comic Sans MS"/>
              <a:sym typeface="Comic Sans MS"/>
            </a:endParaRPr>
          </a:p>
        </p:txBody>
      </p:sp>
      <p:sp>
        <p:nvSpPr>
          <p:cNvPr id="221" name="Google Shape;221;p13"/>
          <p:cNvSpPr/>
          <p:nvPr/>
        </p:nvSpPr>
        <p:spPr>
          <a:xfrm>
            <a:off x="4724400" y="3810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omic Sans MS"/>
              <a:ea typeface="Comic Sans MS"/>
              <a:cs typeface="Comic Sans MS"/>
              <a:sym typeface="Comic Sans MS"/>
            </a:endParaRPr>
          </a:p>
        </p:txBody>
      </p:sp>
      <p:sp>
        <p:nvSpPr>
          <p:cNvPr id="222" name="Google Shape;222;p13"/>
          <p:cNvSpPr/>
          <p:nvPr/>
        </p:nvSpPr>
        <p:spPr>
          <a:xfrm>
            <a:off x="5791200" y="2286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omic Sans MS"/>
              <a:ea typeface="Comic Sans MS"/>
              <a:cs typeface="Comic Sans MS"/>
              <a:sym typeface="Comic Sans MS"/>
            </a:endParaRPr>
          </a:p>
        </p:txBody>
      </p:sp>
      <p:sp>
        <p:nvSpPr>
          <p:cNvPr id="223" name="Google Shape;223;p13"/>
          <p:cNvSpPr/>
          <p:nvPr/>
        </p:nvSpPr>
        <p:spPr>
          <a:xfrm>
            <a:off x="5791200" y="3048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omic Sans MS"/>
              <a:ea typeface="Comic Sans MS"/>
              <a:cs typeface="Comic Sans MS"/>
              <a:sym typeface="Comic Sans MS"/>
            </a:endParaRPr>
          </a:p>
        </p:txBody>
      </p:sp>
      <p:sp>
        <p:nvSpPr>
          <p:cNvPr id="224" name="Google Shape;224;p13"/>
          <p:cNvSpPr/>
          <p:nvPr/>
        </p:nvSpPr>
        <p:spPr>
          <a:xfrm>
            <a:off x="5791200" y="3810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omic Sans MS"/>
              <a:ea typeface="Comic Sans MS"/>
              <a:cs typeface="Comic Sans MS"/>
              <a:sym typeface="Comic Sans MS"/>
            </a:endParaRPr>
          </a:p>
        </p:txBody>
      </p:sp>
      <p:sp>
        <p:nvSpPr>
          <p:cNvPr id="225" name="Google Shape;225;p13"/>
          <p:cNvSpPr/>
          <p:nvPr/>
        </p:nvSpPr>
        <p:spPr>
          <a:xfrm>
            <a:off x="1600200" y="29718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omic Sans MS"/>
              <a:ea typeface="Comic Sans MS"/>
              <a:cs typeface="Comic Sans MS"/>
              <a:sym typeface="Comic Sans MS"/>
            </a:endParaRPr>
          </a:p>
        </p:txBody>
      </p:sp>
      <p:sp>
        <p:nvSpPr>
          <p:cNvPr id="226" name="Google Shape;226;p13"/>
          <p:cNvSpPr/>
          <p:nvPr/>
        </p:nvSpPr>
        <p:spPr>
          <a:xfrm>
            <a:off x="2590800" y="23622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omic Sans MS"/>
              <a:ea typeface="Comic Sans MS"/>
              <a:cs typeface="Comic Sans MS"/>
              <a:sym typeface="Comic Sans MS"/>
            </a:endParaRPr>
          </a:p>
        </p:txBody>
      </p:sp>
      <p:sp>
        <p:nvSpPr>
          <p:cNvPr id="227" name="Google Shape;227;p13"/>
          <p:cNvSpPr/>
          <p:nvPr/>
        </p:nvSpPr>
        <p:spPr>
          <a:xfrm>
            <a:off x="1600200" y="38100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omic Sans MS"/>
              <a:ea typeface="Comic Sans MS"/>
              <a:cs typeface="Comic Sans MS"/>
              <a:sym typeface="Comic Sans MS"/>
            </a:endParaRPr>
          </a:p>
        </p:txBody>
      </p:sp>
      <p:sp>
        <p:nvSpPr>
          <p:cNvPr id="228" name="Google Shape;228;p13"/>
          <p:cNvSpPr/>
          <p:nvPr/>
        </p:nvSpPr>
        <p:spPr>
          <a:xfrm>
            <a:off x="2514600" y="44196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omic Sans MS"/>
              <a:ea typeface="Comic Sans MS"/>
              <a:cs typeface="Comic Sans MS"/>
              <a:sym typeface="Comic Sans MS"/>
            </a:endParaRPr>
          </a:p>
        </p:txBody>
      </p:sp>
      <p:sp>
        <p:nvSpPr>
          <p:cNvPr id="229" name="Google Shape;229;p13"/>
          <p:cNvSpPr/>
          <p:nvPr/>
        </p:nvSpPr>
        <p:spPr>
          <a:xfrm>
            <a:off x="3657600" y="30480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omic Sans MS"/>
              <a:ea typeface="Comic Sans MS"/>
              <a:cs typeface="Comic Sans MS"/>
              <a:sym typeface="Comic Sans MS"/>
            </a:endParaRPr>
          </a:p>
        </p:txBody>
      </p:sp>
      <p:sp>
        <p:nvSpPr>
          <p:cNvPr id="230" name="Google Shape;230;p13"/>
          <p:cNvSpPr/>
          <p:nvPr/>
        </p:nvSpPr>
        <p:spPr>
          <a:xfrm>
            <a:off x="2514600" y="38100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omic Sans MS"/>
              <a:ea typeface="Comic Sans MS"/>
              <a:cs typeface="Comic Sans MS"/>
              <a:sym typeface="Comic Sans MS"/>
            </a:endParaRPr>
          </a:p>
        </p:txBody>
      </p:sp>
      <p:sp>
        <p:nvSpPr>
          <p:cNvPr id="231" name="Google Shape;231;p13"/>
          <p:cNvSpPr/>
          <p:nvPr/>
        </p:nvSpPr>
        <p:spPr>
          <a:xfrm>
            <a:off x="3657600" y="38100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omic Sans MS"/>
              <a:ea typeface="Comic Sans MS"/>
              <a:cs typeface="Comic Sans MS"/>
              <a:sym typeface="Comic Sans MS"/>
            </a:endParaRPr>
          </a:p>
        </p:txBody>
      </p:sp>
      <p:sp>
        <p:nvSpPr>
          <p:cNvPr id="232" name="Google Shape;232;p13"/>
          <p:cNvSpPr/>
          <p:nvPr/>
        </p:nvSpPr>
        <p:spPr>
          <a:xfrm>
            <a:off x="4648200" y="38100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omic Sans MS"/>
              <a:ea typeface="Comic Sans MS"/>
              <a:cs typeface="Comic Sans MS"/>
              <a:sym typeface="Comic Sans MS"/>
            </a:endParaRPr>
          </a:p>
        </p:txBody>
      </p:sp>
      <p:sp>
        <p:nvSpPr>
          <p:cNvPr id="233" name="Google Shape;233;p13"/>
          <p:cNvSpPr/>
          <p:nvPr/>
        </p:nvSpPr>
        <p:spPr>
          <a:xfrm>
            <a:off x="4648200" y="31242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omic Sans MS"/>
              <a:ea typeface="Comic Sans MS"/>
              <a:cs typeface="Comic Sans MS"/>
              <a:sym typeface="Comic Sans MS"/>
            </a:endParaRPr>
          </a:p>
        </p:txBody>
      </p:sp>
      <p:sp>
        <p:nvSpPr>
          <p:cNvPr id="234" name="Google Shape;234;p13"/>
          <p:cNvSpPr/>
          <p:nvPr/>
        </p:nvSpPr>
        <p:spPr>
          <a:xfrm>
            <a:off x="4648200" y="22860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omic Sans MS"/>
              <a:ea typeface="Comic Sans MS"/>
              <a:cs typeface="Comic Sans MS"/>
              <a:sym typeface="Comic Sans MS"/>
            </a:endParaRPr>
          </a:p>
        </p:txBody>
      </p:sp>
      <p:sp>
        <p:nvSpPr>
          <p:cNvPr id="235" name="Google Shape;235;p13"/>
          <p:cNvSpPr/>
          <p:nvPr/>
        </p:nvSpPr>
        <p:spPr>
          <a:xfrm>
            <a:off x="5791200" y="37338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omic Sans MS"/>
              <a:ea typeface="Comic Sans MS"/>
              <a:cs typeface="Comic Sans MS"/>
              <a:sym typeface="Comic Sans MS"/>
            </a:endParaRPr>
          </a:p>
        </p:txBody>
      </p:sp>
      <p:sp>
        <p:nvSpPr>
          <p:cNvPr id="236" name="Google Shape;236;p13"/>
          <p:cNvSpPr/>
          <p:nvPr/>
        </p:nvSpPr>
        <p:spPr>
          <a:xfrm>
            <a:off x="5791200" y="44196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omic Sans MS"/>
              <a:ea typeface="Comic Sans MS"/>
              <a:cs typeface="Comic Sans MS"/>
              <a:sym typeface="Comic Sans MS"/>
            </a:endParaRPr>
          </a:p>
        </p:txBody>
      </p:sp>
      <p:sp>
        <p:nvSpPr>
          <p:cNvPr id="237" name="Google Shape;237;p13"/>
          <p:cNvSpPr/>
          <p:nvPr/>
        </p:nvSpPr>
        <p:spPr>
          <a:xfrm>
            <a:off x="5791200" y="29718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omic Sans MS"/>
              <a:ea typeface="Comic Sans MS"/>
              <a:cs typeface="Comic Sans MS"/>
              <a:sym typeface="Comic Sans MS"/>
            </a:endParaRPr>
          </a:p>
        </p:txBody>
      </p:sp>
      <p:sp>
        <p:nvSpPr>
          <p:cNvPr id="238" name="Google Shape;238;p13"/>
          <p:cNvSpPr/>
          <p:nvPr/>
        </p:nvSpPr>
        <p:spPr>
          <a:xfrm>
            <a:off x="5791200" y="23622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omic Sans MS"/>
              <a:ea typeface="Comic Sans MS"/>
              <a:cs typeface="Comic Sans MS"/>
              <a:sym typeface="Comic Sans MS"/>
            </a:endParaRPr>
          </a:p>
        </p:txBody>
      </p:sp>
      <p:sp>
        <p:nvSpPr>
          <p:cNvPr id="239" name="Google Shape;239;p13"/>
          <p:cNvSpPr/>
          <p:nvPr/>
        </p:nvSpPr>
        <p:spPr>
          <a:xfrm>
            <a:off x="6705600" y="30480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omic Sans MS"/>
              <a:ea typeface="Comic Sans MS"/>
              <a:cs typeface="Comic Sans MS"/>
              <a:sym typeface="Comic Sans MS"/>
            </a:endParaRPr>
          </a:p>
        </p:txBody>
      </p:sp>
      <p:sp>
        <p:nvSpPr>
          <p:cNvPr id="240" name="Google Shape;240;p13"/>
          <p:cNvSpPr/>
          <p:nvPr/>
        </p:nvSpPr>
        <p:spPr>
          <a:xfrm>
            <a:off x="6629400" y="23622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omic Sans MS"/>
              <a:ea typeface="Comic Sans MS"/>
              <a:cs typeface="Comic Sans MS"/>
              <a:sym typeface="Comic Sans MS"/>
            </a:endParaRPr>
          </a:p>
        </p:txBody>
      </p:sp>
      <p:sp>
        <p:nvSpPr>
          <p:cNvPr id="241" name="Google Shape;241;p13"/>
          <p:cNvSpPr/>
          <p:nvPr/>
        </p:nvSpPr>
        <p:spPr>
          <a:xfrm>
            <a:off x="6781800" y="27432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omic Sans MS"/>
              <a:ea typeface="Comic Sans MS"/>
              <a:cs typeface="Comic Sans MS"/>
              <a:sym typeface="Comic Sans MS"/>
            </a:endParaRPr>
          </a:p>
        </p:txBody>
      </p:sp>
      <p:sp>
        <p:nvSpPr>
          <p:cNvPr id="242" name="Google Shape;242;p13"/>
          <p:cNvSpPr/>
          <p:nvPr/>
        </p:nvSpPr>
        <p:spPr>
          <a:xfrm>
            <a:off x="6553200" y="35052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omic Sans MS"/>
              <a:ea typeface="Comic Sans MS"/>
              <a:cs typeface="Comic Sans MS"/>
              <a:sym typeface="Comic Sans MS"/>
            </a:endParaRPr>
          </a:p>
        </p:txBody>
      </p:sp>
      <p:sp>
        <p:nvSpPr>
          <p:cNvPr id="243" name="Google Shape;243;p13"/>
          <p:cNvSpPr/>
          <p:nvPr/>
        </p:nvSpPr>
        <p:spPr>
          <a:xfrm>
            <a:off x="6629400" y="42672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omic Sans MS"/>
              <a:ea typeface="Comic Sans MS"/>
              <a:cs typeface="Comic Sans MS"/>
              <a:sym typeface="Comic Sans MS"/>
            </a:endParaRPr>
          </a:p>
        </p:txBody>
      </p:sp>
      <p:sp>
        <p:nvSpPr>
          <p:cNvPr id="244" name="Google Shape;244;p13"/>
          <p:cNvSpPr txBox="1"/>
          <p:nvPr/>
        </p:nvSpPr>
        <p:spPr>
          <a:xfrm>
            <a:off x="1600200" y="1243906"/>
            <a:ext cx="6015000" cy="156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GB" sz="2800" u="none" cap="none" strike="noStrike">
                <a:solidFill>
                  <a:schemeClr val="lt1"/>
                </a:solidFill>
                <a:latin typeface="Arial"/>
                <a:ea typeface="Arial"/>
                <a:cs typeface="Arial"/>
                <a:sym typeface="Arial"/>
              </a:rPr>
              <a:t>The outer e_______ for metal atoms drift, and are free to move.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rgbClr val="000000"/>
              </a:buClr>
              <a:buSzPts val="2800"/>
              <a:buFont typeface="Arial"/>
              <a:buNone/>
            </a:pPr>
            <a:r>
              <a:t/>
            </a:r>
            <a:endParaRPr b="0" i="0" sz="2800" u="none" cap="none" strike="noStrike">
              <a:solidFill>
                <a:schemeClr val="lt1"/>
              </a:solidFill>
              <a:latin typeface="Comic Sans MS"/>
              <a:ea typeface="Comic Sans MS"/>
              <a:cs typeface="Comic Sans MS"/>
              <a:sym typeface="Comic Sans MS"/>
            </a:endParaRPr>
          </a:p>
        </p:txBody>
      </p:sp>
      <p:sp>
        <p:nvSpPr>
          <p:cNvPr id="245" name="Google Shape;245;p13"/>
          <p:cNvSpPr/>
          <p:nvPr/>
        </p:nvSpPr>
        <p:spPr>
          <a:xfrm>
            <a:off x="6934200" y="2325231"/>
            <a:ext cx="5257800" cy="31085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GB" sz="2800" u="none" cap="none" strike="noStrike">
                <a:solidFill>
                  <a:schemeClr val="lt1"/>
                </a:solidFill>
                <a:latin typeface="Arial"/>
                <a:ea typeface="Arial"/>
                <a:cs typeface="Arial"/>
                <a:sym typeface="Arial"/>
              </a:rPr>
              <a:t>When the metal is heated or an electric current is passed though it, this </a:t>
            </a:r>
            <a:r>
              <a:rPr b="1" i="0" lang="en-GB" sz="2800" u="sng" cap="none" strike="noStrike">
                <a:solidFill>
                  <a:schemeClr val="lt1"/>
                </a:solidFill>
                <a:latin typeface="Arial"/>
                <a:ea typeface="Arial"/>
                <a:cs typeface="Arial"/>
                <a:sym typeface="Arial"/>
              </a:rPr>
              <a:t>‘Sea of electrons</a:t>
            </a:r>
            <a:r>
              <a:rPr b="0" i="0" lang="en-GB" sz="2800" u="none" cap="none" strike="noStrike">
                <a:solidFill>
                  <a:schemeClr val="lt1"/>
                </a:solidFill>
                <a:latin typeface="Arial"/>
                <a:ea typeface="Arial"/>
                <a:cs typeface="Arial"/>
                <a:sym typeface="Arial"/>
              </a:rPr>
              <a:t>’ gain k_____ energy and transfer throughout the metal, taking heat or electricity with them.</a:t>
            </a:r>
            <a:endParaRPr b="0" i="0" sz="1400" u="none" cap="none" strike="noStrike">
              <a:solidFill>
                <a:srgbClr val="000000"/>
              </a:solidFill>
              <a:latin typeface="Arial"/>
              <a:ea typeface="Arial"/>
              <a:cs typeface="Arial"/>
              <a:sym typeface="Arial"/>
            </a:endParaRPr>
          </a:p>
        </p:txBody>
      </p:sp>
      <p:sp>
        <p:nvSpPr>
          <p:cNvPr id="246" name="Google Shape;246;p13"/>
          <p:cNvSpPr/>
          <p:nvPr/>
        </p:nvSpPr>
        <p:spPr>
          <a:xfrm>
            <a:off x="2955387" y="5379220"/>
            <a:ext cx="9044353"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GB" sz="2800" u="none" cap="none" strike="noStrike">
                <a:solidFill>
                  <a:schemeClr val="lt1"/>
                </a:solidFill>
                <a:latin typeface="Arial"/>
                <a:ea typeface="Arial"/>
                <a:cs typeface="Arial"/>
                <a:sym typeface="Arial"/>
              </a:rPr>
              <a:t>Insulators</a:t>
            </a:r>
            <a:r>
              <a:rPr b="0" i="0" lang="en-GB" sz="2800" u="none" cap="none" strike="noStrike">
                <a:solidFill>
                  <a:schemeClr val="lt1"/>
                </a:solidFill>
                <a:latin typeface="Arial"/>
                <a:ea typeface="Arial"/>
                <a:cs typeface="Arial"/>
                <a:sym typeface="Arial"/>
              </a:rPr>
              <a:t>, such as w___ and p____, </a:t>
            </a:r>
            <a:r>
              <a:rPr b="1" i="0" lang="en-GB" sz="2800" u="none" cap="none" strike="noStrike">
                <a:solidFill>
                  <a:schemeClr val="lt1"/>
                </a:solidFill>
                <a:latin typeface="Arial"/>
                <a:ea typeface="Arial"/>
                <a:cs typeface="Arial"/>
                <a:sym typeface="Arial"/>
              </a:rPr>
              <a:t>do not </a:t>
            </a:r>
            <a:r>
              <a:rPr b="0" i="0" lang="en-GB" sz="2800" u="none" cap="none" strike="noStrike">
                <a:solidFill>
                  <a:schemeClr val="lt1"/>
                </a:solidFill>
                <a:latin typeface="Arial"/>
                <a:ea typeface="Arial"/>
                <a:cs typeface="Arial"/>
                <a:sym typeface="Arial"/>
              </a:rPr>
              <a:t>have this ‘Sea of electrons’ which is why they do not conduct heat or electricity like metals.</a:t>
            </a:r>
            <a:endParaRPr b="0" i="0" sz="1400" u="none" cap="none" strike="noStrike">
              <a:solidFill>
                <a:srgbClr val="000000"/>
              </a:solidFill>
              <a:latin typeface="Arial"/>
              <a:ea typeface="Arial"/>
              <a:cs typeface="Arial"/>
              <a:sym typeface="Arial"/>
            </a:endParaRPr>
          </a:p>
        </p:txBody>
      </p:sp>
      <p:sp>
        <p:nvSpPr>
          <p:cNvPr id="247" name="Google Shape;247;p13"/>
          <p:cNvSpPr/>
          <p:nvPr/>
        </p:nvSpPr>
        <p:spPr>
          <a:xfrm>
            <a:off x="1752600" y="4876800"/>
            <a:ext cx="1371600" cy="1219200"/>
          </a:xfrm>
          <a:prstGeom prst="upArrow">
            <a:avLst>
              <a:gd fmla="val 50000" name="adj1"/>
              <a:gd fmla="val 25000" name="adj2"/>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omic Sans MS"/>
              <a:ea typeface="Comic Sans MS"/>
              <a:cs typeface="Comic Sans MS"/>
              <a:sym typeface="Comic Sans MS"/>
            </a:endParaRPr>
          </a:p>
        </p:txBody>
      </p:sp>
      <p:sp>
        <p:nvSpPr>
          <p:cNvPr id="248" name="Google Shape;248;p13"/>
          <p:cNvSpPr txBox="1"/>
          <p:nvPr/>
        </p:nvSpPr>
        <p:spPr>
          <a:xfrm>
            <a:off x="3581400" y="1219200"/>
            <a:ext cx="1828800" cy="1134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GB" sz="2800" u="none" cap="none" strike="noStrike">
                <a:solidFill>
                  <a:srgbClr val="FFC000"/>
                </a:solidFill>
                <a:latin typeface="Arial"/>
                <a:ea typeface="Arial"/>
                <a:cs typeface="Arial"/>
                <a:sym typeface="Arial"/>
              </a:rPr>
              <a:t>lectrons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rgbClr val="000000"/>
              </a:buClr>
              <a:buSzPts val="2800"/>
              <a:buFont typeface="Arial"/>
              <a:buNone/>
            </a:pPr>
            <a:r>
              <a:t/>
            </a:r>
            <a:endParaRPr b="0" i="0" sz="2800" u="none" cap="none" strike="noStrike">
              <a:solidFill>
                <a:srgbClr val="FFC000"/>
              </a:solidFill>
              <a:latin typeface="Comic Sans MS"/>
              <a:ea typeface="Comic Sans MS"/>
              <a:cs typeface="Comic Sans MS"/>
              <a:sym typeface="Comic Sans MS"/>
            </a:endParaRPr>
          </a:p>
        </p:txBody>
      </p:sp>
      <p:sp>
        <p:nvSpPr>
          <p:cNvPr id="249" name="Google Shape;249;p13"/>
          <p:cNvSpPr/>
          <p:nvPr/>
        </p:nvSpPr>
        <p:spPr>
          <a:xfrm>
            <a:off x="9706710" y="3553265"/>
            <a:ext cx="1383322" cy="533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GB" sz="2800" u="none" cap="none" strike="noStrike">
                <a:solidFill>
                  <a:srgbClr val="FFC000"/>
                </a:solidFill>
                <a:latin typeface="Arial"/>
                <a:ea typeface="Arial"/>
                <a:cs typeface="Arial"/>
                <a:sym typeface="Arial"/>
              </a:rPr>
              <a:t>inetic</a:t>
            </a:r>
            <a:endParaRPr b="0" i="0" sz="2800" u="none" cap="none" strike="noStrike">
              <a:solidFill>
                <a:srgbClr val="FFC000"/>
              </a:solidFill>
              <a:latin typeface="Arial"/>
              <a:ea typeface="Arial"/>
              <a:cs typeface="Arial"/>
              <a:sym typeface="Arial"/>
            </a:endParaRPr>
          </a:p>
        </p:txBody>
      </p:sp>
      <p:sp>
        <p:nvSpPr>
          <p:cNvPr id="250" name="Google Shape;250;p13"/>
          <p:cNvSpPr/>
          <p:nvPr/>
        </p:nvSpPr>
        <p:spPr>
          <a:xfrm>
            <a:off x="6470727" y="5321275"/>
            <a:ext cx="9006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GB" sz="2800" u="none" cap="none" strike="noStrike">
                <a:solidFill>
                  <a:srgbClr val="FFC000"/>
                </a:solidFill>
                <a:latin typeface="Arial"/>
                <a:ea typeface="Arial"/>
                <a:cs typeface="Arial"/>
                <a:sym typeface="Arial"/>
              </a:rPr>
              <a:t>ood</a:t>
            </a:r>
            <a:endParaRPr b="0" i="0" sz="2800" u="none" cap="none" strike="noStrike">
              <a:solidFill>
                <a:srgbClr val="FFC000"/>
              </a:solidFill>
              <a:latin typeface="Arial"/>
              <a:ea typeface="Arial"/>
              <a:cs typeface="Arial"/>
              <a:sym typeface="Arial"/>
            </a:endParaRPr>
          </a:p>
        </p:txBody>
      </p:sp>
      <p:sp>
        <p:nvSpPr>
          <p:cNvPr id="251" name="Google Shape;251;p13"/>
          <p:cNvSpPr/>
          <p:nvPr/>
        </p:nvSpPr>
        <p:spPr>
          <a:xfrm>
            <a:off x="8101502" y="5370514"/>
            <a:ext cx="1096775"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GB" sz="2800" u="none" cap="none" strike="noStrike">
                <a:solidFill>
                  <a:srgbClr val="FFC000"/>
                </a:solidFill>
                <a:latin typeface="Arial"/>
                <a:ea typeface="Arial"/>
                <a:cs typeface="Arial"/>
                <a:sym typeface="Arial"/>
              </a:rPr>
              <a:t>lastic</a:t>
            </a:r>
            <a:endParaRPr b="0" i="0" sz="2800" u="none" cap="none" strike="noStrike">
              <a:solidFill>
                <a:srgbClr val="FFC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4"/>
          <p:cNvSpPr/>
          <p:nvPr/>
        </p:nvSpPr>
        <p:spPr>
          <a:xfrm>
            <a:off x="1701800" y="5584826"/>
            <a:ext cx="7962900"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dk1"/>
                </a:solidFill>
                <a:latin typeface="Comic Sans MS"/>
                <a:ea typeface="Comic Sans MS"/>
                <a:cs typeface="Comic Sans MS"/>
                <a:sym typeface="Comic Sans MS"/>
              </a:rPr>
              <a:t>Resistance is a measure of how much a material tries to stop electricity passing through it.</a:t>
            </a:r>
            <a:endParaRPr b="0" i="0" sz="1400" u="none" cap="none" strike="noStrike">
              <a:solidFill>
                <a:srgbClr val="000000"/>
              </a:solidFill>
              <a:latin typeface="Arial"/>
              <a:ea typeface="Arial"/>
              <a:cs typeface="Arial"/>
              <a:sym typeface="Arial"/>
            </a:endParaRPr>
          </a:p>
        </p:txBody>
      </p:sp>
      <p:sp>
        <p:nvSpPr>
          <p:cNvPr id="257" name="Google Shape;257;p14"/>
          <p:cNvSpPr txBox="1"/>
          <p:nvPr>
            <p:ph type="title"/>
          </p:nvPr>
        </p:nvSpPr>
        <p:spPr>
          <a:xfrm>
            <a:off x="739726" y="-153946"/>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omic Sans MS"/>
              <a:buNone/>
            </a:pPr>
            <a:r>
              <a:rPr lang="en-GB">
                <a:solidFill>
                  <a:schemeClr val="lt1"/>
                </a:solidFill>
                <a:latin typeface="Arial"/>
                <a:ea typeface="Arial"/>
                <a:cs typeface="Arial"/>
                <a:sym typeface="Arial"/>
              </a:rPr>
              <a:t>Why do metals conduct electricity?</a:t>
            </a:r>
            <a:endParaRPr>
              <a:latin typeface="Arial"/>
              <a:ea typeface="Arial"/>
              <a:cs typeface="Arial"/>
              <a:sym typeface="Arial"/>
            </a:endParaRPr>
          </a:p>
        </p:txBody>
      </p:sp>
      <p:sp>
        <p:nvSpPr>
          <p:cNvPr id="258" name="Google Shape;258;p14"/>
          <p:cNvSpPr txBox="1"/>
          <p:nvPr>
            <p:ph idx="1" type="body"/>
          </p:nvPr>
        </p:nvSpPr>
        <p:spPr>
          <a:xfrm>
            <a:off x="340652" y="1306419"/>
            <a:ext cx="2971605"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C000"/>
              </a:buClr>
              <a:buSzPts val="2800"/>
              <a:buNone/>
            </a:pPr>
            <a:r>
              <a:rPr lang="en-GB">
                <a:solidFill>
                  <a:srgbClr val="00FF00"/>
                </a:solidFill>
                <a:latin typeface="Arial"/>
                <a:ea typeface="Arial"/>
                <a:cs typeface="Arial"/>
                <a:sym typeface="Arial"/>
              </a:rPr>
              <a:t>Because electrons are negatively charged, they are attracted towards the positive terminal of the cell or battery when the power is on.</a:t>
            </a:r>
            <a:endParaRPr>
              <a:solidFill>
                <a:srgbClr val="00FF00"/>
              </a:solidFill>
              <a:latin typeface="Arial"/>
              <a:ea typeface="Arial"/>
              <a:cs typeface="Arial"/>
              <a:sym typeface="Arial"/>
            </a:endParaRPr>
          </a:p>
        </p:txBody>
      </p:sp>
      <p:pic>
        <p:nvPicPr>
          <p:cNvPr id="259" name="Google Shape;259;p14"/>
          <p:cNvPicPr preferRelativeResize="0"/>
          <p:nvPr/>
        </p:nvPicPr>
        <p:blipFill>
          <a:blip r:embed="rId3">
            <a:alphaModFix/>
          </a:blip>
          <a:stretch>
            <a:fillRect/>
          </a:stretch>
        </p:blipFill>
        <p:spPr>
          <a:xfrm>
            <a:off x="5788257" y="1767592"/>
            <a:ext cx="4572000" cy="3429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15"/>
          <p:cNvSpPr txBox="1"/>
          <p:nvPr>
            <p:ph type="title"/>
          </p:nvPr>
        </p:nvSpPr>
        <p:spPr>
          <a:xfrm>
            <a:off x="874690" y="149068"/>
            <a:ext cx="8229600" cy="1143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FF00"/>
              </a:buClr>
              <a:buSzPts val="4400"/>
              <a:buFont typeface="Comic Sans MS"/>
              <a:buNone/>
            </a:pPr>
            <a:r>
              <a:rPr lang="en-GB">
                <a:solidFill>
                  <a:srgbClr val="00FF00"/>
                </a:solidFill>
                <a:latin typeface="Arial"/>
                <a:ea typeface="Arial"/>
                <a:cs typeface="Arial"/>
                <a:sym typeface="Arial"/>
              </a:rPr>
              <a:t>Circuit Symbols</a:t>
            </a:r>
            <a:endParaRPr>
              <a:solidFill>
                <a:srgbClr val="00FF00"/>
              </a:solidFill>
              <a:latin typeface="Arial"/>
              <a:ea typeface="Arial"/>
              <a:cs typeface="Arial"/>
              <a:sym typeface="Arial"/>
            </a:endParaRPr>
          </a:p>
        </p:txBody>
      </p:sp>
      <p:pic>
        <p:nvPicPr>
          <p:cNvPr descr="Image: circuit symbols" id="265" name="Google Shape;265;p15"/>
          <p:cNvPicPr preferRelativeResize="0"/>
          <p:nvPr>
            <p:ph idx="4294967295" type="body"/>
          </p:nvPr>
        </p:nvPicPr>
        <p:blipFill rotWithShape="1">
          <a:blip r:embed="rId3">
            <a:alphaModFix/>
          </a:blip>
          <a:srcRect b="0" l="0" r="0" t="0"/>
          <a:stretch/>
        </p:blipFill>
        <p:spPr>
          <a:xfrm>
            <a:off x="3195748" y="996951"/>
            <a:ext cx="6432417" cy="5732461"/>
          </a:xfrm>
          <a:prstGeom prst="rect">
            <a:avLst/>
          </a:prstGeom>
          <a:noFill/>
          <a:ln>
            <a:noFill/>
          </a:ln>
        </p:spPr>
      </p:pic>
      <p:sp>
        <p:nvSpPr>
          <p:cNvPr id="266" name="Google Shape;266;p15"/>
          <p:cNvSpPr/>
          <p:nvPr/>
        </p:nvSpPr>
        <p:spPr>
          <a:xfrm>
            <a:off x="3195748" y="996951"/>
            <a:ext cx="6432416" cy="3575250"/>
          </a:xfrm>
          <a:prstGeom prst="rect">
            <a:avLst/>
          </a:prstGeom>
          <a:noFill/>
          <a:ln cap="flat" cmpd="sng" w="76200">
            <a:solidFill>
              <a:srgbClr val="FF006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gtEl>
                                        <p:attrNameLst>
                                          <p:attrName>style.visibility</p:attrName>
                                        </p:attrNameLst>
                                      </p:cBhvr>
                                      <p:to>
                                        <p:strVal val="visible"/>
                                      </p:to>
                                    </p:set>
                                    <p:animEffect filter="fade" transition="in">
                                      <p:cBhvr>
                                        <p:cTn dur="500"/>
                                        <p:tgtEl>
                                          <p:spTgt spid="2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70" name="Shape 270"/>
        <p:cNvGrpSpPr/>
        <p:nvPr/>
      </p:nvGrpSpPr>
      <p:grpSpPr>
        <a:xfrm>
          <a:off x="0" y="0"/>
          <a:ext cx="0" cy="0"/>
          <a:chOff x="0" y="0"/>
          <a:chExt cx="0" cy="0"/>
        </a:xfrm>
      </p:grpSpPr>
      <p:sp>
        <p:nvSpPr>
          <p:cNvPr id="271" name="Google Shape;271;p16"/>
          <p:cNvSpPr txBox="1"/>
          <p:nvPr>
            <p:ph type="title"/>
          </p:nvPr>
        </p:nvSpPr>
        <p:spPr>
          <a:xfrm>
            <a:off x="142741" y="158236"/>
            <a:ext cx="3205766" cy="510638"/>
          </a:xfrm>
          <a:prstGeom prst="rect">
            <a:avLst/>
          </a:prstGeom>
          <a:solidFill>
            <a:srgbClr val="660066"/>
          </a:solid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3600"/>
              <a:buFont typeface="Comic Sans MS"/>
              <a:buNone/>
            </a:pPr>
            <a:r>
              <a:rPr lang="en-GB" sz="3600">
                <a:solidFill>
                  <a:schemeClr val="lt1"/>
                </a:solidFill>
                <a:latin typeface="Arial"/>
                <a:ea typeface="Arial"/>
                <a:cs typeface="Arial"/>
                <a:sym typeface="Arial"/>
              </a:rPr>
              <a:t>Series circuit</a:t>
            </a:r>
            <a:endParaRPr sz="3600">
              <a:solidFill>
                <a:schemeClr val="lt1"/>
              </a:solidFill>
              <a:latin typeface="Arial"/>
              <a:ea typeface="Arial"/>
              <a:cs typeface="Arial"/>
              <a:sym typeface="Arial"/>
            </a:endParaRPr>
          </a:p>
        </p:txBody>
      </p:sp>
      <p:sp>
        <p:nvSpPr>
          <p:cNvPr id="272" name="Google Shape;272;p16"/>
          <p:cNvSpPr txBox="1"/>
          <p:nvPr>
            <p:ph idx="1" type="body"/>
          </p:nvPr>
        </p:nvSpPr>
        <p:spPr>
          <a:xfrm>
            <a:off x="142742" y="1825625"/>
            <a:ext cx="2845158" cy="265622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2800"/>
              <a:buNone/>
            </a:pPr>
            <a:r>
              <a:rPr lang="en-GB">
                <a:solidFill>
                  <a:schemeClr val="lt1"/>
                </a:solidFill>
                <a:latin typeface="Arial"/>
                <a:ea typeface="Arial"/>
                <a:cs typeface="Arial"/>
                <a:sym typeface="Arial"/>
              </a:rPr>
              <a:t>Series circuits are ones where components are connected in one continuous loop or ‘circle’.</a:t>
            </a:r>
            <a:endParaRPr>
              <a:latin typeface="Arial"/>
              <a:ea typeface="Arial"/>
              <a:cs typeface="Arial"/>
              <a:sym typeface="Arial"/>
            </a:endParaRPr>
          </a:p>
        </p:txBody>
      </p:sp>
      <p:pic>
        <p:nvPicPr>
          <p:cNvPr id="273" name="Google Shape;273;p16"/>
          <p:cNvPicPr preferRelativeResize="0"/>
          <p:nvPr/>
        </p:nvPicPr>
        <p:blipFill>
          <a:blip r:embed="rId3">
            <a:alphaModFix/>
          </a:blip>
          <a:stretch>
            <a:fillRect/>
          </a:stretch>
        </p:blipFill>
        <p:spPr>
          <a:xfrm>
            <a:off x="4720107" y="158225"/>
            <a:ext cx="6000750" cy="60674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7"/>
          <p:cNvSpPr txBox="1"/>
          <p:nvPr>
            <p:ph type="title"/>
          </p:nvPr>
        </p:nvSpPr>
        <p:spPr>
          <a:xfrm>
            <a:off x="1524000" y="0"/>
            <a:ext cx="4191000" cy="609600"/>
          </a:xfrm>
          <a:prstGeom prst="rect">
            <a:avLst/>
          </a:prstGeom>
          <a:solidFill>
            <a:srgbClr val="660066"/>
          </a:solid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Comic Sans MS"/>
              <a:buNone/>
            </a:pPr>
            <a:r>
              <a:rPr lang="en-GB" sz="4000">
                <a:solidFill>
                  <a:schemeClr val="lt1"/>
                </a:solidFill>
                <a:latin typeface="Arial"/>
                <a:ea typeface="Arial"/>
                <a:cs typeface="Arial"/>
                <a:sym typeface="Arial"/>
              </a:rPr>
              <a:t>Parallel circuits</a:t>
            </a:r>
            <a:endParaRPr sz="4000">
              <a:solidFill>
                <a:schemeClr val="lt1"/>
              </a:solidFill>
              <a:latin typeface="Arial"/>
              <a:ea typeface="Arial"/>
              <a:cs typeface="Arial"/>
              <a:sym typeface="Arial"/>
            </a:endParaRPr>
          </a:p>
        </p:txBody>
      </p:sp>
      <p:sp>
        <p:nvSpPr>
          <p:cNvPr id="279" name="Google Shape;279;p17"/>
          <p:cNvSpPr txBox="1"/>
          <p:nvPr/>
        </p:nvSpPr>
        <p:spPr>
          <a:xfrm>
            <a:off x="142742" y="1825625"/>
            <a:ext cx="2845158" cy="265622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800"/>
              <a:buFont typeface="Arial"/>
              <a:buNone/>
            </a:pPr>
            <a:r>
              <a:rPr b="0" i="0" lang="en-GB" sz="2800" u="none" cap="none" strike="noStrike">
                <a:solidFill>
                  <a:schemeClr val="lt1"/>
                </a:solidFill>
                <a:latin typeface="Arial"/>
                <a:ea typeface="Arial"/>
                <a:cs typeface="Arial"/>
                <a:sym typeface="Arial"/>
              </a:rPr>
              <a:t>Parallel circuits have </a:t>
            </a:r>
            <a:r>
              <a:rPr b="1" i="0" lang="en-GB" sz="2800" u="none" cap="none" strike="noStrike">
                <a:solidFill>
                  <a:schemeClr val="lt1"/>
                </a:solidFill>
                <a:latin typeface="Arial"/>
                <a:ea typeface="Arial"/>
                <a:cs typeface="Arial"/>
                <a:sym typeface="Arial"/>
              </a:rPr>
              <a:t>two or more </a:t>
            </a:r>
            <a:r>
              <a:rPr b="0" i="0" lang="en-GB" sz="2800" u="none" cap="none" strike="noStrike">
                <a:solidFill>
                  <a:schemeClr val="lt1"/>
                </a:solidFill>
                <a:latin typeface="Arial"/>
                <a:ea typeface="Arial"/>
                <a:cs typeface="Arial"/>
                <a:sym typeface="Arial"/>
              </a:rPr>
              <a:t>separate loops coming of the same power source. </a:t>
            </a:r>
            <a:endParaRPr b="0" i="0" sz="1400" u="none" cap="none" strike="noStrike">
              <a:solidFill>
                <a:srgbClr val="000000"/>
              </a:solidFill>
              <a:latin typeface="Arial"/>
              <a:ea typeface="Arial"/>
              <a:cs typeface="Arial"/>
              <a:sym typeface="Arial"/>
            </a:endParaRPr>
          </a:p>
        </p:txBody>
      </p:sp>
      <p:pic>
        <p:nvPicPr>
          <p:cNvPr id="280" name="Google Shape;280;p17"/>
          <p:cNvPicPr preferRelativeResize="0"/>
          <p:nvPr/>
        </p:nvPicPr>
        <p:blipFill>
          <a:blip r:embed="rId3">
            <a:alphaModFix/>
          </a:blip>
          <a:stretch>
            <a:fillRect/>
          </a:stretch>
        </p:blipFill>
        <p:spPr>
          <a:xfrm>
            <a:off x="4335669" y="1028625"/>
            <a:ext cx="7000875" cy="49053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4" name="Shape 284"/>
        <p:cNvGrpSpPr/>
        <p:nvPr/>
      </p:nvGrpSpPr>
      <p:grpSpPr>
        <a:xfrm>
          <a:off x="0" y="0"/>
          <a:ext cx="0" cy="0"/>
          <a:chOff x="0" y="0"/>
          <a:chExt cx="0" cy="0"/>
        </a:xfrm>
      </p:grpSpPr>
      <p:sp>
        <p:nvSpPr>
          <p:cNvPr id="285" name="Google Shape;285;p18"/>
          <p:cNvSpPr txBox="1"/>
          <p:nvPr>
            <p:ph type="title"/>
          </p:nvPr>
        </p:nvSpPr>
        <p:spPr>
          <a:xfrm>
            <a:off x="0" y="-143877"/>
            <a:ext cx="6724357"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omic Sans MS"/>
              <a:buNone/>
            </a:pPr>
            <a:r>
              <a:rPr lang="en-GB">
                <a:solidFill>
                  <a:schemeClr val="lt1"/>
                </a:solidFill>
                <a:latin typeface="Arial"/>
                <a:ea typeface="Arial"/>
                <a:cs typeface="Arial"/>
                <a:sym typeface="Arial"/>
              </a:rPr>
              <a:t>Your Turn!</a:t>
            </a:r>
            <a:endParaRPr>
              <a:latin typeface="Arial"/>
              <a:ea typeface="Arial"/>
              <a:cs typeface="Arial"/>
              <a:sym typeface="Arial"/>
            </a:endParaRPr>
          </a:p>
        </p:txBody>
      </p:sp>
      <p:sp>
        <p:nvSpPr>
          <p:cNvPr id="286" name="Google Shape;286;p18"/>
          <p:cNvSpPr txBox="1"/>
          <p:nvPr>
            <p:ph idx="1" type="body"/>
          </p:nvPr>
        </p:nvSpPr>
        <p:spPr>
          <a:xfrm>
            <a:off x="126610" y="1181686"/>
            <a:ext cx="6274190" cy="545826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lang="en-GB">
                <a:solidFill>
                  <a:schemeClr val="lt1"/>
                </a:solidFill>
                <a:latin typeface="Arial"/>
                <a:ea typeface="Arial"/>
                <a:cs typeface="Arial"/>
                <a:sym typeface="Arial"/>
              </a:rPr>
              <a:t>Complete the crossword, using information covered today and your general knowledge.  </a:t>
            </a:r>
            <a:endParaRPr>
              <a:latin typeface="Arial"/>
              <a:ea typeface="Arial"/>
              <a:cs typeface="Arial"/>
              <a:sym typeface="Arial"/>
            </a:endParaRPr>
          </a:p>
          <a:p>
            <a:pPr indent="-50800" lvl="0" marL="228600" rtl="0" algn="l">
              <a:lnSpc>
                <a:spcPct val="90000"/>
              </a:lnSpc>
              <a:spcBef>
                <a:spcPts val="1000"/>
              </a:spcBef>
              <a:spcAft>
                <a:spcPts val="0"/>
              </a:spcAft>
              <a:buClr>
                <a:schemeClr val="dk1"/>
              </a:buClr>
              <a:buSzPts val="2800"/>
              <a:buNone/>
            </a:pPr>
            <a:r>
              <a:t/>
            </a:r>
            <a:endParaRPr>
              <a:solidFill>
                <a:schemeClr val="lt1"/>
              </a:solidFill>
              <a:latin typeface="Arial"/>
              <a:ea typeface="Arial"/>
              <a:cs typeface="Arial"/>
              <a:sym typeface="Arial"/>
            </a:endParaRPr>
          </a:p>
          <a:p>
            <a:pPr indent="-228600" lvl="0" marL="228600" rtl="0" algn="l">
              <a:lnSpc>
                <a:spcPct val="90000"/>
              </a:lnSpc>
              <a:spcBef>
                <a:spcPts val="1000"/>
              </a:spcBef>
              <a:spcAft>
                <a:spcPts val="0"/>
              </a:spcAft>
              <a:buClr>
                <a:schemeClr val="lt1"/>
              </a:buClr>
              <a:buSzPts val="2800"/>
              <a:buChar char="•"/>
            </a:pPr>
            <a:r>
              <a:rPr lang="en-GB">
                <a:solidFill>
                  <a:schemeClr val="lt1"/>
                </a:solidFill>
                <a:latin typeface="Arial"/>
                <a:ea typeface="Arial"/>
                <a:cs typeface="Arial"/>
                <a:sym typeface="Arial"/>
              </a:rPr>
              <a:t>Clues for tricky ones:</a:t>
            </a:r>
            <a:endParaRPr>
              <a:latin typeface="Arial"/>
              <a:ea typeface="Arial"/>
              <a:cs typeface="Arial"/>
              <a:sym typeface="Arial"/>
            </a:endParaRPr>
          </a:p>
          <a:p>
            <a:pPr indent="-228600" lvl="0" marL="228600" rtl="0" algn="l">
              <a:lnSpc>
                <a:spcPct val="90000"/>
              </a:lnSpc>
              <a:spcBef>
                <a:spcPts val="1000"/>
              </a:spcBef>
              <a:spcAft>
                <a:spcPts val="0"/>
              </a:spcAft>
              <a:buClr>
                <a:schemeClr val="lt1"/>
              </a:buClr>
              <a:buSzPts val="2800"/>
              <a:buChar char="•"/>
            </a:pPr>
            <a:r>
              <a:rPr lang="en-GB" u="sng">
                <a:solidFill>
                  <a:schemeClr val="lt1"/>
                </a:solidFill>
                <a:latin typeface="Arial"/>
                <a:ea typeface="Arial"/>
                <a:cs typeface="Arial"/>
                <a:sym typeface="Arial"/>
              </a:rPr>
              <a:t>5 Across:  </a:t>
            </a:r>
            <a:r>
              <a:rPr lang="en-GB">
                <a:solidFill>
                  <a:schemeClr val="lt1"/>
                </a:solidFill>
                <a:latin typeface="Arial"/>
                <a:ea typeface="Arial"/>
                <a:cs typeface="Arial"/>
                <a:sym typeface="Arial"/>
              </a:rPr>
              <a:t>When you have too many electrical devices on and the electricity goes off, mum or dad say “we blew a ______”.</a:t>
            </a:r>
            <a:endParaRPr>
              <a:latin typeface="Arial"/>
              <a:ea typeface="Arial"/>
              <a:cs typeface="Arial"/>
              <a:sym typeface="Arial"/>
            </a:endParaRPr>
          </a:p>
          <a:p>
            <a:pPr indent="-228600" lvl="0" marL="228600" rtl="0" algn="l">
              <a:lnSpc>
                <a:spcPct val="90000"/>
              </a:lnSpc>
              <a:spcBef>
                <a:spcPts val="1000"/>
              </a:spcBef>
              <a:spcAft>
                <a:spcPts val="0"/>
              </a:spcAft>
              <a:buClr>
                <a:schemeClr val="lt1"/>
              </a:buClr>
              <a:buSzPts val="2800"/>
              <a:buChar char="•"/>
            </a:pPr>
            <a:r>
              <a:rPr lang="en-GB" u="sng">
                <a:solidFill>
                  <a:schemeClr val="lt1"/>
                </a:solidFill>
                <a:latin typeface="Arial"/>
                <a:ea typeface="Arial"/>
                <a:cs typeface="Arial"/>
                <a:sym typeface="Arial"/>
              </a:rPr>
              <a:t>7 Across:  </a:t>
            </a:r>
            <a:r>
              <a:rPr lang="en-GB">
                <a:solidFill>
                  <a:schemeClr val="lt1"/>
                </a:solidFill>
                <a:latin typeface="Arial"/>
                <a:ea typeface="Arial"/>
                <a:cs typeface="Arial"/>
                <a:sym typeface="Arial"/>
              </a:rPr>
              <a:t>If you are annoying someone, they might say “You’re getting on my _______!”</a:t>
            </a:r>
            <a:endParaRPr>
              <a:solidFill>
                <a:srgbClr val="FF0066"/>
              </a:solidFill>
              <a:latin typeface="Arial"/>
              <a:ea typeface="Arial"/>
              <a:cs typeface="Arial"/>
              <a:sym typeface="Arial"/>
            </a:endParaRPr>
          </a:p>
        </p:txBody>
      </p:sp>
      <p:pic>
        <p:nvPicPr>
          <p:cNvPr id="287" name="Google Shape;287;p18"/>
          <p:cNvPicPr preferRelativeResize="0"/>
          <p:nvPr/>
        </p:nvPicPr>
        <p:blipFill rotWithShape="1">
          <a:blip r:embed="rId3">
            <a:alphaModFix/>
          </a:blip>
          <a:srcRect b="0" l="0" r="0" t="0"/>
          <a:stretch/>
        </p:blipFill>
        <p:spPr>
          <a:xfrm>
            <a:off x="7328079" y="110022"/>
            <a:ext cx="4654103" cy="669646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g3ac8a406eda_0_1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pic>
        <p:nvPicPr>
          <p:cNvPr descr="Continue learning electronics! You will design your own circuit soon.&#10;And sign up using my link to get 2 months of free Skillshare premium: https://skl.sh/electroboom3, thanks to Skillshare for sponsoring this video!&#10;Covered in this Episode:&#10;- Power Supply and Load&#10;- Circuits&#10;- Schematics&#10;- Series and Parallel Components&#10;&#10;AND don’t forget to support ElectroBOOM, if you like that is: http://patreon.com/electroboom&#10;&#10;Checkout my Amazon picks (my affiliate link): https://www.amazon.com/shop/Electroboom&#10;&#10;Follow me on Facebook: http://www.facebook.com/ElectroBOOM&#10;And Twitter: http://twitter.com/electroboomguy&#10;My other articles: https://www.electroboom.com/&#10;&#10;Enter your school for tools: https://goo.gl/forms/VAgRre8rLVvA1cEi2&#10;&#10;Thanks to http://CircuitSpecialists.com and http://keysight.com for proving my essential lab tools and giveaways.&#10;&#10;Below are my Super Patrons with support to the extreme!&#10;&#10;Nicholas Moller at https://www.usbmemorydirect.com&#10;The Guitar Rig Guru at https://www.altium.com/&#10;Mark W. Bennett&#10;Andy Rod&#10;San&#10;LordPi&#10;Sam Lutfi&#10;Holmes Hobbies&#10;&#10;My sponsors and top patrons: http://www.electroboom.com/?page_id=727&#10;&#10;By: Mehdi Sadaghdar&#10;--------------------------------------------------------------------------" id="294" name="Google Shape;294;g3ac8a406eda_0_10" title="What’s a Circuit, Series and Parallel (ElectroBOOM101–005)">
            <a:hlinkClick r:id="rId3"/>
          </p:cNvPr>
          <p:cNvPicPr preferRelativeResize="0"/>
          <p:nvPr/>
        </p:nvPicPr>
        <p:blipFill>
          <a:blip r:embed="rId4">
            <a:alphaModFix/>
          </a:blip>
          <a:stretch>
            <a:fillRect/>
          </a:stretch>
        </p:blipFill>
        <p:spPr>
          <a:xfrm>
            <a:off x="1435775" y="662075"/>
            <a:ext cx="9837950" cy="55338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gtEl>
                                        <p:attrNameLst>
                                          <p:attrName>style.visibility</p:attrName>
                                        </p:attrNameLst>
                                      </p:cBhvr>
                                      <p:to>
                                        <p:strVal val="visible"/>
                                      </p:to>
                                    </p:set>
                                    <p:animEffect filter="fade" transition="in">
                                      <p:cBhvr>
                                        <p:cTn dur="1000"/>
                                        <p:tgtEl>
                                          <p:spTgt spid="2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19"/>
          <p:cNvSpPr/>
          <p:nvPr/>
        </p:nvSpPr>
        <p:spPr>
          <a:xfrm>
            <a:off x="1524000" y="0"/>
            <a:ext cx="9144000" cy="6921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4400"/>
              <a:buFont typeface="Arial"/>
              <a:buNone/>
            </a:pPr>
            <a:r>
              <a:rPr b="0" i="0" lang="en-GB" sz="4400" u="none" cap="none" strike="noStrike">
                <a:solidFill>
                  <a:srgbClr val="FFFF00"/>
                </a:solidFill>
                <a:latin typeface="Arial"/>
                <a:ea typeface="Arial"/>
                <a:cs typeface="Arial"/>
                <a:sym typeface="Arial"/>
              </a:rPr>
              <a:t>Drawing Circuits</a:t>
            </a:r>
            <a:endParaRPr b="0" i="0" sz="4400" u="none" cap="none" strike="noStrike">
              <a:solidFill>
                <a:srgbClr val="FFFF00"/>
              </a:solidFill>
              <a:latin typeface="Arial"/>
              <a:ea typeface="Arial"/>
              <a:cs typeface="Arial"/>
              <a:sym typeface="Arial"/>
            </a:endParaRPr>
          </a:p>
        </p:txBody>
      </p:sp>
      <p:sp>
        <p:nvSpPr>
          <p:cNvPr id="300" name="Google Shape;300;p19"/>
          <p:cNvSpPr txBox="1"/>
          <p:nvPr/>
        </p:nvSpPr>
        <p:spPr>
          <a:xfrm>
            <a:off x="4625975" y="1036639"/>
            <a:ext cx="3168650"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GB" sz="2400" u="none" cap="none" strike="noStrike">
                <a:solidFill>
                  <a:srgbClr val="99CCFF"/>
                </a:solidFill>
                <a:latin typeface="Arial"/>
                <a:ea typeface="Arial"/>
                <a:cs typeface="Arial"/>
                <a:sym typeface="Arial"/>
              </a:rPr>
              <a:t>1)  A cell, a bulb and a switch “in series”</a:t>
            </a:r>
            <a:endParaRPr b="0" i="0" sz="2400" u="none" cap="none" strike="noStrike">
              <a:solidFill>
                <a:srgbClr val="99CCFF"/>
              </a:solidFill>
              <a:latin typeface="Arial"/>
              <a:ea typeface="Arial"/>
              <a:cs typeface="Arial"/>
              <a:sym typeface="Arial"/>
            </a:endParaRPr>
          </a:p>
        </p:txBody>
      </p:sp>
      <p:sp>
        <p:nvSpPr>
          <p:cNvPr id="301" name="Google Shape;301;p19"/>
          <p:cNvSpPr txBox="1"/>
          <p:nvPr/>
        </p:nvSpPr>
        <p:spPr>
          <a:xfrm>
            <a:off x="5181601" y="4559300"/>
            <a:ext cx="2373300" cy="1569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GB" sz="2400" u="none" cap="none" strike="noStrike">
                <a:solidFill>
                  <a:srgbClr val="99FFCC"/>
                </a:solidFill>
                <a:latin typeface="Arial"/>
                <a:ea typeface="Arial"/>
                <a:cs typeface="Arial"/>
                <a:sym typeface="Arial"/>
              </a:rPr>
              <a:t>2)  A battery of cells, a switch and two bulbs in series</a:t>
            </a:r>
            <a:endParaRPr b="0" i="0" sz="2400" u="none" cap="none" strike="noStrike">
              <a:solidFill>
                <a:srgbClr val="99FFCC"/>
              </a:solidFill>
              <a:latin typeface="Arial"/>
              <a:ea typeface="Arial"/>
              <a:cs typeface="Arial"/>
              <a:sym typeface="Arial"/>
            </a:endParaRPr>
          </a:p>
        </p:txBody>
      </p:sp>
      <p:grpSp>
        <p:nvGrpSpPr>
          <p:cNvPr id="302" name="Google Shape;302;p19"/>
          <p:cNvGrpSpPr/>
          <p:nvPr/>
        </p:nvGrpSpPr>
        <p:grpSpPr>
          <a:xfrm>
            <a:off x="7904164" y="936625"/>
            <a:ext cx="2763837" cy="2438400"/>
            <a:chOff x="144" y="720"/>
            <a:chExt cx="1741" cy="1536"/>
          </a:xfrm>
        </p:grpSpPr>
        <p:grpSp>
          <p:nvGrpSpPr>
            <p:cNvPr id="303" name="Google Shape;303;p19"/>
            <p:cNvGrpSpPr/>
            <p:nvPr/>
          </p:nvGrpSpPr>
          <p:grpSpPr>
            <a:xfrm>
              <a:off x="144" y="720"/>
              <a:ext cx="1741" cy="1536"/>
              <a:chOff x="144" y="720"/>
              <a:chExt cx="1741" cy="1536"/>
            </a:xfrm>
          </p:grpSpPr>
          <p:cxnSp>
            <p:nvCxnSpPr>
              <p:cNvPr id="304" name="Google Shape;304;p19"/>
              <p:cNvCxnSpPr/>
              <p:nvPr/>
            </p:nvCxnSpPr>
            <p:spPr>
              <a:xfrm>
                <a:off x="144" y="912"/>
                <a:ext cx="0" cy="1153"/>
              </a:xfrm>
              <a:prstGeom prst="straightConnector1">
                <a:avLst/>
              </a:prstGeom>
              <a:noFill/>
              <a:ln cap="flat" cmpd="sng" w="19050">
                <a:solidFill>
                  <a:schemeClr val="lt1"/>
                </a:solidFill>
                <a:prstDash val="solid"/>
                <a:round/>
                <a:headEnd len="sm" w="sm" type="none"/>
                <a:tailEnd len="sm" w="sm" type="none"/>
              </a:ln>
            </p:spPr>
          </p:cxnSp>
          <p:cxnSp>
            <p:nvCxnSpPr>
              <p:cNvPr id="305" name="Google Shape;305;p19"/>
              <p:cNvCxnSpPr/>
              <p:nvPr/>
            </p:nvCxnSpPr>
            <p:spPr>
              <a:xfrm>
                <a:off x="145" y="2064"/>
                <a:ext cx="528" cy="0"/>
              </a:xfrm>
              <a:prstGeom prst="straightConnector1">
                <a:avLst/>
              </a:prstGeom>
              <a:noFill/>
              <a:ln cap="flat" cmpd="sng" w="19050">
                <a:solidFill>
                  <a:schemeClr val="lt1"/>
                </a:solidFill>
                <a:prstDash val="solid"/>
                <a:round/>
                <a:headEnd len="sm" w="sm" type="none"/>
                <a:tailEnd len="sm" w="sm" type="none"/>
              </a:ln>
            </p:spPr>
          </p:cxnSp>
          <p:cxnSp>
            <p:nvCxnSpPr>
              <p:cNvPr id="306" name="Google Shape;306;p19"/>
              <p:cNvCxnSpPr/>
              <p:nvPr/>
            </p:nvCxnSpPr>
            <p:spPr>
              <a:xfrm>
                <a:off x="1056" y="2064"/>
                <a:ext cx="721" cy="0"/>
              </a:xfrm>
              <a:prstGeom prst="straightConnector1">
                <a:avLst/>
              </a:prstGeom>
              <a:noFill/>
              <a:ln cap="flat" cmpd="sng" w="19050">
                <a:solidFill>
                  <a:schemeClr val="lt1"/>
                </a:solidFill>
                <a:prstDash val="solid"/>
                <a:round/>
                <a:headEnd len="sm" w="sm" type="none"/>
                <a:tailEnd len="sm" w="sm" type="none"/>
              </a:ln>
            </p:spPr>
          </p:cxnSp>
          <p:cxnSp>
            <p:nvCxnSpPr>
              <p:cNvPr id="307" name="Google Shape;307;p19"/>
              <p:cNvCxnSpPr/>
              <p:nvPr/>
            </p:nvCxnSpPr>
            <p:spPr>
              <a:xfrm rot="10800000">
                <a:off x="1776" y="912"/>
                <a:ext cx="0" cy="477"/>
              </a:xfrm>
              <a:prstGeom prst="straightConnector1">
                <a:avLst/>
              </a:prstGeom>
              <a:noFill/>
              <a:ln cap="flat" cmpd="sng" w="19050">
                <a:solidFill>
                  <a:schemeClr val="lt1"/>
                </a:solidFill>
                <a:prstDash val="solid"/>
                <a:round/>
                <a:headEnd len="sm" w="sm" type="none"/>
                <a:tailEnd len="sm" w="sm" type="none"/>
              </a:ln>
            </p:spPr>
          </p:cxnSp>
          <p:cxnSp>
            <p:nvCxnSpPr>
              <p:cNvPr id="308" name="Google Shape;308;p19"/>
              <p:cNvCxnSpPr/>
              <p:nvPr/>
            </p:nvCxnSpPr>
            <p:spPr>
              <a:xfrm>
                <a:off x="144" y="912"/>
                <a:ext cx="672" cy="0"/>
              </a:xfrm>
              <a:prstGeom prst="straightConnector1">
                <a:avLst/>
              </a:prstGeom>
              <a:noFill/>
              <a:ln cap="flat" cmpd="sng" w="19050">
                <a:solidFill>
                  <a:schemeClr val="lt1"/>
                </a:solidFill>
                <a:prstDash val="solid"/>
                <a:round/>
                <a:headEnd len="sm" w="sm" type="none"/>
                <a:tailEnd len="sm" w="sm" type="none"/>
              </a:ln>
            </p:spPr>
          </p:cxnSp>
          <p:cxnSp>
            <p:nvCxnSpPr>
              <p:cNvPr id="309" name="Google Shape;309;p19"/>
              <p:cNvCxnSpPr/>
              <p:nvPr/>
            </p:nvCxnSpPr>
            <p:spPr>
              <a:xfrm rot="10800000">
                <a:off x="960" y="912"/>
                <a:ext cx="816" cy="0"/>
              </a:xfrm>
              <a:prstGeom prst="straightConnector1">
                <a:avLst/>
              </a:prstGeom>
              <a:noFill/>
              <a:ln cap="flat" cmpd="sng" w="19050">
                <a:solidFill>
                  <a:schemeClr val="lt1"/>
                </a:solidFill>
                <a:prstDash val="solid"/>
                <a:round/>
                <a:headEnd len="sm" w="sm" type="none"/>
                <a:tailEnd len="sm" w="sm" type="none"/>
              </a:ln>
            </p:spPr>
          </p:cxnSp>
          <p:cxnSp>
            <p:nvCxnSpPr>
              <p:cNvPr id="310" name="Google Shape;310;p19"/>
              <p:cNvCxnSpPr/>
              <p:nvPr/>
            </p:nvCxnSpPr>
            <p:spPr>
              <a:xfrm>
                <a:off x="816" y="720"/>
                <a:ext cx="0" cy="384"/>
              </a:xfrm>
              <a:prstGeom prst="straightConnector1">
                <a:avLst/>
              </a:prstGeom>
              <a:noFill/>
              <a:ln cap="flat" cmpd="sng" w="19050">
                <a:solidFill>
                  <a:schemeClr val="lt1"/>
                </a:solidFill>
                <a:prstDash val="solid"/>
                <a:round/>
                <a:headEnd len="sm" w="sm" type="none"/>
                <a:tailEnd len="sm" w="sm" type="none"/>
              </a:ln>
            </p:spPr>
          </p:cxnSp>
          <p:sp>
            <p:nvSpPr>
              <p:cNvPr id="311" name="Google Shape;311;p19"/>
              <p:cNvSpPr/>
              <p:nvPr/>
            </p:nvSpPr>
            <p:spPr>
              <a:xfrm>
                <a:off x="912" y="816"/>
                <a:ext cx="48" cy="192"/>
              </a:xfrm>
              <a:prstGeom prst="rect">
                <a:avLst/>
              </a:prstGeom>
              <a:solidFill>
                <a:schemeClr val="lt1"/>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2" name="Google Shape;312;p19"/>
              <p:cNvSpPr/>
              <p:nvPr/>
            </p:nvSpPr>
            <p:spPr>
              <a:xfrm>
                <a:off x="672" y="1872"/>
                <a:ext cx="384" cy="384"/>
              </a:xfrm>
              <a:prstGeom prst="ellipse">
                <a:avLst/>
              </a:prstGeom>
              <a:noFill/>
              <a:ln cap="flat"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13" name="Google Shape;313;p19"/>
              <p:cNvCxnSpPr/>
              <p:nvPr/>
            </p:nvCxnSpPr>
            <p:spPr>
              <a:xfrm flipH="1" rot="10800000">
                <a:off x="720" y="1920"/>
                <a:ext cx="288" cy="288"/>
              </a:xfrm>
              <a:prstGeom prst="straightConnector1">
                <a:avLst/>
              </a:prstGeom>
              <a:noFill/>
              <a:ln cap="flat" cmpd="sng" w="19050">
                <a:solidFill>
                  <a:schemeClr val="lt1"/>
                </a:solidFill>
                <a:prstDash val="solid"/>
                <a:round/>
                <a:headEnd len="sm" w="sm" type="none"/>
                <a:tailEnd len="sm" w="sm" type="none"/>
              </a:ln>
            </p:spPr>
          </p:cxnSp>
          <p:cxnSp>
            <p:nvCxnSpPr>
              <p:cNvPr id="314" name="Google Shape;314;p19"/>
              <p:cNvCxnSpPr/>
              <p:nvPr/>
            </p:nvCxnSpPr>
            <p:spPr>
              <a:xfrm>
                <a:off x="720" y="1920"/>
                <a:ext cx="288" cy="288"/>
              </a:xfrm>
              <a:prstGeom prst="straightConnector1">
                <a:avLst/>
              </a:prstGeom>
              <a:noFill/>
              <a:ln cap="flat" cmpd="sng" w="19050">
                <a:solidFill>
                  <a:schemeClr val="lt1"/>
                </a:solidFill>
                <a:prstDash val="solid"/>
                <a:round/>
                <a:headEnd len="sm" w="sm" type="none"/>
                <a:tailEnd len="sm" w="sm" type="none"/>
              </a:ln>
            </p:spPr>
          </p:cxnSp>
          <p:cxnSp>
            <p:nvCxnSpPr>
              <p:cNvPr id="315" name="Google Shape;315;p19"/>
              <p:cNvCxnSpPr/>
              <p:nvPr/>
            </p:nvCxnSpPr>
            <p:spPr>
              <a:xfrm rot="10800000">
                <a:off x="1777" y="1706"/>
                <a:ext cx="0" cy="358"/>
              </a:xfrm>
              <a:prstGeom prst="straightConnector1">
                <a:avLst/>
              </a:prstGeom>
              <a:noFill/>
              <a:ln cap="flat" cmpd="sng" w="19050">
                <a:solidFill>
                  <a:schemeClr val="lt1"/>
                </a:solidFill>
                <a:prstDash val="solid"/>
                <a:round/>
                <a:headEnd len="sm" w="sm" type="none"/>
                <a:tailEnd len="sm" w="sm" type="none"/>
              </a:ln>
            </p:spPr>
          </p:cxnSp>
          <p:cxnSp>
            <p:nvCxnSpPr>
              <p:cNvPr id="316" name="Google Shape;316;p19"/>
              <p:cNvCxnSpPr/>
              <p:nvPr/>
            </p:nvCxnSpPr>
            <p:spPr>
              <a:xfrm flipH="1" rot="10800000">
                <a:off x="1777" y="1389"/>
                <a:ext cx="108" cy="317"/>
              </a:xfrm>
              <a:prstGeom prst="straightConnector1">
                <a:avLst/>
              </a:prstGeom>
              <a:noFill/>
              <a:ln cap="flat" cmpd="sng" w="19050">
                <a:solidFill>
                  <a:schemeClr val="lt1"/>
                </a:solidFill>
                <a:prstDash val="solid"/>
                <a:round/>
                <a:headEnd len="sm" w="sm" type="none"/>
                <a:tailEnd len="sm" w="sm" type="none"/>
              </a:ln>
            </p:spPr>
          </p:cxnSp>
        </p:grpSp>
        <p:sp>
          <p:nvSpPr>
            <p:cNvPr id="317" name="Google Shape;317;p19"/>
            <p:cNvSpPr/>
            <p:nvPr/>
          </p:nvSpPr>
          <p:spPr>
            <a:xfrm>
              <a:off x="1746" y="1669"/>
              <a:ext cx="66" cy="66"/>
            </a:xfrm>
            <a:prstGeom prst="ellipse">
              <a:avLst/>
            </a:prstGeom>
            <a:solidFill>
              <a:schemeClr val="dk2"/>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8" name="Google Shape;318;p19"/>
            <p:cNvSpPr/>
            <p:nvPr/>
          </p:nvSpPr>
          <p:spPr>
            <a:xfrm>
              <a:off x="1743" y="1369"/>
              <a:ext cx="66" cy="66"/>
            </a:xfrm>
            <a:prstGeom prst="ellipse">
              <a:avLst/>
            </a:prstGeom>
            <a:solidFill>
              <a:schemeClr val="dk2"/>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19" name="Google Shape;319;p19"/>
          <p:cNvGrpSpPr/>
          <p:nvPr/>
        </p:nvGrpSpPr>
        <p:grpSpPr>
          <a:xfrm>
            <a:off x="7554913" y="4102100"/>
            <a:ext cx="2832100" cy="2438400"/>
            <a:chOff x="3833" y="2640"/>
            <a:chExt cx="1784" cy="1536"/>
          </a:xfrm>
        </p:grpSpPr>
        <p:grpSp>
          <p:nvGrpSpPr>
            <p:cNvPr id="320" name="Google Shape;320;p19"/>
            <p:cNvGrpSpPr/>
            <p:nvPr/>
          </p:nvGrpSpPr>
          <p:grpSpPr>
            <a:xfrm>
              <a:off x="3833" y="2640"/>
              <a:ext cx="1784" cy="1536"/>
              <a:chOff x="3833" y="2640"/>
              <a:chExt cx="1784" cy="1536"/>
            </a:xfrm>
          </p:grpSpPr>
          <p:cxnSp>
            <p:nvCxnSpPr>
              <p:cNvPr id="321" name="Google Shape;321;p19"/>
              <p:cNvCxnSpPr/>
              <p:nvPr/>
            </p:nvCxnSpPr>
            <p:spPr>
              <a:xfrm>
                <a:off x="3984" y="2832"/>
                <a:ext cx="0" cy="417"/>
              </a:xfrm>
              <a:prstGeom prst="straightConnector1">
                <a:avLst/>
              </a:prstGeom>
              <a:noFill/>
              <a:ln cap="flat" cmpd="sng" w="19050">
                <a:solidFill>
                  <a:schemeClr val="lt1"/>
                </a:solidFill>
                <a:prstDash val="solid"/>
                <a:round/>
                <a:headEnd len="sm" w="sm" type="none"/>
                <a:tailEnd len="sm" w="sm" type="none"/>
              </a:ln>
            </p:spPr>
          </p:cxnSp>
          <p:cxnSp>
            <p:nvCxnSpPr>
              <p:cNvPr id="322" name="Google Shape;322;p19"/>
              <p:cNvCxnSpPr/>
              <p:nvPr/>
            </p:nvCxnSpPr>
            <p:spPr>
              <a:xfrm>
                <a:off x="3985" y="3984"/>
                <a:ext cx="287" cy="0"/>
              </a:xfrm>
              <a:prstGeom prst="straightConnector1">
                <a:avLst/>
              </a:prstGeom>
              <a:noFill/>
              <a:ln cap="flat" cmpd="sng" w="19050">
                <a:solidFill>
                  <a:schemeClr val="lt1"/>
                </a:solidFill>
                <a:prstDash val="solid"/>
                <a:round/>
                <a:headEnd len="sm" w="sm" type="none"/>
                <a:tailEnd len="sm" w="sm" type="none"/>
              </a:ln>
            </p:spPr>
          </p:cxnSp>
          <p:cxnSp>
            <p:nvCxnSpPr>
              <p:cNvPr id="323" name="Google Shape;323;p19"/>
              <p:cNvCxnSpPr/>
              <p:nvPr/>
            </p:nvCxnSpPr>
            <p:spPr>
              <a:xfrm>
                <a:off x="5376" y="3984"/>
                <a:ext cx="241" cy="0"/>
              </a:xfrm>
              <a:prstGeom prst="straightConnector1">
                <a:avLst/>
              </a:prstGeom>
              <a:noFill/>
              <a:ln cap="flat" cmpd="sng" w="19050">
                <a:solidFill>
                  <a:schemeClr val="lt1"/>
                </a:solidFill>
                <a:prstDash val="solid"/>
                <a:round/>
                <a:headEnd len="sm" w="sm" type="none"/>
                <a:tailEnd len="sm" w="sm" type="none"/>
              </a:ln>
            </p:spPr>
          </p:cxnSp>
          <p:cxnSp>
            <p:nvCxnSpPr>
              <p:cNvPr id="324" name="Google Shape;324;p19"/>
              <p:cNvCxnSpPr/>
              <p:nvPr/>
            </p:nvCxnSpPr>
            <p:spPr>
              <a:xfrm rot="10800000">
                <a:off x="5616" y="2832"/>
                <a:ext cx="0" cy="1152"/>
              </a:xfrm>
              <a:prstGeom prst="straightConnector1">
                <a:avLst/>
              </a:prstGeom>
              <a:noFill/>
              <a:ln cap="flat" cmpd="sng" w="19050">
                <a:solidFill>
                  <a:schemeClr val="lt1"/>
                </a:solidFill>
                <a:prstDash val="solid"/>
                <a:round/>
                <a:headEnd len="sm" w="sm" type="none"/>
                <a:tailEnd len="sm" w="sm" type="none"/>
              </a:ln>
            </p:spPr>
          </p:cxnSp>
          <p:cxnSp>
            <p:nvCxnSpPr>
              <p:cNvPr id="325" name="Google Shape;325;p19"/>
              <p:cNvCxnSpPr/>
              <p:nvPr/>
            </p:nvCxnSpPr>
            <p:spPr>
              <a:xfrm>
                <a:off x="3984" y="2832"/>
                <a:ext cx="672" cy="0"/>
              </a:xfrm>
              <a:prstGeom prst="straightConnector1">
                <a:avLst/>
              </a:prstGeom>
              <a:noFill/>
              <a:ln cap="flat" cmpd="sng" w="19050">
                <a:solidFill>
                  <a:schemeClr val="lt1"/>
                </a:solidFill>
                <a:prstDash val="solid"/>
                <a:round/>
                <a:headEnd len="sm" w="sm" type="none"/>
                <a:tailEnd len="sm" w="sm" type="none"/>
              </a:ln>
            </p:spPr>
          </p:cxnSp>
          <p:cxnSp>
            <p:nvCxnSpPr>
              <p:cNvPr id="326" name="Google Shape;326;p19"/>
              <p:cNvCxnSpPr/>
              <p:nvPr/>
            </p:nvCxnSpPr>
            <p:spPr>
              <a:xfrm rot="10800000">
                <a:off x="4992" y="2832"/>
                <a:ext cx="624" cy="0"/>
              </a:xfrm>
              <a:prstGeom prst="straightConnector1">
                <a:avLst/>
              </a:prstGeom>
              <a:noFill/>
              <a:ln cap="flat" cmpd="sng" w="19050">
                <a:solidFill>
                  <a:schemeClr val="lt1"/>
                </a:solidFill>
                <a:prstDash val="solid"/>
                <a:round/>
                <a:headEnd len="sm" w="sm" type="none"/>
                <a:tailEnd len="sm" w="sm" type="none"/>
              </a:ln>
            </p:spPr>
          </p:cxnSp>
          <p:cxnSp>
            <p:nvCxnSpPr>
              <p:cNvPr id="327" name="Google Shape;327;p19"/>
              <p:cNvCxnSpPr/>
              <p:nvPr/>
            </p:nvCxnSpPr>
            <p:spPr>
              <a:xfrm>
                <a:off x="4656" y="2640"/>
                <a:ext cx="0" cy="384"/>
              </a:xfrm>
              <a:prstGeom prst="straightConnector1">
                <a:avLst/>
              </a:prstGeom>
              <a:noFill/>
              <a:ln cap="flat" cmpd="sng" w="19050">
                <a:solidFill>
                  <a:schemeClr val="lt1"/>
                </a:solidFill>
                <a:prstDash val="solid"/>
                <a:round/>
                <a:headEnd len="sm" w="sm" type="none"/>
                <a:tailEnd len="sm" w="sm" type="none"/>
              </a:ln>
            </p:spPr>
          </p:cxnSp>
          <p:sp>
            <p:nvSpPr>
              <p:cNvPr id="328" name="Google Shape;328;p19"/>
              <p:cNvSpPr/>
              <p:nvPr/>
            </p:nvSpPr>
            <p:spPr>
              <a:xfrm>
                <a:off x="4752" y="2736"/>
                <a:ext cx="48" cy="192"/>
              </a:xfrm>
              <a:prstGeom prst="rect">
                <a:avLst/>
              </a:prstGeom>
              <a:solidFill>
                <a:schemeClr val="lt1"/>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329" name="Google Shape;329;p19"/>
              <p:cNvGrpSpPr/>
              <p:nvPr/>
            </p:nvGrpSpPr>
            <p:grpSpPr>
              <a:xfrm>
                <a:off x="4272" y="3792"/>
                <a:ext cx="384" cy="384"/>
                <a:chOff x="4512" y="3792"/>
                <a:chExt cx="384" cy="384"/>
              </a:xfrm>
            </p:grpSpPr>
            <p:sp>
              <p:nvSpPr>
                <p:cNvPr id="330" name="Google Shape;330;p19"/>
                <p:cNvSpPr/>
                <p:nvPr/>
              </p:nvSpPr>
              <p:spPr>
                <a:xfrm>
                  <a:off x="4512" y="3792"/>
                  <a:ext cx="384" cy="384"/>
                </a:xfrm>
                <a:prstGeom prst="ellipse">
                  <a:avLst/>
                </a:prstGeom>
                <a:noFill/>
                <a:ln cap="flat"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31" name="Google Shape;331;p19"/>
                <p:cNvCxnSpPr/>
                <p:nvPr/>
              </p:nvCxnSpPr>
              <p:spPr>
                <a:xfrm flipH="1" rot="10800000">
                  <a:off x="4560" y="3840"/>
                  <a:ext cx="288" cy="288"/>
                </a:xfrm>
                <a:prstGeom prst="straightConnector1">
                  <a:avLst/>
                </a:prstGeom>
                <a:noFill/>
                <a:ln cap="flat" cmpd="sng" w="19050">
                  <a:solidFill>
                    <a:schemeClr val="lt1"/>
                  </a:solidFill>
                  <a:prstDash val="solid"/>
                  <a:round/>
                  <a:headEnd len="sm" w="sm" type="none"/>
                  <a:tailEnd len="sm" w="sm" type="none"/>
                </a:ln>
              </p:spPr>
            </p:cxnSp>
            <p:cxnSp>
              <p:nvCxnSpPr>
                <p:cNvPr id="332" name="Google Shape;332;p19"/>
                <p:cNvCxnSpPr/>
                <p:nvPr/>
              </p:nvCxnSpPr>
              <p:spPr>
                <a:xfrm>
                  <a:off x="4560" y="3840"/>
                  <a:ext cx="288" cy="288"/>
                </a:xfrm>
                <a:prstGeom prst="straightConnector1">
                  <a:avLst/>
                </a:prstGeom>
                <a:noFill/>
                <a:ln cap="flat" cmpd="sng" w="19050">
                  <a:solidFill>
                    <a:schemeClr val="lt1"/>
                  </a:solidFill>
                  <a:prstDash val="solid"/>
                  <a:round/>
                  <a:headEnd len="sm" w="sm" type="none"/>
                  <a:tailEnd len="sm" w="sm" type="none"/>
                </a:ln>
              </p:spPr>
            </p:cxnSp>
          </p:grpSp>
          <p:grpSp>
            <p:nvGrpSpPr>
              <p:cNvPr id="333" name="Google Shape;333;p19"/>
              <p:cNvGrpSpPr/>
              <p:nvPr/>
            </p:nvGrpSpPr>
            <p:grpSpPr>
              <a:xfrm>
                <a:off x="4992" y="3792"/>
                <a:ext cx="384" cy="384"/>
                <a:chOff x="4512" y="3792"/>
                <a:chExt cx="384" cy="384"/>
              </a:xfrm>
            </p:grpSpPr>
            <p:sp>
              <p:nvSpPr>
                <p:cNvPr id="334" name="Google Shape;334;p19"/>
                <p:cNvSpPr/>
                <p:nvPr/>
              </p:nvSpPr>
              <p:spPr>
                <a:xfrm>
                  <a:off x="4512" y="3792"/>
                  <a:ext cx="384" cy="384"/>
                </a:xfrm>
                <a:prstGeom prst="ellipse">
                  <a:avLst/>
                </a:prstGeom>
                <a:noFill/>
                <a:ln cap="flat"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35" name="Google Shape;335;p19"/>
                <p:cNvCxnSpPr/>
                <p:nvPr/>
              </p:nvCxnSpPr>
              <p:spPr>
                <a:xfrm flipH="1" rot="10800000">
                  <a:off x="4560" y="3840"/>
                  <a:ext cx="288" cy="288"/>
                </a:xfrm>
                <a:prstGeom prst="straightConnector1">
                  <a:avLst/>
                </a:prstGeom>
                <a:noFill/>
                <a:ln cap="flat" cmpd="sng" w="19050">
                  <a:solidFill>
                    <a:schemeClr val="lt1"/>
                  </a:solidFill>
                  <a:prstDash val="solid"/>
                  <a:round/>
                  <a:headEnd len="sm" w="sm" type="none"/>
                  <a:tailEnd len="sm" w="sm" type="none"/>
                </a:ln>
              </p:spPr>
            </p:cxnSp>
            <p:cxnSp>
              <p:nvCxnSpPr>
                <p:cNvPr id="336" name="Google Shape;336;p19"/>
                <p:cNvCxnSpPr/>
                <p:nvPr/>
              </p:nvCxnSpPr>
              <p:spPr>
                <a:xfrm>
                  <a:off x="4560" y="3840"/>
                  <a:ext cx="288" cy="288"/>
                </a:xfrm>
                <a:prstGeom prst="straightConnector1">
                  <a:avLst/>
                </a:prstGeom>
                <a:noFill/>
                <a:ln cap="flat" cmpd="sng" w="19050">
                  <a:solidFill>
                    <a:schemeClr val="lt1"/>
                  </a:solidFill>
                  <a:prstDash val="solid"/>
                  <a:round/>
                  <a:headEnd len="sm" w="sm" type="none"/>
                  <a:tailEnd len="sm" w="sm" type="none"/>
                </a:ln>
              </p:spPr>
            </p:cxnSp>
          </p:grpSp>
          <p:cxnSp>
            <p:nvCxnSpPr>
              <p:cNvPr id="337" name="Google Shape;337;p19"/>
              <p:cNvCxnSpPr/>
              <p:nvPr/>
            </p:nvCxnSpPr>
            <p:spPr>
              <a:xfrm>
                <a:off x="4656" y="3984"/>
                <a:ext cx="336" cy="0"/>
              </a:xfrm>
              <a:prstGeom prst="straightConnector1">
                <a:avLst/>
              </a:prstGeom>
              <a:noFill/>
              <a:ln cap="flat" cmpd="sng" w="19050">
                <a:solidFill>
                  <a:schemeClr val="lt1"/>
                </a:solidFill>
                <a:prstDash val="solid"/>
                <a:round/>
                <a:headEnd len="sm" w="sm" type="none"/>
                <a:tailEnd len="sm" w="sm" type="none"/>
              </a:ln>
            </p:spPr>
          </p:cxnSp>
          <p:cxnSp>
            <p:nvCxnSpPr>
              <p:cNvPr id="338" name="Google Shape;338;p19"/>
              <p:cNvCxnSpPr/>
              <p:nvPr/>
            </p:nvCxnSpPr>
            <p:spPr>
              <a:xfrm>
                <a:off x="3985" y="3567"/>
                <a:ext cx="0" cy="417"/>
              </a:xfrm>
              <a:prstGeom prst="straightConnector1">
                <a:avLst/>
              </a:prstGeom>
              <a:noFill/>
              <a:ln cap="flat" cmpd="sng" w="19050">
                <a:solidFill>
                  <a:schemeClr val="lt1"/>
                </a:solidFill>
                <a:prstDash val="solid"/>
                <a:round/>
                <a:headEnd len="sm" w="sm" type="none"/>
                <a:tailEnd len="sm" w="sm" type="none"/>
              </a:ln>
            </p:spPr>
          </p:cxnSp>
          <p:cxnSp>
            <p:nvCxnSpPr>
              <p:cNvPr id="339" name="Google Shape;339;p19"/>
              <p:cNvCxnSpPr/>
              <p:nvPr/>
            </p:nvCxnSpPr>
            <p:spPr>
              <a:xfrm>
                <a:off x="3833" y="3249"/>
                <a:ext cx="148" cy="318"/>
              </a:xfrm>
              <a:prstGeom prst="straightConnector1">
                <a:avLst/>
              </a:prstGeom>
              <a:noFill/>
              <a:ln cap="flat" cmpd="sng" w="19050">
                <a:solidFill>
                  <a:schemeClr val="lt1"/>
                </a:solidFill>
                <a:prstDash val="solid"/>
                <a:round/>
                <a:headEnd len="sm" w="sm" type="none"/>
                <a:tailEnd len="sm" w="sm" type="none"/>
              </a:ln>
            </p:spPr>
          </p:cxnSp>
          <p:cxnSp>
            <p:nvCxnSpPr>
              <p:cNvPr id="340" name="Google Shape;340;p19"/>
              <p:cNvCxnSpPr/>
              <p:nvPr/>
            </p:nvCxnSpPr>
            <p:spPr>
              <a:xfrm>
                <a:off x="4872" y="2640"/>
                <a:ext cx="0" cy="384"/>
              </a:xfrm>
              <a:prstGeom prst="straightConnector1">
                <a:avLst/>
              </a:prstGeom>
              <a:noFill/>
              <a:ln cap="flat" cmpd="sng" w="19050">
                <a:solidFill>
                  <a:schemeClr val="lt1"/>
                </a:solidFill>
                <a:prstDash val="solid"/>
                <a:round/>
                <a:headEnd len="sm" w="sm" type="none"/>
                <a:tailEnd len="sm" w="sm" type="none"/>
              </a:ln>
            </p:spPr>
          </p:cxnSp>
          <p:sp>
            <p:nvSpPr>
              <p:cNvPr id="341" name="Google Shape;341;p19"/>
              <p:cNvSpPr/>
              <p:nvPr/>
            </p:nvSpPr>
            <p:spPr>
              <a:xfrm>
                <a:off x="4968" y="2736"/>
                <a:ext cx="48" cy="192"/>
              </a:xfrm>
              <a:prstGeom prst="rect">
                <a:avLst/>
              </a:prstGeom>
              <a:solidFill>
                <a:schemeClr val="lt1"/>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42" name="Google Shape;342;p19"/>
            <p:cNvSpPr/>
            <p:nvPr/>
          </p:nvSpPr>
          <p:spPr>
            <a:xfrm>
              <a:off x="3950" y="3230"/>
              <a:ext cx="66" cy="66"/>
            </a:xfrm>
            <a:prstGeom prst="ellipse">
              <a:avLst/>
            </a:prstGeom>
            <a:solidFill>
              <a:schemeClr val="dk2"/>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3" name="Google Shape;343;p19"/>
            <p:cNvSpPr/>
            <p:nvPr/>
          </p:nvSpPr>
          <p:spPr>
            <a:xfrm>
              <a:off x="3959" y="3523"/>
              <a:ext cx="66" cy="66"/>
            </a:xfrm>
            <a:prstGeom prst="ellipse">
              <a:avLst/>
            </a:prstGeom>
            <a:solidFill>
              <a:schemeClr val="dk2"/>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descr="circuit 1" id="344" name="Google Shape;344;p19"/>
          <p:cNvPicPr preferRelativeResize="0"/>
          <p:nvPr/>
        </p:nvPicPr>
        <p:blipFill rotWithShape="1">
          <a:blip r:embed="rId3">
            <a:alphaModFix/>
          </a:blip>
          <a:srcRect b="0" l="8562" r="18852" t="0"/>
          <a:stretch/>
        </p:blipFill>
        <p:spPr>
          <a:xfrm>
            <a:off x="1873250" y="1036639"/>
            <a:ext cx="2273300" cy="2338387"/>
          </a:xfrm>
          <a:prstGeom prst="rect">
            <a:avLst/>
          </a:prstGeom>
          <a:noFill/>
          <a:ln>
            <a:noFill/>
          </a:ln>
        </p:spPr>
      </p:pic>
      <p:pic>
        <p:nvPicPr>
          <p:cNvPr descr="circuit 5" id="345" name="Google Shape;345;p19"/>
          <p:cNvPicPr preferRelativeResize="0"/>
          <p:nvPr/>
        </p:nvPicPr>
        <p:blipFill rotWithShape="1">
          <a:blip r:embed="rId4">
            <a:alphaModFix/>
          </a:blip>
          <a:srcRect b="0" l="0" r="0" t="0"/>
          <a:stretch/>
        </p:blipFill>
        <p:spPr>
          <a:xfrm>
            <a:off x="1524000" y="4060826"/>
            <a:ext cx="3321050" cy="2479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500"/>
                                        <p:tgtEl>
                                          <p:spTgt spid="3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gtEl>
                                        <p:attrNameLst>
                                          <p:attrName>style.visibility</p:attrName>
                                        </p:attrNameLst>
                                      </p:cBhvr>
                                      <p:to>
                                        <p:strVal val="visible"/>
                                      </p:to>
                                    </p:set>
                                    <p:animEffect filter="fade" transition="in">
                                      <p:cBhvr>
                                        <p:cTn dur="500"/>
                                        <p:tgtEl>
                                          <p:spTgt spid="3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02"/>
                                        </p:tgtEl>
                                        <p:attrNameLst>
                                          <p:attrName>style.visibility</p:attrName>
                                        </p:attrNameLst>
                                      </p:cBhvr>
                                      <p:to>
                                        <p:strVal val="visible"/>
                                      </p:to>
                                    </p:set>
                                    <p:anim calcmode="lin" valueType="num">
                                      <p:cBhvr additive="base">
                                        <p:cTn dur="500"/>
                                        <p:tgtEl>
                                          <p:spTgt spid="30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
                                        </p:tgtEl>
                                        <p:attrNameLst>
                                          <p:attrName>style.visibility</p:attrName>
                                        </p:attrNameLst>
                                      </p:cBhvr>
                                      <p:to>
                                        <p:strVal val="visible"/>
                                      </p:to>
                                    </p:set>
                                    <p:animEffect filter="fade" transition="in">
                                      <p:cBhvr>
                                        <p:cTn dur="500"/>
                                        <p:tgtEl>
                                          <p:spTgt spid="3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5"/>
                                        </p:tgtEl>
                                        <p:attrNameLst>
                                          <p:attrName>style.visibility</p:attrName>
                                        </p:attrNameLst>
                                      </p:cBhvr>
                                      <p:to>
                                        <p:strVal val="visible"/>
                                      </p:to>
                                    </p:set>
                                    <p:animEffect filter="fade" transition="in">
                                      <p:cBhvr>
                                        <p:cTn dur="500"/>
                                        <p:tgtEl>
                                          <p:spTgt spid="3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19"/>
                                        </p:tgtEl>
                                        <p:attrNameLst>
                                          <p:attrName>style.visibility</p:attrName>
                                        </p:attrNameLst>
                                      </p:cBhvr>
                                      <p:to>
                                        <p:strVal val="visible"/>
                                      </p:to>
                                    </p:set>
                                    <p:anim calcmode="lin" valueType="num">
                                      <p:cBhvr additive="base">
                                        <p:cTn dur="500"/>
                                        <p:tgtEl>
                                          <p:spTgt spid="319"/>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20"/>
          <p:cNvSpPr txBox="1"/>
          <p:nvPr>
            <p:ph type="title"/>
          </p:nvPr>
        </p:nvSpPr>
        <p:spPr>
          <a:xfrm>
            <a:off x="838199" y="204646"/>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omic Sans MS"/>
              <a:buNone/>
            </a:pPr>
            <a:r>
              <a:rPr lang="en-GB">
                <a:solidFill>
                  <a:schemeClr val="lt1"/>
                </a:solidFill>
                <a:latin typeface="Arial"/>
                <a:ea typeface="Arial"/>
                <a:cs typeface="Arial"/>
                <a:sym typeface="Arial"/>
              </a:rPr>
              <a:t>Using the symbols and processes learnt redraw these diagrams.</a:t>
            </a:r>
            <a:endParaRPr>
              <a:latin typeface="Arial"/>
              <a:ea typeface="Arial"/>
              <a:cs typeface="Arial"/>
              <a:sym typeface="Arial"/>
            </a:endParaRPr>
          </a:p>
        </p:txBody>
      </p:sp>
      <p:sp>
        <p:nvSpPr>
          <p:cNvPr id="351" name="Google Shape;351;p2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latin typeface="Comic Sans MS"/>
              <a:ea typeface="Comic Sans MS"/>
              <a:cs typeface="Comic Sans MS"/>
              <a:sym typeface="Comic Sans MS"/>
            </a:endParaRPr>
          </a:p>
        </p:txBody>
      </p:sp>
      <p:sp>
        <p:nvSpPr>
          <p:cNvPr id="352" name="Google Shape;352;p2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latin typeface="Comic Sans MS"/>
              <a:ea typeface="Comic Sans MS"/>
              <a:cs typeface="Comic Sans MS"/>
              <a:sym typeface="Comic Sans MS"/>
            </a:endParaRPr>
          </a:p>
        </p:txBody>
      </p:sp>
      <p:pic>
        <p:nvPicPr>
          <p:cNvPr id="353" name="Google Shape;353;p20"/>
          <p:cNvPicPr preferRelativeResize="0"/>
          <p:nvPr/>
        </p:nvPicPr>
        <p:blipFill rotWithShape="1">
          <a:blip r:embed="rId3">
            <a:alphaModFix/>
          </a:blip>
          <a:srcRect b="0" l="0" r="0" t="0"/>
          <a:stretch/>
        </p:blipFill>
        <p:spPr>
          <a:xfrm>
            <a:off x="158481" y="1690688"/>
            <a:ext cx="11875037" cy="464675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fontScale="92500" lnSpcReduction="10000"/>
          </a:bodyPr>
          <a:lstStyle/>
          <a:p>
            <a:pPr indent="-64135" lvl="0" marL="228600" rtl="0" algn="l">
              <a:lnSpc>
                <a:spcPct val="90000"/>
              </a:lnSpc>
              <a:spcBef>
                <a:spcPts val="0"/>
              </a:spcBef>
              <a:spcAft>
                <a:spcPts val="0"/>
              </a:spcAft>
              <a:buClr>
                <a:schemeClr val="dk1"/>
              </a:buClr>
              <a:buSzPct val="100000"/>
              <a:buNone/>
            </a:pPr>
            <a:r>
              <a:t/>
            </a:r>
            <a:endParaRPr>
              <a:latin typeface="Comic Sans MS"/>
              <a:ea typeface="Comic Sans MS"/>
              <a:cs typeface="Comic Sans MS"/>
              <a:sym typeface="Comic Sans MS"/>
            </a:endParaRPr>
          </a:p>
        </p:txBody>
      </p:sp>
      <p:sp>
        <p:nvSpPr>
          <p:cNvPr id="359" name="Google Shape;359;p21"/>
          <p:cNvSpPr txBox="1"/>
          <p:nvPr>
            <p:ph idx="2" type="body"/>
          </p:nvPr>
        </p:nvSpPr>
        <p:spPr>
          <a:xfrm>
            <a:off x="6976475" y="207850"/>
            <a:ext cx="5063100" cy="6417900"/>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90000"/>
              </a:lnSpc>
              <a:spcBef>
                <a:spcPts val="0"/>
              </a:spcBef>
              <a:spcAft>
                <a:spcPts val="0"/>
              </a:spcAft>
              <a:buClr>
                <a:schemeClr val="lt1"/>
              </a:buClr>
              <a:buSzPct val="100000"/>
              <a:buNone/>
            </a:pPr>
            <a:r>
              <a:rPr lang="en-GB">
                <a:solidFill>
                  <a:schemeClr val="lt1"/>
                </a:solidFill>
                <a:latin typeface="Arial"/>
                <a:ea typeface="Arial"/>
                <a:cs typeface="Arial"/>
                <a:sym typeface="Arial"/>
              </a:rPr>
              <a:t>Six pupils attempted to draw circuit diagrams in their science lesson. Their drawings are opposite.  </a:t>
            </a:r>
            <a:endParaRPr>
              <a:latin typeface="Arial"/>
              <a:ea typeface="Arial"/>
              <a:cs typeface="Arial"/>
              <a:sym typeface="Arial"/>
            </a:endParaRPr>
          </a:p>
          <a:p>
            <a:pPr indent="-514350" lvl="0" marL="514350" rtl="0" algn="l">
              <a:lnSpc>
                <a:spcPct val="90000"/>
              </a:lnSpc>
              <a:spcBef>
                <a:spcPts val="1000"/>
              </a:spcBef>
              <a:spcAft>
                <a:spcPts val="0"/>
              </a:spcAft>
              <a:buClr>
                <a:schemeClr val="lt1"/>
              </a:buClr>
              <a:buSzPct val="100000"/>
              <a:buAutoNum type="arabicPeriod"/>
            </a:pPr>
            <a:r>
              <a:rPr lang="en-GB">
                <a:solidFill>
                  <a:schemeClr val="lt1"/>
                </a:solidFill>
                <a:latin typeface="Arial"/>
                <a:ea typeface="Arial"/>
                <a:cs typeface="Arial"/>
                <a:sym typeface="Arial"/>
              </a:rPr>
              <a:t>In which circuits will the bulb light up?</a:t>
            </a:r>
            <a:endParaRPr>
              <a:latin typeface="Arial"/>
              <a:ea typeface="Arial"/>
              <a:cs typeface="Arial"/>
              <a:sym typeface="Arial"/>
            </a:endParaRPr>
          </a:p>
          <a:p>
            <a:pPr indent="-514350" lvl="0" marL="514350" rtl="0" algn="l">
              <a:lnSpc>
                <a:spcPct val="90000"/>
              </a:lnSpc>
              <a:spcBef>
                <a:spcPts val="1000"/>
              </a:spcBef>
              <a:spcAft>
                <a:spcPts val="0"/>
              </a:spcAft>
              <a:buClr>
                <a:schemeClr val="lt1"/>
              </a:buClr>
              <a:buSzPct val="100000"/>
              <a:buAutoNum type="arabicPeriod"/>
            </a:pPr>
            <a:r>
              <a:rPr lang="en-GB">
                <a:solidFill>
                  <a:schemeClr val="lt1"/>
                </a:solidFill>
                <a:latin typeface="Arial"/>
                <a:ea typeface="Arial"/>
                <a:cs typeface="Arial"/>
                <a:sym typeface="Arial"/>
              </a:rPr>
              <a:t>For those circuits where the bulb will not light, redraw the circuit  diagrams so that they will.</a:t>
            </a:r>
            <a:endParaRPr>
              <a:latin typeface="Arial"/>
              <a:ea typeface="Arial"/>
              <a:cs typeface="Arial"/>
              <a:sym typeface="Arial"/>
            </a:endParaRPr>
          </a:p>
          <a:p>
            <a:pPr indent="-514350" lvl="0" marL="514350" rtl="0" algn="l">
              <a:lnSpc>
                <a:spcPct val="90000"/>
              </a:lnSpc>
              <a:spcBef>
                <a:spcPts val="1000"/>
              </a:spcBef>
              <a:spcAft>
                <a:spcPts val="0"/>
              </a:spcAft>
              <a:buClr>
                <a:schemeClr val="lt1"/>
              </a:buClr>
              <a:buSzPct val="100000"/>
              <a:buAutoNum type="arabicPeriod"/>
            </a:pPr>
            <a:r>
              <a:rPr lang="en-GB">
                <a:solidFill>
                  <a:schemeClr val="lt1"/>
                </a:solidFill>
                <a:latin typeface="Arial"/>
                <a:ea typeface="Arial"/>
                <a:cs typeface="Arial"/>
                <a:sym typeface="Arial"/>
              </a:rPr>
              <a:t>In which of the circuits that you have drawn for Qu2 will the bulb be brightest?  Explain your reasoning.</a:t>
            </a:r>
            <a:endParaRPr>
              <a:latin typeface="Arial"/>
              <a:ea typeface="Arial"/>
              <a:cs typeface="Arial"/>
              <a:sym typeface="Arial"/>
            </a:endParaRPr>
          </a:p>
          <a:p>
            <a:pPr indent="-514350" lvl="0" marL="514350" rtl="0" algn="l">
              <a:lnSpc>
                <a:spcPct val="90000"/>
              </a:lnSpc>
              <a:spcBef>
                <a:spcPts val="1000"/>
              </a:spcBef>
              <a:spcAft>
                <a:spcPts val="0"/>
              </a:spcAft>
              <a:buClr>
                <a:schemeClr val="lt1"/>
              </a:buClr>
              <a:buSzPct val="100000"/>
              <a:buAutoNum type="arabicPeriod"/>
            </a:pPr>
            <a:r>
              <a:rPr lang="en-GB">
                <a:solidFill>
                  <a:schemeClr val="lt1"/>
                </a:solidFill>
                <a:latin typeface="Arial"/>
                <a:ea typeface="Arial"/>
                <a:cs typeface="Arial"/>
                <a:sym typeface="Arial"/>
              </a:rPr>
              <a:t>Where in a circuit does the switch need to be in order to operate the bulb correctly?</a:t>
            </a:r>
            <a:endParaRPr>
              <a:latin typeface="Arial"/>
              <a:ea typeface="Arial"/>
              <a:cs typeface="Arial"/>
              <a:sym typeface="Arial"/>
            </a:endParaRPr>
          </a:p>
          <a:p>
            <a:pPr indent="0" lvl="0" marL="0" rtl="0" algn="l">
              <a:lnSpc>
                <a:spcPct val="90000"/>
              </a:lnSpc>
              <a:spcBef>
                <a:spcPts val="1000"/>
              </a:spcBef>
              <a:spcAft>
                <a:spcPts val="0"/>
              </a:spcAft>
              <a:buClr>
                <a:schemeClr val="dk1"/>
              </a:buClr>
              <a:buSzPct val="100000"/>
              <a:buNone/>
            </a:pPr>
            <a:r>
              <a:t/>
            </a:r>
            <a:endParaRPr>
              <a:solidFill>
                <a:schemeClr val="lt1"/>
              </a:solidFill>
              <a:latin typeface="Arial"/>
              <a:ea typeface="Arial"/>
              <a:cs typeface="Arial"/>
              <a:sym typeface="Arial"/>
            </a:endParaRPr>
          </a:p>
          <a:p>
            <a:pPr indent="0" lvl="0" marL="0" rtl="0" algn="l">
              <a:lnSpc>
                <a:spcPct val="90000"/>
              </a:lnSpc>
              <a:spcBef>
                <a:spcPts val="1000"/>
              </a:spcBef>
              <a:spcAft>
                <a:spcPts val="0"/>
              </a:spcAft>
              <a:buClr>
                <a:schemeClr val="dk1"/>
              </a:buClr>
              <a:buSzPct val="100000"/>
              <a:buNone/>
            </a:pPr>
            <a:r>
              <a:t/>
            </a:r>
            <a:endParaRPr>
              <a:solidFill>
                <a:schemeClr val="lt1"/>
              </a:solidFill>
              <a:latin typeface="Comic Sans MS"/>
              <a:ea typeface="Comic Sans MS"/>
              <a:cs typeface="Comic Sans MS"/>
              <a:sym typeface="Comic Sans MS"/>
            </a:endParaRPr>
          </a:p>
        </p:txBody>
      </p:sp>
      <p:pic>
        <p:nvPicPr>
          <p:cNvPr id="360" name="Google Shape;360;p21"/>
          <p:cNvPicPr preferRelativeResize="0"/>
          <p:nvPr/>
        </p:nvPicPr>
        <p:blipFill rotWithShape="1">
          <a:blip r:embed="rId3">
            <a:alphaModFix/>
          </a:blip>
          <a:srcRect b="0" l="0" r="0" t="0"/>
          <a:stretch/>
        </p:blipFill>
        <p:spPr>
          <a:xfrm>
            <a:off x="0" y="-699291"/>
            <a:ext cx="6555545" cy="755729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2015-04-15T02:21:23Z</dcterms:created>
  <dc:creator>Summers, Simone D</dc:creator>
</cp:coreProperties>
</file>