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embeddedFontLst>
    <p:embeddedFont>
      <p:font typeface="Corbel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awjIySUKQEDBUgm1/5LMm+BXW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orbel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orbel-italic.fntdata"/><Relationship Id="rId14" Type="http://schemas.openxmlformats.org/officeDocument/2006/relationships/slide" Target="slides/slide9.xml"/><Relationship Id="rId36" Type="http://schemas.openxmlformats.org/officeDocument/2006/relationships/font" Target="fonts/Corbel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idx="1" type="subTitle"/>
          </p:nvPr>
        </p:nvSpPr>
        <p:spPr>
          <a:xfrm>
            <a:off x="352426" y="28956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2"/>
          <p:cNvSpPr/>
          <p:nvPr/>
        </p:nvSpPr>
        <p:spPr>
          <a:xfrm>
            <a:off x="0" y="4743451"/>
            <a:ext cx="9144000" cy="21145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" name="Google Shape;18;p32"/>
          <p:cNvCxnSpPr/>
          <p:nvPr/>
        </p:nvCxnSpPr>
        <p:spPr>
          <a:xfrm>
            <a:off x="0" y="4714875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2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34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" name="Google Shape;41;p36"/>
          <p:cNvSpPr txBox="1"/>
          <p:nvPr>
            <p:ph idx="1" type="subTitle"/>
          </p:nvPr>
        </p:nvSpPr>
        <p:spPr>
          <a:xfrm>
            <a:off x="352426" y="4003302"/>
            <a:ext cx="4572000" cy="117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36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6" name="Google Shape;46;p36"/>
          <p:cNvCxnSpPr/>
          <p:nvPr/>
        </p:nvCxnSpPr>
        <p:spPr>
          <a:xfrm>
            <a:off x="-4439" y="182880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6"/>
          <p:cNvSpPr txBox="1"/>
          <p:nvPr>
            <p:ph type="title"/>
          </p:nvPr>
        </p:nvSpPr>
        <p:spPr>
          <a:xfrm>
            <a:off x="354366" y="1990078"/>
            <a:ext cx="8439912" cy="198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37"/>
          <p:cNvSpPr txBox="1"/>
          <p:nvPr>
            <p:ph idx="1" type="body"/>
          </p:nvPr>
        </p:nvSpPr>
        <p:spPr>
          <a:xfrm>
            <a:off x="4901184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2" type="body"/>
          </p:nvPr>
        </p:nvSpPr>
        <p:spPr>
          <a:xfrm>
            <a:off x="352426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7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38"/>
          <p:cNvSpPr txBox="1"/>
          <p:nvPr>
            <p:ph idx="1" type="body"/>
          </p:nvPr>
        </p:nvSpPr>
        <p:spPr>
          <a:xfrm>
            <a:off x="352426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38"/>
          <p:cNvSpPr txBox="1"/>
          <p:nvPr>
            <p:ph idx="2" type="body"/>
          </p:nvPr>
        </p:nvSpPr>
        <p:spPr>
          <a:xfrm>
            <a:off x="4900613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38"/>
          <p:cNvSpPr txBox="1"/>
          <p:nvPr>
            <p:ph idx="3" type="body"/>
          </p:nvPr>
        </p:nvSpPr>
        <p:spPr>
          <a:xfrm>
            <a:off x="4900613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4" type="body"/>
          </p:nvPr>
        </p:nvSpPr>
        <p:spPr>
          <a:xfrm>
            <a:off x="352426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8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39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" name="Google Shape;74;p40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" name="Google Shape;75;p40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4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" type="body"/>
          </p:nvPr>
        </p:nvSpPr>
        <p:spPr>
          <a:xfrm>
            <a:off x="352426" y="1463040"/>
            <a:ext cx="3381375" cy="3967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0" i="1" sz="16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40"/>
          <p:cNvSpPr txBox="1"/>
          <p:nvPr>
            <p:ph idx="2" type="body"/>
          </p:nvPr>
        </p:nvSpPr>
        <p:spPr>
          <a:xfrm>
            <a:off x="4105275" y="1463040"/>
            <a:ext cx="4681538" cy="3968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4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" name="Google Shape;84;p41"/>
          <p:cNvSpPr/>
          <p:nvPr>
            <p:ph idx="2" type="pic"/>
          </p:nvPr>
        </p:nvSpPr>
        <p:spPr>
          <a:xfrm>
            <a:off x="5229224" y="0"/>
            <a:ext cx="3914775" cy="565785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41"/>
          <p:cNvSpPr txBox="1"/>
          <p:nvPr>
            <p:ph idx="1" type="body"/>
          </p:nvPr>
        </p:nvSpPr>
        <p:spPr>
          <a:xfrm>
            <a:off x="352426" y="1600199"/>
            <a:ext cx="4572000" cy="359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i="1"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1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7" name="Google Shape;87;p41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1"/>
          <p:cNvSpPr txBox="1"/>
          <p:nvPr>
            <p:ph type="title"/>
          </p:nvPr>
        </p:nvSpPr>
        <p:spPr>
          <a:xfrm>
            <a:off x="352425" y="275208"/>
            <a:ext cx="4572000" cy="132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4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42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1" type="body"/>
          </p:nvPr>
        </p:nvSpPr>
        <p:spPr>
          <a:xfrm rot="5400000">
            <a:off x="2021206" y="-205740"/>
            <a:ext cx="4343400" cy="768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" name="Google Shape;101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3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3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3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352426" y="146304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352426" y="28956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Year 9</a:t>
            </a:r>
            <a:endParaRPr/>
          </a:p>
        </p:txBody>
      </p:sp>
      <p:sp>
        <p:nvSpPr>
          <p:cNvPr id="111" name="Google Shape;111;p1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-US"/>
              <a:t>Refraction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 do our legs look short in the pool?</a:t>
            </a:r>
            <a:endParaRPr/>
          </a:p>
        </p:txBody>
      </p:sp>
      <p:pic>
        <p:nvPicPr>
          <p:cNvPr descr="Picture"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8800"/>
            <a:ext cx="4114800" cy="443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Whys does this spoon appear broken?</a:t>
            </a:r>
            <a:endParaRPr/>
          </a:p>
        </p:txBody>
      </p:sp>
      <p:pic>
        <p:nvPicPr>
          <p:cNvPr descr="Image result for refraction of light spoon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447800"/>
            <a:ext cx="3429000" cy="503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Lesson aims: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To be able to define refraction.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To be able to explain refraction using slowing down and speeding up.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To investigate refraction of light.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FFC1C1"/>
              </a:solidFill>
            </a:endParaRPr>
          </a:p>
        </p:txBody>
      </p:sp>
      <p:sp>
        <p:nvSpPr>
          <p:cNvPr id="129" name="Google Shape;129;p4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Refraction of Light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Refraction</a:t>
            </a:r>
            <a:endParaRPr/>
          </a:p>
        </p:txBody>
      </p:sp>
      <p:sp>
        <p:nvSpPr>
          <p:cNvPr id="135" name="Google Shape;135;p5"/>
          <p:cNvSpPr txBox="1"/>
          <p:nvPr>
            <p:ph idx="4294967295" type="body"/>
          </p:nvPr>
        </p:nvSpPr>
        <p:spPr>
          <a:xfrm>
            <a:off x="3052688" y="1981200"/>
            <a:ext cx="540551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 u="sng"/>
              <a:t>Refraction</a:t>
            </a:r>
            <a:r>
              <a:rPr lang="en-US" sz="3200"/>
              <a:t> is the bending of light as it moves through different substances.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Why does this occur?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http://micro.magnet.fsu.edu/optics/lightandcolor/images/refractionfigure3.jp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02" y="1981199"/>
            <a:ext cx="2591972" cy="433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idx="4294967295" type="title"/>
          </p:nvPr>
        </p:nvSpPr>
        <p:spPr>
          <a:xfrm>
            <a:off x="837533" y="196899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Why is light refracted?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239265" y="1486304"/>
            <a:ext cx="85060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speed of light depends on the material through which the light is travelling. When light enters a different material (e.g. when moving from air into glass), the speed of light changes.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68339" y="2431659"/>
            <a:ext cx="5773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causes the light to bend or </a:t>
            </a:r>
            <a:r>
              <a:rPr b="1" i="0" lang="en-US" sz="1800" u="none" cap="none" strike="noStrike">
                <a:solidFill>
                  <a:srgbClr val="B7156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refract</a:t>
            </a:r>
            <a:r>
              <a:rPr b="0" i="0" lang="en-US" sz="1800" u="none" cap="none" strike="noStrik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782137" y="4412418"/>
            <a:ext cx="75916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speed of light is affected by the density of the material through which it is travelling.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360025" y="5377283"/>
            <a:ext cx="84358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light enters a more dense medium, its speed decreases and this is why refraction occurs.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1914525" y="2930128"/>
            <a:ext cx="5314950" cy="1165622"/>
            <a:chOff x="648" y="1741"/>
            <a:chExt cx="4464" cy="979"/>
          </a:xfrm>
        </p:grpSpPr>
        <p:pic>
          <p:nvPicPr>
            <p:cNvPr descr="glass block" id="147" name="Google Shape;14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8" y="2045"/>
              <a:ext cx="4464" cy="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6"/>
            <p:cNvSpPr txBox="1"/>
            <p:nvPr/>
          </p:nvSpPr>
          <p:spPr>
            <a:xfrm>
              <a:off x="4438" y="1741"/>
              <a:ext cx="34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B7156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air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4438" y="2071"/>
              <a:ext cx="49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B7156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glass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3120629" y="2890838"/>
            <a:ext cx="1457325" cy="428625"/>
            <a:chOff x="1661" y="1708"/>
            <a:chExt cx="1224" cy="360"/>
          </a:xfrm>
        </p:grpSpPr>
        <p:cxnSp>
          <p:nvCxnSpPr>
            <p:cNvPr id="151" name="Google Shape;151;p6"/>
            <p:cNvCxnSpPr/>
            <p:nvPr/>
          </p:nvCxnSpPr>
          <p:spPr>
            <a:xfrm>
              <a:off x="1661" y="1708"/>
              <a:ext cx="1224" cy="360"/>
            </a:xfrm>
            <a:prstGeom prst="straightConnector1">
              <a:avLst/>
            </a:pr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6"/>
            <p:cNvCxnSpPr/>
            <p:nvPr/>
          </p:nvCxnSpPr>
          <p:spPr>
            <a:xfrm rot="-4456730">
              <a:off x="2230" y="1784"/>
              <a:ext cx="1" cy="181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153" name="Google Shape;153;p6"/>
          <p:cNvGrpSpPr/>
          <p:nvPr/>
        </p:nvGrpSpPr>
        <p:grpSpPr>
          <a:xfrm>
            <a:off x="4567239" y="3312319"/>
            <a:ext cx="446485" cy="642938"/>
            <a:chOff x="2876" y="2062"/>
            <a:chExt cx="375" cy="540"/>
          </a:xfrm>
        </p:grpSpPr>
        <p:cxnSp>
          <p:nvCxnSpPr>
            <p:cNvPr id="154" name="Google Shape;154;p6"/>
            <p:cNvCxnSpPr/>
            <p:nvPr/>
          </p:nvCxnSpPr>
          <p:spPr>
            <a:xfrm>
              <a:off x="2876" y="2062"/>
              <a:ext cx="375" cy="540"/>
            </a:xfrm>
            <a:prstGeom prst="straightConnector1">
              <a:avLst/>
            </a:pr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 rot="-2207172">
              <a:off x="3072" y="2263"/>
              <a:ext cx="1" cy="181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cxnSp>
        <p:nvCxnSpPr>
          <p:cNvPr id="156" name="Google Shape;156;p6"/>
          <p:cNvCxnSpPr/>
          <p:nvPr/>
        </p:nvCxnSpPr>
        <p:spPr>
          <a:xfrm>
            <a:off x="4572000" y="2971801"/>
            <a:ext cx="0" cy="67508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 txBox="1"/>
          <p:nvPr/>
        </p:nvSpPr>
        <p:spPr>
          <a:xfrm>
            <a:off x="771422" y="4413351"/>
            <a:ext cx="75916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speed of light is affected by the density of the material through which it is travelling.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457200" y="141649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AN ANALOGY…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A car travelling a long the road.</a:t>
            </a:r>
            <a:endParaRPr/>
          </a:p>
        </p:txBody>
      </p:sp>
      <p:sp>
        <p:nvSpPr>
          <p:cNvPr id="163" name="Google Shape;163;p7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Refraction of light</a:t>
            </a:r>
            <a:endParaRPr/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90800"/>
            <a:ext cx="8534400" cy="274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352426" y="4343400"/>
            <a:ext cx="8639174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It comes to a sandy patch of road!!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Which wheel is going to hit the sand first?</a:t>
            </a:r>
            <a:endParaRPr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41" y="1524000"/>
            <a:ext cx="8900302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352426" y="4267200"/>
            <a:ext cx="863917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front right wheel will meet the sand first.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will happen to that wheel??</a:t>
            </a:r>
            <a:endParaRPr/>
          </a:p>
        </p:txBody>
      </p:sp>
      <p:sp>
        <p:nvSpPr>
          <p:cNvPr id="176" name="Google Shape;176;p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12954000" cy="37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idx="1" type="body"/>
          </p:nvPr>
        </p:nvSpPr>
        <p:spPr>
          <a:xfrm>
            <a:off x="352426" y="4267200"/>
            <a:ext cx="863917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It will spin!!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It cannot grip the road anymore…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-US"/>
              <a:t>What can you tell me about the speed of the two front wheels?</a:t>
            </a:r>
            <a:endParaRPr/>
          </a:p>
        </p:txBody>
      </p:sp>
      <p:sp>
        <p:nvSpPr>
          <p:cNvPr id="183" name="Google Shape;183;p10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12954000" cy="37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352426" y="4267200"/>
            <a:ext cx="863917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left wheel is now going faster than the right.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12954000" cy="37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352426" y="4267200"/>
            <a:ext cx="863917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Because the left wheel is going faster…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car turns round to the right!</a:t>
            </a:r>
            <a:endParaRPr/>
          </a:p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12819814" cy="379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12839013" cy="37951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 txBox="1"/>
          <p:nvPr>
            <p:ph idx="1" type="body"/>
          </p:nvPr>
        </p:nvSpPr>
        <p:spPr>
          <a:xfrm>
            <a:off x="352426" y="4267200"/>
            <a:ext cx="863917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Now the front wheels are on the sand, the car goes in a straight line.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90600"/>
            <a:ext cx="3848100" cy="5465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9155Small" id="210" name="Google Shape;2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728065">
            <a:off x="5105400" y="990600"/>
            <a:ext cx="3034511" cy="208693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4953000" y="3962400"/>
            <a:ext cx="37338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Place a rectangular glass block on a sheet of paper and trace around it.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457200" y="304800"/>
            <a:ext cx="8534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How to draw light ray diagrams to measure refraction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352426" y="1463040"/>
            <a:ext cx="38385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2. Draw your normal as a perpendicular (at right angles  or 90</a:t>
            </a:r>
            <a:r>
              <a:rPr baseline="30000" lang="en-US"/>
              <a:t>∘ </a:t>
            </a:r>
            <a:r>
              <a:rPr lang="en-US"/>
              <a:t>) dotted line onto the top edge of the glass block.</a:t>
            </a:r>
            <a:endParaRPr/>
          </a:p>
        </p:txBody>
      </p:sp>
      <p:sp>
        <p:nvSpPr>
          <p:cNvPr id="218" name="Google Shape;218;p1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Refraction of Light Investigation</a:t>
            </a:r>
            <a:endParaRPr/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0" y="1905000"/>
            <a:ext cx="4733925" cy="414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352426" y="457200"/>
            <a:ext cx="4600574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3. Shine your single beam at the point where the normal and the glass meet.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FFFF00"/>
                </a:solidFill>
              </a:rPr>
              <a:t>(The prism must be on the paper too… 😐)</a:t>
            </a:r>
            <a:endParaRPr i="1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4. Now, mark with a dot: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the start point of the light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where the light comes out of the glass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About 5 cm further on from the glass.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117" y="459828"/>
            <a:ext cx="3730365" cy="3135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9155Small" id="227" name="Google Shape;2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1392">
            <a:off x="5572654" y="4359629"/>
            <a:ext cx="2799290" cy="192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idx="1" type="body"/>
          </p:nvPr>
        </p:nvSpPr>
        <p:spPr>
          <a:xfrm>
            <a:off x="352426" y="533400"/>
            <a:ext cx="376237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5. Connect the dots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6. Then add the arrows, showing the direction of the light.</a:t>
            </a:r>
            <a:endParaRPr/>
          </a:p>
        </p:txBody>
      </p:sp>
      <p:pic>
        <p:nvPicPr>
          <p:cNvPr id="233" name="Google Shape;2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589" y="1905000"/>
            <a:ext cx="4692558" cy="4791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9155Small" id="234" name="Google Shape;2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589891">
            <a:off x="609600" y="3962400"/>
            <a:ext cx="3034511" cy="208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7. Draw a second normal, where the light exits the glass and label the angles as shown</a:t>
            </a:r>
            <a:endParaRPr/>
          </a:p>
        </p:txBody>
      </p:sp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98764"/>
            <a:ext cx="403860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398764"/>
            <a:ext cx="4361735" cy="454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990600" y="80312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Refraction Investigation – 30 mins</a:t>
            </a:r>
            <a:endParaRPr/>
          </a:p>
        </p:txBody>
      </p:sp>
      <p:sp>
        <p:nvSpPr>
          <p:cNvPr id="247" name="Google Shape;247;p19"/>
          <p:cNvSpPr txBox="1"/>
          <p:nvPr>
            <p:ph idx="2" type="body"/>
          </p:nvPr>
        </p:nvSpPr>
        <p:spPr>
          <a:xfrm>
            <a:off x="762000" y="1171147"/>
            <a:ext cx="7924800" cy="149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Copy the table below into your book.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Trace the glass onto a sheet of white paper and then trace the rays that are formed and measure the angles.  </a:t>
            </a:r>
            <a:endParaRPr/>
          </a:p>
        </p:txBody>
      </p:sp>
      <p:pic>
        <p:nvPicPr>
          <p:cNvPr id="248" name="Google Shape;24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285999"/>
            <a:ext cx="7162800" cy="443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idx="1" type="body"/>
          </p:nvPr>
        </p:nvSpPr>
        <p:spPr>
          <a:xfrm>
            <a:off x="838200" y="1459426"/>
            <a:ext cx="2438400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i</a:t>
            </a:r>
            <a:r>
              <a:rPr baseline="30000" lang="en-US"/>
              <a:t>1</a:t>
            </a:r>
            <a:r>
              <a:rPr lang="en-US"/>
              <a:t> = r</a:t>
            </a:r>
            <a:r>
              <a:rPr baseline="30000" lang="en-US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 = r</a:t>
            </a:r>
            <a:r>
              <a:rPr baseline="30000" lang="en-US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aseline="30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WOW!!!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What do you notice?</a:t>
            </a:r>
            <a:endParaRPr/>
          </a:p>
        </p:txBody>
      </p:sp>
      <p:pic>
        <p:nvPicPr>
          <p:cNvPr id="255" name="Google Shape;2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459426"/>
            <a:ext cx="5072332" cy="5285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Complete worksheets</a:t>
            </a:r>
            <a:endParaRPr/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24000"/>
            <a:ext cx="7391400" cy="510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idx="1" type="body"/>
          </p:nvPr>
        </p:nvSpPr>
        <p:spPr>
          <a:xfrm>
            <a:off x="352426" y="453587"/>
            <a:ext cx="2924174" cy="6175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Why does the light refract towards the normal when travelling from air to glass?</a:t>
            </a:r>
            <a:endParaRPr/>
          </a:p>
          <a:p>
            <a:pPr indent="-3365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Why does the light refract away from the normal when travelling from glass to air?</a:t>
            </a:r>
            <a:endParaRPr/>
          </a:p>
          <a:p>
            <a:pPr indent="-3365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4225" y="453587"/>
            <a:ext cx="5667375" cy="608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ker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480" y="978952"/>
            <a:ext cx="1926431" cy="248345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>
            <p:ph idx="4294967295" type="title"/>
          </p:nvPr>
        </p:nvSpPr>
        <p:spPr>
          <a:xfrm>
            <a:off x="451070" y="156951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Effects of refraction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208089" y="1457326"/>
            <a:ext cx="66982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from the part of the pencil in the water is refracted as it travels from the water into the air, making it appear bent.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3557193" y="3550684"/>
            <a:ext cx="51873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rays from the stone are refracted as they leave the water.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1011564" y="2437542"/>
            <a:ext cx="56812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does refraction make this stone look closer to the surface of the water than it really is?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3454103" y="4582778"/>
            <a:ext cx="524537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brain assumes the rays have travelled in straight lines, and is fooled into forming an image where it thinks the light rays came from.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8" name="Google Shape;278;p23"/>
          <p:cNvGrpSpPr/>
          <p:nvPr/>
        </p:nvGrpSpPr>
        <p:grpSpPr>
          <a:xfrm>
            <a:off x="129334" y="2910546"/>
            <a:ext cx="3134629" cy="2878568"/>
            <a:chOff x="629636" y="3611916"/>
            <a:chExt cx="3713857" cy="2776184"/>
          </a:xfrm>
        </p:grpSpPr>
        <p:pic>
          <p:nvPicPr>
            <p:cNvPr descr="stone" id="279" name="Google Shape;27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5868" y="4660900"/>
              <a:ext cx="2587625" cy="1727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0" name="Google Shape;280;p23"/>
            <p:cNvCxnSpPr/>
            <p:nvPr/>
          </p:nvCxnSpPr>
          <p:spPr>
            <a:xfrm rot="10800000">
              <a:off x="1606643" y="4343401"/>
              <a:ext cx="1266825" cy="790575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descr="eye" id="281" name="Google Shape;28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 rot="1290271">
              <a:off x="774792" y="3775075"/>
              <a:ext cx="1079500" cy="996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2" name="Google Shape;282;p23"/>
            <p:cNvCxnSpPr/>
            <p:nvPr/>
          </p:nvCxnSpPr>
          <p:spPr>
            <a:xfrm rot="10800000">
              <a:off x="2863942" y="5137150"/>
              <a:ext cx="476250" cy="850900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23"/>
            <p:cNvCxnSpPr/>
            <p:nvPr/>
          </p:nvCxnSpPr>
          <p:spPr>
            <a:xfrm>
              <a:off x="2859180" y="4641851"/>
              <a:ext cx="0" cy="900113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23"/>
            <p:cNvCxnSpPr/>
            <p:nvPr/>
          </p:nvCxnSpPr>
          <p:spPr>
            <a:xfrm>
              <a:off x="2854417" y="5133976"/>
              <a:ext cx="471488" cy="290513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descr="stone (grey)" id="285" name="Google Shape;285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9381" y="5229225"/>
              <a:ext cx="911225" cy="490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tone (grey)" id="286" name="Google Shape;286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9381" y="5881689"/>
              <a:ext cx="911225" cy="4905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352426" y="1463040"/>
            <a:ext cx="45243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Light travelling from the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pencil bends when it leaves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water, and so it look like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pencil is in two different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positions.</a:t>
            </a:r>
            <a:endParaRPr/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Explain this:</a:t>
            </a:r>
            <a:endParaRPr/>
          </a:p>
        </p:txBody>
      </p:sp>
      <p:pic>
        <p:nvPicPr>
          <p:cNvPr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1295400"/>
            <a:ext cx="32480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idx="1" type="body"/>
          </p:nvPr>
        </p:nvSpPr>
        <p:spPr>
          <a:xfrm>
            <a:off x="5029200" y="1463040"/>
            <a:ext cx="3962400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Light bends </a:t>
            </a:r>
            <a:r>
              <a:rPr b="1" lang="en-US" u="sng"/>
              <a:t>away</a:t>
            </a:r>
            <a:r>
              <a:rPr lang="en-US"/>
              <a:t> from the normal when entering a less dense substance (eg. water to air).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This is because the speed of </a:t>
            </a:r>
            <a:r>
              <a:rPr b="1" lang="en-US">
                <a:solidFill>
                  <a:srgbClr val="FFFF00"/>
                </a:solidFill>
              </a:rPr>
              <a:t>light speeds up </a:t>
            </a:r>
            <a:r>
              <a:rPr lang="en-US"/>
              <a:t>when moving from </a:t>
            </a:r>
            <a:r>
              <a:rPr b="1" lang="en-US">
                <a:solidFill>
                  <a:srgbClr val="00B0F0"/>
                </a:solidFill>
              </a:rPr>
              <a:t>water</a:t>
            </a:r>
            <a:r>
              <a:rPr lang="en-US"/>
              <a:t> to </a:t>
            </a:r>
            <a:r>
              <a:rPr b="1" lang="en-US">
                <a:solidFill>
                  <a:srgbClr val="92D050"/>
                </a:solidFill>
              </a:rPr>
              <a:t>air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Explained…</a:t>
            </a:r>
            <a:endParaRPr/>
          </a:p>
        </p:txBody>
      </p:sp>
      <p:pic>
        <p:nvPicPr>
          <p:cNvPr descr="Image result for refraction broken pencil" id="300" name="Google Shape;3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463040"/>
            <a:ext cx="4542104" cy="288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Floating coin trick….</a:t>
            </a:r>
            <a:endParaRPr/>
          </a:p>
        </p:txBody>
      </p:sp>
      <p:pic>
        <p:nvPicPr>
          <p:cNvPr descr="Image result for refraction coin in a cup"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76400"/>
            <a:ext cx="713416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refraction coin in a cup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76400"/>
            <a:ext cx="6400800" cy="472379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1752600" y="762000"/>
            <a:ext cx="6781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coin appears to be floating…</a:t>
            </a:r>
            <a:endParaRPr b="0" i="0" sz="36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Why is it difficult to spear a fish from a boat?</a:t>
            </a:r>
            <a:endParaRPr/>
          </a:p>
        </p:txBody>
      </p:sp>
      <p:pic>
        <p:nvPicPr>
          <p:cNvPr descr="http://www.daviddarling.info/images/spear_fishing_refraction.jpg" id="318" name="Google Shape;318;p2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81200"/>
            <a:ext cx="349558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5029200" y="2133600"/>
            <a:ext cx="33528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As the speed of light speeds up moving from water to air, the light bends away from the normal, so the fish appears closer to the surface.</a:t>
            </a:r>
            <a:endParaRPr b="0" i="0" sz="3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 txBox="1"/>
          <p:nvPr>
            <p:ph type="title"/>
          </p:nvPr>
        </p:nvSpPr>
        <p:spPr>
          <a:xfrm>
            <a:off x="352426" y="228600"/>
            <a:ext cx="8639174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Her legs look short because the light from her feet bends when it moves from water to air!</a:t>
            </a:r>
            <a:endParaRPr/>
          </a:p>
        </p:txBody>
      </p:sp>
      <p:pic>
        <p:nvPicPr>
          <p:cNvPr descr="http://www.alpcentauri.info/imgD29.jpg" id="325" name="Google Shape;325;p29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14" y="1981200"/>
            <a:ext cx="7666892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lar">
  <a:themeElements>
    <a:clrScheme name="Mylar">
      <a:dk1>
        <a:srgbClr val="000000"/>
      </a:dk1>
      <a:lt1>
        <a:srgbClr val="FFFFFF"/>
      </a:lt1>
      <a:dk2>
        <a:srgbClr val="656162"/>
      </a:dk2>
      <a:lt2>
        <a:srgbClr val="E0DACC"/>
      </a:lt2>
      <a:accent1>
        <a:srgbClr val="4A5A7A"/>
      </a:accent1>
      <a:accent2>
        <a:srgbClr val="F7BD40"/>
      </a:accent2>
      <a:accent3>
        <a:srgbClr val="975C00"/>
      </a:accent3>
      <a:accent4>
        <a:srgbClr val="754D41"/>
      </a:accent4>
      <a:accent5>
        <a:srgbClr val="838995"/>
      </a:accent5>
      <a:accent6>
        <a:srgbClr val="687B66"/>
      </a:accent6>
      <a:hlink>
        <a:srgbClr val="B5740B"/>
      </a:hlink>
      <a:folHlink>
        <a:srgbClr val="7483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