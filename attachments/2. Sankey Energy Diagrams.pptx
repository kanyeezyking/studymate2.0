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IlOtTvckRT4JyxQcni1QKNWCE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3E3B83-B8C8-4372-8E5E-7CFB54A3C62B}">
  <a:tblStyle styleId="{1F3E3B83-B8C8-4372-8E5E-7CFB54A3C62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enturyGothic-regular.fntdata"/><Relationship Id="rId21" Type="http://schemas.openxmlformats.org/officeDocument/2006/relationships/slide" Target="slides/slide15.xml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values are based off an average power rating for each of the example appliances.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TV = 200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Hairdryer = 1500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Vacuum cleaner = 800 W</a:t>
            </a:r>
            <a:endParaRPr/>
          </a:p>
        </p:txBody>
      </p:sp>
      <p:sp>
        <p:nvSpPr>
          <p:cNvPr id="131" name="Google Shape;131;p7:notes"/>
          <p:cNvSpPr txBox="1"/>
          <p:nvPr/>
        </p:nvSpPr>
        <p:spPr>
          <a:xfrm>
            <a:off x="3884613" y="8684967"/>
            <a:ext cx="2971800" cy="457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23bffbd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d23bff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d23bffbd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d23bffbd6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d23bffb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d23bffbd6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d23bffbd6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g39d23bffb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TV = 51%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Hairdryer = 67%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Vacuum cleaner = 30%</a:t>
            </a:r>
            <a:endParaRPr/>
          </a:p>
        </p:txBody>
      </p:sp>
      <p:sp>
        <p:nvSpPr>
          <p:cNvPr id="188" name="Google Shape;188;g39d23bffbd6_0_6:notes"/>
          <p:cNvSpPr txBox="1"/>
          <p:nvPr/>
        </p:nvSpPr>
        <p:spPr>
          <a:xfrm>
            <a:off x="3884613" y="8684967"/>
            <a:ext cx="29718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d23bffbd6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d23bffbd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9d23bffbd6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gif"/><Relationship Id="rId4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6.jpg"/><Relationship Id="rId5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6.jpg"/><Relationship Id="rId5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BDIcDAswH8aaAs03YAmAFveVFEPy-Du_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571472" y="285728"/>
            <a:ext cx="7772400" cy="785818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Sankey Diagrams 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79512" y="1214422"/>
            <a:ext cx="8678768" cy="528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GB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Learning Intentions: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AutoNum type="arabicPeriod"/>
            </a:pPr>
            <a:r>
              <a:rPr lang="en-GB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be able to read and interpret Sankey diagrams. 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AutoNum type="arabicPeriod"/>
            </a:pPr>
            <a:r>
              <a:rPr lang="en-GB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be able to draw Sankey diagrams. 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t/>
            </a:r>
            <a:endParaRPr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953734"/>
              </a:buClr>
              <a:buSzPts val="3200"/>
              <a:buNone/>
            </a:pPr>
            <a:r>
              <a:rPr b="1" i="1" lang="en-GB" u="sng">
                <a:solidFill>
                  <a:srgbClr val="9537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Word: </a:t>
            </a:r>
            <a:r>
              <a:rPr i="1" lang="en-GB">
                <a:solidFill>
                  <a:srgbClr val="9537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Sankey Diagrams, input energy, output energy, useful energy, wasted energy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6500813"/>
            <a:ext cx="857250" cy="357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28625" y="642938"/>
            <a:ext cx="5214938" cy="208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might have seen energy efficiency ratings on a new fridge or washing machine.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428625" y="2845148"/>
            <a:ext cx="5073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Rate the devices on their efficiency.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more stars on the label, the more efficient – which means it may cost less to run.</a:t>
            </a:r>
            <a:endParaRPr/>
          </a:p>
        </p:txBody>
      </p:sp>
      <p:pic>
        <p:nvPicPr>
          <p:cNvPr descr="A two and a half star energy rating label.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8398" y="515304"/>
            <a:ext cx="2940438" cy="539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404664"/>
            <a:ext cx="4402832" cy="619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We can use a </a:t>
            </a:r>
            <a:r>
              <a:rPr b="1" lang="en-GB" sz="2800">
                <a:latin typeface="Century Gothic"/>
                <a:ea typeface="Century Gothic"/>
                <a:cs typeface="Century Gothic"/>
                <a:sym typeface="Century Gothic"/>
              </a:rPr>
              <a:t>Sankey diagram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 to show how the energy is transformed from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input energy 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to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output energies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The output energy is made up of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useful energy 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(arrow at the top) and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wasted energy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 (arrow going to the bottom). </a:t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840" y="1567185"/>
            <a:ext cx="4416398" cy="372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Sankey Diagrams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GB"/>
              <a:t>Notice the thickness of the input energy arrow = total thicknesses of the output arrows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GB"/>
              <a:t>This is because of the </a:t>
            </a:r>
            <a:r>
              <a:rPr i="1" lang="en-GB" u="sng"/>
              <a:t>Law of Conservation of energy</a:t>
            </a:r>
            <a:r>
              <a:rPr i="1" lang="en-GB"/>
              <a:t>.</a:t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984" y="1772816"/>
            <a:ext cx="4416398" cy="372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67544" y="0"/>
            <a:ext cx="8229600" cy="1143000"/>
          </a:xfrm>
          <a:prstGeom prst="rect">
            <a:avLst/>
          </a:prstGeom>
          <a:noFill/>
          <a:ln cap="flat" cmpd="sng" w="762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What is the fluorescent bulb saying to the incandescent bulb?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descr="data:image/jpeg;base64,/9j/4AAQSkZJRgABAQAAAQABAAD/2wCEAAkGBhQQDxMUEhQUFRQWFxgUGBUVFBUVGBQYGBYVFhYXFhcXGycfGBwjGRQYIC8gJScpLCwsFh4xNTAqNSYrLCoBCQoKDgwOGg8PGiokHyQpLC0qKSksLSwpLCksLCwpKSksLCwtKSwsLSwpLCwsKSwsLCkpLCksKSkpLCwpLCwpKf/AABEIALgBEgMBIgACEQEDEQH/xAAcAAEAAgMBAQEAAAAAAAAAAAAABQYBAwQCBwj/xABPEAACAQMCAwQFCAUIBwcFAAABAgMABBESIQUxQQYTUWEiMnGBkQcUI0JSYnKhQ4KSsdEkM1Njg6KywRUWNFRzk+FEdKPCw9LwJTVkpLP/xAAaAQACAwEBAAAAAAAAAAAAAAAAAwIEBQYB/8QAMBEAAgIBAwIEBQMEAwAAAAAAAAECAxEEITESQQUTMnEiUWGhsYGRwRRCUtEjNPD/2gAMAwEAAhEDEQA/AJs0oaVwZnilKUAK1SzEMiIrSSSHSka4Bc4ydzsqgbljsB7q21s4NxBLXiEUsxCxtHJBrOyxu7xOhY/VDaCufHSOtWtJXG22MJcEoJN4Z2L2Lvyuddmp+we/fHkXGP8ADUbc2N7CcSWurwaKdNB/5ukj86+rA1kqDzrpH4fp2sdJa8uJ8y4P2YmuZMTT9yME93bhWYfilkU5O/1VA8zUzL8m2B9He3IP9YIJV947sH4EVcI7dVzpUD2AD91U3iPbtF4msSzII40ZXBICyTs6YjVyMa0VSSAecgGM8mx0tMVhRRJQiuxC8U4LdWYLSos0Q5zQBtSjxkgOWx4lC3sFc8UodQykMpGQQQQQeRBHOvqFnerKMrz6g8x7aoHazgYsrhJYhiC4fQ6D1Yp2yVdR9VZMEEctWk/WNZmt8OioudW2OwqdaxlHDSsVmufKwpSlAClKUAKUpQApSlAClKUAKUpQApSlAClKUAKUpQApSsUAe81ilKAMGlDSgBSlKAFaLydEjYyY08iCNWrOwULg6iSQAuDnNb62cIVW4lZB/V1TMM8u9WI937wpkI8xVjTVebbGGcZJRWXgireK9gwLQyWQOdKTzoEP4bZlk09Nl0mpMXvG0AJuIJR1EcSI3u7xdJ95FfSL/hMNwoWeKOUDkJEVwPZqBxUQ3yecP6Wsa/g1Rj4IRXYVwUI4Wf13LqWCg3vGpm2vri9jU7aZFW2iOehlt10keRk3rKXlsQLaIJMSCBbQKsuR1yi+io6ksQN+dfQI/k/sFOfmsTfjBk/xk1ycCtUTit6oRU7uK3SJVVVCxN3jtpAGBmTOfwDwph6VrsrxNuHif54JYtCk29q41yMmVUKk4JWb02VQmSU1jJxg129txxBuHSvKlsUwsjRxGTvINDrIG7xiVl0ackBV2BxnkdHyidqoC0sLRP3llJZ3SuVBVi0yZVD492ze3DeFdXbntd/JYpbae3a3lSVZELKXmMkRWFIh46235YAydga8fB4yJznly6ezpStVrDojRCclVVCfHSoXP5VtrhXyUBSlK8AUpSgBSlKAFKUoAUpSgBSlYP8A88qAM0qOk7QW6nT3yFvsoTIR7owTWf8ATsXXvQPE29wB8THinKi1rKi/2Z70skKVyWvFoZTiOWNm+yGGr9nn+VddLlFxeGsHgpSlRAVis1igD1SlKAMGlDSgBSlKAFcnEVyqKA7SGRRCIyFk73coUY7KRgkk7ABs7bHrrFjfR29/azTMqRL3yl2OFRnj9BmJ5DCsufFx41a0kVO6KbxuTgsyRKSdpuI8PjQ33zWTVncCePlj1pY43jzv1VB4V6i+WO3x9JHj/h3NnIP70yt+Qrs4lxaWaJrgzvY2qj6I92rTXDn1GeN1JCE+rCBrfO+nYVO8KsxPbxSXECpMyKzpgeixALD412RdKqflptT/ADdvdyt9mNIpCf2JTUfd8Yvb65imtLNrSRBoMtxICZIicmN7eMEnfcHUCCTvua+jpwqIckH5/uJroSIKNgAPIYoAqK9lJ7uRH4hJG6odSQxxaY1bpIwZmLuASAScLk4GTmna/gFrb8OvpFgiV2gkUyCNBI7MulQXxkksR7TVg4xx+C0QNPIFzsq7s8h+zGi5Zz5AGvnXa7jtxOYpJomjshIv0QBeXvCfoZLhUBGNWwjUnDFScnYQsk4xbSyePgwucb8+vt61muW14pFKcJIrN1XOHHtRsMPeK6jXESi0/iWCixSlKieClKUAKUpQApSlAClK0WnD5OIXBtoWKRpg3M67FAeUMZ/pGHM/VBzzIp9FErp9ESUYuTwjxbPNdStDZRiR1OJJWJEEB8HYbu/3F38SKtnDvkwg2a8drt+eH9CFT9yBTp/a1Hzq0cK4TFawpDAixxoMKq9PM+JPMk7k114rqdPo6qFssv5stxgommzsI4VCxIkaj6qKqAe5Rit9KVcJkfxTgFvdDE8EUo++isR7CRke0VVeI/J00Y1WMpGP0E7NJGfJJDmSL4sPu1eqUuyqFixNZPGk+T5GkxDtHIjRSpu0T4yBnAZSNnQ9GXI9h2rdV+7R9mo72MBspImWimUenE3iPFTyKnZhsemPnia0d4plCzREB1HqnPqyJnmjAZHhgg7qa5vXaHyPjh6fwVbK+ndG2sVmsVlij1SlKAMGlDSgBSlabi406QFZ3dtCRoMtI5BIVeg2BJJ2ABJO1SjFyajHkDNzdLGupjgZAGASWJ2VVUbsxOwA3Nd9rwkRd3PfIXlZv5Lw9NLMzjcPIM6Wcc8k6IxvknetYVbBw0gW44kVzHECe5s0bbUzY2zyL41vjCgDNcVldfN7+G9uXMhy8c8xGNCSKApVRtHEjqNhyDFjk5Nb2mpq0s4qx5m/sWIpRe/JM8Z4LxDvorskyTLq0xRLBJFbA49VZ2Qu5GQZQwbmMAHFaW7b8Si2e1z7bS4j/NJJF/Ovo0M6uoZSGUjIIIII8iNjXoqD4VuFg+bN2+4m20VhFnxkkZB8GIP5VifiHFHVWvLqCziZgn0EfVuQM8+QmcYyB4b19JWEDkAPYBWJoldSrAMpGCCAQR1BB2IoArXDOx9vahppW1NjLzSuWYrzJeZznT5DC+VV/tLctPYXVwC0cL9zBZx+rrPfoRcaD1ZwCuR6kefrGum9g4XFLot7YXU6nIt4Szxxt0Lgt3MOD4jPgDUf2o4ddgxXl2yFFYIYEzotu9IRJEJ9dgSFZmGcOSoUAgrtk4wcorLweSeEcMrzMCsq2d2p6XNvpYeySMnB/VrnMca/oLy3/wC7XCXcf/KuAGA8lFSFK5deIWvaaUvdFTzH3OCO5ydKXdq7fYuUmsJT5DvAysfZXa9ndgD+RSsWwFKSQyRkk4BMitlV8WK7DNZdAwwwBHgQCPeDtXLYxpaXNtJGTCnfosvduyRlHDJ6aA6Ma2Tcim1T0181GUMN/J7HqcZPGDq4hw65tXCyiGVineFLZm71VBwXEMnpSqDzKb/drXa3SyrqjYMvLI8eoPgfI71PcU4aWk4hEhxJEIuIWzH9DMyyhsEnZGeA6l5YkccjVSu+Ji6mRu5glkkiEzSql5w2VQdIUMwLCbJJwdxhDV7VeG0464vpx+wydS5JSlQ0sNwB9Esqt0726hnj9+YFlx7DmpmsO2pV8ST9iu1gUpSkHhycTuzFESi6pGKxxp9uRyFjX9ojPkDX0jsn2dWxtEhB1Nu8j9ZJW3kc+08vAADpVG7P2ff8Vt1PqwRyXJHTWcQxfDVIfdX1EV0/hdKhT192W6ltkzSlK1RopSuDj0yJaztIWWNYpC7IdLKoRixU9GxyPjigDjvO2VrFKYjLrlX1o4Y5J3T8awqxT34qQ4fxNJwSmrbmHjkjI/VkUH8q+Y9jLK1ku3sJ7eQyRwrOyFm+bw6wjd2FBGuQLIuqZ8s7auQAFW8wHhlxCEdzaTv3Jjkdn+byFS0bRsxJEbFSpUnALKRjegC01T/lD4X9Et4g9O3/AJzH17diO8B8dG0g/Cw+sa7k7WtKNVraTzxdJgYYlceMXeurOPBsBT0Jrkg7TiadYmVmgnLQMjoUltZtBfup0+w8YYq3LbmQwIhOCnFxlwzxrOxV6xXJwuMpH3TbtC725Pj3TtGD71VT76664qyDhNxfZlFrDweqUpSzw1xTB1DKcg717qtcF4l3b6GPosef2T/A1Zasail0zx27CKLlbHIrVcWwcDJYFSGV0Yo6MOTIw3U7n4kbjNbaUmMnF5XI/g0Xl73mPnjaJEGmPiMSbgfYvIRsyfeGw5/RnesCZkdY5gquw1IyNrinXHrwSfXGNyvrDrtvXRUZewiCGQhQ1uPpZLZiQh0+k0kBG9vKBkhk2J5jrWir4arELtpdpL+RvUpbSMz8JCK5tme3lwSrQO0XpYJGpUIVhnnkVbeC8OvZrWGaO+nAljSUK4t5SNaBsZaHO2epqvcZtpLCWONhJcxzAtBIgXvDp0lkmBIXIVgdYwCM5APO8/J5MG4TZ+UKKfIqNJB8wRj3VraCNtblXY84xjcdWmsplD412j4hDK8QvHLFYjF9BbrqaWRocOdB2DAHbpmrTY9hmnRTeXE9xkAkSSsEb+xj0xgeRDVTu0uf9L2uMafos7nP8/PpwMb78/DFfX4G0xKegQH8qvwzmXv/AAhiNfDuFxW6BIkVFHIKAo+Aqs/KNxWM2zWikNPPoGgHJjjDqzyv9lQqnGeZIAqqcW7fPdSurTtaQB2jRVDRNNoZkLG4YYwSp9GMg7bnpS0skiB0KBq9Inclz9pnOSx8yTWfrNeqswinn7Cp2Y2N5NKUrlyqK8yRhlKsAQQQQRkEHmCOor1SvQIqXhGH1ENcRmMQmCa4nQd2CSESRDnTlj6Lhxyxium0hkMjySsxOFjjV5O+aOJMkIZNC6vSZjkjOMAk4rspVuetunX5cnt9yfW2sMUpSqZAUpSgCX+TxM3163URWyD2E3DH8zV/FfOexl+kF9dd4yojW0UpZiFAEUkqOSTsABKlXvhvFIrmMSQSJIhyNSMGGRzG3IjwrsdE06IY+Rdr9KOulKVbJio3tHw03NncQqcNLE8YJ5AspAz5ZxUlSgCG7N8XjuoRKAqS4CTIcCSORNmjk65Vs4z0II2NVn5RuIR3L2tiPTD3Nu02NxHF3oA1HprchB45PgasvFOx9tcyd46ESEYMkUkkLsByDNEw1Y6ZzitcvYy3FpJbxJ3QkwxdSTJ3ikMkpdiWZlYKQWJ5UAc3YPs3PY28iXNwbh3laQN6WEUgAKurkNs45DOBWb8CPi9qyc54Z45B9pYtEkbH8LM4B/rDWpO0V5AO7nspZZBsJbYxtFL97DOGjz1VuXQkb1v4FwqZ7hru7AWUp3UUKsGEEZIZtTDYu5C5xsAoAJ3NAFNu0031+By+c5/aggY/maxXgy95cXcnR7qXHsj0w/8ApGvdcbrH/wA88fMpT9TPVKUqqQKKasHA+K6gI3O49UnqPA+dV80Brp7qY2xwzm6bnVLKLzSovhHF+8Gl/XH97/r5VKVzllcq5dMjoK7I2R6oiuWS1M8czlc28LLGyg4N1O5QJb5+rHqkTW3M6tI61013dmYBPHf2THS0mLqJhsQWCrqXzSeJW/XWr3hkITu+Lstvcs1JOW51cSR5L6KOYrI1ta5dgulWluHx6K9AEt2wM59KuV+zwDM8Ek1uzHLGGVkDHxZQdJPmQTVXi4lc3ci3TTGKZ440IhXSmE1ZDxyag51M3PlyGKmI+L3ac1t5h4gvA3ww6/uq5qLou1uMsPj5EnJN7HJxPhBgaKVy7H5xbl5pJC50iTAyx9VQX5YAy1fWT/s/9n/5a+av2kdlKyWTkEEECW3kVgdiCGZcjyIqO+c4XTFbX8acu7S/EUePAKJiFHkoFP02qjXFqbzvnOV/snGSSJrsxGGs9LAMpkuMqQCD/KZuYOxqM4hZJaXEKxejHP3g7nO0bIuvXEPqqRkFRtkqRjevUPEbgIscMNvbRqNK5d52UeSqFXPmWNRd1Z4u7WR3aWVmkBkfGcCCQ6VUAKi530ge3NUbLITck3znb7i5STJulKVkCRSlKAFKUoAUpSgBWqF3mlMVvGZpR6wB0pFnrNIRhPw7segrZZ2PzmZ0aRooIYu/nkTZ9JLBUVvqZCOxYb4AxjORj/ScksKx26/MrPGVih9GaRTvqlkG8ZbmQvpbnL9K0qdNXGCuvez4XdjYxSXVI93cVnYP3l64vbtMYgjX6K31MuCwJ0oNWn6SU52BAGKunZSxkHfzy6BJcOHaOPOiPQojA1HBdsL6TYGdttqoSWEaxmMIoQggqBs2rZs+JOdyd6tXyeca9BrSVsywjKMec0OwV/Nl9VvPB+sK19FrK7W64rGOF9B0Jp7F0rTdzFEZlRpCASEUqGY+ALELn2kCt1K0xpAWXazNwsE8E1rJICYu+7pll0jLKjxOy6wN9JIONxmp4VG9oeApeQGNiyEEPHIvrxSIcpIh8QfiMjrULp4xp0g8Oyv6Q/OG73HUxjAiz1wzY6CgC20qG7L8eN3CxkTu5onaGaLOru5E54PVSCGU9QwqX1jOOtAEJBxhzxGSE47rRpTx71Akkm/gUnT/AJZ8a6e03GBZ2ks2MlV9BftyN6MaD2uVHvrKcDQXJny+o5Okt6CsyqjOFxnUVRRzxty3NUftPxr57dBUObe2Y4I5TXAypI8VjBIB6uT9kUi+5U1ubIyl0rJGcPtO6iRCclRgn7Tc3b3sSffW+s1iuMlJybbKJ6pSlRAoprFZNYrrTlDIbB251ZOE8Z7zCvs/Q9G/garVKRfRG6OGPovlVLKL1XHf8Qa0aK6jGZIXUac47xJHWOSMnoCGBz0KKajuF8e5LKfY/wD7v410cahkuEMNuneSAJM2+FREcMuW5anZNCjqcnkDWTTRbVqIpLv9jodPcrd4HnhwIYlgF1SSvpB1BBJI7hc43xqxmpeoO1vFlGpDnfBHJlPIqy81YHbBqajzgZ50nVZc8y5JZ33PVKUqqeio3iX+0Wn/ABJf/wCD1JVDccuxHNbNgkIZJHx+jiKGMyt4KGcb+3wNPoi5Twvk/wAMlHdkzSlKQRFKUoAUpSgBWKzWu4uViQu5AVRkknHLp7TyAr1Jt4QHOJs2k6D1r27MJP8A+PaxqJvcWV0/ta7KjmjNs1mk+UPzQMC4KqZrmZpplDEadQ0oMZzUjWj4jlSjX2ikNs2eBXLM5FxZlNpBcIVbqFCs03uMaspHmPAV1Vx3d0LeaG5YFo4tYcDdlWQKNajrgqAQN8MceFI0WPPjl43Iw9SPrFleiRQcEHwII+B6iuqo3hHaK3uwe4lRyPWUHDp5Ohwyn2gVI5rsS6Zpitcmr6uPfn94rmuLx41LGMEDckP/ABFAHHxHshbTymV0YSMArNHLLCXA5B+6ddeBsM522rkfsbawNHNCq2zQtraVNK60/SJMW9dGXq24IBBBFRvHe3zRzQW8KIJptRDSlikaqCcsEGSWIIAyM4O9VOSaW8aT55IZjHK8fdY0QLob0WEI9YlSpy5bGar6jURoh1yIyl0rJPdoO2DXgMVozLbnZ7kZVpR1S36hTyMv7OfWEVDEEUKoCqoAAGwAGwAr3SuW1OqnqJZfHZFSU3JisVmsVUIHqlKUAUU1ismsV1pygpSlB6MMSqqpZ2YIiDm7McKo9p+G56VeOMTrwiySyibVd3A7y5mXGUU+izLnkcDu4x0Clum/F2Htkt4p+KXA+jgDRwL1eT1HZfMsREvmXqsXN3JNLJNMcyyNrcjkDyCr91QAo9nnTvRH6s2YP+io6v75fZEm0VoJoZGJihETQiSMshjk1IYg7JvuocAsCCc551YOFcGa4z824hbyqOkqxux8tcLqfeVqiPMEkhZgxUSAkJKYmyASrhwrYCHDHbG29T9n3c7AqrTkg7SWVjfg/r20qMfeuaVVpq5V9M1n35NPR2efUpSRan7L369LJvMXEqfk0R/fUZeLLD/Oy8NiPg98xPuQQ5PurnPBh/uUPu4Hcf8AnmC/nXg3gg2JMJ+yn+j+HZ8tMHfXJ/VwaH4fp/8AH7steXH5HHxO7mwipLhpjojZLV449WCxPe3TBmAVSfQjOcAZGRXfZ2kdrcRyHUYpCIblpGLl0cgLI5b7LkA9Art4VwcSgde7ZoljjeaPWxjZZpvTBTTLeP8AOpsSaGOlEGkMam54FdWRxlWBVh4gjBHwNZ2rktJbB1rC7/UXP4JLAewNpPJatnEeGhJ3LwNnRv1KEGM/hU9a2VsuHa44ZHOctc8OZopsc5IQF7w+eqLu5h5pWpWyMg5HPI6+Bqn4hSoWdceJbi7Fh5RmlKVnCxXNeXegKFXXI50RxjYu3Pn0UDdm6AHyrprl4LwZ583QuJYnYyRIEWJlWJJWQACRGOWKaicjOQOlWdPUpyzLhE4rJniFlc28LyyTWpVFLMO6mXl0BEhzk7DYZyK89gZRLxJfnelmEbd1qRViS4VlMkcRziWREdRqxkaWx1qSm4RdlSvzuORSMFZrRSCPA6HGR7q5H4LdCEQlLCSIco9LxKOuy92wBzvkVr0eXXLqwsjVhPJY/lG7VC1EcBhikWdJC/fiTu9CaAy4jRjk6wckAAD2VROD8UZU7qRJXeJUBeGOSdGVlBjfUq5GQCNx9U1LWNvPbsWFirNp0akuxI2nbKjv2BC7DYYzgVo4WfmjMy2d6pKqnpfTKiKSVRO7ZsAEnHM0zU9Oo2fHbg9l8Qj4zEXCairMcBXSSMk+A7xRk+Vae0T/AMnYKGaRioiVV1FpQQ8Y09RlMkeAPlXnj3GkuIXSRpIyVIXvIZowjDdGGpAAQwBz5VHX9787S1wutJENwyiEz7x6Bh0Vg3dhnbJXJyBgc6oLSdNkGs4z+NyCh8SJm24hHdvi4gErp9e2yZ49+ZhkKXMf6uqpyx4npbTbcVww/wCz365PsxLomH7Rqq2yLMmnDSBfqqI+Ion9jNovIOXJTtWx5lx3ZnjwNu6a7eL/APW4pFIF9getLqlF7PH4/lF4+h/6w30K5mtI5k6yWs45ePdzBf8AGa8SfKLa6cTpcw6vR0yW0h1Eg+iGiDKTgHYHpXzmThDKMpE4z1igtjnxw1jeID+zXjgduzTyM5lcRYVO875RHJhxKFjllc6sFctnrgY3qctVKuDk98C5tRjk6+KSGR57sIy6GieFHGH7u3Yyekv1S+qT0eeCM71L8U0jiFyUxomSC6THIiSPuyR74R8a8/u/yqOtmwtlk5KJc2DH/u8iSQ/+ET8azY3vU02qXOzKvU5J5JGlKVjiRWKzWKAPVKUoAoprFZNYrrTlBSlKD1Fn4tKZuz/D2TAS3lEEyLsNah4Uc/rlW/tc1WKtHYaP5zFf8PY4+cQ99F92RQEYjzBELe41VIJCygkYJ5jwbkw9xBHups98M1df/wAkIXLusDviksLCb5uQ+e+LyRhBpOVLxqzLr9XOCPGrDBG85ywt7odWCcLvW8t9UEp94zUAygjBAI8DvXCkUdvqLq2jOQyrHKEzj0WhlVlwDyKjrUqprgs+GaqKXlS2+X1LseBeNmvv4TCAPfLe6K8i67n0VlSD7iz2Vsx8u64bHJO3s1ioS24laYB72yB6iThUOoH3IB+VdjdrVQBI7mdi2cJaW0VkrY55k7sEDzBqwbbaiss2XvDwkluwSUSvMpSRoVgU4VzISLhnu5wYw41MVXLKdjU/VJ4bcNC7SbGRySxYtIcE50d45LkAbc96sVr2hRtn9A/EfHpXPeJVztn1RWyRlS1tVksZLN2I/wDuM6fUkto2dTyZhK6Kf2CwPiAPCq/wLHzaPHq+kF64QOwjGeuECj3VPdipwJ7+YEERwQqCNxt84lO/vWoLgKabS3H9VH+aA/51DVbaStMuS9CO6lKVjiRqxv4b/DeuzsgmOH23nEr+98yH/HURxebRbTN4RSEe0IcfnVn4fb93DEn2Y0T9lFH+VX9MsQb+oyBvpSlWCYpSlAHpCcjc/GvkFyjKzTRxxyKwkmkVhgxKbqRI3jlVlaMEOcgMBhGavrU8uhGb7Klv2QT/AJVROBw//SIs876WOMA/7tarrkPsZ1k/5oq1ptsyfC5/YlDbc1nineFY51csBtHdwx3ZHh3b/RXOPNe89prqPEQg0M5j+4L+WIe634pDpH7WKhLm5u7AyIAstozsyxyxC4gUE5ClPWiIzjYhdhXvh3awSsI7e2eN2P8A2W+mjiXqWaGRGjVR7PjTl0yj1x49/wAlhTTWTqubVHbaMPt/u/CJs5+9byLmu3svCFtUYafpPpdKrpRC+Mqi9ACPjk9ajLjhUk0F40xRu5aNnj7i3du5YI7t34iRgdPebhRjRVoCgbAAAbADYAdMDoKo6+TVcY9nuIvkmlgzUbN6KznkIbq0uCfBZ42tJD5DYE+yuu9uDHE7qpcqpYKObEDYbVMdhry3ZntTHJK1xG8kk8qBEudGhHRIm9NYlWQBQwGRqO5JJh4bV1Sk29mmv3F1LJHUrULM2889sSWEDhUYnJMToskQY9SoJTPXRnrW2s66t1TcH2FNYeBWKzWKUeHqlKUAUU1ismsV1pygpWFbLhFDO55RorO59iKCffU9Y9guITAEW3dg9Z5Uj/urrYe8CpKLfBZr0ttnpiR3BOKfNLy3uOQjkAf/AIcn0cnwDBv1a7O2fDPm3ErlAMK7C4T2S5L49kqyfEVLn5Ib11IaW0AIIIHfNzGDvgeNdnyk8DeO0sZpGDyQhbWZ1BAbWo0vvyHeoOf9Iab0PoaZrLS2LSyhNcboolYZAQQRkHYg9RWaUgweDkj4YqZ0PKmeiucfBs1thtFQkjJY7amYs2PDJ6eQrdSvepsdLUWzXTKTa9xSleZJAqljyAJPsAya8EpZ2L32RTuuAcTn6v8AOMHxEcIiGP1laq3YcfZFVWUMFAXbY4AA9nSrnxSyNr2V7s7M0MYb8c8qF/70pr5wedS1NULEoyRu6+yVEa4wfb/RarfjkT/W0nwbb8+VdysDuCCPEb1Rq9xTMp9Ekew4rJs8Oi/Q8FSHiEl61ks3aH/ZZB0OhSTyAaRFYk+ABOau7KcnAOM18vTjkmMNpdSMEOoOQeYPjXmGa3H6Ax+cMjx/krLXkNPOuPS1nfsX69fS1vsfTzSqDDfJ9W6u4/IzOw/8QOK74byb6l8W/HFbv/hVTUW0ucr3TLcb65cSRb6VWF4jej69s/4oZU/NJD+6sP2ouUaNGtopGkbSoiuGBO2WOJIsBVG5OdvfXsMTeItNjU0+CU7Uz6LC6bOMQyYPgShUH4moOzfve7cLphijEFsmMYi2LSEdGkKqcdFVepNZ4txl7tJbX5uyHVGsrmSJ0RdSyMuVOWYquNONtQziuw1DU2yqrdXd8+x5JtLApmlKyxRv7Phfn5if+bvLeS3YeLR5dR745JvhUZwnUIVV/XjzC/44mMTfEpn31KdnEVr5pn/mrKFpmP8AWSKwX9mJZD/aCovhJYwq7+vKWnf8UzGUj3a8e6tW/wD6dfVznb2GS9Cydla+AdoYYbmWdj3kiK1tBBGQ0jtqVp5CP0aalRNbYHoOd8itleVQDOABnc4AGT4nxqppr1RLrxl9iMJdLyeIy7vJLMQZZn7x9PqrhQqRqTzCooGepyetbaV5eQDmQPaQKTOcrJOT5ZBy7s9ViuSXi8S83X3ZP7hXJL2kQeqrN8BU40WS4ixMr648yRMUqC/1mP8ARj9r/pSm/wBFd/j+BX9bT8/yQRrVMhJXGNIOWXJUuPsh1yU9oGa2msV0JhQk4SUkXPgHyjxWceiPhwjHXuZkbUfFjIFZj5kk1Kv8sqY9Gznz96SBR8Q5/dXzelN82RpLxW5LGF/79S6X3yt3b7RQQQ+bs87D3AIv5mqpxPik902q5mkmwchWIWNT0KxJhR7SCfOualRc2yvbrrrNnLb6ClKVApClKUAK921qs00ELkKssscbEkABS2X3PiqkDzIrxWGQEEEAg8wdwa9WzyNqmoTUms4Z+hOJ8KiuoWhmQPG2MqcgbEEctwQQCCOWK+Xdp/kxltgZLQtPENzE28yD7jfpR5H0vNuVRHAO213Y4WNxLENu5mJIUeEcnrJ7DqHkKvfDPlctJBi4Els3311x+6WPIx+ILVnMZnTK3TauOH9+T5PHIGGQcj+HMeR8q9VfO2/AILpXveHyRSuBqnjhdX71QN5FVT/OqP2gCOYFUJWBAI3B3B8QeRpEodLMHV6V6eX0fDM0pSoFIUpSgD186KDIZh5KWySdgABzJJAA6k1d1LcHsu+l9PiVyuiJWOoW6bEj8KZDOfrNpXwqr9mOJxWt8k1zG0kaD0NGGMcn9I0Z9fA5Y3GScE4x9Ou+AcP4yBOriUhdAkikKtGOek6SGXc50t8KdXCPqXJ0Xh1WK3OMvif2PldpxWSNdIbO5YlgCzMxLMzHqSSSTXSO0Uv3D+qf41ZOL/JFPGC1rMJh/RzYR/YsqjBP4l99UmaJo5GjkRo5F9aNxhl8D4EHowJB8arWaWGcyiijfXqqfik3j5kqO0sn2U/P+NP9Zn6qnt9Lb86iK3WPDTdTw24/TSCM46Ju0p90at+VKWkpbx0oRVfdZNQUnuXC7c2/Z5nfabiEikjwWXGF9gto/wB9V49o5PBB7j/Grv8AKZwG5uXtktog0cSuxXXo9JgqJj0SNlDftVRp+yd+gy1nMR4xlJfyVs/lVq7TxnhOOUuDW10dQ5JVJ4S7GG7QSnqo9ij/ADrU3GZj9c+4AfuFcLNhyjBkcc0dWRx+o4BrNI8itf2r9jEnZdF4k2jc967c3Y/rGtJOaUqailwhLk3yxSlKkRPQpQVmgDyRWKUoPRSlKDwUpSgBSlKAFKUoAUpSgBSlKD01PaoxyUXPjgZ+I3r3FCFAVRgDkKxSvSblJrDex7pSleEBSlKDwUiyjiSNmjkHKSNij+zUvMeRyKUr1bE4TlB5i8Fn4f8AKVfwgBninH9cml8fjiwPiprm7WdszxCIB7NEnTeOZbjOnxUgxAsjDmufA7EA0pTOuRdXiN2OmWH7ogRWy0uZIZVlhkaORMhWUKdmxqBDAgg4HSlKWnuU4TlCXVF4ZbLH5V72PAljgnHiNcDH4a1/IVLw/LKv17OYH7ksLj+8yn8qUpvmSRoR8Tvjzh/oR/aD5Rra8iMcvDpJR0MkkKFD9pHQsyHzFUSBWAOrxON9RC59EM2BqIHM4GfClKhKblyI1GrnqNpJGylKVApClKUAewKUpQB//9k=" id="118" name="Google Shape;11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cdn.moneycrashers.com/wp-content/uploads/2011/03/cfl-incandescent-bulb-cartoon.jp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268760"/>
            <a:ext cx="8964488" cy="544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307974" y="178680"/>
            <a:ext cx="8656513" cy="1052736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76200">
            <a:solidFill>
              <a:srgbClr val="C3840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GB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Incandescent light vs a saving light bulb</a:t>
            </a:r>
            <a:endParaRPr/>
          </a:p>
        </p:txBody>
      </p:sp>
      <p:sp>
        <p:nvSpPr>
          <p:cNvPr descr="data:image/jpeg;base64,/9j/4AAQSkZJRgABAQAAAQABAAD/2wCEAAkGBg4SEBMSEhIRERESFBETEhQQExMSFBAQGBMWFR0WEhgXJyYqFxkvGRMVKy8hIykpLywtFh8xNjAqQSYrMCkBCQoKDgwOGg8PGjUlHSUtLzMpLzU1KiosKSksNC8tLCwpKS01KSwpLDUvNSwsLCosMCktMi0sKSksLC8pNSopKf/AABEIAJIA1QMBIgACEQEDEQH/xAAcAAEAAgMBAQEAAAAAAAAAAAAABQYDBAcBAgj/xABCEAACAgECAgYGBwUHBAMAAAABAgADEQQSBSEGEzFBVJIHFhciUdIUIzJhcYHRNVJykZNCYnOCobKzM0NTwRUlRP/EABsBAQACAwEBAAAAAAAAAAAAAAADBQECBAcG/8QAMxEAAgECAgkDAgUFAQAAAAAAAAECAxEEUQUSExQhMUFSkWFx8KHRM3KBsfEiIzI04RX/2gAMAwEAAhEDEQA/AO4xIXifTLh+nsNV16pYACVKucAjI7AZqe0fhPil8lvyzRziubJ44atJXjBtezLLErXtH4T4pfJb8se0fhPil8lvyxtIZo23Sv2PwyyxK17R+E+KXyW/LHtH4T4pfJb8sbSGaG6V+x+GWWJWvaPwnxS+S35Y9o/CfFL5LfljaQzQ3Sv2PwyyxK17R+E+KXyW/LHtH4T4pfJb8sbSGaG6V+x+GWWJWvaPwnxS+S35Y9o/CfFL5LfljaQzQ3Sv2PwyyxK17R+E+KXyW/LHtH4T4pfJb8sbSGaG6V+x+GWWJWvaPwnxS+S35Y9o/CfFL5LfljaQzQ3Sv2PwyyxK17R+E+KXyW/LHtH4T4pfJb8sbSGaG6V+x+GWWJWvaPwnxS+S35Y9o/CfFL5LfljaQzQ3Sv2PwyyxK17R+E+KXyW/LHtH4T4pfJb8sbSGaG6V+x+GWWJWvaPwnxS+S35Y9o/CfFL5LfljaQzQ3Sv2Pwzd1fHur11GmYDbfVayNzz1qEHb+BXd+ayYnHvSH0tot1Olu0losajLZAYAMHUgHIHbidY4brkupruQ5SxFdfwYZmlOopSlFdCXE4OdCjTqyVtZPym1+1jZiIkxwnDfSmf/ALOz7kp/2D9ZUpbPSl+07f4Kf+MSpygxH4svc9d0N/o0vyiIiQFqIiIAiIgCIiAIiIAiIgCIiAIiZaNJY4JRHcAqDtUtgsdoBx2ZPIfEwYbS4sxRPqysqSpBBBIIIwQRywR3GfV2ndCAyspIDAMCCVIyCM9xBgXRjiespBwRgjkQeRBnkGRERAE656HuN76LNMx96lt6f4Tnu/B8+YTkcnOhfHPomtqtJwhPV2/4b4BP5Haf8s6MNU1KiZSadwe9YOSXOPFfpz+lz9BxES+PKDhnpS/adv8ABT/xiVOdJ6TcGq1HF9ULCx6vT1WKibg1hwi491WOMMTyU9n4zW0/RjTMv0f3ti63UAMV23MqaQWCsnbnOeXIfeBKWrScqjfqem6O0hTo4SnBp3UVf25nP4l3HRHT9ZaVq1N20aX6islLE63duYllyVG0YJA+0M9kzer2kaijdTaoSriD2MjKGd6WYhGbBG7C/fgSLYS+eCwelaKtZP6ZOXK5Qol2XgVVtdT9XbYF0huSioqLLM6pk27lXLAKck4J/CfWj6F0sl5au6sj6V1ZewMUNSBgtgRSM88ElhnuExsJPkZelKMU9bo7dP59fuUeJZuN6Ct9dpqiRUllWgVmAACh6qwW/wBSZK6/ojoqltsK6giqtm6ssyFit6Vhld0GQQxzy5EciY2Ld7dDZ6RpxUNZO8krfqUSJfNL0I0pu1Ck3OiWadEVNxdEtr6ze2xW3YHIcgDjmRNbS9GNETpaz1zWXpdYxDqoda2tAStSOTNsHaTj4GNhL54Nf/VodL9HyzWt+xTIl4foVS5rqRbab7qFuRLnB2sLyrq3IdlfMd/u85UeKpSL7BTu6oOwrLHJKg4BJ+/H+s1nTceZ0YfGU67cYc18+9vZmrERIzsEREASydE9VStd62Mi730WA5xuVdSrN+QUHMrcTaMtV3IK9FVoajduX0aZ0fQ6DSuCyppmRv8A5JnNik2Oymw1tSx7UC7eY5dueeJq3cV0hALfRy1NPC2rb3S5sVq1sBPa2F3ZXuxKXVxTULWaltsWps7kDsEOe3K9k1pM6/Dgisjot6zc5v083/57Fvsu0r8Xte80vSz3MhUqamYqxrLkcu3bnPeeffNm7U6GtrmVNKzhtEACa7E3ZfrWQD3cY2528gTkTRHBOHsmmYNqKTqLgmb3q29QuA9mQBtG44GT3H4SN6TcKqosTqg/VOm5Xeyq0WDcRlGrAGOWMHmCDNm5RTdvjIoU6VWcYa0lwStyX9L9+tmnzLLcvCxTqRWKGw+t+06B/tHqTSTklcYxt+/MGzRvbqFqr0n1WnqNLsmai5FZsNpHLd9oDPfkdplW1vDETSae8Ft9zXqwJG0BCoG3l/ePfNLR666pt1Vj1tgjNbFSR8MjumHVs7NEkMCpxcoTbd2uL6p8b+GvZ2OganQaFbtUWprC6I13gKh2Wq+mVeqOe7rthwefNpzlzkns55/CbD8SvZWQ22FXbe6lmId/3m+J+8zWkdSalyR14TDSw8XryvwS/RLj5d2zvXo944dVoK2Y5sr+qsPeWQABj+K7T+JMTN0H4F9E0VVZGLGHWW/HrG5kfkMD/LEvqd9Va3M8kxLputPZf43dva/A5d6TrWXilhUlSEpwVJBH1Y7CJVBqH/ebt3dp+18fx++Wj0pftO3+Cn/jEqco8R+LL3PVdDpPA0vyoyrq7AxYO4Y5ywY7jn4nvni6lwNoZgvPkCQOYweX4THEguWmqsiV03C9X9HbVKWSqnChtxUks23Ff5nn+M326J8QU1oGBNtgUqtv/StNfWYu/dPV5OefIGRug4mqafU1EMWuFIQjsXZZvOZZrOnen6xbBXaTZcLtQCVG0/RzQVqIPP7THJx3DE6IKm1xfz5YqcRPFxk9nFPnbh6Jrrm5cc0VXjHDbabArsr7kR0dGLK9ZGAVJ7uWPuxifWt0161VWu5KXq4X3iTtrfaQwPduHITb4pxbT2Xaf3bH0+nqqpIYhHtRWZmPLO0kue8zzj/FNO9dFNAs6ugW4a0KGY2WF+xSeQ5D75o1Hjx+fLnTCdV7NSj7u3Sz8O+rw+KKXVWAkh2BIwSGOSuMYPxEyaLiD1WJYNrFPsixQ6458tp7uZmtEjuzscItWaJs9L9TvLgVK3VGlNqAdTWc56v4MdzZPM85CREOTfM1p0YU/wDBWEREwSiIiDAiIgyIiIBIHjlu6hsIfo6KlYKhlKhmb3lOd2SxzPrWcftsepttdYo/6VdaYrr9/ecA5zliSc57ZGxNtaRBsKV76vx/y/LJLjPHrdTsDLVWqbyqUpsUM53M2OfMmRsRMNtu7N6dONOOrBWQli6A8C+la6pSM11nrrPhtQjAP4sVH5n4SuzsXoi4J1elbUMPf1De6e/qUyB/Nt5/lOjC09eovQptP4zdsHK3OXBfrz+hfYiJenlRwz0pftO3+Cn/AIxKnLb6Uv2nb/BT/sEqUoMR+LL3PXdD/wCjS/KIiJAWoiIgCIiAIiIAiIgCIiAfHVL8BNjRak1NuQJn4OiWKfxVwQeyYomynJdSCeHozVpRTXsjqfQrj3CtWwpv0elq1B+zipOruPwTPNW/unP3GXf1U4d4TTf0k/SfnZHIIIJBBBBBwQRzBB7jO5ejrpYdZptthzqKcLYf/IMcrPzwc/eD8RLTC11U/pkuJ5/p3RDwf96i3qPmu1/Yl/VTh/hNN/ST9I9VOH+E039JP0krE7tVZHy+vLMivVTh/hNN/ST9I9VOH+E039JP0krEaqyGvLMivVTh/hNN/ST9I9VOH+E039JP0krEaqyGvLM5R6R+jVR1ejo01VdTX7lPVoF/tD3jj4DJ/KdR0elSqtK0GErRUUfBVAUD+QmlfwRX1lepY56mqytFx2M7DLZ/hXH+YyTmkKajKUszorYqVWlTpPlBPy239kIiJKchE8Q6KaC+w2XaeuywgAsw5kAYE1vUPhXhKfLJ+Jo4RfNE0cRVirKTt7sgPUPhXhKfLHqHwrwlPlk/EbOGSNt5rd78sgPUPhXhKfLHqHwrwlPlk/EbOGSG81u9+WQHqHwrwlPlj1D4V4SnyyfiNnDJDea3e/LID1D4V4Snyx6h8K8JT5ZPxGzhkhvNbvflkB6h8K8JT5Y9QuFeEp/kZPxGzhkjG81u9+WQHqHwrwlPlj1D4V4SnyyfiNnDJGd5rd78sr7dAOEn/wDJT+QIP5ETlnpC6HLoblNW46e7JTccmtx2pnvGCCM8+0d2T3OU30saMPw12xk1WVOD8MuKz/o8gxFGMqbsuJZ6I0hWoYuF5NxbSav0fD6cziUs3o54udPxCrJAS7NL5+D/AGT+O8L+RMrMyaW0rYjDkVdGBHcQwP8A6lNTlqzTPSsfRVfDVKb6p+en1P03E8U5GfjPZ9GeNCIiAIiIAiIgCIiAIiIAiIgCIiAIiIAiIgCIiAIiIBi1WqrrQvY61ovNmchVUdmST2CUr0g9JtBbw6+urVaeyxuq2pXdW7Ni6snAB58gf5S8WVqwKsAykYIIBBHwIPbOM+kDoA2lJvoBbSk+8vadOT3H4p8D3dh7iefESlGDcVcttE0aFbERjVnqu6tk3k8vQpE8M9gCUK5nrM1eLTP0Jpel3DdqL9M0ucKMdfVnOAMYz25k3Oe+jz0e9Tt1WqX67tqrb/sj95h+/wDd/Z/Hs6FPoaUpSjeSseN4ylRpVXCjLWS68rv09PURESU5BERAEREAREQBERAEREAREQBERAEREAREQBESq8S9IGn02tt02oBrrrq09gtC2PztsZPfCqQigqvvE/2hMN2Bap82VqwKsAVIIIIyCDyII7xIVOmmgN70C36yvrAfcs2l613uiPjDuq8yqkkfkcRes9KGhVEZBdYW1Gn07J1NyPX13vK7Ky5xsBIwMt2CLoFI6f8Ao+bSsb9OpbTMeajJNDE9n3pnsPd2HuJsno89HnU7dVql+u7aq2/7P95v7/8At/HstfHulej0ewah2UuHYBa7LCK0xudwgO1BuGSfjMFnTrhwvGnNp6w2VVcq7CgstQOilwNo3Kwxz58/hOZYenGeuXNXTWKq4VYaT4dX1ayfzj+8/Era+kPhhW1uv92hWd2NdoDVrYKmeokfWKHOCVzgz5v9I3DExussXKK5zp9R9WjWGtTZ7v1e5gdu7GeRHaM9N0UxZokPp+lmid661sJe22+lF2OG62kE2BgR7uAO08uY+IkxCdwIiJkCIiAIiIAiIgCIiAIiIAiIgCIiAIiIAlX490FTVPqnNrJ9Ko09B2qDs6q1rAwz25LYx90tETFrgpVfoxpXU3Xrcydb9JZdtVQtptvrKMyXY3ADJKgYwTzJmto/RYtSPt1TLY1mhuDrTWoW3S5w23PvZB5555557pfpDdMbtOuh1DahLLKQnvpSXD2DI9xdhB5nA7ewnPLMxZIzciul3QrT69qrjcqFEsp3NXTcj1uQTgWZAfK8m59/IxZ6PqWLsLWCvqtFqgAi4H0etKwnLtUhO3ljPKc/Gj0tvD63axaK31l2oamvQXXabTWHT7UodGAIGOe4LguTjE6Jo+kY0nDdHbqdPZSGSiuxKa2ZdKSna6jJVBgDsJGQJrwfMyRGm9EumFd6JflLkepGFNO+tGvFrbrAM2HKgcyAAOwzF006G66++0acMtWqTRpa3WU9WxptDbrFYblwo/sZ3cgcY5z/AKNdO6cL04dGrJFrbXUqQr3WOMg9mVYH85Z5tqpmLlO6P9FrV4rrNbYhrR8JQhsFmWIQWXgDkm7qq+XbyOcS4xEylYwIiJkCIiAIiIAiIgCIiAIiIAiIgCIiAIiIAiIgCeGIgHmZ6YiAeiIiAIiIAiIgCIiAIiIB/9k=" id="125" name="Google Shape;125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bbc.co.uk/schools/gcsebitesize/science/images/ph_energy19.gif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66" y="4077072"/>
            <a:ext cx="6024162" cy="2780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 showing heat lost from a filament lamp: Electrical energy = 100J, of which 90J is lost as heat energy and 10J is light energy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640" y="1410096"/>
            <a:ext cx="5953294" cy="2309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cuum cleaner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826" y="5418349"/>
            <a:ext cx="1338486" cy="143965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0" y="6500813"/>
            <a:ext cx="857250" cy="357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0" y="1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 at these appliances and work out the missing numbers</a:t>
            </a:r>
            <a:endParaRPr/>
          </a:p>
        </p:txBody>
      </p:sp>
      <p:pic>
        <p:nvPicPr>
          <p:cNvPr descr="hairdryer"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490568">
            <a:off x="1870164" y="3531663"/>
            <a:ext cx="2032106" cy="135827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/>
        </p:nvSpPr>
        <p:spPr>
          <a:xfrm>
            <a:off x="1246827" y="3212975"/>
            <a:ext cx="2421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Hair dryer (10min)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283790" y="4996631"/>
            <a:ext cx="267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Vacuum cleaner</a:t>
            </a:r>
            <a:endParaRPr b="1"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(30min)</a:t>
            </a:r>
            <a:endParaRPr b="1"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3131840" y="522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{1F3E3B83-B8C8-4372-8E5E-7CFB54A3C62B}</a:tableStyleId>
              </a:tblPr>
              <a:tblGrid>
                <a:gridCol w="2682050"/>
                <a:gridCol w="2682050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00 W x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min (1800 sec) =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1,44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 kJ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100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7"/>
          <p:cNvGraphicFramePr/>
          <p:nvPr/>
        </p:nvGraphicFramePr>
        <p:xfrm>
          <a:off x="3959203" y="3334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{1F3E3B83-B8C8-4372-8E5E-7CFB54A3C62B}</a:tableStyleId>
              </a:tblPr>
              <a:tblGrid>
                <a:gridCol w="1865025"/>
                <a:gridCol w="186502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 </a:t>
                      </a: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540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7"/>
          <p:cNvSpPr txBox="1"/>
          <p:nvPr/>
        </p:nvSpPr>
        <p:spPr>
          <a:xfrm>
            <a:off x="326874" y="965325"/>
            <a:ext cx="26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Television (1hr)</a:t>
            </a:r>
            <a:endParaRPr/>
          </a:p>
        </p:txBody>
      </p:sp>
      <p:pic>
        <p:nvPicPr>
          <p:cNvPr descr="tv screen"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382" y="1418153"/>
            <a:ext cx="2016224" cy="15121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7"/>
          <p:cNvGraphicFramePr/>
          <p:nvPr/>
        </p:nvGraphicFramePr>
        <p:xfrm>
          <a:off x="2744916" y="13386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{1F3E3B83-B8C8-4372-8E5E-7CFB54A3C62B}</a:tableStyleId>
              </a:tblPr>
              <a:tblGrid>
                <a:gridCol w="2448275"/>
                <a:gridCol w="244827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700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Light =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150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800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360</a:t>
                      </a: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0" y="0"/>
            <a:ext cx="9144000" cy="785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GB" sz="3200">
                <a:latin typeface="Century Gothic"/>
                <a:ea typeface="Century Gothic"/>
                <a:cs typeface="Century Gothic"/>
                <a:sym typeface="Century Gothic"/>
              </a:rPr>
              <a:t>What is the big car telling the small car ☺?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://autocricket.com/blog/wp-content/uploads/2011/08/big-car-vs-small-car.jp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8670"/>
            <a:ext cx="9050588" cy="5929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://www.aaat.com/graphics/articles/small-or-big-which-is-safest.jp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619057" cy="671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GB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Sankey diagram for a car engine </a:t>
            </a:r>
            <a:endParaRPr/>
          </a:p>
        </p:txBody>
      </p:sp>
      <p:pic>
        <p:nvPicPr>
          <p:cNvPr id="163" name="Google Shape;16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844824"/>
            <a:ext cx="9144000" cy="384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GB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Sankey Diagram for a car engine with measurments </a:t>
            </a:r>
            <a:endParaRPr/>
          </a:p>
        </p:txBody>
      </p:sp>
      <p:pic>
        <p:nvPicPr>
          <p:cNvPr id="169" name="Google Shape;16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1500174"/>
            <a:ext cx="7429552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/>
          <p:nvPr/>
        </p:nvSpPr>
        <p:spPr>
          <a:xfrm>
            <a:off x="457200" y="6186608"/>
            <a:ext cx="77944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do you notice about the sum of the output energies?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d23bffbd6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energy efficiency</a:t>
            </a:r>
            <a:endParaRPr/>
          </a:p>
        </p:txBody>
      </p:sp>
      <p:sp>
        <p:nvSpPr>
          <p:cNvPr id="177" name="Google Shape;177;g39d23bffbd6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Energy efficiency tells us how much of the input energy is converted into useful energy, instead of being wasted (lost).</a:t>
            </a:r>
            <a:endParaRPr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/>
              <a:t>Formula:</a:t>
            </a:r>
            <a:endParaRPr b="1"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/>
              <a:t>Efficiency = </a:t>
            </a:r>
            <a:r>
              <a:rPr b="1" lang="en-GB" u="sng"/>
              <a:t>Useful Energy</a:t>
            </a:r>
            <a:r>
              <a:rPr b="1" lang="en-GB"/>
              <a:t>  x  100</a:t>
            </a:r>
            <a:endParaRPr b="1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u="sng"/>
              <a:t>					</a:t>
            </a:r>
            <a:r>
              <a:rPr b="1" lang="en-GB"/>
              <a:t>  Input Energy</a:t>
            </a:r>
            <a:endParaRPr b="1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Efficiency is given as a percentage (%)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d23bffbd6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Wasted energy</a:t>
            </a:r>
            <a:endParaRPr/>
          </a:p>
        </p:txBody>
      </p:sp>
      <p:sp>
        <p:nvSpPr>
          <p:cNvPr id="184" name="Google Shape;184;g39d23bffbd6_0_21"/>
          <p:cNvSpPr txBox="1"/>
          <p:nvPr>
            <p:ph idx="1" type="body"/>
          </p:nvPr>
        </p:nvSpPr>
        <p:spPr>
          <a:xfrm>
            <a:off x="457200" y="1600200"/>
            <a:ext cx="8229600" cy="490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2600"/>
              <a:t>Wasted energy, energy lost to the surroundings, is the amount of energy that does not get converted into a useful form of energy.</a:t>
            </a:r>
            <a:endParaRPr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/>
              <a:t>Formula</a:t>
            </a:r>
            <a:endParaRPr b="1" sz="26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/>
              <a:t>Wasted energy (J) = Input energy (J) - Useful energy (J)</a:t>
            </a:r>
            <a:endParaRPr b="1"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2600" u="sng"/>
              <a:t>Example</a:t>
            </a:r>
            <a:r>
              <a:rPr lang="en-GB" sz="2600"/>
              <a:t>: When the electronics in a </a:t>
            </a:r>
            <a:r>
              <a:rPr lang="en-GB" sz="2600"/>
              <a:t>computer heat up, it indicates that some of the electrical energy is being wasted as heat energy. The more heat energy that is produced, the less efficient the device is.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cuum cleaner" id="190" name="Google Shape;190;g39d23bffbd6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826" y="5418349"/>
            <a:ext cx="1338486" cy="143965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d23bffbd6_0_6"/>
          <p:cNvSpPr/>
          <p:nvPr/>
        </p:nvSpPr>
        <p:spPr>
          <a:xfrm>
            <a:off x="0" y="6500813"/>
            <a:ext cx="857400" cy="3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9d23bffbd6_0_6"/>
          <p:cNvSpPr txBox="1"/>
          <p:nvPr/>
        </p:nvSpPr>
        <p:spPr>
          <a:xfrm>
            <a:off x="0" y="1"/>
            <a:ext cx="914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 back at these appliances and work out Efficiency of each</a:t>
            </a:r>
            <a:endParaRPr/>
          </a:p>
        </p:txBody>
      </p:sp>
      <p:pic>
        <p:nvPicPr>
          <p:cNvPr descr="hairdryer" id="193" name="Google Shape;193;g39d23bffbd6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490569">
            <a:off x="1870164" y="3531662"/>
            <a:ext cx="2032106" cy="135827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9d23bffbd6_0_6"/>
          <p:cNvSpPr txBox="1"/>
          <p:nvPr/>
        </p:nvSpPr>
        <p:spPr>
          <a:xfrm>
            <a:off x="1246827" y="3212975"/>
            <a:ext cx="2421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Hair dryer (10min)</a:t>
            </a:r>
            <a:endParaRPr/>
          </a:p>
        </p:txBody>
      </p:sp>
      <p:sp>
        <p:nvSpPr>
          <p:cNvPr id="195" name="Google Shape;195;g39d23bffbd6_0_6"/>
          <p:cNvSpPr txBox="1"/>
          <p:nvPr/>
        </p:nvSpPr>
        <p:spPr>
          <a:xfrm>
            <a:off x="283790" y="4996631"/>
            <a:ext cx="267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Vacuum cleaner</a:t>
            </a:r>
            <a:endParaRPr b="1"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(30min)</a:t>
            </a:r>
            <a:endParaRPr b="1"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96" name="Google Shape;196;g39d23bffbd6_0_6"/>
          <p:cNvGraphicFramePr/>
          <p:nvPr/>
        </p:nvGraphicFramePr>
        <p:xfrm>
          <a:off x="3131840" y="522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{1F3E3B83-B8C8-4372-8E5E-7CFB54A3C62B}</a:tableStyleId>
              </a:tblPr>
              <a:tblGrid>
                <a:gridCol w="2682050"/>
                <a:gridCol w="2682050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00 W x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min (1800 sec) =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1,44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 kJ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____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100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g39d23bffbd6_0_6"/>
          <p:cNvGraphicFramePr/>
          <p:nvPr/>
        </p:nvGraphicFramePr>
        <p:xfrm>
          <a:off x="3959203" y="3334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{1F3E3B83-B8C8-4372-8E5E-7CFB54A3C62B}</a:tableStyleId>
              </a:tblPr>
              <a:tblGrid>
                <a:gridCol w="1865025"/>
                <a:gridCol w="186502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 </a:t>
                      </a: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6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540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g39d23bffbd6_0_6"/>
          <p:cNvSpPr txBox="1"/>
          <p:nvPr/>
        </p:nvSpPr>
        <p:spPr>
          <a:xfrm>
            <a:off x="326874" y="965325"/>
            <a:ext cx="26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Television (1hr)</a:t>
            </a:r>
            <a:endParaRPr/>
          </a:p>
        </p:txBody>
      </p:sp>
      <p:pic>
        <p:nvPicPr>
          <p:cNvPr descr="tv screen" id="199" name="Google Shape;199;g39d23bffbd6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382" y="1418153"/>
            <a:ext cx="2016224" cy="15121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g39d23bffbd6_0_6"/>
          <p:cNvGraphicFramePr/>
          <p:nvPr/>
        </p:nvGraphicFramePr>
        <p:xfrm>
          <a:off x="2744916" y="13386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{1F3E3B83-B8C8-4372-8E5E-7CFB54A3C62B}</a:tableStyleId>
              </a:tblPr>
              <a:tblGrid>
                <a:gridCol w="2448275"/>
                <a:gridCol w="244827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700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Light =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150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800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360</a:t>
                      </a: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d23bffbd6_0_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- Sankey diagram worksheet</a:t>
            </a:r>
            <a:endParaRPr/>
          </a:p>
        </p:txBody>
      </p:sp>
      <p:sp>
        <p:nvSpPr>
          <p:cNvPr id="207" name="Google Shape;207;g39d23bffbd6_0_2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Complete the questions from the Sankey diagram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worksheet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2009-09-13T14:21:49Z</dcterms:created>
  <dc:creator>Fehmi</dc:creator>
</cp:coreProperties>
</file>